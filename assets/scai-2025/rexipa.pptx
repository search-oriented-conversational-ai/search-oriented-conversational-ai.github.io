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ink/ink1.xml" ContentType="application/inkml+xml"/>
  <Override PartName="/ppt/ink/ink2.xml" ContentType="application/inkml+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ink/ink3.xml" ContentType="application/inkml+xml"/>
  <Override PartName="/ppt/notesSlides/notesSlide29.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ink/ink4.xml" ContentType="application/inkml+xml"/>
  <Override PartName="/ppt/ink/ink5.xml" ContentType="application/inkml+xml"/>
  <Override PartName="/ppt/ink/ink6.xml" ContentType="application/inkml+xml"/>
  <Override PartName="/ppt/ink/ink7.xml" ContentType="application/inkml+xml"/>
  <Override PartName="/ppt/notesSlides/notesSlide32.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48"/>
  </p:notesMasterIdLst>
  <p:handoutMasterIdLst>
    <p:handoutMasterId r:id="rId49"/>
  </p:handoutMasterIdLst>
  <p:sldIdLst>
    <p:sldId id="273" r:id="rId2"/>
    <p:sldId id="397" r:id="rId3"/>
    <p:sldId id="405" r:id="rId4"/>
    <p:sldId id="358" r:id="rId5"/>
    <p:sldId id="359" r:id="rId6"/>
    <p:sldId id="360" r:id="rId7"/>
    <p:sldId id="391" r:id="rId8"/>
    <p:sldId id="398" r:id="rId9"/>
    <p:sldId id="411" r:id="rId10"/>
    <p:sldId id="361" r:id="rId11"/>
    <p:sldId id="400" r:id="rId12"/>
    <p:sldId id="410" r:id="rId13"/>
    <p:sldId id="364" r:id="rId14"/>
    <p:sldId id="346" r:id="rId15"/>
    <p:sldId id="367" r:id="rId16"/>
    <p:sldId id="381" r:id="rId17"/>
    <p:sldId id="329" r:id="rId18"/>
    <p:sldId id="409" r:id="rId19"/>
    <p:sldId id="383" r:id="rId20"/>
    <p:sldId id="366" r:id="rId21"/>
    <p:sldId id="347" r:id="rId22"/>
    <p:sldId id="365" r:id="rId23"/>
    <p:sldId id="348" r:id="rId24"/>
    <p:sldId id="356" r:id="rId25"/>
    <p:sldId id="357" r:id="rId26"/>
    <p:sldId id="393" r:id="rId27"/>
    <p:sldId id="406" r:id="rId28"/>
    <p:sldId id="407" r:id="rId29"/>
    <p:sldId id="395" r:id="rId30"/>
    <p:sldId id="396" r:id="rId31"/>
    <p:sldId id="326" r:id="rId32"/>
    <p:sldId id="388" r:id="rId33"/>
    <p:sldId id="408" r:id="rId34"/>
    <p:sldId id="380" r:id="rId35"/>
    <p:sldId id="372" r:id="rId36"/>
    <p:sldId id="387" r:id="rId37"/>
    <p:sldId id="362" r:id="rId38"/>
    <p:sldId id="385" r:id="rId39"/>
    <p:sldId id="382" r:id="rId40"/>
    <p:sldId id="336" r:id="rId41"/>
    <p:sldId id="337" r:id="rId42"/>
    <p:sldId id="338" r:id="rId43"/>
    <p:sldId id="297" r:id="rId44"/>
    <p:sldId id="309" r:id="rId45"/>
    <p:sldId id="332" r:id="rId46"/>
    <p:sldId id="320" r:id="rId47"/>
  </p:sldIdLst>
  <p:sldSz cx="9144000" cy="5143500" type="screen16x9"/>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C6B9A083-26E4-6FCE-4250-C6C104CA521D}" name="Isabel Feustel" initials="IF" userId="b89b6fa4bfd2ec6a"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0AD47"/>
    <a:srgbClr val="CBD7DC"/>
    <a:srgbClr val="000000"/>
    <a:srgbClr val="5B9BD5"/>
    <a:srgbClr val="FFC000"/>
    <a:srgbClr val="3484CC"/>
    <a:srgbClr val="D4DEE5"/>
    <a:srgbClr val="FFCC99"/>
    <a:srgbClr val="313E45"/>
    <a:srgbClr val="FF996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ittlere Formatvorlage 2 - Akz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0A15C55-8517-42AA-B614-E9B94910E393}" styleName="Mittlere Formatvorlage 2 - Akz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980" autoAdjust="0"/>
    <p:restoredTop sz="74688" autoAdjust="0"/>
  </p:normalViewPr>
  <p:slideViewPr>
    <p:cSldViewPr snapToGrid="0" snapToObjects="1">
      <p:cViewPr varScale="1">
        <p:scale>
          <a:sx n="110" d="100"/>
          <a:sy n="110" d="100"/>
        </p:scale>
        <p:origin x="1020" y="78"/>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80" d="100"/>
        <a:sy n="80" d="100"/>
      </p:scale>
      <p:origin x="0" y="0"/>
    </p:cViewPr>
  </p:sorterViewPr>
  <p:notesViewPr>
    <p:cSldViewPr snapToGrid="0" snapToObjects="1">
      <p:cViewPr varScale="1">
        <p:scale>
          <a:sx n="82" d="100"/>
          <a:sy n="82" d="100"/>
        </p:scale>
        <p:origin x="3954" y="84"/>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microsoft.com/office/2018/10/relationships/authors" Target="author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viewProps" Target="viewProps.xml"/></Relationships>
</file>

<file path=ppt/diagrams/_rels/data1.xml.rels><?xml version="1.0" encoding="UTF-8" standalone="yes"?>
<Relationships xmlns="http://schemas.openxmlformats.org/package/2006/relationships"><Relationship Id="rId8" Type="http://schemas.openxmlformats.org/officeDocument/2006/relationships/image" Target="../media/image21.svg"/><Relationship Id="rId3" Type="http://schemas.openxmlformats.org/officeDocument/2006/relationships/image" Target="../media/image16.png"/><Relationship Id="rId7" Type="http://schemas.openxmlformats.org/officeDocument/2006/relationships/image" Target="../media/image20.png"/><Relationship Id="rId12" Type="http://schemas.openxmlformats.org/officeDocument/2006/relationships/image" Target="../media/image25.svg"/><Relationship Id="rId2" Type="http://schemas.openxmlformats.org/officeDocument/2006/relationships/image" Target="../media/image15.svg"/><Relationship Id="rId1" Type="http://schemas.openxmlformats.org/officeDocument/2006/relationships/image" Target="../media/image14.png"/><Relationship Id="rId6" Type="http://schemas.openxmlformats.org/officeDocument/2006/relationships/image" Target="../media/image19.svg"/><Relationship Id="rId11" Type="http://schemas.openxmlformats.org/officeDocument/2006/relationships/image" Target="../media/image24.png"/><Relationship Id="rId5" Type="http://schemas.openxmlformats.org/officeDocument/2006/relationships/image" Target="../media/image18.png"/><Relationship Id="rId10" Type="http://schemas.openxmlformats.org/officeDocument/2006/relationships/image" Target="../media/image23.svg"/><Relationship Id="rId4" Type="http://schemas.openxmlformats.org/officeDocument/2006/relationships/image" Target="../media/image17.svg"/><Relationship Id="rId9" Type="http://schemas.openxmlformats.org/officeDocument/2006/relationships/image" Target="../media/image22.png"/></Relationships>
</file>

<file path=ppt/diagrams/_rels/drawing1.xml.rels><?xml version="1.0" encoding="UTF-8" standalone="yes"?>
<Relationships xmlns="http://schemas.openxmlformats.org/package/2006/relationships"><Relationship Id="rId8" Type="http://schemas.openxmlformats.org/officeDocument/2006/relationships/image" Target="../media/image21.svg"/><Relationship Id="rId3" Type="http://schemas.openxmlformats.org/officeDocument/2006/relationships/image" Target="../media/image16.png"/><Relationship Id="rId7" Type="http://schemas.openxmlformats.org/officeDocument/2006/relationships/image" Target="../media/image20.png"/><Relationship Id="rId12" Type="http://schemas.openxmlformats.org/officeDocument/2006/relationships/image" Target="../media/image25.svg"/><Relationship Id="rId2" Type="http://schemas.openxmlformats.org/officeDocument/2006/relationships/image" Target="../media/image15.svg"/><Relationship Id="rId1" Type="http://schemas.openxmlformats.org/officeDocument/2006/relationships/image" Target="../media/image14.png"/><Relationship Id="rId6" Type="http://schemas.openxmlformats.org/officeDocument/2006/relationships/image" Target="../media/image19.svg"/><Relationship Id="rId11" Type="http://schemas.openxmlformats.org/officeDocument/2006/relationships/image" Target="../media/image24.png"/><Relationship Id="rId5" Type="http://schemas.openxmlformats.org/officeDocument/2006/relationships/image" Target="../media/image18.png"/><Relationship Id="rId10" Type="http://schemas.openxmlformats.org/officeDocument/2006/relationships/image" Target="../media/image23.svg"/><Relationship Id="rId4" Type="http://schemas.openxmlformats.org/officeDocument/2006/relationships/image" Target="../media/image17.svg"/><Relationship Id="rId9" Type="http://schemas.openxmlformats.org/officeDocument/2006/relationships/image" Target="../media/image22.png"/></Relationships>
</file>

<file path=ppt/diagrams/colors1.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1A2A077-1AD7-4A47-BB5A-7C47A1EAE863}"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C9D3A248-7AED-4BA9-926A-637E229A9D26}">
      <dgm:prSet/>
      <dgm:spPr/>
      <dgm:t>
        <a:bodyPr/>
        <a:lstStyle/>
        <a:p>
          <a:r>
            <a:rPr lang="de-DE" dirty="0"/>
            <a:t>Motivation</a:t>
          </a:r>
          <a:endParaRPr lang="en-US" dirty="0"/>
        </a:p>
      </dgm:t>
    </dgm:pt>
    <dgm:pt modelId="{92699862-8484-4E84-896F-98BD9D39D007}" type="parTrans" cxnId="{1259EEF6-C44C-48E2-9D9B-C42BD7F16A92}">
      <dgm:prSet/>
      <dgm:spPr/>
      <dgm:t>
        <a:bodyPr/>
        <a:lstStyle/>
        <a:p>
          <a:endParaRPr lang="en-US"/>
        </a:p>
      </dgm:t>
    </dgm:pt>
    <dgm:pt modelId="{CC19A8BF-63DC-4A08-8485-7A729278D00F}" type="sibTrans" cxnId="{1259EEF6-C44C-48E2-9D9B-C42BD7F16A92}">
      <dgm:prSet/>
      <dgm:spPr/>
      <dgm:t>
        <a:bodyPr/>
        <a:lstStyle/>
        <a:p>
          <a:endParaRPr lang="en-US"/>
        </a:p>
      </dgm:t>
    </dgm:pt>
    <dgm:pt modelId="{BE8B713C-A8A0-40EF-B3D3-A3220B2EDF50}">
      <dgm:prSet/>
      <dgm:spPr/>
      <dgm:t>
        <a:bodyPr/>
        <a:lstStyle/>
        <a:p>
          <a:r>
            <a:rPr lang="de-DE" dirty="0"/>
            <a:t>Foundations </a:t>
          </a:r>
          <a:r>
            <a:rPr lang="de-DE" dirty="0" err="1"/>
            <a:t>of</a:t>
          </a:r>
          <a:r>
            <a:rPr lang="de-DE" dirty="0"/>
            <a:t> XAI</a:t>
          </a:r>
          <a:endParaRPr lang="en-US" dirty="0"/>
        </a:p>
      </dgm:t>
    </dgm:pt>
    <dgm:pt modelId="{E3E15B5C-151B-4593-81E6-C6EDC7F1E3C1}" type="parTrans" cxnId="{71BE474C-E61C-48F5-9DAA-BE8C5EF3A926}">
      <dgm:prSet/>
      <dgm:spPr/>
      <dgm:t>
        <a:bodyPr/>
        <a:lstStyle/>
        <a:p>
          <a:endParaRPr lang="en-US"/>
        </a:p>
      </dgm:t>
    </dgm:pt>
    <dgm:pt modelId="{AB7F9119-9237-4E03-B2E1-4A1665369F52}" type="sibTrans" cxnId="{71BE474C-E61C-48F5-9DAA-BE8C5EF3A926}">
      <dgm:prSet/>
      <dgm:spPr/>
      <dgm:t>
        <a:bodyPr/>
        <a:lstStyle/>
        <a:p>
          <a:endParaRPr lang="en-US"/>
        </a:p>
      </dgm:t>
    </dgm:pt>
    <dgm:pt modelId="{8DB5AE72-FB3C-486F-8564-A7170CF56279}">
      <dgm:prSet/>
      <dgm:spPr/>
      <dgm:t>
        <a:bodyPr/>
        <a:lstStyle/>
        <a:p>
          <a:r>
            <a:rPr lang="de-DE" dirty="0"/>
            <a:t>Concept </a:t>
          </a:r>
          <a:r>
            <a:rPr lang="de-DE" dirty="0" err="1"/>
            <a:t>for</a:t>
          </a:r>
          <a:r>
            <a:rPr lang="de-DE" dirty="0"/>
            <a:t> Domain Knowledge Integration</a:t>
          </a:r>
          <a:endParaRPr lang="en-US" dirty="0"/>
        </a:p>
      </dgm:t>
    </dgm:pt>
    <dgm:pt modelId="{57F34DCF-77F3-4DE0-B8CF-4378DB143EDA}" type="parTrans" cxnId="{FB6D306B-17F9-4F96-B22B-F6EE3451EF79}">
      <dgm:prSet/>
      <dgm:spPr/>
      <dgm:t>
        <a:bodyPr/>
        <a:lstStyle/>
        <a:p>
          <a:endParaRPr lang="en-US"/>
        </a:p>
      </dgm:t>
    </dgm:pt>
    <dgm:pt modelId="{A8F7831D-727D-48C0-B576-909ACB82495B}" type="sibTrans" cxnId="{FB6D306B-17F9-4F96-B22B-F6EE3451EF79}">
      <dgm:prSet/>
      <dgm:spPr/>
      <dgm:t>
        <a:bodyPr/>
        <a:lstStyle/>
        <a:p>
          <a:endParaRPr lang="en-US"/>
        </a:p>
      </dgm:t>
    </dgm:pt>
    <dgm:pt modelId="{FB42F33C-D110-4153-B83E-E17382B4EE4D}">
      <dgm:prSet/>
      <dgm:spPr/>
      <dgm:t>
        <a:bodyPr/>
        <a:lstStyle/>
        <a:p>
          <a:r>
            <a:rPr lang="de-DE" dirty="0" err="1"/>
            <a:t>Automatic</a:t>
          </a:r>
          <a:r>
            <a:rPr lang="de-DE" dirty="0"/>
            <a:t> Generation </a:t>
          </a:r>
          <a:r>
            <a:rPr lang="de-DE" dirty="0" err="1"/>
            <a:t>of</a:t>
          </a:r>
          <a:r>
            <a:rPr lang="de-DE" dirty="0"/>
            <a:t> Structured Knowledge</a:t>
          </a:r>
          <a:endParaRPr lang="en-US" dirty="0"/>
        </a:p>
      </dgm:t>
    </dgm:pt>
    <dgm:pt modelId="{38EE9AD5-F38A-49F0-8C87-7E26D29CF787}" type="parTrans" cxnId="{A780F286-325E-464F-A194-34A6A1F8BFF4}">
      <dgm:prSet/>
      <dgm:spPr/>
      <dgm:t>
        <a:bodyPr/>
        <a:lstStyle/>
        <a:p>
          <a:endParaRPr lang="en-US"/>
        </a:p>
      </dgm:t>
    </dgm:pt>
    <dgm:pt modelId="{6A516003-15CD-41C5-ADD7-641B36E88D5C}" type="sibTrans" cxnId="{A780F286-325E-464F-A194-34A6A1F8BFF4}">
      <dgm:prSet/>
      <dgm:spPr/>
      <dgm:t>
        <a:bodyPr/>
        <a:lstStyle/>
        <a:p>
          <a:endParaRPr lang="en-US"/>
        </a:p>
      </dgm:t>
    </dgm:pt>
    <dgm:pt modelId="{4046D48A-71AD-4E26-94E2-D454B35C2DE7}">
      <dgm:prSet/>
      <dgm:spPr/>
      <dgm:t>
        <a:bodyPr/>
        <a:lstStyle/>
        <a:p>
          <a:r>
            <a:rPr lang="de-DE"/>
            <a:t>Evaluation</a:t>
          </a:r>
          <a:endParaRPr lang="en-US"/>
        </a:p>
      </dgm:t>
    </dgm:pt>
    <dgm:pt modelId="{C63A2B48-B3A6-460A-B6CC-10CF2A2F73CD}" type="parTrans" cxnId="{277C9FAB-0BF6-4972-AEC5-8509B34A6EB5}">
      <dgm:prSet/>
      <dgm:spPr/>
      <dgm:t>
        <a:bodyPr/>
        <a:lstStyle/>
        <a:p>
          <a:endParaRPr lang="en-US"/>
        </a:p>
      </dgm:t>
    </dgm:pt>
    <dgm:pt modelId="{885A181D-B0DF-4F07-875C-A3ECE1867446}" type="sibTrans" cxnId="{277C9FAB-0BF6-4972-AEC5-8509B34A6EB5}">
      <dgm:prSet/>
      <dgm:spPr/>
      <dgm:t>
        <a:bodyPr/>
        <a:lstStyle/>
        <a:p>
          <a:endParaRPr lang="en-US"/>
        </a:p>
      </dgm:t>
    </dgm:pt>
    <dgm:pt modelId="{844CE739-53A9-4119-B743-A341714707BC}">
      <dgm:prSet/>
      <dgm:spPr/>
      <dgm:t>
        <a:bodyPr/>
        <a:lstStyle/>
        <a:p>
          <a:r>
            <a:rPr lang="de-DE" dirty="0" err="1"/>
            <a:t>Conclusion</a:t>
          </a:r>
          <a:endParaRPr lang="en-US" dirty="0"/>
        </a:p>
      </dgm:t>
    </dgm:pt>
    <dgm:pt modelId="{F3BE50C5-CE61-426A-9116-DB4AD1D73E62}" type="parTrans" cxnId="{0FA70E5B-6C12-4F01-8784-1BDACC17A2BF}">
      <dgm:prSet/>
      <dgm:spPr/>
      <dgm:t>
        <a:bodyPr/>
        <a:lstStyle/>
        <a:p>
          <a:endParaRPr lang="en-US"/>
        </a:p>
      </dgm:t>
    </dgm:pt>
    <dgm:pt modelId="{A21D2F56-DB37-492A-BDFD-5ADE9B879CB3}" type="sibTrans" cxnId="{0FA70E5B-6C12-4F01-8784-1BDACC17A2BF}">
      <dgm:prSet/>
      <dgm:spPr/>
      <dgm:t>
        <a:bodyPr/>
        <a:lstStyle/>
        <a:p>
          <a:endParaRPr lang="en-US"/>
        </a:p>
      </dgm:t>
    </dgm:pt>
    <dgm:pt modelId="{7A3F4739-0976-4922-A154-F299522A7D97}" type="pres">
      <dgm:prSet presAssocID="{41A2A077-1AD7-4A47-BB5A-7C47A1EAE863}" presName="root" presStyleCnt="0">
        <dgm:presLayoutVars>
          <dgm:dir/>
          <dgm:resizeHandles val="exact"/>
        </dgm:presLayoutVars>
      </dgm:prSet>
      <dgm:spPr/>
    </dgm:pt>
    <dgm:pt modelId="{ED7D2D1C-761D-4CCB-B550-C3DFB8073ADE}" type="pres">
      <dgm:prSet presAssocID="{C9D3A248-7AED-4BA9-926A-637E229A9D26}" presName="compNode" presStyleCnt="0"/>
      <dgm:spPr/>
    </dgm:pt>
    <dgm:pt modelId="{EF19A54D-CFCE-449F-99AF-C9D74824E652}" type="pres">
      <dgm:prSet presAssocID="{C9D3A248-7AED-4BA9-926A-637E229A9D26}" presName="bgRect" presStyleLbl="bgShp" presStyleIdx="0" presStyleCnt="6"/>
      <dgm:spPr>
        <a:solidFill>
          <a:schemeClr val="accent3">
            <a:lumMod val="60000"/>
            <a:lumOff val="40000"/>
          </a:schemeClr>
        </a:solidFill>
      </dgm:spPr>
    </dgm:pt>
    <dgm:pt modelId="{2CEA8E54-821E-4F59-AD6A-15C44EBD440E}" type="pres">
      <dgm:prSet presAssocID="{C9D3A248-7AED-4BA9-926A-637E229A9D26}" presName="iconRect" presStyleLbl="node1" presStyleIdx="0" presStyleCnt="6"/>
      <dgm:spPr>
        <a:blipFill>
          <a:blip xmlns:r="http://schemas.openxmlformats.org/officeDocument/2006/relationships" r:embed="rId1">
            <a:extLst>
              <a:ext uri="{96DAC541-7B7A-43D3-8B79-37D633B846F1}">
                <asvg:svgBlip xmlns:asvg="http://schemas.microsoft.com/office/drawing/2016/SVG/main" r:embed="rId2"/>
              </a:ext>
            </a:extLst>
          </a:blip>
          <a:srcRect/>
          <a:stretch>
            <a:fillRect/>
          </a:stretch>
        </a:blipFill>
        <a:ln>
          <a:noFill/>
        </a:ln>
      </dgm:spPr>
      <dgm:extLst>
        <a:ext uri="{E40237B7-FDA0-4F09-8148-C483321AD2D9}">
          <dgm14:cNvPr xmlns:dgm14="http://schemas.microsoft.com/office/drawing/2010/diagram" id="0" name="" descr="Lichter an mit einfarbiger Füllung"/>
        </a:ext>
      </dgm:extLst>
    </dgm:pt>
    <dgm:pt modelId="{06EE0989-32E8-4F45-97A9-D5546BD2BDF3}" type="pres">
      <dgm:prSet presAssocID="{C9D3A248-7AED-4BA9-926A-637E229A9D26}" presName="spaceRect" presStyleCnt="0"/>
      <dgm:spPr/>
    </dgm:pt>
    <dgm:pt modelId="{15333C6F-709F-4D7F-B00A-ED254A0F757D}" type="pres">
      <dgm:prSet presAssocID="{C9D3A248-7AED-4BA9-926A-637E229A9D26}" presName="parTx" presStyleLbl="revTx" presStyleIdx="0" presStyleCnt="6">
        <dgm:presLayoutVars>
          <dgm:chMax val="0"/>
          <dgm:chPref val="0"/>
        </dgm:presLayoutVars>
      </dgm:prSet>
      <dgm:spPr/>
    </dgm:pt>
    <dgm:pt modelId="{BC52804B-049D-4656-BAD7-6869FEA8D947}" type="pres">
      <dgm:prSet presAssocID="{CC19A8BF-63DC-4A08-8485-7A729278D00F}" presName="sibTrans" presStyleCnt="0"/>
      <dgm:spPr/>
    </dgm:pt>
    <dgm:pt modelId="{E22673F7-8EE0-4E80-A012-A0DAF99EFF7E}" type="pres">
      <dgm:prSet presAssocID="{BE8B713C-A8A0-40EF-B3D3-A3220B2EDF50}" presName="compNode" presStyleCnt="0"/>
      <dgm:spPr/>
    </dgm:pt>
    <dgm:pt modelId="{A19D4935-2A89-4ABF-A3D9-4BC912309DFE}" type="pres">
      <dgm:prSet presAssocID="{BE8B713C-A8A0-40EF-B3D3-A3220B2EDF50}" presName="bgRect" presStyleLbl="bgShp" presStyleIdx="1" presStyleCnt="6"/>
      <dgm:spPr>
        <a:solidFill>
          <a:schemeClr val="accent3">
            <a:lumMod val="60000"/>
            <a:lumOff val="40000"/>
          </a:schemeClr>
        </a:solidFill>
      </dgm:spPr>
    </dgm:pt>
    <dgm:pt modelId="{0B02E532-AD48-44A2-9454-59D17A514ABA}" type="pres">
      <dgm:prSet presAssocID="{BE8B713C-A8A0-40EF-B3D3-A3220B2EDF50}" presName="iconRect" presStyleLbl="node1" presStyleIdx="1" presStyleCnt="6"/>
      <dgm:spPr>
        <a:blipFill>
          <a:blip xmlns:r="http://schemas.openxmlformats.org/officeDocument/2006/relationships" r:embed="rId3">
            <a:extLst>
              <a:ext uri="{96DAC541-7B7A-43D3-8B79-37D633B846F1}">
                <asvg:svgBlip xmlns:asvg="http://schemas.microsoft.com/office/drawing/2016/SVG/main" r:embed="rId4"/>
              </a:ext>
            </a:extLst>
          </a:blip>
          <a:srcRect/>
          <a:stretch>
            <a:fillRect/>
          </a:stretch>
        </a:blipFill>
        <a:ln>
          <a:noFill/>
        </a:ln>
      </dgm:spPr>
      <dgm:extLst>
        <a:ext uri="{E40237B7-FDA0-4F09-8148-C483321AD2D9}">
          <dgm14:cNvPr xmlns:dgm14="http://schemas.microsoft.com/office/drawing/2010/diagram" id="0" name="" descr="Geschlossenes Buch mit einfarbiger Füllung"/>
        </a:ext>
      </dgm:extLst>
    </dgm:pt>
    <dgm:pt modelId="{B1EB2648-B1D0-4957-8839-2DCEFE5910ED}" type="pres">
      <dgm:prSet presAssocID="{BE8B713C-A8A0-40EF-B3D3-A3220B2EDF50}" presName="spaceRect" presStyleCnt="0"/>
      <dgm:spPr/>
    </dgm:pt>
    <dgm:pt modelId="{BCB9E448-F070-4D72-A4B2-DC8BD187B9AD}" type="pres">
      <dgm:prSet presAssocID="{BE8B713C-A8A0-40EF-B3D3-A3220B2EDF50}" presName="parTx" presStyleLbl="revTx" presStyleIdx="1" presStyleCnt="6">
        <dgm:presLayoutVars>
          <dgm:chMax val="0"/>
          <dgm:chPref val="0"/>
        </dgm:presLayoutVars>
      </dgm:prSet>
      <dgm:spPr/>
    </dgm:pt>
    <dgm:pt modelId="{DBD9D5A2-D6C5-4C59-942B-F49418955697}" type="pres">
      <dgm:prSet presAssocID="{AB7F9119-9237-4E03-B2E1-4A1665369F52}" presName="sibTrans" presStyleCnt="0"/>
      <dgm:spPr/>
    </dgm:pt>
    <dgm:pt modelId="{645D82B4-CD39-4995-B580-6F9DE73F4E13}" type="pres">
      <dgm:prSet presAssocID="{8DB5AE72-FB3C-486F-8564-A7170CF56279}" presName="compNode" presStyleCnt="0"/>
      <dgm:spPr/>
    </dgm:pt>
    <dgm:pt modelId="{1726334D-97D6-493C-952A-A3A95FB581EA}" type="pres">
      <dgm:prSet presAssocID="{8DB5AE72-FB3C-486F-8564-A7170CF56279}" presName="bgRect" presStyleLbl="bgShp" presStyleIdx="2" presStyleCnt="6"/>
      <dgm:spPr/>
    </dgm:pt>
    <dgm:pt modelId="{B1C16F36-7510-44D1-8ABE-C60D7B32289A}" type="pres">
      <dgm:prSet presAssocID="{8DB5AE72-FB3C-486F-8564-A7170CF56279}" presName="iconRect" presStyleLbl="node1" presStyleIdx="2" presStyleCnt="6"/>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Netzwerk"/>
        </a:ext>
      </dgm:extLst>
    </dgm:pt>
    <dgm:pt modelId="{106F6C2E-A7FB-4E5F-978D-AA2E3E3174F5}" type="pres">
      <dgm:prSet presAssocID="{8DB5AE72-FB3C-486F-8564-A7170CF56279}" presName="spaceRect" presStyleCnt="0"/>
      <dgm:spPr/>
    </dgm:pt>
    <dgm:pt modelId="{B567ACDF-4AF2-4F1E-9392-9E6A6F7A52AF}" type="pres">
      <dgm:prSet presAssocID="{8DB5AE72-FB3C-486F-8564-A7170CF56279}" presName="parTx" presStyleLbl="revTx" presStyleIdx="2" presStyleCnt="6">
        <dgm:presLayoutVars>
          <dgm:chMax val="0"/>
          <dgm:chPref val="0"/>
        </dgm:presLayoutVars>
      </dgm:prSet>
      <dgm:spPr/>
    </dgm:pt>
    <dgm:pt modelId="{56B09FDC-C438-49B4-BADA-67F3DDE61096}" type="pres">
      <dgm:prSet presAssocID="{A8F7831D-727D-48C0-B576-909ACB82495B}" presName="sibTrans" presStyleCnt="0"/>
      <dgm:spPr/>
    </dgm:pt>
    <dgm:pt modelId="{271F043A-522A-4B04-96F8-A515B7847439}" type="pres">
      <dgm:prSet presAssocID="{FB42F33C-D110-4153-B83E-E17382B4EE4D}" presName="compNode" presStyleCnt="0"/>
      <dgm:spPr/>
    </dgm:pt>
    <dgm:pt modelId="{3E7A0676-A6B3-4023-B903-84ACE8378193}" type="pres">
      <dgm:prSet presAssocID="{FB42F33C-D110-4153-B83E-E17382B4EE4D}" presName="bgRect" presStyleLbl="bgShp" presStyleIdx="3" presStyleCnt="6"/>
      <dgm:spPr/>
    </dgm:pt>
    <dgm:pt modelId="{5764F7B9-F251-4F0E-9FFA-E2453147F81B}" type="pres">
      <dgm:prSet presAssocID="{FB42F33C-D110-4153-B83E-E17382B4EE4D}" presName="iconRect" presStyleLbl="node1" presStyleIdx="3" presStyleCnt="6"/>
      <dgm:spPr>
        <a:blipFill>
          <a:blip xmlns:r="http://schemas.openxmlformats.org/officeDocument/2006/relationships" r:embed="rId7">
            <a:extLst>
              <a:ext uri="{96DAC541-7B7A-43D3-8B79-37D633B846F1}">
                <asvg:svgBlip xmlns:asvg="http://schemas.microsoft.com/office/drawing/2016/SVG/main" r:embed="rId8"/>
              </a:ext>
            </a:extLst>
          </a:blip>
          <a:srcRect/>
          <a:stretch>
            <a:fillRect/>
          </a:stretch>
        </a:blipFill>
        <a:ln>
          <a:noFill/>
        </a:ln>
      </dgm:spPr>
      <dgm:extLst>
        <a:ext uri="{E40237B7-FDA0-4F09-8148-C483321AD2D9}">
          <dgm14:cNvPr xmlns:dgm14="http://schemas.microsoft.com/office/drawing/2010/diagram" id="0" name="" descr="Kreise mit Pfeilen mit einfarbiger Füllung"/>
        </a:ext>
      </dgm:extLst>
    </dgm:pt>
    <dgm:pt modelId="{459CAB3E-AB40-4231-9731-3F0F95CA3F4D}" type="pres">
      <dgm:prSet presAssocID="{FB42F33C-D110-4153-B83E-E17382B4EE4D}" presName="spaceRect" presStyleCnt="0"/>
      <dgm:spPr/>
    </dgm:pt>
    <dgm:pt modelId="{018E2E0F-A9CF-4D7A-8FC9-E661984AA8A9}" type="pres">
      <dgm:prSet presAssocID="{FB42F33C-D110-4153-B83E-E17382B4EE4D}" presName="parTx" presStyleLbl="revTx" presStyleIdx="3" presStyleCnt="6">
        <dgm:presLayoutVars>
          <dgm:chMax val="0"/>
          <dgm:chPref val="0"/>
        </dgm:presLayoutVars>
      </dgm:prSet>
      <dgm:spPr/>
    </dgm:pt>
    <dgm:pt modelId="{3427E7A0-9DEA-4894-9DFC-70C274F69F72}" type="pres">
      <dgm:prSet presAssocID="{6A516003-15CD-41C5-ADD7-641B36E88D5C}" presName="sibTrans" presStyleCnt="0"/>
      <dgm:spPr/>
    </dgm:pt>
    <dgm:pt modelId="{AEBD0D26-0A41-4522-94FF-81F7A202A71D}" type="pres">
      <dgm:prSet presAssocID="{4046D48A-71AD-4E26-94E2-D454B35C2DE7}" presName="compNode" presStyleCnt="0"/>
      <dgm:spPr/>
    </dgm:pt>
    <dgm:pt modelId="{2B1294A4-607B-429E-B75F-C61F46D5E132}" type="pres">
      <dgm:prSet presAssocID="{4046D48A-71AD-4E26-94E2-D454B35C2DE7}" presName="bgRect" presStyleLbl="bgShp" presStyleIdx="4" presStyleCnt="6"/>
      <dgm:spPr/>
    </dgm:pt>
    <dgm:pt modelId="{A1589B68-4E27-41B2-B24B-B9922CB4F44A}" type="pres">
      <dgm:prSet presAssocID="{4046D48A-71AD-4E26-94E2-D454B35C2DE7}" presName="iconRect" presStyleLbl="node1" presStyleIdx="4" presStyleCnt="6"/>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Prüfliste"/>
        </a:ext>
      </dgm:extLst>
    </dgm:pt>
    <dgm:pt modelId="{F8FEF99E-1A7A-4B96-B867-EE1E43FC0AF8}" type="pres">
      <dgm:prSet presAssocID="{4046D48A-71AD-4E26-94E2-D454B35C2DE7}" presName="spaceRect" presStyleCnt="0"/>
      <dgm:spPr/>
    </dgm:pt>
    <dgm:pt modelId="{098F3509-BD77-4DE1-ADC6-F7E8BA7D64BB}" type="pres">
      <dgm:prSet presAssocID="{4046D48A-71AD-4E26-94E2-D454B35C2DE7}" presName="parTx" presStyleLbl="revTx" presStyleIdx="4" presStyleCnt="6">
        <dgm:presLayoutVars>
          <dgm:chMax val="0"/>
          <dgm:chPref val="0"/>
        </dgm:presLayoutVars>
      </dgm:prSet>
      <dgm:spPr/>
    </dgm:pt>
    <dgm:pt modelId="{9E3CA00A-10B4-45D4-B9D6-DA350A7AA44A}" type="pres">
      <dgm:prSet presAssocID="{885A181D-B0DF-4F07-875C-A3ECE1867446}" presName="sibTrans" presStyleCnt="0"/>
      <dgm:spPr/>
    </dgm:pt>
    <dgm:pt modelId="{C15A1B4E-1908-4C71-8692-60E376121C3E}" type="pres">
      <dgm:prSet presAssocID="{844CE739-53A9-4119-B743-A341714707BC}" presName="compNode" presStyleCnt="0"/>
      <dgm:spPr/>
    </dgm:pt>
    <dgm:pt modelId="{6CE9E455-F6AB-4714-8D39-8B38CA81D4E1}" type="pres">
      <dgm:prSet presAssocID="{844CE739-53A9-4119-B743-A341714707BC}" presName="bgRect" presStyleLbl="bgShp" presStyleIdx="5" presStyleCnt="6"/>
      <dgm:spPr/>
    </dgm:pt>
    <dgm:pt modelId="{E5D981AA-E427-44D0-9E6F-66657C983059}" type="pres">
      <dgm:prSet presAssocID="{844CE739-53A9-4119-B743-A341714707BC}" presName="iconRect" presStyleLbl="node1" presStyleIdx="5" presStyleCnt="6"/>
      <dgm:spPr>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a:noFill/>
        </a:ln>
      </dgm:spPr>
      <dgm:extLst>
        <a:ext uri="{E40237B7-FDA0-4F09-8148-C483321AD2D9}">
          <dgm14:cNvPr xmlns:dgm14="http://schemas.microsoft.com/office/drawing/2010/diagram" id="0" name="" descr="Auktionshammer"/>
        </a:ext>
      </dgm:extLst>
    </dgm:pt>
    <dgm:pt modelId="{B64EF20D-842A-42E0-B647-E63BECEE5C67}" type="pres">
      <dgm:prSet presAssocID="{844CE739-53A9-4119-B743-A341714707BC}" presName="spaceRect" presStyleCnt="0"/>
      <dgm:spPr/>
    </dgm:pt>
    <dgm:pt modelId="{E9692759-EFDC-431D-BE58-94A8A69B6566}" type="pres">
      <dgm:prSet presAssocID="{844CE739-53A9-4119-B743-A341714707BC}" presName="parTx" presStyleLbl="revTx" presStyleIdx="5" presStyleCnt="6">
        <dgm:presLayoutVars>
          <dgm:chMax val="0"/>
          <dgm:chPref val="0"/>
        </dgm:presLayoutVars>
      </dgm:prSet>
      <dgm:spPr/>
    </dgm:pt>
  </dgm:ptLst>
  <dgm:cxnLst>
    <dgm:cxn modelId="{0FA70E5B-6C12-4F01-8784-1BDACC17A2BF}" srcId="{41A2A077-1AD7-4A47-BB5A-7C47A1EAE863}" destId="{844CE739-53A9-4119-B743-A341714707BC}" srcOrd="5" destOrd="0" parTransId="{F3BE50C5-CE61-426A-9116-DB4AD1D73E62}" sibTransId="{A21D2F56-DB37-492A-BDFD-5ADE9B879CB3}"/>
    <dgm:cxn modelId="{FB6D306B-17F9-4F96-B22B-F6EE3451EF79}" srcId="{41A2A077-1AD7-4A47-BB5A-7C47A1EAE863}" destId="{8DB5AE72-FB3C-486F-8564-A7170CF56279}" srcOrd="2" destOrd="0" parTransId="{57F34DCF-77F3-4DE0-B8CF-4378DB143EDA}" sibTransId="{A8F7831D-727D-48C0-B576-909ACB82495B}"/>
    <dgm:cxn modelId="{71BE474C-E61C-48F5-9DAA-BE8C5EF3A926}" srcId="{41A2A077-1AD7-4A47-BB5A-7C47A1EAE863}" destId="{BE8B713C-A8A0-40EF-B3D3-A3220B2EDF50}" srcOrd="1" destOrd="0" parTransId="{E3E15B5C-151B-4593-81E6-C6EDC7F1E3C1}" sibTransId="{AB7F9119-9237-4E03-B2E1-4A1665369F52}"/>
    <dgm:cxn modelId="{5A520471-56BB-4EA5-BFF0-7AF6003ED5C1}" type="presOf" srcId="{FB42F33C-D110-4153-B83E-E17382B4EE4D}" destId="{018E2E0F-A9CF-4D7A-8FC9-E661984AA8A9}" srcOrd="0" destOrd="0" presId="urn:microsoft.com/office/officeart/2018/2/layout/IconVerticalSolidList"/>
    <dgm:cxn modelId="{CA345786-FA15-49A5-B1D6-67ECF2BD161E}" type="presOf" srcId="{844CE739-53A9-4119-B743-A341714707BC}" destId="{E9692759-EFDC-431D-BE58-94A8A69B6566}" srcOrd="0" destOrd="0" presId="urn:microsoft.com/office/officeart/2018/2/layout/IconVerticalSolidList"/>
    <dgm:cxn modelId="{A780F286-325E-464F-A194-34A6A1F8BFF4}" srcId="{41A2A077-1AD7-4A47-BB5A-7C47A1EAE863}" destId="{FB42F33C-D110-4153-B83E-E17382B4EE4D}" srcOrd="3" destOrd="0" parTransId="{38EE9AD5-F38A-49F0-8C87-7E26D29CF787}" sibTransId="{6A516003-15CD-41C5-ADD7-641B36E88D5C}"/>
    <dgm:cxn modelId="{1116A18B-17BD-4960-ABC5-6E5849B432B6}" type="presOf" srcId="{4046D48A-71AD-4E26-94E2-D454B35C2DE7}" destId="{098F3509-BD77-4DE1-ADC6-F7E8BA7D64BB}" srcOrd="0" destOrd="0" presId="urn:microsoft.com/office/officeart/2018/2/layout/IconVerticalSolidList"/>
    <dgm:cxn modelId="{277C9FAB-0BF6-4972-AEC5-8509B34A6EB5}" srcId="{41A2A077-1AD7-4A47-BB5A-7C47A1EAE863}" destId="{4046D48A-71AD-4E26-94E2-D454B35C2DE7}" srcOrd="4" destOrd="0" parTransId="{C63A2B48-B3A6-460A-B6CC-10CF2A2F73CD}" sibTransId="{885A181D-B0DF-4F07-875C-A3ECE1867446}"/>
    <dgm:cxn modelId="{82D406B5-9CB6-4C1D-AC1F-15C8E70E1497}" type="presOf" srcId="{BE8B713C-A8A0-40EF-B3D3-A3220B2EDF50}" destId="{BCB9E448-F070-4D72-A4B2-DC8BD187B9AD}" srcOrd="0" destOrd="0" presId="urn:microsoft.com/office/officeart/2018/2/layout/IconVerticalSolidList"/>
    <dgm:cxn modelId="{3B6672C9-BA5C-43CD-86E9-C789FCF27C0F}" type="presOf" srcId="{C9D3A248-7AED-4BA9-926A-637E229A9D26}" destId="{15333C6F-709F-4D7F-B00A-ED254A0F757D}" srcOrd="0" destOrd="0" presId="urn:microsoft.com/office/officeart/2018/2/layout/IconVerticalSolidList"/>
    <dgm:cxn modelId="{036451DD-CD0A-4A3A-9757-C6AF511796C8}" type="presOf" srcId="{8DB5AE72-FB3C-486F-8564-A7170CF56279}" destId="{B567ACDF-4AF2-4F1E-9392-9E6A6F7A52AF}" srcOrd="0" destOrd="0" presId="urn:microsoft.com/office/officeart/2018/2/layout/IconVerticalSolidList"/>
    <dgm:cxn modelId="{1259EEF6-C44C-48E2-9D9B-C42BD7F16A92}" srcId="{41A2A077-1AD7-4A47-BB5A-7C47A1EAE863}" destId="{C9D3A248-7AED-4BA9-926A-637E229A9D26}" srcOrd="0" destOrd="0" parTransId="{92699862-8484-4E84-896F-98BD9D39D007}" sibTransId="{CC19A8BF-63DC-4A08-8485-7A729278D00F}"/>
    <dgm:cxn modelId="{A99E36FB-4DBE-46D4-AE74-4061F637E787}" type="presOf" srcId="{41A2A077-1AD7-4A47-BB5A-7C47A1EAE863}" destId="{7A3F4739-0976-4922-A154-F299522A7D97}" srcOrd="0" destOrd="0" presId="urn:microsoft.com/office/officeart/2018/2/layout/IconVerticalSolidList"/>
    <dgm:cxn modelId="{375D6DA0-E712-4135-AB0A-40E03C895860}" type="presParOf" srcId="{7A3F4739-0976-4922-A154-F299522A7D97}" destId="{ED7D2D1C-761D-4CCB-B550-C3DFB8073ADE}" srcOrd="0" destOrd="0" presId="urn:microsoft.com/office/officeart/2018/2/layout/IconVerticalSolidList"/>
    <dgm:cxn modelId="{4B3C5DA3-4487-4E94-869D-9101674932CC}" type="presParOf" srcId="{ED7D2D1C-761D-4CCB-B550-C3DFB8073ADE}" destId="{EF19A54D-CFCE-449F-99AF-C9D74824E652}" srcOrd="0" destOrd="0" presId="urn:microsoft.com/office/officeart/2018/2/layout/IconVerticalSolidList"/>
    <dgm:cxn modelId="{70BD50D6-E7F5-453B-A11D-5B34A2945AEB}" type="presParOf" srcId="{ED7D2D1C-761D-4CCB-B550-C3DFB8073ADE}" destId="{2CEA8E54-821E-4F59-AD6A-15C44EBD440E}" srcOrd="1" destOrd="0" presId="urn:microsoft.com/office/officeart/2018/2/layout/IconVerticalSolidList"/>
    <dgm:cxn modelId="{E4FC827E-B882-4979-8B55-213F9F87B73F}" type="presParOf" srcId="{ED7D2D1C-761D-4CCB-B550-C3DFB8073ADE}" destId="{06EE0989-32E8-4F45-97A9-D5546BD2BDF3}" srcOrd="2" destOrd="0" presId="urn:microsoft.com/office/officeart/2018/2/layout/IconVerticalSolidList"/>
    <dgm:cxn modelId="{98C9DCD2-6D0E-4A0D-A62B-F63FA1FA6EE3}" type="presParOf" srcId="{ED7D2D1C-761D-4CCB-B550-C3DFB8073ADE}" destId="{15333C6F-709F-4D7F-B00A-ED254A0F757D}" srcOrd="3" destOrd="0" presId="urn:microsoft.com/office/officeart/2018/2/layout/IconVerticalSolidList"/>
    <dgm:cxn modelId="{CA7DD4D5-7824-450E-A365-A897A1FD6D28}" type="presParOf" srcId="{7A3F4739-0976-4922-A154-F299522A7D97}" destId="{BC52804B-049D-4656-BAD7-6869FEA8D947}" srcOrd="1" destOrd="0" presId="urn:microsoft.com/office/officeart/2018/2/layout/IconVerticalSolidList"/>
    <dgm:cxn modelId="{2EFCBBD4-4C26-49C1-BFFA-5FAB0BCE3044}" type="presParOf" srcId="{7A3F4739-0976-4922-A154-F299522A7D97}" destId="{E22673F7-8EE0-4E80-A012-A0DAF99EFF7E}" srcOrd="2" destOrd="0" presId="urn:microsoft.com/office/officeart/2018/2/layout/IconVerticalSolidList"/>
    <dgm:cxn modelId="{D4D612C0-F4B1-49B5-88BD-06E63EEEA728}" type="presParOf" srcId="{E22673F7-8EE0-4E80-A012-A0DAF99EFF7E}" destId="{A19D4935-2A89-4ABF-A3D9-4BC912309DFE}" srcOrd="0" destOrd="0" presId="urn:microsoft.com/office/officeart/2018/2/layout/IconVerticalSolidList"/>
    <dgm:cxn modelId="{1D557AD2-46B9-4F4C-8B8A-B37F4D92627D}" type="presParOf" srcId="{E22673F7-8EE0-4E80-A012-A0DAF99EFF7E}" destId="{0B02E532-AD48-44A2-9454-59D17A514ABA}" srcOrd="1" destOrd="0" presId="urn:microsoft.com/office/officeart/2018/2/layout/IconVerticalSolidList"/>
    <dgm:cxn modelId="{3F457478-9CBA-447E-8D09-AE5DE5F496AE}" type="presParOf" srcId="{E22673F7-8EE0-4E80-A012-A0DAF99EFF7E}" destId="{B1EB2648-B1D0-4957-8839-2DCEFE5910ED}" srcOrd="2" destOrd="0" presId="urn:microsoft.com/office/officeart/2018/2/layout/IconVerticalSolidList"/>
    <dgm:cxn modelId="{27D7D725-2520-4648-8A20-B9F58CA70D89}" type="presParOf" srcId="{E22673F7-8EE0-4E80-A012-A0DAF99EFF7E}" destId="{BCB9E448-F070-4D72-A4B2-DC8BD187B9AD}" srcOrd="3" destOrd="0" presId="urn:microsoft.com/office/officeart/2018/2/layout/IconVerticalSolidList"/>
    <dgm:cxn modelId="{FF09B6C8-AD06-4B47-9AFC-423F2D11B67D}" type="presParOf" srcId="{7A3F4739-0976-4922-A154-F299522A7D97}" destId="{DBD9D5A2-D6C5-4C59-942B-F49418955697}" srcOrd="3" destOrd="0" presId="urn:microsoft.com/office/officeart/2018/2/layout/IconVerticalSolidList"/>
    <dgm:cxn modelId="{E2BB8759-7425-4CD7-9982-AA91831638CE}" type="presParOf" srcId="{7A3F4739-0976-4922-A154-F299522A7D97}" destId="{645D82B4-CD39-4995-B580-6F9DE73F4E13}" srcOrd="4" destOrd="0" presId="urn:microsoft.com/office/officeart/2018/2/layout/IconVerticalSolidList"/>
    <dgm:cxn modelId="{E8F43C93-CF4A-46B1-9528-B6E4171A96FB}" type="presParOf" srcId="{645D82B4-CD39-4995-B580-6F9DE73F4E13}" destId="{1726334D-97D6-493C-952A-A3A95FB581EA}" srcOrd="0" destOrd="0" presId="urn:microsoft.com/office/officeart/2018/2/layout/IconVerticalSolidList"/>
    <dgm:cxn modelId="{2CC7EB1D-E989-4C1C-918A-848DB0ABEB17}" type="presParOf" srcId="{645D82B4-CD39-4995-B580-6F9DE73F4E13}" destId="{B1C16F36-7510-44D1-8ABE-C60D7B32289A}" srcOrd="1" destOrd="0" presId="urn:microsoft.com/office/officeart/2018/2/layout/IconVerticalSolidList"/>
    <dgm:cxn modelId="{612D152F-EC24-46C4-ACAF-AF6414F5FB78}" type="presParOf" srcId="{645D82B4-CD39-4995-B580-6F9DE73F4E13}" destId="{106F6C2E-A7FB-4E5F-978D-AA2E3E3174F5}" srcOrd="2" destOrd="0" presId="urn:microsoft.com/office/officeart/2018/2/layout/IconVerticalSolidList"/>
    <dgm:cxn modelId="{7740AFFB-98F8-4BD9-B3D5-8AAA2D23B690}" type="presParOf" srcId="{645D82B4-CD39-4995-B580-6F9DE73F4E13}" destId="{B567ACDF-4AF2-4F1E-9392-9E6A6F7A52AF}" srcOrd="3" destOrd="0" presId="urn:microsoft.com/office/officeart/2018/2/layout/IconVerticalSolidList"/>
    <dgm:cxn modelId="{793E5A02-AE39-45F1-9378-D978B2D5F9C8}" type="presParOf" srcId="{7A3F4739-0976-4922-A154-F299522A7D97}" destId="{56B09FDC-C438-49B4-BADA-67F3DDE61096}" srcOrd="5" destOrd="0" presId="urn:microsoft.com/office/officeart/2018/2/layout/IconVerticalSolidList"/>
    <dgm:cxn modelId="{FAC86F48-5C58-44C6-89D0-3B5A3D5D2A8B}" type="presParOf" srcId="{7A3F4739-0976-4922-A154-F299522A7D97}" destId="{271F043A-522A-4B04-96F8-A515B7847439}" srcOrd="6" destOrd="0" presId="urn:microsoft.com/office/officeart/2018/2/layout/IconVerticalSolidList"/>
    <dgm:cxn modelId="{6BA01C65-2E55-4DA2-A68F-B51A1174F566}" type="presParOf" srcId="{271F043A-522A-4B04-96F8-A515B7847439}" destId="{3E7A0676-A6B3-4023-B903-84ACE8378193}" srcOrd="0" destOrd="0" presId="urn:microsoft.com/office/officeart/2018/2/layout/IconVerticalSolidList"/>
    <dgm:cxn modelId="{B14B214B-1DA9-45AA-9680-9567A6F34D6D}" type="presParOf" srcId="{271F043A-522A-4B04-96F8-A515B7847439}" destId="{5764F7B9-F251-4F0E-9FFA-E2453147F81B}" srcOrd="1" destOrd="0" presId="urn:microsoft.com/office/officeart/2018/2/layout/IconVerticalSolidList"/>
    <dgm:cxn modelId="{C14776C2-B69F-44F8-9E9D-C240C1E2995A}" type="presParOf" srcId="{271F043A-522A-4B04-96F8-A515B7847439}" destId="{459CAB3E-AB40-4231-9731-3F0F95CA3F4D}" srcOrd="2" destOrd="0" presId="urn:microsoft.com/office/officeart/2018/2/layout/IconVerticalSolidList"/>
    <dgm:cxn modelId="{1FE467A6-CE91-48C9-BDD6-6760AF0D40CF}" type="presParOf" srcId="{271F043A-522A-4B04-96F8-A515B7847439}" destId="{018E2E0F-A9CF-4D7A-8FC9-E661984AA8A9}" srcOrd="3" destOrd="0" presId="urn:microsoft.com/office/officeart/2018/2/layout/IconVerticalSolidList"/>
    <dgm:cxn modelId="{CCAB981C-05FF-4589-AB45-0B1DE8781CEF}" type="presParOf" srcId="{7A3F4739-0976-4922-A154-F299522A7D97}" destId="{3427E7A0-9DEA-4894-9DFC-70C274F69F72}" srcOrd="7" destOrd="0" presId="urn:microsoft.com/office/officeart/2018/2/layout/IconVerticalSolidList"/>
    <dgm:cxn modelId="{DEEFBEB0-36B6-4DA1-B54B-E76C13AF4E20}" type="presParOf" srcId="{7A3F4739-0976-4922-A154-F299522A7D97}" destId="{AEBD0D26-0A41-4522-94FF-81F7A202A71D}" srcOrd="8" destOrd="0" presId="urn:microsoft.com/office/officeart/2018/2/layout/IconVerticalSolidList"/>
    <dgm:cxn modelId="{FA41C074-31E2-420A-A6E4-8C1E3EE3BAF9}" type="presParOf" srcId="{AEBD0D26-0A41-4522-94FF-81F7A202A71D}" destId="{2B1294A4-607B-429E-B75F-C61F46D5E132}" srcOrd="0" destOrd="0" presId="urn:microsoft.com/office/officeart/2018/2/layout/IconVerticalSolidList"/>
    <dgm:cxn modelId="{ED3FD682-C43D-4E90-8980-503E84951663}" type="presParOf" srcId="{AEBD0D26-0A41-4522-94FF-81F7A202A71D}" destId="{A1589B68-4E27-41B2-B24B-B9922CB4F44A}" srcOrd="1" destOrd="0" presId="urn:microsoft.com/office/officeart/2018/2/layout/IconVerticalSolidList"/>
    <dgm:cxn modelId="{A696984C-53E1-45AA-8271-D1B3BB824676}" type="presParOf" srcId="{AEBD0D26-0A41-4522-94FF-81F7A202A71D}" destId="{F8FEF99E-1A7A-4B96-B867-EE1E43FC0AF8}" srcOrd="2" destOrd="0" presId="urn:microsoft.com/office/officeart/2018/2/layout/IconVerticalSolidList"/>
    <dgm:cxn modelId="{7DC89BC5-F21A-472B-A67F-D5520C77B3A3}" type="presParOf" srcId="{AEBD0D26-0A41-4522-94FF-81F7A202A71D}" destId="{098F3509-BD77-4DE1-ADC6-F7E8BA7D64BB}" srcOrd="3" destOrd="0" presId="urn:microsoft.com/office/officeart/2018/2/layout/IconVerticalSolidList"/>
    <dgm:cxn modelId="{D60D7E82-73C6-4E63-9A28-5FF2CCD5022B}" type="presParOf" srcId="{7A3F4739-0976-4922-A154-F299522A7D97}" destId="{9E3CA00A-10B4-45D4-B9D6-DA350A7AA44A}" srcOrd="9" destOrd="0" presId="urn:microsoft.com/office/officeart/2018/2/layout/IconVerticalSolidList"/>
    <dgm:cxn modelId="{2E26DBB5-C088-4F23-8176-5BE6EDFCCA79}" type="presParOf" srcId="{7A3F4739-0976-4922-A154-F299522A7D97}" destId="{C15A1B4E-1908-4C71-8692-60E376121C3E}" srcOrd="10" destOrd="0" presId="urn:microsoft.com/office/officeart/2018/2/layout/IconVerticalSolidList"/>
    <dgm:cxn modelId="{CEE9D14D-8334-4FCF-AC00-B522FA9E6990}" type="presParOf" srcId="{C15A1B4E-1908-4C71-8692-60E376121C3E}" destId="{6CE9E455-F6AB-4714-8D39-8B38CA81D4E1}" srcOrd="0" destOrd="0" presId="urn:microsoft.com/office/officeart/2018/2/layout/IconVerticalSolidList"/>
    <dgm:cxn modelId="{0B4C25B5-2B70-4871-A2C7-A34220E99142}" type="presParOf" srcId="{C15A1B4E-1908-4C71-8692-60E376121C3E}" destId="{E5D981AA-E427-44D0-9E6F-66657C983059}" srcOrd="1" destOrd="0" presId="urn:microsoft.com/office/officeart/2018/2/layout/IconVerticalSolidList"/>
    <dgm:cxn modelId="{A6CC8DB6-2BE1-4BD7-A2B6-0583C36A6A9F}" type="presParOf" srcId="{C15A1B4E-1908-4C71-8692-60E376121C3E}" destId="{B64EF20D-842A-42E0-B647-E63BECEE5C67}" srcOrd="2" destOrd="0" presId="urn:microsoft.com/office/officeart/2018/2/layout/IconVerticalSolidList"/>
    <dgm:cxn modelId="{C7CD53E0-D984-45D2-9A55-B01C2EA483F1}" type="presParOf" srcId="{C15A1B4E-1908-4C71-8692-60E376121C3E}" destId="{E9692759-EFDC-431D-BE58-94A8A69B6566}"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7B85189C-2A33-419A-BDA0-0ED305DD7D0A}" type="doc">
      <dgm:prSet loTypeId="urn:microsoft.com/office/officeart/2008/layout/VerticalCurvedList" loCatId="list" qsTypeId="urn:microsoft.com/office/officeart/2005/8/quickstyle/simple3" qsCatId="simple" csTypeId="urn:microsoft.com/office/officeart/2005/8/colors/accent1_2" csCatId="accent1" phldr="1"/>
      <dgm:spPr/>
      <dgm:t>
        <a:bodyPr/>
        <a:lstStyle/>
        <a:p>
          <a:endParaRPr lang="en-US"/>
        </a:p>
      </dgm:t>
    </dgm:pt>
    <dgm:pt modelId="{00859AD0-8617-4E5C-B2F5-29803B2C102A}">
      <dgm:prSet phldrT="[Text]" custT="1"/>
      <dgm:spPr/>
      <dgm:t>
        <a:bodyPr/>
        <a:lstStyle/>
        <a:p>
          <a:r>
            <a:rPr lang="de-DE" sz="1400" dirty="0">
              <a:latin typeface="Arial" panose="020B0604020202020204" pitchFamily="34" charset="0"/>
              <a:cs typeface="Arial" panose="020B0604020202020204" pitchFamily="34" charset="0"/>
            </a:rPr>
            <a:t>Isabel.Feustel@uni-ulm.de</a:t>
          </a:r>
          <a:endParaRPr lang="en-US" sz="1400" dirty="0">
            <a:latin typeface="Arial" panose="020B0604020202020204" pitchFamily="34" charset="0"/>
            <a:cs typeface="Arial" panose="020B0604020202020204" pitchFamily="34" charset="0"/>
          </a:endParaRPr>
        </a:p>
      </dgm:t>
    </dgm:pt>
    <dgm:pt modelId="{F5FB3A9C-F512-468D-AB38-3567C9B1992F}" type="parTrans" cxnId="{3AB37866-B865-46C8-B918-C32564BD2940}">
      <dgm:prSet/>
      <dgm:spPr/>
      <dgm:t>
        <a:bodyPr/>
        <a:lstStyle/>
        <a:p>
          <a:endParaRPr lang="en-US" sz="1400">
            <a:latin typeface="Arial" panose="020B0604020202020204" pitchFamily="34" charset="0"/>
            <a:cs typeface="Arial" panose="020B0604020202020204" pitchFamily="34" charset="0"/>
          </a:endParaRPr>
        </a:p>
      </dgm:t>
    </dgm:pt>
    <dgm:pt modelId="{E6847BD5-A363-4B10-9CD8-AFCF7B4A665B}" type="sibTrans" cxnId="{3AB37866-B865-46C8-B918-C32564BD2940}">
      <dgm:prSet/>
      <dgm:spPr/>
      <dgm:t>
        <a:bodyPr/>
        <a:lstStyle/>
        <a:p>
          <a:endParaRPr lang="en-US" sz="1400">
            <a:latin typeface="Arial" panose="020B0604020202020204" pitchFamily="34" charset="0"/>
            <a:cs typeface="Arial" panose="020B0604020202020204" pitchFamily="34" charset="0"/>
          </a:endParaRPr>
        </a:p>
      </dgm:t>
    </dgm:pt>
    <dgm:pt modelId="{23CFEE10-4496-4970-A2CC-03C6E916543A}">
      <dgm:prSet phldrT="[Text]" custT="1"/>
      <dgm:spPr/>
      <dgm:t>
        <a:bodyPr/>
        <a:lstStyle/>
        <a:p>
          <a:r>
            <a:rPr lang="de-DE" sz="1400" dirty="0">
              <a:latin typeface="Arial" panose="020B0604020202020204" pitchFamily="34" charset="0"/>
              <a:cs typeface="Arial" panose="020B0604020202020204" pitchFamily="34" charset="0"/>
            </a:rPr>
            <a:t>Find </a:t>
          </a:r>
          <a:r>
            <a:rPr lang="de-DE" sz="1400" dirty="0" err="1">
              <a:latin typeface="Arial" panose="020B0604020202020204" pitchFamily="34" charset="0"/>
              <a:cs typeface="Arial" panose="020B0604020202020204" pitchFamily="34" charset="0"/>
            </a:rPr>
            <a:t>me</a:t>
          </a:r>
          <a:r>
            <a:rPr lang="de-DE" sz="1400" dirty="0">
              <a:latin typeface="Arial" panose="020B0604020202020204" pitchFamily="34" charset="0"/>
              <a:cs typeface="Arial" panose="020B0604020202020204" pitchFamily="34" charset="0"/>
            </a:rPr>
            <a:t> on LinkedIn</a:t>
          </a:r>
          <a:endParaRPr lang="en-US" sz="1400" dirty="0">
            <a:latin typeface="Arial" panose="020B0604020202020204" pitchFamily="34" charset="0"/>
            <a:cs typeface="Arial" panose="020B0604020202020204" pitchFamily="34" charset="0"/>
          </a:endParaRPr>
        </a:p>
      </dgm:t>
    </dgm:pt>
    <dgm:pt modelId="{0B33E73C-883E-40CC-8537-C80F581AB408}" type="parTrans" cxnId="{C8109DD2-E430-4938-A6F4-CF8C2D732349}">
      <dgm:prSet/>
      <dgm:spPr/>
      <dgm:t>
        <a:bodyPr/>
        <a:lstStyle/>
        <a:p>
          <a:endParaRPr lang="en-US" sz="1400">
            <a:latin typeface="Arial" panose="020B0604020202020204" pitchFamily="34" charset="0"/>
            <a:cs typeface="Arial" panose="020B0604020202020204" pitchFamily="34" charset="0"/>
          </a:endParaRPr>
        </a:p>
      </dgm:t>
    </dgm:pt>
    <dgm:pt modelId="{BD57AE9B-4BAC-4947-8770-7878863DCCE2}" type="sibTrans" cxnId="{C8109DD2-E430-4938-A6F4-CF8C2D732349}">
      <dgm:prSet/>
      <dgm:spPr/>
      <dgm:t>
        <a:bodyPr/>
        <a:lstStyle/>
        <a:p>
          <a:endParaRPr lang="en-US" sz="1400">
            <a:latin typeface="Arial" panose="020B0604020202020204" pitchFamily="34" charset="0"/>
            <a:cs typeface="Arial" panose="020B0604020202020204" pitchFamily="34" charset="0"/>
          </a:endParaRPr>
        </a:p>
      </dgm:t>
    </dgm:pt>
    <dgm:pt modelId="{805D6872-F5A9-43C0-864D-6A510E2FA080}">
      <dgm:prSet phldrT="[Text]" custT="1"/>
      <dgm:spPr/>
      <dgm:t>
        <a:bodyPr/>
        <a:lstStyle/>
        <a:p>
          <a:r>
            <a:rPr lang="de-DE" sz="1400" dirty="0">
              <a:latin typeface="Arial" panose="020B0604020202020204" pitchFamily="34" charset="0"/>
              <a:cs typeface="Arial" panose="020B0604020202020204" pitchFamily="34" charset="0"/>
            </a:rPr>
            <a:t>https://nt.uni-ulm.de/ifeustel</a:t>
          </a:r>
          <a:endParaRPr lang="en-US" sz="1400" dirty="0">
            <a:latin typeface="Arial" panose="020B0604020202020204" pitchFamily="34" charset="0"/>
            <a:cs typeface="Arial" panose="020B0604020202020204" pitchFamily="34" charset="0"/>
          </a:endParaRPr>
        </a:p>
      </dgm:t>
    </dgm:pt>
    <dgm:pt modelId="{089F08B3-7BC4-4788-9576-DC23142331E1}" type="parTrans" cxnId="{DF6D804E-29D0-4C47-8713-3E32D1A745AA}">
      <dgm:prSet/>
      <dgm:spPr/>
      <dgm:t>
        <a:bodyPr/>
        <a:lstStyle/>
        <a:p>
          <a:endParaRPr lang="en-US" sz="1400">
            <a:latin typeface="Arial" panose="020B0604020202020204" pitchFamily="34" charset="0"/>
            <a:cs typeface="Arial" panose="020B0604020202020204" pitchFamily="34" charset="0"/>
          </a:endParaRPr>
        </a:p>
      </dgm:t>
    </dgm:pt>
    <dgm:pt modelId="{2ED8FFFC-C87C-4887-811F-9FB1DB2EEF08}" type="sibTrans" cxnId="{DF6D804E-29D0-4C47-8713-3E32D1A745AA}">
      <dgm:prSet/>
      <dgm:spPr/>
      <dgm:t>
        <a:bodyPr/>
        <a:lstStyle/>
        <a:p>
          <a:endParaRPr lang="en-US" sz="1400">
            <a:latin typeface="Arial" panose="020B0604020202020204" pitchFamily="34" charset="0"/>
            <a:cs typeface="Arial" panose="020B0604020202020204" pitchFamily="34" charset="0"/>
          </a:endParaRPr>
        </a:p>
      </dgm:t>
    </dgm:pt>
    <dgm:pt modelId="{60C8F3EF-5EDC-4380-B24D-6A52C579A98B}" type="pres">
      <dgm:prSet presAssocID="{7B85189C-2A33-419A-BDA0-0ED305DD7D0A}" presName="Name0" presStyleCnt="0">
        <dgm:presLayoutVars>
          <dgm:chMax val="7"/>
          <dgm:chPref val="7"/>
          <dgm:dir/>
        </dgm:presLayoutVars>
      </dgm:prSet>
      <dgm:spPr/>
    </dgm:pt>
    <dgm:pt modelId="{9F2FBEB1-E52A-4F52-A1A6-EFFED71084C0}" type="pres">
      <dgm:prSet presAssocID="{7B85189C-2A33-419A-BDA0-0ED305DD7D0A}" presName="Name1" presStyleCnt="0"/>
      <dgm:spPr/>
    </dgm:pt>
    <dgm:pt modelId="{0B1D9E9D-5275-45E3-AB12-C48F04CF0D0D}" type="pres">
      <dgm:prSet presAssocID="{7B85189C-2A33-419A-BDA0-0ED305DD7D0A}" presName="cycle" presStyleCnt="0"/>
      <dgm:spPr/>
    </dgm:pt>
    <dgm:pt modelId="{AC8879A6-B313-4378-8A32-BAE34DAE9956}" type="pres">
      <dgm:prSet presAssocID="{7B85189C-2A33-419A-BDA0-0ED305DD7D0A}" presName="srcNode" presStyleLbl="node1" presStyleIdx="0" presStyleCnt="3"/>
      <dgm:spPr/>
    </dgm:pt>
    <dgm:pt modelId="{4FF84FAC-1942-4BC4-BB90-74812C32CDE6}" type="pres">
      <dgm:prSet presAssocID="{7B85189C-2A33-419A-BDA0-0ED305DD7D0A}" presName="conn" presStyleLbl="parChTrans1D2" presStyleIdx="0" presStyleCnt="1"/>
      <dgm:spPr/>
    </dgm:pt>
    <dgm:pt modelId="{FDBF9048-FE94-4B9E-A5E8-1E0A4DC326B1}" type="pres">
      <dgm:prSet presAssocID="{7B85189C-2A33-419A-BDA0-0ED305DD7D0A}" presName="extraNode" presStyleLbl="node1" presStyleIdx="0" presStyleCnt="3"/>
      <dgm:spPr/>
    </dgm:pt>
    <dgm:pt modelId="{1AEBCD59-841D-48C5-BA44-177CEEAD0732}" type="pres">
      <dgm:prSet presAssocID="{7B85189C-2A33-419A-BDA0-0ED305DD7D0A}" presName="dstNode" presStyleLbl="node1" presStyleIdx="0" presStyleCnt="3"/>
      <dgm:spPr/>
    </dgm:pt>
    <dgm:pt modelId="{D75F045F-96C2-4C02-A57C-405085B4F2EA}" type="pres">
      <dgm:prSet presAssocID="{00859AD0-8617-4E5C-B2F5-29803B2C102A}" presName="text_1" presStyleLbl="node1" presStyleIdx="0" presStyleCnt="3">
        <dgm:presLayoutVars>
          <dgm:bulletEnabled val="1"/>
        </dgm:presLayoutVars>
      </dgm:prSet>
      <dgm:spPr/>
    </dgm:pt>
    <dgm:pt modelId="{A824B143-101B-4D14-B344-81D8859C47C4}" type="pres">
      <dgm:prSet presAssocID="{00859AD0-8617-4E5C-B2F5-29803B2C102A}" presName="accent_1" presStyleCnt="0"/>
      <dgm:spPr/>
    </dgm:pt>
    <dgm:pt modelId="{BCCE2245-0FCE-40EE-A445-253AD7A43D75}" type="pres">
      <dgm:prSet presAssocID="{00859AD0-8617-4E5C-B2F5-29803B2C102A}" presName="accentRepeatNode" presStyleLbl="solidFgAcc1" presStyleIdx="0" presStyleCnt="3"/>
      <dgm:spPr/>
    </dgm:pt>
    <dgm:pt modelId="{5C0B8232-29CD-461E-9B23-7E09BA61D07C}" type="pres">
      <dgm:prSet presAssocID="{23CFEE10-4496-4970-A2CC-03C6E916543A}" presName="text_2" presStyleLbl="node1" presStyleIdx="1" presStyleCnt="3">
        <dgm:presLayoutVars>
          <dgm:bulletEnabled val="1"/>
        </dgm:presLayoutVars>
      </dgm:prSet>
      <dgm:spPr/>
    </dgm:pt>
    <dgm:pt modelId="{ABAFE390-C938-42B2-9280-EFC2D9F70AC4}" type="pres">
      <dgm:prSet presAssocID="{23CFEE10-4496-4970-A2CC-03C6E916543A}" presName="accent_2" presStyleCnt="0"/>
      <dgm:spPr/>
    </dgm:pt>
    <dgm:pt modelId="{2EE29E75-0CB2-4423-AE54-621393C14794}" type="pres">
      <dgm:prSet presAssocID="{23CFEE10-4496-4970-A2CC-03C6E916543A}" presName="accentRepeatNode" presStyleLbl="solidFgAcc1" presStyleIdx="1" presStyleCnt="3"/>
      <dgm:spPr/>
    </dgm:pt>
    <dgm:pt modelId="{D6E6633E-4AFB-4166-AB85-EB75621C6D3A}" type="pres">
      <dgm:prSet presAssocID="{805D6872-F5A9-43C0-864D-6A510E2FA080}" presName="text_3" presStyleLbl="node1" presStyleIdx="2" presStyleCnt="3">
        <dgm:presLayoutVars>
          <dgm:bulletEnabled val="1"/>
        </dgm:presLayoutVars>
      </dgm:prSet>
      <dgm:spPr/>
    </dgm:pt>
    <dgm:pt modelId="{1747C3EE-E9A4-4660-BCF9-18B829EDECCE}" type="pres">
      <dgm:prSet presAssocID="{805D6872-F5A9-43C0-864D-6A510E2FA080}" presName="accent_3" presStyleCnt="0"/>
      <dgm:spPr/>
    </dgm:pt>
    <dgm:pt modelId="{D0F7109F-5091-4781-BDD3-96F132F88E40}" type="pres">
      <dgm:prSet presAssocID="{805D6872-F5A9-43C0-864D-6A510E2FA080}" presName="accentRepeatNode" presStyleLbl="solidFgAcc1" presStyleIdx="2" presStyleCnt="3"/>
      <dgm:spPr/>
    </dgm:pt>
  </dgm:ptLst>
  <dgm:cxnLst>
    <dgm:cxn modelId="{B8CB0A63-3529-4566-B252-DB50CCEDD131}" type="presOf" srcId="{23CFEE10-4496-4970-A2CC-03C6E916543A}" destId="{5C0B8232-29CD-461E-9B23-7E09BA61D07C}" srcOrd="0" destOrd="0" presId="urn:microsoft.com/office/officeart/2008/layout/VerticalCurvedList"/>
    <dgm:cxn modelId="{EF0E7A63-F64C-41F6-B71A-55CF4AE45D5C}" type="presOf" srcId="{00859AD0-8617-4E5C-B2F5-29803B2C102A}" destId="{D75F045F-96C2-4C02-A57C-405085B4F2EA}" srcOrd="0" destOrd="0" presId="urn:microsoft.com/office/officeart/2008/layout/VerticalCurvedList"/>
    <dgm:cxn modelId="{3AB37866-B865-46C8-B918-C32564BD2940}" srcId="{7B85189C-2A33-419A-BDA0-0ED305DD7D0A}" destId="{00859AD0-8617-4E5C-B2F5-29803B2C102A}" srcOrd="0" destOrd="0" parTransId="{F5FB3A9C-F512-468D-AB38-3567C9B1992F}" sibTransId="{E6847BD5-A363-4B10-9CD8-AFCF7B4A665B}"/>
    <dgm:cxn modelId="{DF6D804E-29D0-4C47-8713-3E32D1A745AA}" srcId="{7B85189C-2A33-419A-BDA0-0ED305DD7D0A}" destId="{805D6872-F5A9-43C0-864D-6A510E2FA080}" srcOrd="2" destOrd="0" parTransId="{089F08B3-7BC4-4788-9576-DC23142331E1}" sibTransId="{2ED8FFFC-C87C-4887-811F-9FB1DB2EEF08}"/>
    <dgm:cxn modelId="{5BE30F51-AF01-437E-AF6D-DBC95A55EC1C}" type="presOf" srcId="{E6847BD5-A363-4B10-9CD8-AFCF7B4A665B}" destId="{4FF84FAC-1942-4BC4-BB90-74812C32CDE6}" srcOrd="0" destOrd="0" presId="urn:microsoft.com/office/officeart/2008/layout/VerticalCurvedList"/>
    <dgm:cxn modelId="{6CFCA952-91AD-446A-ABCB-B70C16BD330E}" type="presOf" srcId="{7B85189C-2A33-419A-BDA0-0ED305DD7D0A}" destId="{60C8F3EF-5EDC-4380-B24D-6A52C579A98B}" srcOrd="0" destOrd="0" presId="urn:microsoft.com/office/officeart/2008/layout/VerticalCurvedList"/>
    <dgm:cxn modelId="{E254EA94-6B41-436C-9BF2-202AA865E6C7}" type="presOf" srcId="{805D6872-F5A9-43C0-864D-6A510E2FA080}" destId="{D6E6633E-4AFB-4166-AB85-EB75621C6D3A}" srcOrd="0" destOrd="0" presId="urn:microsoft.com/office/officeart/2008/layout/VerticalCurvedList"/>
    <dgm:cxn modelId="{C8109DD2-E430-4938-A6F4-CF8C2D732349}" srcId="{7B85189C-2A33-419A-BDA0-0ED305DD7D0A}" destId="{23CFEE10-4496-4970-A2CC-03C6E916543A}" srcOrd="1" destOrd="0" parTransId="{0B33E73C-883E-40CC-8537-C80F581AB408}" sibTransId="{BD57AE9B-4BAC-4947-8770-7878863DCCE2}"/>
    <dgm:cxn modelId="{E0703B14-1409-4765-B99C-F68EB10135C1}" type="presParOf" srcId="{60C8F3EF-5EDC-4380-B24D-6A52C579A98B}" destId="{9F2FBEB1-E52A-4F52-A1A6-EFFED71084C0}" srcOrd="0" destOrd="0" presId="urn:microsoft.com/office/officeart/2008/layout/VerticalCurvedList"/>
    <dgm:cxn modelId="{6174A491-5619-463F-9598-CAB863C46048}" type="presParOf" srcId="{9F2FBEB1-E52A-4F52-A1A6-EFFED71084C0}" destId="{0B1D9E9D-5275-45E3-AB12-C48F04CF0D0D}" srcOrd="0" destOrd="0" presId="urn:microsoft.com/office/officeart/2008/layout/VerticalCurvedList"/>
    <dgm:cxn modelId="{5AF7D403-B28A-4D3D-86BC-A4A92AAF4364}" type="presParOf" srcId="{0B1D9E9D-5275-45E3-AB12-C48F04CF0D0D}" destId="{AC8879A6-B313-4378-8A32-BAE34DAE9956}" srcOrd="0" destOrd="0" presId="urn:microsoft.com/office/officeart/2008/layout/VerticalCurvedList"/>
    <dgm:cxn modelId="{E1672510-5AD3-4E91-AFEB-2AC3BA7BD931}" type="presParOf" srcId="{0B1D9E9D-5275-45E3-AB12-C48F04CF0D0D}" destId="{4FF84FAC-1942-4BC4-BB90-74812C32CDE6}" srcOrd="1" destOrd="0" presId="urn:microsoft.com/office/officeart/2008/layout/VerticalCurvedList"/>
    <dgm:cxn modelId="{8083CE11-3941-4214-8DAB-857466CA42D3}" type="presParOf" srcId="{0B1D9E9D-5275-45E3-AB12-C48F04CF0D0D}" destId="{FDBF9048-FE94-4B9E-A5E8-1E0A4DC326B1}" srcOrd="2" destOrd="0" presId="urn:microsoft.com/office/officeart/2008/layout/VerticalCurvedList"/>
    <dgm:cxn modelId="{A1B1DF49-C99E-49BF-974D-C7D44E4DE4BB}" type="presParOf" srcId="{0B1D9E9D-5275-45E3-AB12-C48F04CF0D0D}" destId="{1AEBCD59-841D-48C5-BA44-177CEEAD0732}" srcOrd="3" destOrd="0" presId="urn:microsoft.com/office/officeart/2008/layout/VerticalCurvedList"/>
    <dgm:cxn modelId="{1A32A732-A9D9-4C91-B67E-E2FB49039DA2}" type="presParOf" srcId="{9F2FBEB1-E52A-4F52-A1A6-EFFED71084C0}" destId="{D75F045F-96C2-4C02-A57C-405085B4F2EA}" srcOrd="1" destOrd="0" presId="urn:microsoft.com/office/officeart/2008/layout/VerticalCurvedList"/>
    <dgm:cxn modelId="{90CDF0D5-E83D-4D51-A25A-C907E41B96C5}" type="presParOf" srcId="{9F2FBEB1-E52A-4F52-A1A6-EFFED71084C0}" destId="{A824B143-101B-4D14-B344-81D8859C47C4}" srcOrd="2" destOrd="0" presId="urn:microsoft.com/office/officeart/2008/layout/VerticalCurvedList"/>
    <dgm:cxn modelId="{A64BC4F1-E28B-4876-B956-CD61DB897CBC}" type="presParOf" srcId="{A824B143-101B-4D14-B344-81D8859C47C4}" destId="{BCCE2245-0FCE-40EE-A445-253AD7A43D75}" srcOrd="0" destOrd="0" presId="urn:microsoft.com/office/officeart/2008/layout/VerticalCurvedList"/>
    <dgm:cxn modelId="{C7D10E37-E3AC-4BA7-B55F-AC6B672C5AA1}" type="presParOf" srcId="{9F2FBEB1-E52A-4F52-A1A6-EFFED71084C0}" destId="{5C0B8232-29CD-461E-9B23-7E09BA61D07C}" srcOrd="3" destOrd="0" presId="urn:microsoft.com/office/officeart/2008/layout/VerticalCurvedList"/>
    <dgm:cxn modelId="{034824B4-B4AB-4D68-B635-5C06F97E23FB}" type="presParOf" srcId="{9F2FBEB1-E52A-4F52-A1A6-EFFED71084C0}" destId="{ABAFE390-C938-42B2-9280-EFC2D9F70AC4}" srcOrd="4" destOrd="0" presId="urn:microsoft.com/office/officeart/2008/layout/VerticalCurvedList"/>
    <dgm:cxn modelId="{AE26A516-9D3E-4472-BB3A-78090F7A6284}" type="presParOf" srcId="{ABAFE390-C938-42B2-9280-EFC2D9F70AC4}" destId="{2EE29E75-0CB2-4423-AE54-621393C14794}" srcOrd="0" destOrd="0" presId="urn:microsoft.com/office/officeart/2008/layout/VerticalCurvedList"/>
    <dgm:cxn modelId="{AED957DE-8E7E-4A37-ABB3-404A82112CCF}" type="presParOf" srcId="{9F2FBEB1-E52A-4F52-A1A6-EFFED71084C0}" destId="{D6E6633E-4AFB-4166-AB85-EB75621C6D3A}" srcOrd="5" destOrd="0" presId="urn:microsoft.com/office/officeart/2008/layout/VerticalCurvedList"/>
    <dgm:cxn modelId="{789C6C57-A5EB-4CB3-97AE-87D70AE4C6A2}" type="presParOf" srcId="{9F2FBEB1-E52A-4F52-A1A6-EFFED71084C0}" destId="{1747C3EE-E9A4-4660-BCF9-18B829EDECCE}" srcOrd="6" destOrd="0" presId="urn:microsoft.com/office/officeart/2008/layout/VerticalCurvedList"/>
    <dgm:cxn modelId="{11B333FE-F99C-49B3-BD5D-F56B4EF57F10}" type="presParOf" srcId="{1747C3EE-E9A4-4660-BCF9-18B829EDECCE}" destId="{D0F7109F-5091-4781-BDD3-96F132F88E40}" srcOrd="0" destOrd="0" presId="urn:microsoft.com/office/officeart/2008/layout/VerticalCurved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F19A54D-CFCE-449F-99AF-C9D74824E652}">
      <dsp:nvSpPr>
        <dsp:cNvPr id="0" name=""/>
        <dsp:cNvSpPr/>
      </dsp:nvSpPr>
      <dsp:spPr>
        <a:xfrm>
          <a:off x="0" y="1186"/>
          <a:ext cx="8312397" cy="505399"/>
        </a:xfrm>
        <a:prstGeom prst="roundRect">
          <a:avLst>
            <a:gd name="adj" fmla="val 10000"/>
          </a:avLst>
        </a:prstGeom>
        <a:solidFill>
          <a:schemeClr val="accent3">
            <a:lumMod val="60000"/>
            <a:lumOff val="40000"/>
          </a:schemeClr>
        </a:solidFill>
        <a:ln>
          <a:noFill/>
        </a:ln>
        <a:effectLst/>
      </dsp:spPr>
      <dsp:style>
        <a:lnRef idx="0">
          <a:scrgbClr r="0" g="0" b="0"/>
        </a:lnRef>
        <a:fillRef idx="1">
          <a:scrgbClr r="0" g="0" b="0"/>
        </a:fillRef>
        <a:effectRef idx="0">
          <a:scrgbClr r="0" g="0" b="0"/>
        </a:effectRef>
        <a:fontRef idx="minor"/>
      </dsp:style>
    </dsp:sp>
    <dsp:sp modelId="{2CEA8E54-821E-4F59-AD6A-15C44EBD440E}">
      <dsp:nvSpPr>
        <dsp:cNvPr id="0" name=""/>
        <dsp:cNvSpPr/>
      </dsp:nvSpPr>
      <dsp:spPr>
        <a:xfrm>
          <a:off x="152883" y="114901"/>
          <a:ext cx="277969" cy="277969"/>
        </a:xfrm>
        <a:prstGeom prst="rect">
          <a:avLst/>
        </a:prstGeom>
        <a:blipFill>
          <a:blip xmlns:r="http://schemas.openxmlformats.org/officeDocument/2006/relationships" r:embed="rId1">
            <a:extLst>
              <a:ext uri="{96DAC541-7B7A-43D3-8B79-37D633B846F1}">
                <asvg:svgBlip xmlns:asvg="http://schemas.microsoft.com/office/drawing/2016/SVG/main" r:embed="rId2"/>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5333C6F-709F-4D7F-B00A-ED254A0F757D}">
      <dsp:nvSpPr>
        <dsp:cNvPr id="0" name=""/>
        <dsp:cNvSpPr/>
      </dsp:nvSpPr>
      <dsp:spPr>
        <a:xfrm>
          <a:off x="583736" y="1186"/>
          <a:ext cx="7728660" cy="50539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488" tIns="53488" rIns="53488" bIns="53488" numCol="1" spcCol="1270" anchor="ctr" anchorCtr="0">
          <a:noAutofit/>
        </a:bodyPr>
        <a:lstStyle/>
        <a:p>
          <a:pPr marL="0" lvl="0" indent="0" algn="l" defTabSz="844550">
            <a:lnSpc>
              <a:spcPct val="90000"/>
            </a:lnSpc>
            <a:spcBef>
              <a:spcPct val="0"/>
            </a:spcBef>
            <a:spcAft>
              <a:spcPct val="35000"/>
            </a:spcAft>
            <a:buNone/>
          </a:pPr>
          <a:r>
            <a:rPr lang="de-DE" sz="1900" kern="1200" dirty="0"/>
            <a:t>Motivation</a:t>
          </a:r>
          <a:endParaRPr lang="en-US" sz="1900" kern="1200" dirty="0"/>
        </a:p>
      </dsp:txBody>
      <dsp:txXfrm>
        <a:off x="583736" y="1186"/>
        <a:ext cx="7728660" cy="505399"/>
      </dsp:txXfrm>
    </dsp:sp>
    <dsp:sp modelId="{A19D4935-2A89-4ABF-A3D9-4BC912309DFE}">
      <dsp:nvSpPr>
        <dsp:cNvPr id="0" name=""/>
        <dsp:cNvSpPr/>
      </dsp:nvSpPr>
      <dsp:spPr>
        <a:xfrm>
          <a:off x="0" y="632935"/>
          <a:ext cx="8312397" cy="505399"/>
        </a:xfrm>
        <a:prstGeom prst="roundRect">
          <a:avLst>
            <a:gd name="adj" fmla="val 10000"/>
          </a:avLst>
        </a:prstGeom>
        <a:solidFill>
          <a:schemeClr val="accent3">
            <a:lumMod val="60000"/>
            <a:lumOff val="40000"/>
          </a:schemeClr>
        </a:solidFill>
        <a:ln>
          <a:noFill/>
        </a:ln>
        <a:effectLst/>
      </dsp:spPr>
      <dsp:style>
        <a:lnRef idx="0">
          <a:scrgbClr r="0" g="0" b="0"/>
        </a:lnRef>
        <a:fillRef idx="1">
          <a:scrgbClr r="0" g="0" b="0"/>
        </a:fillRef>
        <a:effectRef idx="0">
          <a:scrgbClr r="0" g="0" b="0"/>
        </a:effectRef>
        <a:fontRef idx="minor"/>
      </dsp:style>
    </dsp:sp>
    <dsp:sp modelId="{0B02E532-AD48-44A2-9454-59D17A514ABA}">
      <dsp:nvSpPr>
        <dsp:cNvPr id="0" name=""/>
        <dsp:cNvSpPr/>
      </dsp:nvSpPr>
      <dsp:spPr>
        <a:xfrm>
          <a:off x="152883" y="746650"/>
          <a:ext cx="277969" cy="277969"/>
        </a:xfrm>
        <a:prstGeom prst="rect">
          <a:avLst/>
        </a:prstGeom>
        <a:blipFill>
          <a:blip xmlns:r="http://schemas.openxmlformats.org/officeDocument/2006/relationships" r:embed="rId3">
            <a:extLst>
              <a:ext uri="{96DAC541-7B7A-43D3-8B79-37D633B846F1}">
                <asvg:svgBlip xmlns:asvg="http://schemas.microsoft.com/office/drawing/2016/SVG/main" r:embed="rId4"/>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CB9E448-F070-4D72-A4B2-DC8BD187B9AD}">
      <dsp:nvSpPr>
        <dsp:cNvPr id="0" name=""/>
        <dsp:cNvSpPr/>
      </dsp:nvSpPr>
      <dsp:spPr>
        <a:xfrm>
          <a:off x="583736" y="632935"/>
          <a:ext cx="7728660" cy="50539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488" tIns="53488" rIns="53488" bIns="53488" numCol="1" spcCol="1270" anchor="ctr" anchorCtr="0">
          <a:noAutofit/>
        </a:bodyPr>
        <a:lstStyle/>
        <a:p>
          <a:pPr marL="0" lvl="0" indent="0" algn="l" defTabSz="844550">
            <a:lnSpc>
              <a:spcPct val="90000"/>
            </a:lnSpc>
            <a:spcBef>
              <a:spcPct val="0"/>
            </a:spcBef>
            <a:spcAft>
              <a:spcPct val="35000"/>
            </a:spcAft>
            <a:buNone/>
          </a:pPr>
          <a:r>
            <a:rPr lang="de-DE" sz="1900" kern="1200" dirty="0"/>
            <a:t>Foundations </a:t>
          </a:r>
          <a:r>
            <a:rPr lang="de-DE" sz="1900" kern="1200" dirty="0" err="1"/>
            <a:t>of</a:t>
          </a:r>
          <a:r>
            <a:rPr lang="de-DE" sz="1900" kern="1200" dirty="0"/>
            <a:t> XAI</a:t>
          </a:r>
          <a:endParaRPr lang="en-US" sz="1900" kern="1200" dirty="0"/>
        </a:p>
      </dsp:txBody>
      <dsp:txXfrm>
        <a:off x="583736" y="632935"/>
        <a:ext cx="7728660" cy="505399"/>
      </dsp:txXfrm>
    </dsp:sp>
    <dsp:sp modelId="{1726334D-97D6-493C-952A-A3A95FB581EA}">
      <dsp:nvSpPr>
        <dsp:cNvPr id="0" name=""/>
        <dsp:cNvSpPr/>
      </dsp:nvSpPr>
      <dsp:spPr>
        <a:xfrm>
          <a:off x="0" y="1264685"/>
          <a:ext cx="8312397" cy="505399"/>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1C16F36-7510-44D1-8ABE-C60D7B32289A}">
      <dsp:nvSpPr>
        <dsp:cNvPr id="0" name=""/>
        <dsp:cNvSpPr/>
      </dsp:nvSpPr>
      <dsp:spPr>
        <a:xfrm>
          <a:off x="152883" y="1378400"/>
          <a:ext cx="277969" cy="277969"/>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567ACDF-4AF2-4F1E-9392-9E6A6F7A52AF}">
      <dsp:nvSpPr>
        <dsp:cNvPr id="0" name=""/>
        <dsp:cNvSpPr/>
      </dsp:nvSpPr>
      <dsp:spPr>
        <a:xfrm>
          <a:off x="583736" y="1264685"/>
          <a:ext cx="7728660" cy="50539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488" tIns="53488" rIns="53488" bIns="53488" numCol="1" spcCol="1270" anchor="ctr" anchorCtr="0">
          <a:noAutofit/>
        </a:bodyPr>
        <a:lstStyle/>
        <a:p>
          <a:pPr marL="0" lvl="0" indent="0" algn="l" defTabSz="844550">
            <a:lnSpc>
              <a:spcPct val="90000"/>
            </a:lnSpc>
            <a:spcBef>
              <a:spcPct val="0"/>
            </a:spcBef>
            <a:spcAft>
              <a:spcPct val="35000"/>
            </a:spcAft>
            <a:buNone/>
          </a:pPr>
          <a:r>
            <a:rPr lang="de-DE" sz="1900" kern="1200" dirty="0"/>
            <a:t>Concept </a:t>
          </a:r>
          <a:r>
            <a:rPr lang="de-DE" sz="1900" kern="1200" dirty="0" err="1"/>
            <a:t>for</a:t>
          </a:r>
          <a:r>
            <a:rPr lang="de-DE" sz="1900" kern="1200" dirty="0"/>
            <a:t> Domain Knowledge Integration</a:t>
          </a:r>
          <a:endParaRPr lang="en-US" sz="1900" kern="1200" dirty="0"/>
        </a:p>
      </dsp:txBody>
      <dsp:txXfrm>
        <a:off x="583736" y="1264685"/>
        <a:ext cx="7728660" cy="505399"/>
      </dsp:txXfrm>
    </dsp:sp>
    <dsp:sp modelId="{3E7A0676-A6B3-4023-B903-84ACE8378193}">
      <dsp:nvSpPr>
        <dsp:cNvPr id="0" name=""/>
        <dsp:cNvSpPr/>
      </dsp:nvSpPr>
      <dsp:spPr>
        <a:xfrm>
          <a:off x="0" y="1896434"/>
          <a:ext cx="8312397" cy="505399"/>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764F7B9-F251-4F0E-9FFA-E2453147F81B}">
      <dsp:nvSpPr>
        <dsp:cNvPr id="0" name=""/>
        <dsp:cNvSpPr/>
      </dsp:nvSpPr>
      <dsp:spPr>
        <a:xfrm>
          <a:off x="152883" y="2010149"/>
          <a:ext cx="277969" cy="277969"/>
        </a:xfrm>
        <a:prstGeom prst="rect">
          <a:avLst/>
        </a:prstGeom>
        <a:blipFill>
          <a:blip xmlns:r="http://schemas.openxmlformats.org/officeDocument/2006/relationships" r:embed="rId7">
            <a:extLst>
              <a:ext uri="{96DAC541-7B7A-43D3-8B79-37D633B846F1}">
                <asvg:svgBlip xmlns:asvg="http://schemas.microsoft.com/office/drawing/2016/SVG/main" r:embed="rId8"/>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018E2E0F-A9CF-4D7A-8FC9-E661984AA8A9}">
      <dsp:nvSpPr>
        <dsp:cNvPr id="0" name=""/>
        <dsp:cNvSpPr/>
      </dsp:nvSpPr>
      <dsp:spPr>
        <a:xfrm>
          <a:off x="583736" y="1896434"/>
          <a:ext cx="7728660" cy="50539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488" tIns="53488" rIns="53488" bIns="53488" numCol="1" spcCol="1270" anchor="ctr" anchorCtr="0">
          <a:noAutofit/>
        </a:bodyPr>
        <a:lstStyle/>
        <a:p>
          <a:pPr marL="0" lvl="0" indent="0" algn="l" defTabSz="844550">
            <a:lnSpc>
              <a:spcPct val="90000"/>
            </a:lnSpc>
            <a:spcBef>
              <a:spcPct val="0"/>
            </a:spcBef>
            <a:spcAft>
              <a:spcPct val="35000"/>
            </a:spcAft>
            <a:buNone/>
          </a:pPr>
          <a:r>
            <a:rPr lang="de-DE" sz="1900" kern="1200" dirty="0" err="1"/>
            <a:t>Automatic</a:t>
          </a:r>
          <a:r>
            <a:rPr lang="de-DE" sz="1900" kern="1200" dirty="0"/>
            <a:t> Generation </a:t>
          </a:r>
          <a:r>
            <a:rPr lang="de-DE" sz="1900" kern="1200" dirty="0" err="1"/>
            <a:t>of</a:t>
          </a:r>
          <a:r>
            <a:rPr lang="de-DE" sz="1900" kern="1200" dirty="0"/>
            <a:t> Structured Knowledge</a:t>
          </a:r>
          <a:endParaRPr lang="en-US" sz="1900" kern="1200" dirty="0"/>
        </a:p>
      </dsp:txBody>
      <dsp:txXfrm>
        <a:off x="583736" y="1896434"/>
        <a:ext cx="7728660" cy="505399"/>
      </dsp:txXfrm>
    </dsp:sp>
    <dsp:sp modelId="{2B1294A4-607B-429E-B75F-C61F46D5E132}">
      <dsp:nvSpPr>
        <dsp:cNvPr id="0" name=""/>
        <dsp:cNvSpPr/>
      </dsp:nvSpPr>
      <dsp:spPr>
        <a:xfrm>
          <a:off x="0" y="2528184"/>
          <a:ext cx="8312397" cy="505399"/>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1589B68-4E27-41B2-B24B-B9922CB4F44A}">
      <dsp:nvSpPr>
        <dsp:cNvPr id="0" name=""/>
        <dsp:cNvSpPr/>
      </dsp:nvSpPr>
      <dsp:spPr>
        <a:xfrm>
          <a:off x="152883" y="2641899"/>
          <a:ext cx="277969" cy="277969"/>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098F3509-BD77-4DE1-ADC6-F7E8BA7D64BB}">
      <dsp:nvSpPr>
        <dsp:cNvPr id="0" name=""/>
        <dsp:cNvSpPr/>
      </dsp:nvSpPr>
      <dsp:spPr>
        <a:xfrm>
          <a:off x="583736" y="2528184"/>
          <a:ext cx="7728660" cy="50539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488" tIns="53488" rIns="53488" bIns="53488" numCol="1" spcCol="1270" anchor="ctr" anchorCtr="0">
          <a:noAutofit/>
        </a:bodyPr>
        <a:lstStyle/>
        <a:p>
          <a:pPr marL="0" lvl="0" indent="0" algn="l" defTabSz="844550">
            <a:lnSpc>
              <a:spcPct val="90000"/>
            </a:lnSpc>
            <a:spcBef>
              <a:spcPct val="0"/>
            </a:spcBef>
            <a:spcAft>
              <a:spcPct val="35000"/>
            </a:spcAft>
            <a:buNone/>
          </a:pPr>
          <a:r>
            <a:rPr lang="de-DE" sz="1900" kern="1200"/>
            <a:t>Evaluation</a:t>
          </a:r>
          <a:endParaRPr lang="en-US" sz="1900" kern="1200"/>
        </a:p>
      </dsp:txBody>
      <dsp:txXfrm>
        <a:off x="583736" y="2528184"/>
        <a:ext cx="7728660" cy="505399"/>
      </dsp:txXfrm>
    </dsp:sp>
    <dsp:sp modelId="{6CE9E455-F6AB-4714-8D39-8B38CA81D4E1}">
      <dsp:nvSpPr>
        <dsp:cNvPr id="0" name=""/>
        <dsp:cNvSpPr/>
      </dsp:nvSpPr>
      <dsp:spPr>
        <a:xfrm>
          <a:off x="0" y="3159934"/>
          <a:ext cx="8312397" cy="505399"/>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5D981AA-E427-44D0-9E6F-66657C983059}">
      <dsp:nvSpPr>
        <dsp:cNvPr id="0" name=""/>
        <dsp:cNvSpPr/>
      </dsp:nvSpPr>
      <dsp:spPr>
        <a:xfrm>
          <a:off x="152883" y="3273649"/>
          <a:ext cx="277969" cy="277969"/>
        </a:xfrm>
        <a:prstGeom prst="rect">
          <a:avLst/>
        </a:prstGeom>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9692759-EFDC-431D-BE58-94A8A69B6566}">
      <dsp:nvSpPr>
        <dsp:cNvPr id="0" name=""/>
        <dsp:cNvSpPr/>
      </dsp:nvSpPr>
      <dsp:spPr>
        <a:xfrm>
          <a:off x="583736" y="3159934"/>
          <a:ext cx="7728660" cy="50539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488" tIns="53488" rIns="53488" bIns="53488" numCol="1" spcCol="1270" anchor="ctr" anchorCtr="0">
          <a:noAutofit/>
        </a:bodyPr>
        <a:lstStyle/>
        <a:p>
          <a:pPr marL="0" lvl="0" indent="0" algn="l" defTabSz="844550">
            <a:lnSpc>
              <a:spcPct val="90000"/>
            </a:lnSpc>
            <a:spcBef>
              <a:spcPct val="0"/>
            </a:spcBef>
            <a:spcAft>
              <a:spcPct val="35000"/>
            </a:spcAft>
            <a:buNone/>
          </a:pPr>
          <a:r>
            <a:rPr lang="de-DE" sz="1900" kern="1200" dirty="0" err="1"/>
            <a:t>Conclusion</a:t>
          </a:r>
          <a:endParaRPr lang="en-US" sz="1900" kern="1200" dirty="0"/>
        </a:p>
      </dsp:txBody>
      <dsp:txXfrm>
        <a:off x="583736" y="3159934"/>
        <a:ext cx="7728660" cy="505399"/>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FF84FAC-1942-4BC4-BB90-74812C32CDE6}">
      <dsp:nvSpPr>
        <dsp:cNvPr id="0" name=""/>
        <dsp:cNvSpPr/>
      </dsp:nvSpPr>
      <dsp:spPr>
        <a:xfrm>
          <a:off x="-2462079" y="-380248"/>
          <a:ext cx="2939849" cy="2939849"/>
        </a:xfrm>
        <a:prstGeom prst="blockArc">
          <a:avLst>
            <a:gd name="adj1" fmla="val 18900000"/>
            <a:gd name="adj2" fmla="val 2700000"/>
            <a:gd name="adj3" fmla="val 735"/>
          </a:avLst>
        </a:pr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D75F045F-96C2-4C02-A57C-405085B4F2EA}">
      <dsp:nvSpPr>
        <dsp:cNvPr id="0" name=""/>
        <dsp:cNvSpPr/>
      </dsp:nvSpPr>
      <dsp:spPr>
        <a:xfrm>
          <a:off x="307148" y="217935"/>
          <a:ext cx="2724468" cy="435870"/>
        </a:xfrm>
        <a:prstGeom prst="rect">
          <a:avLst/>
        </a:prstGeom>
        <a:gradFill rotWithShape="0">
          <a:gsLst>
            <a:gs pos="0">
              <a:schemeClr val="accent1">
                <a:hueOff val="0"/>
                <a:satOff val="0"/>
                <a:lumOff val="0"/>
                <a:alphaOff val="0"/>
                <a:lumMod val="110000"/>
                <a:satMod val="105000"/>
                <a:tint val="67000"/>
              </a:schemeClr>
            </a:gs>
            <a:gs pos="50000">
              <a:schemeClr val="accent1">
                <a:hueOff val="0"/>
                <a:satOff val="0"/>
                <a:lumOff val="0"/>
                <a:alphaOff val="0"/>
                <a:lumMod val="105000"/>
                <a:satMod val="103000"/>
                <a:tint val="73000"/>
              </a:schemeClr>
            </a:gs>
            <a:gs pos="100000">
              <a:schemeClr val="accen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345972" tIns="35560" rIns="35560" bIns="35560" numCol="1" spcCol="1270" anchor="ctr" anchorCtr="0">
          <a:noAutofit/>
        </a:bodyPr>
        <a:lstStyle/>
        <a:p>
          <a:pPr marL="0" lvl="0" indent="0" algn="l" defTabSz="622300">
            <a:lnSpc>
              <a:spcPct val="90000"/>
            </a:lnSpc>
            <a:spcBef>
              <a:spcPct val="0"/>
            </a:spcBef>
            <a:spcAft>
              <a:spcPct val="35000"/>
            </a:spcAft>
            <a:buNone/>
          </a:pPr>
          <a:r>
            <a:rPr lang="de-DE" sz="1400" kern="1200" dirty="0">
              <a:latin typeface="Arial" panose="020B0604020202020204" pitchFamily="34" charset="0"/>
              <a:cs typeface="Arial" panose="020B0604020202020204" pitchFamily="34" charset="0"/>
            </a:rPr>
            <a:t>Isabel.Feustel@uni-ulm.de</a:t>
          </a:r>
          <a:endParaRPr lang="en-US" sz="1400" kern="1200" dirty="0">
            <a:latin typeface="Arial" panose="020B0604020202020204" pitchFamily="34" charset="0"/>
            <a:cs typeface="Arial" panose="020B0604020202020204" pitchFamily="34" charset="0"/>
          </a:endParaRPr>
        </a:p>
      </dsp:txBody>
      <dsp:txXfrm>
        <a:off x="307148" y="217935"/>
        <a:ext cx="2724468" cy="435870"/>
      </dsp:txXfrm>
    </dsp:sp>
    <dsp:sp modelId="{BCCE2245-0FCE-40EE-A445-253AD7A43D75}">
      <dsp:nvSpPr>
        <dsp:cNvPr id="0" name=""/>
        <dsp:cNvSpPr/>
      </dsp:nvSpPr>
      <dsp:spPr>
        <a:xfrm>
          <a:off x="34729" y="163451"/>
          <a:ext cx="544838" cy="544838"/>
        </a:xfrm>
        <a:prstGeom prst="ellipse">
          <a:avLst/>
        </a:prstGeom>
        <a:gradFill rotWithShape="0">
          <a:gsLst>
            <a:gs pos="0">
              <a:schemeClr val="lt1">
                <a:hueOff val="0"/>
                <a:satOff val="0"/>
                <a:lumOff val="0"/>
                <a:alphaOff val="0"/>
                <a:lumMod val="110000"/>
                <a:satMod val="105000"/>
                <a:tint val="67000"/>
              </a:schemeClr>
            </a:gs>
            <a:gs pos="50000">
              <a:schemeClr val="lt1">
                <a:hueOff val="0"/>
                <a:satOff val="0"/>
                <a:lumOff val="0"/>
                <a:alphaOff val="0"/>
                <a:lumMod val="105000"/>
                <a:satMod val="103000"/>
                <a:tint val="73000"/>
              </a:schemeClr>
            </a:gs>
            <a:gs pos="100000">
              <a:schemeClr val="lt1">
                <a:hueOff val="0"/>
                <a:satOff val="0"/>
                <a:lumOff val="0"/>
                <a:alphaOff val="0"/>
                <a:lumMod val="105000"/>
                <a:satMod val="109000"/>
                <a:tint val="81000"/>
              </a:schemeClr>
            </a:gs>
          </a:gsLst>
          <a:lin ang="5400000" scaled="0"/>
        </a:gradFill>
        <a:ln w="6350" cap="flat" cmpd="sng" algn="ctr">
          <a:solidFill>
            <a:schemeClr val="accent1">
              <a:hueOff val="0"/>
              <a:satOff val="0"/>
              <a:lumOff val="0"/>
              <a:alphaOff val="0"/>
            </a:schemeClr>
          </a:solidFill>
          <a:prstDash val="solid"/>
          <a:miter lim="800000"/>
        </a:ln>
        <a:effectLst/>
      </dsp:spPr>
      <dsp:style>
        <a:lnRef idx="1">
          <a:scrgbClr r="0" g="0" b="0"/>
        </a:lnRef>
        <a:fillRef idx="2">
          <a:scrgbClr r="0" g="0" b="0"/>
        </a:fillRef>
        <a:effectRef idx="0">
          <a:scrgbClr r="0" g="0" b="0"/>
        </a:effectRef>
        <a:fontRef idx="minor"/>
      </dsp:style>
    </dsp:sp>
    <dsp:sp modelId="{5C0B8232-29CD-461E-9B23-7E09BA61D07C}">
      <dsp:nvSpPr>
        <dsp:cNvPr id="0" name=""/>
        <dsp:cNvSpPr/>
      </dsp:nvSpPr>
      <dsp:spPr>
        <a:xfrm>
          <a:off x="465587" y="871740"/>
          <a:ext cx="2566029" cy="435870"/>
        </a:xfrm>
        <a:prstGeom prst="rect">
          <a:avLst/>
        </a:prstGeom>
        <a:gradFill rotWithShape="0">
          <a:gsLst>
            <a:gs pos="0">
              <a:schemeClr val="accent1">
                <a:hueOff val="0"/>
                <a:satOff val="0"/>
                <a:lumOff val="0"/>
                <a:alphaOff val="0"/>
                <a:lumMod val="110000"/>
                <a:satMod val="105000"/>
                <a:tint val="67000"/>
              </a:schemeClr>
            </a:gs>
            <a:gs pos="50000">
              <a:schemeClr val="accent1">
                <a:hueOff val="0"/>
                <a:satOff val="0"/>
                <a:lumOff val="0"/>
                <a:alphaOff val="0"/>
                <a:lumMod val="105000"/>
                <a:satMod val="103000"/>
                <a:tint val="73000"/>
              </a:schemeClr>
            </a:gs>
            <a:gs pos="100000">
              <a:schemeClr val="accen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345972" tIns="35560" rIns="35560" bIns="35560" numCol="1" spcCol="1270" anchor="ctr" anchorCtr="0">
          <a:noAutofit/>
        </a:bodyPr>
        <a:lstStyle/>
        <a:p>
          <a:pPr marL="0" lvl="0" indent="0" algn="l" defTabSz="622300">
            <a:lnSpc>
              <a:spcPct val="90000"/>
            </a:lnSpc>
            <a:spcBef>
              <a:spcPct val="0"/>
            </a:spcBef>
            <a:spcAft>
              <a:spcPct val="35000"/>
            </a:spcAft>
            <a:buNone/>
          </a:pPr>
          <a:r>
            <a:rPr lang="de-DE" sz="1400" kern="1200" dirty="0">
              <a:latin typeface="Arial" panose="020B0604020202020204" pitchFamily="34" charset="0"/>
              <a:cs typeface="Arial" panose="020B0604020202020204" pitchFamily="34" charset="0"/>
            </a:rPr>
            <a:t>Find </a:t>
          </a:r>
          <a:r>
            <a:rPr lang="de-DE" sz="1400" kern="1200" dirty="0" err="1">
              <a:latin typeface="Arial" panose="020B0604020202020204" pitchFamily="34" charset="0"/>
              <a:cs typeface="Arial" panose="020B0604020202020204" pitchFamily="34" charset="0"/>
            </a:rPr>
            <a:t>me</a:t>
          </a:r>
          <a:r>
            <a:rPr lang="de-DE" sz="1400" kern="1200" dirty="0">
              <a:latin typeface="Arial" panose="020B0604020202020204" pitchFamily="34" charset="0"/>
              <a:cs typeface="Arial" panose="020B0604020202020204" pitchFamily="34" charset="0"/>
            </a:rPr>
            <a:t> on LinkedIn</a:t>
          </a:r>
          <a:endParaRPr lang="en-US" sz="1400" kern="1200" dirty="0">
            <a:latin typeface="Arial" panose="020B0604020202020204" pitchFamily="34" charset="0"/>
            <a:cs typeface="Arial" panose="020B0604020202020204" pitchFamily="34" charset="0"/>
          </a:endParaRPr>
        </a:p>
      </dsp:txBody>
      <dsp:txXfrm>
        <a:off x="465587" y="871740"/>
        <a:ext cx="2566029" cy="435870"/>
      </dsp:txXfrm>
    </dsp:sp>
    <dsp:sp modelId="{2EE29E75-0CB2-4423-AE54-621393C14794}">
      <dsp:nvSpPr>
        <dsp:cNvPr id="0" name=""/>
        <dsp:cNvSpPr/>
      </dsp:nvSpPr>
      <dsp:spPr>
        <a:xfrm>
          <a:off x="193168" y="817256"/>
          <a:ext cx="544838" cy="544838"/>
        </a:xfrm>
        <a:prstGeom prst="ellipse">
          <a:avLst/>
        </a:prstGeom>
        <a:gradFill rotWithShape="0">
          <a:gsLst>
            <a:gs pos="0">
              <a:schemeClr val="lt1">
                <a:hueOff val="0"/>
                <a:satOff val="0"/>
                <a:lumOff val="0"/>
                <a:alphaOff val="0"/>
                <a:lumMod val="110000"/>
                <a:satMod val="105000"/>
                <a:tint val="67000"/>
              </a:schemeClr>
            </a:gs>
            <a:gs pos="50000">
              <a:schemeClr val="lt1">
                <a:hueOff val="0"/>
                <a:satOff val="0"/>
                <a:lumOff val="0"/>
                <a:alphaOff val="0"/>
                <a:lumMod val="105000"/>
                <a:satMod val="103000"/>
                <a:tint val="73000"/>
              </a:schemeClr>
            </a:gs>
            <a:gs pos="100000">
              <a:schemeClr val="lt1">
                <a:hueOff val="0"/>
                <a:satOff val="0"/>
                <a:lumOff val="0"/>
                <a:alphaOff val="0"/>
                <a:lumMod val="105000"/>
                <a:satMod val="109000"/>
                <a:tint val="81000"/>
              </a:schemeClr>
            </a:gs>
          </a:gsLst>
          <a:lin ang="5400000" scaled="0"/>
        </a:gradFill>
        <a:ln w="6350" cap="flat" cmpd="sng" algn="ctr">
          <a:solidFill>
            <a:schemeClr val="accent1">
              <a:hueOff val="0"/>
              <a:satOff val="0"/>
              <a:lumOff val="0"/>
              <a:alphaOff val="0"/>
            </a:schemeClr>
          </a:solidFill>
          <a:prstDash val="solid"/>
          <a:miter lim="800000"/>
        </a:ln>
        <a:effectLst/>
      </dsp:spPr>
      <dsp:style>
        <a:lnRef idx="1">
          <a:scrgbClr r="0" g="0" b="0"/>
        </a:lnRef>
        <a:fillRef idx="2">
          <a:scrgbClr r="0" g="0" b="0"/>
        </a:fillRef>
        <a:effectRef idx="0">
          <a:scrgbClr r="0" g="0" b="0"/>
        </a:effectRef>
        <a:fontRef idx="minor"/>
      </dsp:style>
    </dsp:sp>
    <dsp:sp modelId="{D6E6633E-4AFB-4166-AB85-EB75621C6D3A}">
      <dsp:nvSpPr>
        <dsp:cNvPr id="0" name=""/>
        <dsp:cNvSpPr/>
      </dsp:nvSpPr>
      <dsp:spPr>
        <a:xfrm>
          <a:off x="307148" y="1525546"/>
          <a:ext cx="2724468" cy="435870"/>
        </a:xfrm>
        <a:prstGeom prst="rect">
          <a:avLst/>
        </a:prstGeom>
        <a:gradFill rotWithShape="0">
          <a:gsLst>
            <a:gs pos="0">
              <a:schemeClr val="accent1">
                <a:hueOff val="0"/>
                <a:satOff val="0"/>
                <a:lumOff val="0"/>
                <a:alphaOff val="0"/>
                <a:lumMod val="110000"/>
                <a:satMod val="105000"/>
                <a:tint val="67000"/>
              </a:schemeClr>
            </a:gs>
            <a:gs pos="50000">
              <a:schemeClr val="accent1">
                <a:hueOff val="0"/>
                <a:satOff val="0"/>
                <a:lumOff val="0"/>
                <a:alphaOff val="0"/>
                <a:lumMod val="105000"/>
                <a:satMod val="103000"/>
                <a:tint val="73000"/>
              </a:schemeClr>
            </a:gs>
            <a:gs pos="100000">
              <a:schemeClr val="accen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345972" tIns="35560" rIns="35560" bIns="35560" numCol="1" spcCol="1270" anchor="ctr" anchorCtr="0">
          <a:noAutofit/>
        </a:bodyPr>
        <a:lstStyle/>
        <a:p>
          <a:pPr marL="0" lvl="0" indent="0" algn="l" defTabSz="622300">
            <a:lnSpc>
              <a:spcPct val="90000"/>
            </a:lnSpc>
            <a:spcBef>
              <a:spcPct val="0"/>
            </a:spcBef>
            <a:spcAft>
              <a:spcPct val="35000"/>
            </a:spcAft>
            <a:buNone/>
          </a:pPr>
          <a:r>
            <a:rPr lang="de-DE" sz="1400" kern="1200" dirty="0">
              <a:latin typeface="Arial" panose="020B0604020202020204" pitchFamily="34" charset="0"/>
              <a:cs typeface="Arial" panose="020B0604020202020204" pitchFamily="34" charset="0"/>
            </a:rPr>
            <a:t>https://nt.uni-ulm.de/ifeustel</a:t>
          </a:r>
          <a:endParaRPr lang="en-US" sz="1400" kern="1200" dirty="0">
            <a:latin typeface="Arial" panose="020B0604020202020204" pitchFamily="34" charset="0"/>
            <a:cs typeface="Arial" panose="020B0604020202020204" pitchFamily="34" charset="0"/>
          </a:endParaRPr>
        </a:p>
      </dsp:txBody>
      <dsp:txXfrm>
        <a:off x="307148" y="1525546"/>
        <a:ext cx="2724468" cy="435870"/>
      </dsp:txXfrm>
    </dsp:sp>
    <dsp:sp modelId="{D0F7109F-5091-4781-BDD3-96F132F88E40}">
      <dsp:nvSpPr>
        <dsp:cNvPr id="0" name=""/>
        <dsp:cNvSpPr/>
      </dsp:nvSpPr>
      <dsp:spPr>
        <a:xfrm>
          <a:off x="34729" y="1471062"/>
          <a:ext cx="544838" cy="544838"/>
        </a:xfrm>
        <a:prstGeom prst="ellipse">
          <a:avLst/>
        </a:prstGeom>
        <a:gradFill rotWithShape="0">
          <a:gsLst>
            <a:gs pos="0">
              <a:schemeClr val="lt1">
                <a:hueOff val="0"/>
                <a:satOff val="0"/>
                <a:lumOff val="0"/>
                <a:alphaOff val="0"/>
                <a:lumMod val="110000"/>
                <a:satMod val="105000"/>
                <a:tint val="67000"/>
              </a:schemeClr>
            </a:gs>
            <a:gs pos="50000">
              <a:schemeClr val="lt1">
                <a:hueOff val="0"/>
                <a:satOff val="0"/>
                <a:lumOff val="0"/>
                <a:alphaOff val="0"/>
                <a:lumMod val="105000"/>
                <a:satMod val="103000"/>
                <a:tint val="73000"/>
              </a:schemeClr>
            </a:gs>
            <a:gs pos="100000">
              <a:schemeClr val="lt1">
                <a:hueOff val="0"/>
                <a:satOff val="0"/>
                <a:lumOff val="0"/>
                <a:alphaOff val="0"/>
                <a:lumMod val="105000"/>
                <a:satMod val="109000"/>
                <a:tint val="81000"/>
              </a:schemeClr>
            </a:gs>
          </a:gsLst>
          <a:lin ang="5400000" scaled="0"/>
        </a:gradFill>
        <a:ln w="6350" cap="flat" cmpd="sng" algn="ctr">
          <a:solidFill>
            <a:schemeClr val="accent1">
              <a:hueOff val="0"/>
              <a:satOff val="0"/>
              <a:lumOff val="0"/>
              <a:alphaOff val="0"/>
            </a:schemeClr>
          </a:solidFill>
          <a:prstDash val="solid"/>
          <a:miter lim="800000"/>
        </a:ln>
        <a:effectLst/>
      </dsp:spPr>
      <dsp:style>
        <a:lnRef idx="1">
          <a:scrgbClr r="0" g="0" b="0"/>
        </a:lnRef>
        <a:fillRef idx="2">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connRout" val="curve"/>
            <dgm:param type="srcNode" val="srcNode"/>
            <dgm:param type="dstNode" val="dstNode"/>
            <dgm:param type="begPts" val="ctr"/>
            <dgm:param type="endPts" val="ctr"/>
            <dgm:param type="endSty" val="noAr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shpTxLTRAlignCh" val="l"/>
                <dgm:param type="parTxRTLAlign" val="l"/>
                <dgm:param type="shpTxRTLAlignCh" val="l"/>
              </dgm:alg>
            </dgm:if>
            <dgm:else name="Name2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shpTxLTRAlignCh" val="l"/>
                <dgm:param type="parTxRTLAlign" val="l"/>
                <dgm:param type="shpTxRTLAlignCh" val="l"/>
              </dgm:alg>
            </dgm:if>
            <dgm:else name="Name3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shpTxLTRAlignCh" val="l"/>
                <dgm:param type="parTxRTLAlign" val="l"/>
                <dgm:param type="shpTxRTLAlignCh" val="l"/>
              </dgm:alg>
            </dgm:if>
            <dgm:else name="Name3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shpTxLTRAlignCh" val="l"/>
                <dgm:param type="parTxRTLAlign" val="l"/>
                <dgm:param type="shpTxRTLAlignCh" val="l"/>
              </dgm:alg>
            </dgm:if>
            <dgm:else name="Name4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shpTxLTRAlignCh" val="l"/>
                <dgm:param type="parTxRTLAlign" val="l"/>
                <dgm:param type="shpTxRTLAlignCh" val="l"/>
              </dgm:alg>
            </dgm:if>
            <dgm:else name="Name4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shpTxLTRAlignCh" val="l"/>
                <dgm:param type="parTxRTLAlign" val="l"/>
                <dgm:param type="shpTxRTLAlignCh" val="l"/>
              </dgm:alg>
            </dgm:if>
            <dgm:else name="Name5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shpTxLTRAlignCh" val="l"/>
                <dgm:param type="parTxRTLAlign" val="l"/>
                <dgm:param type="shpTxRTLAlignCh" val="l"/>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DE"/>
          </a:p>
        </p:txBody>
      </p:sp>
      <p:sp>
        <p:nvSpPr>
          <p:cNvPr id="3" name="Datumsplatzhalt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262F3D0-110F-4564-881E-9E78CE49B1F5}" type="datetimeFigureOut">
              <a:rPr lang="de-DE" smtClean="0"/>
              <a:t>18.08.2025</a:t>
            </a:fld>
            <a:endParaRPr lang="de-DE"/>
          </a:p>
        </p:txBody>
      </p:sp>
      <p:sp>
        <p:nvSpPr>
          <p:cNvPr id="4" name="Fußzeilenplatzhalt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de-DE"/>
          </a:p>
        </p:txBody>
      </p:sp>
      <p:sp>
        <p:nvSpPr>
          <p:cNvPr id="5" name="Foliennummernplatzhalt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F450820-03E2-45DF-995F-569D288E6207}" type="slidenum">
              <a:rPr lang="de-DE" smtClean="0"/>
              <a:t>‹Nr.›</a:t>
            </a:fld>
            <a:endParaRPr lang="de-DE"/>
          </a:p>
        </p:txBody>
      </p:sp>
    </p:spTree>
    <p:extLst>
      <p:ext uri="{BB962C8B-B14F-4D97-AF65-F5344CB8AC3E}">
        <p14:creationId xmlns:p14="http://schemas.microsoft.com/office/powerpoint/2010/main" val="1574603878"/>
      </p:ext>
    </p:extLst>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21T10:58:32.492"/>
    </inkml:context>
    <inkml:brush xml:id="br0">
      <inkml:brushProperty name="width" value="0.035" units="cm"/>
      <inkml:brushProperty name="height" value="0.035" units="cm"/>
    </inkml:brush>
  </inkml:definitions>
  <inkml:trace contextRef="#ctx0" brushRef="#br0">1 1 24575,'0'0'-8191</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21T10:58:32.989"/>
    </inkml:context>
    <inkml:brush xml:id="br0">
      <inkml:brushProperty name="width" value="0.035" units="cm"/>
      <inkml:brushProperty name="height" value="0.035" units="cm"/>
    </inkml:brush>
  </inkml:definitions>
  <inkml:trace contextRef="#ctx0" brushRef="#br0">1 1 24575,'0'0'-8191</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21T15:14:39.583"/>
    </inkml:context>
    <inkml:brush xml:id="br0">
      <inkml:brushProperty name="width" value="0.035" units="cm"/>
      <inkml:brushProperty name="height" value="0.035" units="cm"/>
    </inkml:brush>
  </inkml:definitions>
  <inkml:trace contextRef="#ctx0" brushRef="#br0">0 1 24575,'0'0'-8191</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21T10:49:15.905"/>
    </inkml:context>
    <inkml:brush xml:id="br0">
      <inkml:brushProperty name="width" value="0.035" units="cm"/>
      <inkml:brushProperty name="height" value="0.035" units="cm"/>
    </inkml:brush>
  </inkml:definitions>
  <inkml:trace contextRef="#ctx0" brushRef="#br0">0 1 24575,'0'0'-8191</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21T10:49:16.671"/>
    </inkml:context>
    <inkml:brush xml:id="br0">
      <inkml:brushProperty name="width" value="0.035" units="cm"/>
      <inkml:brushProperty name="height" value="0.035" units="cm"/>
    </inkml:brush>
  </inkml:definitions>
  <inkml:trace contextRef="#ctx0" brushRef="#br0">1 1 24575,'0'0'-8191</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21T10:49:21.079"/>
    </inkml:context>
    <inkml:brush xml:id="br0">
      <inkml:brushProperty name="width" value="0.035" units="cm"/>
      <inkml:brushProperty name="height" value="0.035" units="cm"/>
    </inkml:brush>
  </inkml:definitions>
  <inkml:trace contextRef="#ctx0" brushRef="#br0">1 1 24575,'0'0'-8191</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21T10:49:21.856"/>
    </inkml:context>
    <inkml:brush xml:id="br0">
      <inkml:brushProperty name="width" value="0.035" units="cm"/>
      <inkml:brushProperty name="height" value="0.035" units="cm"/>
    </inkml:brush>
  </inkml:definitions>
  <inkml:trace contextRef="#ctx0" brushRef="#br0">0 0 24575,'0'0'-8191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DE"/>
          </a:p>
        </p:txBody>
      </p:sp>
      <p:sp>
        <p:nvSpPr>
          <p:cNvPr id="3" name="Datumsplatzhalt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377C9AE-D908-CB4D-9CBD-957B16D9B628}" type="datetimeFigureOut">
              <a:rPr lang="de-DE" smtClean="0"/>
              <a:t>18.08.2025</a:t>
            </a:fld>
            <a:endParaRPr lang="de-DE"/>
          </a:p>
        </p:txBody>
      </p:sp>
      <p:sp>
        <p:nvSpPr>
          <p:cNvPr id="4" name="Folienbildplatzhalt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de-DE"/>
          </a:p>
        </p:txBody>
      </p:sp>
      <p:sp>
        <p:nvSpPr>
          <p:cNvPr id="5" name="Notizenplatzhal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6" name="Fußzeilenplatzhalt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de-DE"/>
          </a:p>
        </p:txBody>
      </p:sp>
      <p:sp>
        <p:nvSpPr>
          <p:cNvPr id="7" name="Foliennummernplatzhalt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1E8E1B3-6545-954E-9998-292C9C5033CF}" type="slidenum">
              <a:rPr lang="de-DE" smtClean="0"/>
              <a:t>‹Nr.›</a:t>
            </a:fld>
            <a:endParaRPr lang="de-DE"/>
          </a:p>
        </p:txBody>
      </p:sp>
    </p:spTree>
    <p:extLst>
      <p:ext uri="{BB962C8B-B14F-4D97-AF65-F5344CB8AC3E}">
        <p14:creationId xmlns:p14="http://schemas.microsoft.com/office/powerpoint/2010/main" val="791013140"/>
      </p:ext>
    </p:extLst>
  </p:cSld>
  <p:clrMap bg1="lt1" tx1="dk1" bg2="lt2" tx2="dk2" accent1="accent1" accent2="accent2" accent3="accent3" accent4="accent4" accent5="accent5" accent6="accent6" hlink="hlink" folHlink="folHlink"/>
  <p:notesStyle>
    <a:lvl1pPr marL="0" algn="l" defTabSz="685800" rtl="0" eaLnBrk="1" latinLnBrk="0" hangingPunct="1">
      <a:defRPr sz="900" kern="1200">
        <a:solidFill>
          <a:schemeClr val="tx1"/>
        </a:solidFill>
        <a:latin typeface="+mn-lt"/>
        <a:ea typeface="+mn-ea"/>
        <a:cs typeface="+mn-cs"/>
      </a:defRPr>
    </a:lvl1pPr>
    <a:lvl2pPr marL="342900" algn="l" defTabSz="685800" rtl="0" eaLnBrk="1" latinLnBrk="0" hangingPunct="1">
      <a:defRPr sz="900" kern="1200">
        <a:solidFill>
          <a:schemeClr val="tx1"/>
        </a:solidFill>
        <a:latin typeface="+mn-lt"/>
        <a:ea typeface="+mn-ea"/>
        <a:cs typeface="+mn-cs"/>
      </a:defRPr>
    </a:lvl2pPr>
    <a:lvl3pPr marL="685800" algn="l" defTabSz="685800" rtl="0" eaLnBrk="1" latinLnBrk="0" hangingPunct="1">
      <a:defRPr sz="900" kern="1200">
        <a:solidFill>
          <a:schemeClr val="tx1"/>
        </a:solidFill>
        <a:latin typeface="+mn-lt"/>
        <a:ea typeface="+mn-ea"/>
        <a:cs typeface="+mn-cs"/>
      </a:defRPr>
    </a:lvl3pPr>
    <a:lvl4pPr marL="1028700" algn="l" defTabSz="685800" rtl="0" eaLnBrk="1" latinLnBrk="0" hangingPunct="1">
      <a:defRPr sz="900" kern="1200">
        <a:solidFill>
          <a:schemeClr val="tx1"/>
        </a:solidFill>
        <a:latin typeface="+mn-lt"/>
        <a:ea typeface="+mn-ea"/>
        <a:cs typeface="+mn-cs"/>
      </a:defRPr>
    </a:lvl4pPr>
    <a:lvl5pPr marL="1371600" algn="l" defTabSz="685800" rtl="0" eaLnBrk="1" latinLnBrk="0" hangingPunct="1">
      <a:defRPr sz="900" kern="1200">
        <a:solidFill>
          <a:schemeClr val="tx1"/>
        </a:solidFill>
        <a:latin typeface="+mn-lt"/>
        <a:ea typeface="+mn-ea"/>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10"/>
          </p:nvPr>
        </p:nvSpPr>
        <p:spPr/>
        <p:txBody>
          <a:bodyPr/>
          <a:lstStyle/>
          <a:p>
            <a:fld id="{C1E8E1B3-6545-954E-9998-292C9C5033CF}" type="slidenum">
              <a:rPr lang="de-DE" smtClean="0"/>
              <a:t>1</a:t>
            </a:fld>
            <a:endParaRPr lang="de-DE" dirty="0"/>
          </a:p>
        </p:txBody>
      </p:sp>
    </p:spTree>
    <p:extLst>
      <p:ext uri="{BB962C8B-B14F-4D97-AF65-F5344CB8AC3E}">
        <p14:creationId xmlns:p14="http://schemas.microsoft.com/office/powerpoint/2010/main" val="410182891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224F88-B0EC-30F2-98C9-490A7BD06340}"/>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5EBCEEC2-F598-38B2-A522-1B4B0DE9041E}"/>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856D5161-8FFC-91F4-F2AD-0CC9A9D340D1}"/>
              </a:ext>
            </a:extLst>
          </p:cNvPr>
          <p:cNvSpPr>
            <a:spLocks noGrp="1"/>
          </p:cNvSpPr>
          <p:nvPr>
            <p:ph type="body" idx="1"/>
          </p:nvPr>
        </p:nvSpPr>
        <p:spPr/>
        <p:txBody>
          <a:bodyPr/>
          <a:lstStyle/>
          <a:p>
            <a:endParaRPr lang="en-US" dirty="0"/>
          </a:p>
        </p:txBody>
      </p:sp>
      <p:sp>
        <p:nvSpPr>
          <p:cNvPr id="4" name="Foliennummernplatzhalter 3">
            <a:extLst>
              <a:ext uri="{FF2B5EF4-FFF2-40B4-BE49-F238E27FC236}">
                <a16:creationId xmlns:a16="http://schemas.microsoft.com/office/drawing/2014/main" id="{2332032B-1F14-BC8A-8E8E-F3B4EE48D2F2}"/>
              </a:ext>
            </a:extLst>
          </p:cNvPr>
          <p:cNvSpPr>
            <a:spLocks noGrp="1"/>
          </p:cNvSpPr>
          <p:nvPr>
            <p:ph type="sldNum" sz="quarter" idx="5"/>
          </p:nvPr>
        </p:nvSpPr>
        <p:spPr/>
        <p:txBody>
          <a:bodyPr/>
          <a:lstStyle/>
          <a:p>
            <a:fld id="{C1E8E1B3-6545-954E-9998-292C9C5033CF}" type="slidenum">
              <a:rPr lang="de-DE" smtClean="0"/>
              <a:t>2</a:t>
            </a:fld>
            <a:endParaRPr lang="de-DE"/>
          </a:p>
        </p:txBody>
      </p:sp>
    </p:spTree>
    <p:extLst>
      <p:ext uri="{BB962C8B-B14F-4D97-AF65-F5344CB8AC3E}">
        <p14:creationId xmlns:p14="http://schemas.microsoft.com/office/powerpoint/2010/main" val="19432653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en-US" dirty="0"/>
          </a:p>
        </p:txBody>
      </p:sp>
      <p:sp>
        <p:nvSpPr>
          <p:cNvPr id="4" name="Foliennummernplatzhalter 3"/>
          <p:cNvSpPr>
            <a:spLocks noGrp="1"/>
          </p:cNvSpPr>
          <p:nvPr>
            <p:ph type="sldNum" sz="quarter" idx="5"/>
          </p:nvPr>
        </p:nvSpPr>
        <p:spPr/>
        <p:txBody>
          <a:bodyPr/>
          <a:lstStyle/>
          <a:p>
            <a:fld id="{C1E8E1B3-6545-954E-9998-292C9C5033CF}" type="slidenum">
              <a:rPr lang="de-DE" smtClean="0"/>
              <a:t>3</a:t>
            </a:fld>
            <a:endParaRPr lang="de-DE"/>
          </a:p>
        </p:txBody>
      </p:sp>
    </p:spTree>
    <p:extLst>
      <p:ext uri="{BB962C8B-B14F-4D97-AF65-F5344CB8AC3E}">
        <p14:creationId xmlns:p14="http://schemas.microsoft.com/office/powerpoint/2010/main" val="333898182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err="1"/>
              <a:t>Conversation</a:t>
            </a:r>
            <a:r>
              <a:rPr lang="de-DE" baseline="0" dirty="0"/>
              <a:t> </a:t>
            </a:r>
            <a:r>
              <a:rPr lang="de-DE" baseline="0" dirty="0" err="1"/>
              <a:t>with</a:t>
            </a:r>
            <a:r>
              <a:rPr lang="de-DE" baseline="0" dirty="0"/>
              <a:t> AI, </a:t>
            </a:r>
            <a:r>
              <a:rPr lang="de-DE" baseline="0" dirty="0" err="1"/>
              <a:t>the</a:t>
            </a:r>
            <a:r>
              <a:rPr lang="de-DE" baseline="0" dirty="0"/>
              <a:t> </a:t>
            </a:r>
            <a:r>
              <a:rPr lang="de-DE" baseline="0" dirty="0" err="1"/>
              <a:t>vision</a:t>
            </a:r>
            <a:endParaRPr lang="de-DE" baseline="0" dirty="0"/>
          </a:p>
          <a:p>
            <a:endParaRPr lang="de-DE" baseline="0" dirty="0"/>
          </a:p>
          <a:p>
            <a:r>
              <a:rPr lang="en-US" dirty="0"/>
              <a:t>-  Imagine you've finally found the perfect used sports car – a cherry-red 1967 Mustang. </a:t>
            </a:r>
          </a:p>
          <a:p>
            <a:r>
              <a:rPr lang="en-US" dirty="0"/>
              <a:t>-  You're excited to finally own your dream car and decide to apply for a loan online. </a:t>
            </a:r>
          </a:p>
          <a:p>
            <a:r>
              <a:rPr lang="en-US" dirty="0"/>
              <a:t>-  A slick AI-powered system on the bank's website quickly assesses your application. </a:t>
            </a:r>
          </a:p>
          <a:p>
            <a:pPr marL="171450" indent="-171450">
              <a:buFontTx/>
              <a:buChar char="-"/>
            </a:pPr>
            <a:r>
              <a:rPr lang="en-US" dirty="0"/>
              <a:t>Unfortunately, the system denies your loan application without providing any further explanation. </a:t>
            </a:r>
          </a:p>
          <a:p>
            <a:pPr marL="171450" indent="-171450">
              <a:buFontTx/>
              <a:buChar char="-"/>
            </a:pPr>
            <a:r>
              <a:rPr lang="en-US" dirty="0"/>
              <a:t>Frustrated and confused, you spend hours researching credit scores and financial risk assessment. You're determined to understand why your application was rejected. However, without any insight into the AI's decision-making process, you're left in the dark.</a:t>
            </a:r>
          </a:p>
          <a:p>
            <a:r>
              <a:rPr lang="en-US" dirty="0"/>
              <a:t>- Help is coming as not only users need transparency for their usage but law regulations are started to require it. For example, the new EU regulation on AI transparency requires the bank to provide some explanation for the loan rejection. Instead of a simple "declined," the system now displays a brief explanation:</a:t>
            </a:r>
          </a:p>
          <a:p>
            <a:r>
              <a:rPr lang="en-US" dirty="0"/>
              <a:t>"Your application was declined due to a low credit score. Your credit score is primarily impacted by your purpose and your low amount of savings. "</a:t>
            </a:r>
          </a:p>
          <a:p>
            <a:endParaRPr lang="en-US" dirty="0"/>
          </a:p>
          <a:p>
            <a:pPr marL="171450" indent="-171450">
              <a:buFontTx/>
              <a:buChar char="-"/>
            </a:pPr>
            <a:r>
              <a:rPr lang="en-US" dirty="0"/>
              <a:t>this transparency helps you understand the system's decision</a:t>
            </a:r>
          </a:p>
          <a:p>
            <a:pPr marL="171450" indent="-171450">
              <a:buFontTx/>
              <a:buChar char="-"/>
            </a:pPr>
            <a:r>
              <a:rPr lang="en-US" dirty="0"/>
              <a:t>It also empowers you to take control of your financial situation and improve your chances of loan approval in the future.</a:t>
            </a:r>
          </a:p>
          <a:p>
            <a:pPr marL="171450" indent="-171450">
              <a:buFontTx/>
              <a:buChar char="-"/>
            </a:pPr>
            <a:r>
              <a:rPr lang="en-US" dirty="0"/>
              <a:t>And finally users gain more trust in ai systems</a:t>
            </a:r>
          </a:p>
        </p:txBody>
      </p:sp>
      <p:sp>
        <p:nvSpPr>
          <p:cNvPr id="4" name="Foliennummernplatzhalter 3"/>
          <p:cNvSpPr>
            <a:spLocks noGrp="1"/>
          </p:cNvSpPr>
          <p:nvPr>
            <p:ph type="sldNum" sz="quarter" idx="10"/>
          </p:nvPr>
        </p:nvSpPr>
        <p:spPr/>
        <p:txBody>
          <a:bodyPr/>
          <a:lstStyle/>
          <a:p>
            <a:fld id="{C1E8E1B3-6545-954E-9998-292C9C5033CF}" type="slidenum">
              <a:rPr lang="de-DE" smtClean="0"/>
              <a:t>4</a:t>
            </a:fld>
            <a:endParaRPr lang="de-DE"/>
          </a:p>
        </p:txBody>
      </p:sp>
    </p:spTree>
    <p:extLst>
      <p:ext uri="{BB962C8B-B14F-4D97-AF65-F5344CB8AC3E}">
        <p14:creationId xmlns:p14="http://schemas.microsoft.com/office/powerpoint/2010/main" val="269491499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err="1"/>
              <a:t>Why</a:t>
            </a:r>
            <a:r>
              <a:rPr lang="de-DE" dirty="0"/>
              <a:t> do </a:t>
            </a:r>
            <a:r>
              <a:rPr lang="de-DE" dirty="0" err="1"/>
              <a:t>we</a:t>
            </a:r>
            <a:r>
              <a:rPr lang="de-DE" dirty="0"/>
              <a:t> </a:t>
            </a:r>
            <a:r>
              <a:rPr lang="de-DE" dirty="0" err="1"/>
              <a:t>want</a:t>
            </a:r>
            <a:r>
              <a:rPr lang="de-DE" baseline="0" dirty="0"/>
              <a:t> </a:t>
            </a:r>
            <a:r>
              <a:rPr lang="de-DE" baseline="0" dirty="0" err="1"/>
              <a:t>conversation</a:t>
            </a:r>
            <a:r>
              <a:rPr lang="de-DE" baseline="0" dirty="0"/>
              <a:t>?</a:t>
            </a:r>
          </a:p>
          <a:p>
            <a:endParaRPr lang="de-DE" baseline="0" dirty="0"/>
          </a:p>
          <a:p>
            <a:pPr marL="171450" indent="-171450">
              <a:buFont typeface="Arial" panose="020B0604020202020204" pitchFamily="34" charset="0"/>
              <a:buChar char="•"/>
            </a:pPr>
            <a:r>
              <a:rPr lang="de-DE" baseline="0" dirty="0"/>
              <a:t>Natural </a:t>
            </a:r>
            <a:r>
              <a:rPr lang="de-DE" baseline="0" dirty="0" err="1"/>
              <a:t>way</a:t>
            </a:r>
            <a:r>
              <a:rPr lang="de-DE" baseline="0" dirty="0"/>
              <a:t> </a:t>
            </a:r>
            <a:r>
              <a:rPr lang="de-DE" baseline="0" dirty="0" err="1"/>
              <a:t>how</a:t>
            </a:r>
            <a:r>
              <a:rPr lang="de-DE" baseline="0" dirty="0"/>
              <a:t> </a:t>
            </a:r>
            <a:r>
              <a:rPr lang="de-DE" baseline="0" dirty="0" err="1"/>
              <a:t>humans</a:t>
            </a:r>
            <a:r>
              <a:rPr lang="de-DE" baseline="0" dirty="0"/>
              <a:t> </a:t>
            </a:r>
            <a:r>
              <a:rPr lang="de-DE" baseline="0" dirty="0" err="1"/>
              <a:t>explain</a:t>
            </a:r>
            <a:endParaRPr lang="de-DE" baseline="0" dirty="0"/>
          </a:p>
          <a:p>
            <a:pPr marL="171450" indent="-171450">
              <a:buFont typeface="Arial" panose="020B0604020202020204" pitchFamily="34" charset="0"/>
              <a:buChar char="•"/>
            </a:pPr>
            <a:r>
              <a:rPr lang="de-DE" baseline="0" dirty="0"/>
              <a:t>Information </a:t>
            </a:r>
            <a:r>
              <a:rPr lang="de-DE" baseline="0" dirty="0" err="1"/>
              <a:t>can</a:t>
            </a:r>
            <a:r>
              <a:rPr lang="de-DE" baseline="0" dirty="0"/>
              <a:t> </a:t>
            </a:r>
            <a:r>
              <a:rPr lang="de-DE" baseline="0" dirty="0" err="1"/>
              <a:t>be</a:t>
            </a:r>
            <a:r>
              <a:rPr lang="de-DE" baseline="0" dirty="0"/>
              <a:t> </a:t>
            </a:r>
            <a:r>
              <a:rPr lang="de-DE" baseline="0" dirty="0" err="1"/>
              <a:t>splitted</a:t>
            </a:r>
            <a:r>
              <a:rPr lang="de-DE" baseline="0" dirty="0"/>
              <a:t>, </a:t>
            </a:r>
            <a:r>
              <a:rPr lang="de-DE" baseline="0" dirty="0" err="1"/>
              <a:t>reducing</a:t>
            </a:r>
            <a:r>
              <a:rPr lang="de-DE" baseline="0" dirty="0"/>
              <a:t> </a:t>
            </a:r>
            <a:r>
              <a:rPr lang="de-DE" baseline="0" dirty="0" err="1"/>
              <a:t>overload</a:t>
            </a:r>
            <a:endParaRPr lang="de-DE" baseline="0" dirty="0"/>
          </a:p>
          <a:p>
            <a:pPr marL="171450" indent="-171450">
              <a:buFont typeface="Arial" panose="020B0604020202020204" pitchFamily="34" charset="0"/>
              <a:buChar char="•"/>
            </a:pPr>
            <a:r>
              <a:rPr lang="de-DE" baseline="0" dirty="0"/>
              <a:t>User </a:t>
            </a:r>
            <a:r>
              <a:rPr lang="de-DE" baseline="0" dirty="0" err="1"/>
              <a:t>can</a:t>
            </a:r>
            <a:r>
              <a:rPr lang="de-DE" baseline="0" dirty="0"/>
              <a:t> </a:t>
            </a:r>
            <a:r>
              <a:rPr lang="de-DE" baseline="0" dirty="0" err="1"/>
              <a:t>ask</a:t>
            </a:r>
            <a:r>
              <a:rPr lang="de-DE" baseline="0" dirty="0"/>
              <a:t> </a:t>
            </a:r>
            <a:r>
              <a:rPr lang="de-DE" baseline="0" dirty="0" err="1"/>
              <a:t>for</a:t>
            </a:r>
            <a:r>
              <a:rPr lang="de-DE" baseline="0" dirty="0"/>
              <a:t> </a:t>
            </a:r>
            <a:r>
              <a:rPr lang="de-DE" baseline="0" dirty="0" err="1"/>
              <a:t>clarification</a:t>
            </a:r>
            <a:endParaRPr lang="de-DE" baseline="0" dirty="0"/>
          </a:p>
          <a:p>
            <a:pPr marL="171450" indent="-171450">
              <a:buFont typeface="Arial" panose="020B0604020202020204" pitchFamily="34" charset="0"/>
              <a:buChar char="•"/>
            </a:pPr>
            <a:r>
              <a:rPr lang="de-DE" baseline="0" dirty="0" err="1"/>
              <a:t>Personalized</a:t>
            </a:r>
            <a:r>
              <a:rPr lang="de-DE" baseline="0" dirty="0"/>
              <a:t> </a:t>
            </a:r>
            <a:r>
              <a:rPr lang="de-DE" baseline="0" dirty="0" err="1"/>
              <a:t>experience</a:t>
            </a:r>
            <a:r>
              <a:rPr lang="de-DE" baseline="0" dirty="0"/>
              <a:t>: </a:t>
            </a:r>
            <a:r>
              <a:rPr lang="de-DE" baseline="0" dirty="0" err="1"/>
              <a:t>system</a:t>
            </a:r>
            <a:r>
              <a:rPr lang="de-DE" baseline="0" dirty="0"/>
              <a:t> </a:t>
            </a:r>
            <a:r>
              <a:rPr lang="de-DE" baseline="0" dirty="0" err="1"/>
              <a:t>can</a:t>
            </a:r>
            <a:r>
              <a:rPr lang="de-DE" baseline="0" dirty="0"/>
              <a:t> </a:t>
            </a:r>
            <a:r>
              <a:rPr lang="de-DE" baseline="0" dirty="0" err="1"/>
              <a:t>adapt</a:t>
            </a:r>
            <a:r>
              <a:rPr lang="de-DE" baseline="0" dirty="0"/>
              <a:t> </a:t>
            </a:r>
            <a:r>
              <a:rPr lang="de-DE" baseline="0" dirty="0" err="1"/>
              <a:t>to</a:t>
            </a:r>
            <a:r>
              <a:rPr lang="de-DE" baseline="0" dirty="0"/>
              <a:t> </a:t>
            </a:r>
            <a:r>
              <a:rPr lang="de-DE" baseline="0" dirty="0" err="1"/>
              <a:t>user</a:t>
            </a:r>
            <a:r>
              <a:rPr lang="de-DE" baseline="0" dirty="0"/>
              <a:t> </a:t>
            </a:r>
            <a:r>
              <a:rPr lang="de-DE" baseline="0" dirty="0" err="1"/>
              <a:t>needs</a:t>
            </a:r>
            <a:r>
              <a:rPr lang="de-DE" baseline="0" dirty="0"/>
              <a:t> (e.g. expert </a:t>
            </a:r>
            <a:r>
              <a:rPr lang="de-DE" baseline="0" dirty="0" err="1"/>
              <a:t>vs</a:t>
            </a:r>
            <a:r>
              <a:rPr lang="de-DE" baseline="0" dirty="0"/>
              <a:t> </a:t>
            </a:r>
            <a:r>
              <a:rPr lang="de-DE" baseline="0" dirty="0" err="1"/>
              <a:t>laymen</a:t>
            </a:r>
            <a:r>
              <a:rPr lang="de-DE" baseline="0" dirty="0"/>
              <a:t> </a:t>
            </a:r>
            <a:r>
              <a:rPr lang="de-DE" baseline="0" dirty="0" err="1"/>
              <a:t>user</a:t>
            </a:r>
            <a:r>
              <a:rPr lang="de-DE" baseline="0" dirty="0"/>
              <a:t>)</a:t>
            </a:r>
          </a:p>
        </p:txBody>
      </p:sp>
      <p:sp>
        <p:nvSpPr>
          <p:cNvPr id="4" name="Foliennummernplatzhalter 3"/>
          <p:cNvSpPr>
            <a:spLocks noGrp="1"/>
          </p:cNvSpPr>
          <p:nvPr>
            <p:ph type="sldNum" sz="quarter" idx="10"/>
          </p:nvPr>
        </p:nvSpPr>
        <p:spPr/>
        <p:txBody>
          <a:bodyPr/>
          <a:lstStyle/>
          <a:p>
            <a:fld id="{C1E8E1B3-6545-954E-9998-292C9C5033CF}" type="slidenum">
              <a:rPr lang="de-DE" smtClean="0"/>
              <a:t>5</a:t>
            </a:fld>
            <a:endParaRPr lang="de-DE"/>
          </a:p>
        </p:txBody>
      </p:sp>
    </p:spTree>
    <p:extLst>
      <p:ext uri="{BB962C8B-B14F-4D97-AF65-F5344CB8AC3E}">
        <p14:creationId xmlns:p14="http://schemas.microsoft.com/office/powerpoint/2010/main" val="74113729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err="1"/>
              <a:t>Transparency</a:t>
            </a:r>
            <a:r>
              <a:rPr lang="de-DE" dirty="0"/>
              <a:t> </a:t>
            </a:r>
            <a:r>
              <a:rPr lang="de-DE" dirty="0" err="1"/>
              <a:t>is</a:t>
            </a:r>
            <a:r>
              <a:rPr lang="de-DE" dirty="0"/>
              <a:t> </a:t>
            </a:r>
            <a:r>
              <a:rPr lang="de-DE" dirty="0" err="1"/>
              <a:t>key</a:t>
            </a:r>
            <a:r>
              <a:rPr lang="de-DE" dirty="0"/>
              <a:t>, </a:t>
            </a:r>
            <a:r>
              <a:rPr lang="de-DE" dirty="0" err="1"/>
              <a:t>how</a:t>
            </a:r>
            <a:r>
              <a:rPr lang="de-DE" baseline="0" dirty="0"/>
              <a:t> do </a:t>
            </a:r>
            <a:r>
              <a:rPr lang="de-DE" baseline="0" dirty="0" err="1"/>
              <a:t>we</a:t>
            </a:r>
            <a:r>
              <a:rPr lang="de-DE" baseline="0" dirty="0"/>
              <a:t> </a:t>
            </a:r>
            <a:r>
              <a:rPr lang="de-DE" baseline="0" dirty="0" err="1"/>
              <a:t>get</a:t>
            </a:r>
            <a:r>
              <a:rPr lang="de-DE" baseline="0" dirty="0"/>
              <a:t> </a:t>
            </a:r>
            <a:r>
              <a:rPr lang="de-DE" baseline="0" dirty="0" err="1"/>
              <a:t>there</a:t>
            </a:r>
            <a:endParaRPr lang="de-DE" baseline="0" dirty="0"/>
          </a:p>
          <a:p>
            <a:endParaRPr lang="de-DE" baseline="0" dirty="0"/>
          </a:p>
          <a:p>
            <a:pPr marL="171450" marR="0" lvl="0" indent="-171450" algn="l" defTabSz="6858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de-DE" baseline="0" dirty="0" err="1"/>
              <a:t>big</a:t>
            </a:r>
            <a:r>
              <a:rPr lang="de-DE" baseline="0" dirty="0"/>
              <a:t> </a:t>
            </a:r>
            <a:r>
              <a:rPr lang="de-DE" baseline="0" dirty="0" err="1"/>
              <a:t>field</a:t>
            </a:r>
            <a:r>
              <a:rPr lang="de-DE" baseline="0" dirty="0"/>
              <a:t> </a:t>
            </a:r>
            <a:r>
              <a:rPr lang="de-DE" baseline="0" dirty="0" err="1"/>
              <a:t>of</a:t>
            </a:r>
            <a:r>
              <a:rPr lang="de-DE" baseline="0" dirty="0"/>
              <a:t> XAI </a:t>
            </a:r>
            <a:r>
              <a:rPr lang="de-DE" baseline="0" dirty="0" err="1"/>
              <a:t>to</a:t>
            </a:r>
            <a:r>
              <a:rPr lang="de-DE" baseline="0" dirty="0"/>
              <a:t> </a:t>
            </a:r>
            <a:r>
              <a:rPr lang="de-DE" baseline="0" dirty="0" err="1"/>
              <a:t>tackle</a:t>
            </a:r>
            <a:r>
              <a:rPr lang="de-DE" baseline="0" dirty="0"/>
              <a:t> </a:t>
            </a:r>
            <a:r>
              <a:rPr lang="de-DE" baseline="0" dirty="0" err="1"/>
              <a:t>these</a:t>
            </a:r>
            <a:r>
              <a:rPr lang="de-DE" baseline="0" dirty="0"/>
              <a:t> </a:t>
            </a:r>
            <a:r>
              <a:rPr lang="de-DE" baseline="0" dirty="0" err="1"/>
              <a:t>problems</a:t>
            </a:r>
            <a:endParaRPr lang="de-DE" baseline="0" dirty="0"/>
          </a:p>
          <a:p>
            <a:pPr marL="171450" marR="0" lvl="0" indent="-171450" algn="l" defTabSz="6858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de-DE" baseline="0" dirty="0" err="1"/>
              <a:t>Interdisciplinary</a:t>
            </a:r>
            <a:r>
              <a:rPr lang="de-DE" baseline="0" dirty="0"/>
              <a:t> </a:t>
            </a:r>
            <a:r>
              <a:rPr lang="de-DE" baseline="0" dirty="0" err="1"/>
              <a:t>topic</a:t>
            </a:r>
            <a:r>
              <a:rPr lang="de-DE" baseline="0" dirty="0"/>
              <a:t> (!)</a:t>
            </a:r>
          </a:p>
          <a:p>
            <a:pPr marL="171450" indent="-171450">
              <a:buFont typeface="Arial" panose="020B0604020202020204" pitchFamily="34" charset="0"/>
              <a:buChar char="•"/>
            </a:pPr>
            <a:r>
              <a:rPr lang="de-DE" baseline="0" dirty="0"/>
              <a:t>New </a:t>
            </a:r>
            <a:r>
              <a:rPr lang="de-DE" baseline="0" dirty="0" err="1"/>
              <a:t>sub</a:t>
            </a:r>
            <a:r>
              <a:rPr lang="de-DE" baseline="0" dirty="0"/>
              <a:t> </a:t>
            </a:r>
            <a:r>
              <a:rPr lang="de-DE" baseline="0" dirty="0" err="1"/>
              <a:t>areas</a:t>
            </a:r>
            <a:r>
              <a:rPr lang="de-DE" baseline="0" dirty="0"/>
              <a:t> </a:t>
            </a:r>
            <a:r>
              <a:rPr lang="de-DE" baseline="0" dirty="0" err="1"/>
              <a:t>created</a:t>
            </a:r>
            <a:r>
              <a:rPr lang="de-DE" baseline="0" dirty="0"/>
              <a:t> </a:t>
            </a:r>
            <a:r>
              <a:rPr lang="de-DE" baseline="0" dirty="0" err="1"/>
              <a:t>over</a:t>
            </a:r>
            <a:r>
              <a:rPr lang="de-DE" baseline="0" dirty="0"/>
              <a:t> </a:t>
            </a:r>
            <a:r>
              <a:rPr lang="de-DE" baseline="0" dirty="0" err="1"/>
              <a:t>the</a:t>
            </a:r>
            <a:r>
              <a:rPr lang="de-DE" baseline="0" dirty="0"/>
              <a:t> last </a:t>
            </a:r>
            <a:r>
              <a:rPr lang="de-DE" baseline="0" dirty="0" err="1"/>
              <a:t>years</a:t>
            </a:r>
            <a:r>
              <a:rPr lang="de-DE" baseline="0" dirty="0"/>
              <a:t> like </a:t>
            </a:r>
            <a:r>
              <a:rPr lang="de-DE" baseline="0" dirty="0" err="1"/>
              <a:t>social</a:t>
            </a:r>
            <a:r>
              <a:rPr lang="de-DE" baseline="0" dirty="0"/>
              <a:t> XAI </a:t>
            </a:r>
            <a:r>
              <a:rPr lang="de-DE" baseline="0" dirty="0" err="1"/>
              <a:t>or</a:t>
            </a:r>
            <a:r>
              <a:rPr lang="de-DE" baseline="0" dirty="0"/>
              <a:t> </a:t>
            </a:r>
            <a:r>
              <a:rPr lang="de-DE" baseline="0" dirty="0" err="1"/>
              <a:t>Conversational</a:t>
            </a:r>
            <a:r>
              <a:rPr lang="de-DE" baseline="0" dirty="0"/>
              <a:t> XAI (</a:t>
            </a:r>
            <a:r>
              <a:rPr lang="de-DE" baseline="0" dirty="0" err="1"/>
              <a:t>my</a:t>
            </a:r>
            <a:r>
              <a:rPr lang="de-DE" baseline="0" dirty="0"/>
              <a:t> </a:t>
            </a:r>
            <a:r>
              <a:rPr lang="de-DE" baseline="0" dirty="0" err="1"/>
              <a:t>work</a:t>
            </a:r>
            <a:r>
              <a:rPr lang="de-DE" baseline="0" dirty="0"/>
              <a:t>)</a:t>
            </a:r>
          </a:p>
          <a:p>
            <a:pPr marL="171450" indent="-171450">
              <a:buFont typeface="Arial" panose="020B0604020202020204" pitchFamily="34" charset="0"/>
              <a:buChar char="•"/>
            </a:pPr>
            <a:endParaRPr lang="de-DE" baseline="0" dirty="0"/>
          </a:p>
          <a:p>
            <a:pPr marL="171450" indent="-171450">
              <a:buFont typeface="Arial" panose="020B0604020202020204" pitchFamily="34" charset="0"/>
              <a:buChar char="•"/>
            </a:pPr>
            <a:endParaRPr lang="de-DE" dirty="0"/>
          </a:p>
        </p:txBody>
      </p:sp>
      <p:sp>
        <p:nvSpPr>
          <p:cNvPr id="4" name="Foliennummernplatzhalter 3"/>
          <p:cNvSpPr>
            <a:spLocks noGrp="1"/>
          </p:cNvSpPr>
          <p:nvPr>
            <p:ph type="sldNum" sz="quarter" idx="10"/>
          </p:nvPr>
        </p:nvSpPr>
        <p:spPr/>
        <p:txBody>
          <a:bodyPr/>
          <a:lstStyle/>
          <a:p>
            <a:fld id="{C1E8E1B3-6545-954E-9998-292C9C5033CF}" type="slidenum">
              <a:rPr lang="de-DE" smtClean="0"/>
              <a:t>6</a:t>
            </a:fld>
            <a:endParaRPr lang="de-DE"/>
          </a:p>
        </p:txBody>
      </p:sp>
    </p:spTree>
    <p:extLst>
      <p:ext uri="{BB962C8B-B14F-4D97-AF65-F5344CB8AC3E}">
        <p14:creationId xmlns:p14="http://schemas.microsoft.com/office/powerpoint/2010/main" val="234137862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de-DE" baseline="0" dirty="0"/>
              <a:t>XAI </a:t>
            </a:r>
            <a:r>
              <a:rPr lang="de-DE" baseline="0" dirty="0" err="1"/>
              <a:t>offers</a:t>
            </a:r>
            <a:r>
              <a:rPr lang="de-DE" baseline="0" dirty="0"/>
              <a:t> </a:t>
            </a:r>
            <a:r>
              <a:rPr lang="de-DE" baseline="0" dirty="0" err="1"/>
              <a:t>access</a:t>
            </a:r>
            <a:r>
              <a:rPr lang="de-DE" baseline="0" dirty="0"/>
              <a:t> </a:t>
            </a:r>
            <a:r>
              <a:rPr lang="de-DE" baseline="0" dirty="0" err="1"/>
              <a:t>to</a:t>
            </a:r>
            <a:r>
              <a:rPr lang="de-DE" baseline="0" dirty="0"/>
              <a:t> </a:t>
            </a:r>
            <a:r>
              <a:rPr lang="de-DE" baseline="0" dirty="0" err="1"/>
              <a:t>model</a:t>
            </a:r>
            <a:r>
              <a:rPr lang="de-DE" baseline="0" dirty="0"/>
              <a:t> </a:t>
            </a:r>
            <a:r>
              <a:rPr lang="de-DE" baseline="0" dirty="0" err="1"/>
              <a:t>explanations</a:t>
            </a:r>
            <a:r>
              <a:rPr lang="de-DE" baseline="0" dirty="0"/>
              <a:t> </a:t>
            </a:r>
            <a:r>
              <a:rPr lang="de-DE" baseline="0" dirty="0" err="1"/>
              <a:t>however</a:t>
            </a:r>
            <a:r>
              <a:rPr lang="de-DE" baseline="0" dirty="0"/>
              <a:t> </a:t>
            </a:r>
            <a:r>
              <a:rPr lang="de-DE" baseline="0" dirty="0" err="1"/>
              <a:t>there</a:t>
            </a:r>
            <a:r>
              <a:rPr lang="de-DE" baseline="0" dirty="0"/>
              <a:t> </a:t>
            </a:r>
            <a:r>
              <a:rPr lang="de-DE" baseline="0" dirty="0" err="1"/>
              <a:t>are</a:t>
            </a:r>
            <a:r>
              <a:rPr lang="de-DE" baseline="0" dirty="0"/>
              <a:t> </a:t>
            </a:r>
            <a:r>
              <a:rPr lang="de-DE" baseline="0" dirty="0" err="1"/>
              <a:t>some</a:t>
            </a:r>
            <a:r>
              <a:rPr lang="de-DE" baseline="0" dirty="0"/>
              <a:t> </a:t>
            </a:r>
            <a:r>
              <a:rPr lang="de-DE" baseline="0" dirty="0" err="1"/>
              <a:t>limitations</a:t>
            </a:r>
            <a:r>
              <a:rPr lang="de-DE" baseline="0" dirty="0"/>
              <a:t> </a:t>
            </a:r>
          </a:p>
          <a:p>
            <a:endParaRPr lang="en-US" dirty="0"/>
          </a:p>
        </p:txBody>
      </p:sp>
      <p:sp>
        <p:nvSpPr>
          <p:cNvPr id="4" name="Foliennummernplatzhalter 3"/>
          <p:cNvSpPr>
            <a:spLocks noGrp="1"/>
          </p:cNvSpPr>
          <p:nvPr>
            <p:ph type="sldNum" sz="quarter" idx="5"/>
          </p:nvPr>
        </p:nvSpPr>
        <p:spPr/>
        <p:txBody>
          <a:bodyPr/>
          <a:lstStyle/>
          <a:p>
            <a:fld id="{C1E8E1B3-6545-954E-9998-292C9C5033CF}" type="slidenum">
              <a:rPr lang="de-DE" smtClean="0"/>
              <a:t>7</a:t>
            </a:fld>
            <a:endParaRPr lang="de-DE"/>
          </a:p>
        </p:txBody>
      </p:sp>
    </p:spTree>
    <p:extLst>
      <p:ext uri="{BB962C8B-B14F-4D97-AF65-F5344CB8AC3E}">
        <p14:creationId xmlns:p14="http://schemas.microsoft.com/office/powerpoint/2010/main" val="343326087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E2D697-CE5A-950C-D9F8-C33B1FB1000E}"/>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74156972-D7A9-4515-ADCA-DA4A8F5671AD}"/>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7E7DA627-F4A8-A704-8E41-0BE3C3C7A781}"/>
              </a:ext>
            </a:extLst>
          </p:cNvPr>
          <p:cNvSpPr>
            <a:spLocks noGrp="1"/>
          </p:cNvSpPr>
          <p:nvPr>
            <p:ph type="body" idx="1"/>
          </p:nvPr>
        </p:nvSpPr>
        <p:spPr/>
        <p: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de-DE" baseline="0" dirty="0"/>
              <a:t>XAI </a:t>
            </a:r>
            <a:r>
              <a:rPr lang="de-DE" baseline="0" dirty="0" err="1"/>
              <a:t>offers</a:t>
            </a:r>
            <a:r>
              <a:rPr lang="de-DE" baseline="0" dirty="0"/>
              <a:t> </a:t>
            </a:r>
            <a:r>
              <a:rPr lang="de-DE" baseline="0" dirty="0" err="1"/>
              <a:t>access</a:t>
            </a:r>
            <a:r>
              <a:rPr lang="de-DE" baseline="0" dirty="0"/>
              <a:t> </a:t>
            </a:r>
            <a:r>
              <a:rPr lang="de-DE" baseline="0" dirty="0" err="1"/>
              <a:t>to</a:t>
            </a:r>
            <a:r>
              <a:rPr lang="de-DE" baseline="0" dirty="0"/>
              <a:t> </a:t>
            </a:r>
            <a:r>
              <a:rPr lang="de-DE" baseline="0" dirty="0" err="1"/>
              <a:t>model</a:t>
            </a:r>
            <a:r>
              <a:rPr lang="de-DE" baseline="0" dirty="0"/>
              <a:t> </a:t>
            </a:r>
            <a:r>
              <a:rPr lang="de-DE" baseline="0" dirty="0" err="1"/>
              <a:t>explanations</a:t>
            </a:r>
            <a:r>
              <a:rPr lang="de-DE" baseline="0" dirty="0"/>
              <a:t> </a:t>
            </a:r>
            <a:r>
              <a:rPr lang="de-DE" baseline="0" dirty="0" err="1"/>
              <a:t>however</a:t>
            </a:r>
            <a:r>
              <a:rPr lang="de-DE" baseline="0" dirty="0"/>
              <a:t> </a:t>
            </a:r>
            <a:r>
              <a:rPr lang="de-DE" baseline="0" dirty="0" err="1"/>
              <a:t>there</a:t>
            </a:r>
            <a:r>
              <a:rPr lang="de-DE" baseline="0" dirty="0"/>
              <a:t> </a:t>
            </a:r>
            <a:r>
              <a:rPr lang="de-DE" baseline="0" dirty="0" err="1"/>
              <a:t>are</a:t>
            </a:r>
            <a:r>
              <a:rPr lang="de-DE" baseline="0" dirty="0"/>
              <a:t> </a:t>
            </a:r>
            <a:r>
              <a:rPr lang="de-DE" baseline="0" dirty="0" err="1"/>
              <a:t>some</a:t>
            </a:r>
            <a:r>
              <a:rPr lang="de-DE" baseline="0" dirty="0"/>
              <a:t> </a:t>
            </a:r>
            <a:r>
              <a:rPr lang="de-DE" baseline="0" dirty="0" err="1"/>
              <a:t>limitations</a:t>
            </a:r>
            <a:r>
              <a:rPr lang="de-DE" baseline="0" dirty="0"/>
              <a:t> </a:t>
            </a:r>
          </a:p>
          <a:p>
            <a:endParaRPr lang="en-US" dirty="0"/>
          </a:p>
        </p:txBody>
      </p:sp>
      <p:sp>
        <p:nvSpPr>
          <p:cNvPr id="4" name="Foliennummernplatzhalter 3">
            <a:extLst>
              <a:ext uri="{FF2B5EF4-FFF2-40B4-BE49-F238E27FC236}">
                <a16:creationId xmlns:a16="http://schemas.microsoft.com/office/drawing/2014/main" id="{606C1F19-4CFB-3672-4078-C82D7968B4CB}"/>
              </a:ext>
            </a:extLst>
          </p:cNvPr>
          <p:cNvSpPr>
            <a:spLocks noGrp="1"/>
          </p:cNvSpPr>
          <p:nvPr>
            <p:ph type="sldNum" sz="quarter" idx="5"/>
          </p:nvPr>
        </p:nvSpPr>
        <p:spPr/>
        <p:txBody>
          <a:bodyPr/>
          <a:lstStyle/>
          <a:p>
            <a:fld id="{C1E8E1B3-6545-954E-9998-292C9C5033CF}" type="slidenum">
              <a:rPr lang="de-DE" smtClean="0"/>
              <a:t>8</a:t>
            </a:fld>
            <a:endParaRPr lang="de-DE"/>
          </a:p>
        </p:txBody>
      </p:sp>
    </p:spTree>
    <p:extLst>
      <p:ext uri="{BB962C8B-B14F-4D97-AF65-F5344CB8AC3E}">
        <p14:creationId xmlns:p14="http://schemas.microsoft.com/office/powerpoint/2010/main" val="364844987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A97A4E-F4BB-0264-D547-F5678F9E9D84}"/>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7314AD7E-AD29-C87D-04F4-55B7C92F12DD}"/>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647645C0-7787-BAD3-8466-750404C2F49D}"/>
              </a:ext>
            </a:extLst>
          </p:cNvPr>
          <p:cNvSpPr>
            <a:spLocks noGrp="1"/>
          </p:cNvSpPr>
          <p:nvPr>
            <p:ph type="body" idx="1"/>
          </p:nvPr>
        </p:nvSpPr>
        <p:spPr/>
        <p: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de-DE" baseline="0" dirty="0"/>
              <a:t>XAI </a:t>
            </a:r>
            <a:r>
              <a:rPr lang="de-DE" baseline="0" dirty="0" err="1"/>
              <a:t>offers</a:t>
            </a:r>
            <a:r>
              <a:rPr lang="de-DE" baseline="0" dirty="0"/>
              <a:t> </a:t>
            </a:r>
            <a:r>
              <a:rPr lang="de-DE" baseline="0" dirty="0" err="1"/>
              <a:t>access</a:t>
            </a:r>
            <a:r>
              <a:rPr lang="de-DE" baseline="0" dirty="0"/>
              <a:t> </a:t>
            </a:r>
            <a:r>
              <a:rPr lang="de-DE" baseline="0" dirty="0" err="1"/>
              <a:t>to</a:t>
            </a:r>
            <a:r>
              <a:rPr lang="de-DE" baseline="0" dirty="0"/>
              <a:t> </a:t>
            </a:r>
            <a:r>
              <a:rPr lang="de-DE" baseline="0" dirty="0" err="1"/>
              <a:t>model</a:t>
            </a:r>
            <a:r>
              <a:rPr lang="de-DE" baseline="0" dirty="0"/>
              <a:t> </a:t>
            </a:r>
            <a:r>
              <a:rPr lang="de-DE" baseline="0" dirty="0" err="1"/>
              <a:t>explanations</a:t>
            </a:r>
            <a:r>
              <a:rPr lang="de-DE" baseline="0" dirty="0"/>
              <a:t> </a:t>
            </a:r>
            <a:r>
              <a:rPr lang="de-DE" baseline="0" dirty="0" err="1"/>
              <a:t>however</a:t>
            </a:r>
            <a:r>
              <a:rPr lang="de-DE" baseline="0" dirty="0"/>
              <a:t> </a:t>
            </a:r>
            <a:r>
              <a:rPr lang="de-DE" baseline="0" dirty="0" err="1"/>
              <a:t>there</a:t>
            </a:r>
            <a:r>
              <a:rPr lang="de-DE" baseline="0" dirty="0"/>
              <a:t> </a:t>
            </a:r>
            <a:r>
              <a:rPr lang="de-DE" baseline="0" dirty="0" err="1"/>
              <a:t>are</a:t>
            </a:r>
            <a:r>
              <a:rPr lang="de-DE" baseline="0" dirty="0"/>
              <a:t> </a:t>
            </a:r>
            <a:r>
              <a:rPr lang="de-DE" baseline="0" dirty="0" err="1"/>
              <a:t>some</a:t>
            </a:r>
            <a:r>
              <a:rPr lang="de-DE" baseline="0" dirty="0"/>
              <a:t> </a:t>
            </a:r>
            <a:r>
              <a:rPr lang="de-DE" baseline="0" dirty="0" err="1"/>
              <a:t>limitations</a:t>
            </a:r>
            <a:r>
              <a:rPr lang="de-DE" baseline="0" dirty="0"/>
              <a:t> </a:t>
            </a:r>
          </a:p>
          <a:p>
            <a:endParaRPr lang="en-US" dirty="0"/>
          </a:p>
        </p:txBody>
      </p:sp>
      <p:sp>
        <p:nvSpPr>
          <p:cNvPr id="4" name="Foliennummernplatzhalter 3">
            <a:extLst>
              <a:ext uri="{FF2B5EF4-FFF2-40B4-BE49-F238E27FC236}">
                <a16:creationId xmlns:a16="http://schemas.microsoft.com/office/drawing/2014/main" id="{4BCB3714-8EEC-7A84-82CF-11A9A1EC9BDA}"/>
              </a:ext>
            </a:extLst>
          </p:cNvPr>
          <p:cNvSpPr>
            <a:spLocks noGrp="1"/>
          </p:cNvSpPr>
          <p:nvPr>
            <p:ph type="sldNum" sz="quarter" idx="5"/>
          </p:nvPr>
        </p:nvSpPr>
        <p:spPr/>
        <p:txBody>
          <a:bodyPr/>
          <a:lstStyle/>
          <a:p>
            <a:fld id="{C1E8E1B3-6545-954E-9998-292C9C5033CF}" type="slidenum">
              <a:rPr lang="de-DE" smtClean="0"/>
              <a:t>9</a:t>
            </a:fld>
            <a:endParaRPr lang="de-DE"/>
          </a:p>
        </p:txBody>
      </p:sp>
    </p:spTree>
    <p:extLst>
      <p:ext uri="{BB962C8B-B14F-4D97-AF65-F5344CB8AC3E}">
        <p14:creationId xmlns:p14="http://schemas.microsoft.com/office/powerpoint/2010/main" val="335226080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pPr marL="171450" indent="-171450">
              <a:buFont typeface="Arial" panose="020B0604020202020204" pitchFamily="34" charset="0"/>
              <a:buChar char="•"/>
            </a:pPr>
            <a:r>
              <a:rPr lang="de-DE" dirty="0"/>
              <a:t>XAI</a:t>
            </a:r>
            <a:r>
              <a:rPr lang="de-DE" baseline="0" dirty="0"/>
              <a:t> </a:t>
            </a:r>
            <a:r>
              <a:rPr lang="de-DE" baseline="0" dirty="0" err="1"/>
              <a:t>offers</a:t>
            </a:r>
            <a:r>
              <a:rPr lang="de-DE" baseline="0" dirty="0"/>
              <a:t> </a:t>
            </a:r>
            <a:r>
              <a:rPr lang="de-DE" baseline="0" dirty="0" err="1"/>
              <a:t>more</a:t>
            </a:r>
            <a:r>
              <a:rPr lang="de-DE" baseline="0" dirty="0"/>
              <a:t> </a:t>
            </a:r>
            <a:r>
              <a:rPr lang="de-DE" baseline="0" dirty="0" err="1"/>
              <a:t>complex</a:t>
            </a:r>
            <a:r>
              <a:rPr lang="de-DE" baseline="0" dirty="0"/>
              <a:t> </a:t>
            </a:r>
            <a:r>
              <a:rPr lang="de-DE" baseline="0" dirty="0" err="1"/>
              <a:t>explanations</a:t>
            </a:r>
            <a:r>
              <a:rPr lang="de-DE" baseline="0" dirty="0"/>
              <a:t>; non </a:t>
            </a:r>
            <a:r>
              <a:rPr lang="de-DE" baseline="0" dirty="0" err="1"/>
              <a:t>conversational</a:t>
            </a:r>
            <a:endParaRPr lang="de-DE" baseline="0" dirty="0"/>
          </a:p>
          <a:p>
            <a:pPr marL="171450" indent="-171450">
              <a:buFont typeface="Arial" panose="020B0604020202020204" pitchFamily="34" charset="0"/>
              <a:buChar char="•"/>
            </a:pPr>
            <a:r>
              <a:rPr lang="de-DE" baseline="0" dirty="0"/>
              <a:t>The </a:t>
            </a:r>
            <a:r>
              <a:rPr lang="de-DE" baseline="0" dirty="0" err="1"/>
              <a:t>information</a:t>
            </a:r>
            <a:r>
              <a:rPr lang="de-DE" baseline="0" dirty="0"/>
              <a:t> </a:t>
            </a:r>
            <a:r>
              <a:rPr lang="de-DE" baseline="0" dirty="0" err="1"/>
              <a:t>is</a:t>
            </a:r>
            <a:r>
              <a:rPr lang="de-DE" baseline="0" dirty="0"/>
              <a:t> limited </a:t>
            </a:r>
            <a:r>
              <a:rPr lang="de-DE" baseline="0" dirty="0" err="1"/>
              <a:t>to</a:t>
            </a:r>
            <a:r>
              <a:rPr lang="de-DE" baseline="0" dirty="0"/>
              <a:t> </a:t>
            </a:r>
            <a:r>
              <a:rPr lang="de-DE" baseline="0" dirty="0" err="1"/>
              <a:t>data</a:t>
            </a:r>
            <a:r>
              <a:rPr lang="de-DE" baseline="0" dirty="0"/>
              <a:t> </a:t>
            </a:r>
            <a:r>
              <a:rPr lang="de-DE" baseline="0" dirty="0" err="1"/>
              <a:t>and</a:t>
            </a:r>
            <a:r>
              <a:rPr lang="de-DE" baseline="0" dirty="0"/>
              <a:t> </a:t>
            </a:r>
            <a:r>
              <a:rPr lang="de-DE" baseline="0" dirty="0" err="1"/>
              <a:t>model</a:t>
            </a:r>
            <a:r>
              <a:rPr lang="de-DE" baseline="0" dirty="0"/>
              <a:t> </a:t>
            </a:r>
            <a:r>
              <a:rPr lang="de-DE" baseline="0" dirty="0" err="1"/>
              <a:t>only</a:t>
            </a:r>
            <a:r>
              <a:rPr lang="de-DE" baseline="0" dirty="0"/>
              <a:t>; </a:t>
            </a:r>
            <a:r>
              <a:rPr lang="de-DE" baseline="0" dirty="0" err="1"/>
              <a:t>no</a:t>
            </a:r>
            <a:r>
              <a:rPr lang="de-DE" baseline="0" dirty="0"/>
              <a:t> additional </a:t>
            </a:r>
            <a:r>
              <a:rPr lang="de-DE" baseline="0" dirty="0" err="1"/>
              <a:t>information</a:t>
            </a:r>
            <a:r>
              <a:rPr lang="de-DE" baseline="0" dirty="0"/>
              <a:t> </a:t>
            </a:r>
            <a:r>
              <a:rPr lang="de-DE" baseline="0" dirty="0" err="1"/>
              <a:t>about</a:t>
            </a:r>
            <a:r>
              <a:rPr lang="de-DE" baseline="0" dirty="0"/>
              <a:t> </a:t>
            </a:r>
            <a:r>
              <a:rPr lang="de-DE" baseline="0" dirty="0" err="1"/>
              <a:t>the</a:t>
            </a:r>
            <a:r>
              <a:rPr lang="de-DE" baseline="0" dirty="0"/>
              <a:t> </a:t>
            </a:r>
            <a:r>
              <a:rPr lang="de-DE" baseline="0" dirty="0" err="1"/>
              <a:t>process</a:t>
            </a:r>
            <a:r>
              <a:rPr lang="de-DE" baseline="0" dirty="0"/>
              <a:t>/</a:t>
            </a:r>
            <a:r>
              <a:rPr lang="de-DE" baseline="0" dirty="0" err="1"/>
              <a:t>domain</a:t>
            </a:r>
            <a:endParaRPr lang="de-DE" baseline="0" dirty="0"/>
          </a:p>
          <a:p>
            <a:pPr marL="171450" indent="-171450">
              <a:buFont typeface="Arial" panose="020B0604020202020204" pitchFamily="34" charset="0"/>
              <a:buChar char="•"/>
            </a:pPr>
            <a:r>
              <a:rPr lang="de-DE" baseline="0" dirty="0"/>
              <a:t>Main </a:t>
            </a:r>
            <a:r>
              <a:rPr lang="de-DE" baseline="0" dirty="0" err="1"/>
              <a:t>focus</a:t>
            </a:r>
            <a:r>
              <a:rPr lang="de-DE" baseline="0" dirty="0"/>
              <a:t> on expert </a:t>
            </a:r>
            <a:r>
              <a:rPr lang="de-DE" baseline="0" dirty="0" err="1"/>
              <a:t>users</a:t>
            </a:r>
            <a:r>
              <a:rPr lang="de-DE" baseline="0" dirty="0"/>
              <a:t>, </a:t>
            </a:r>
            <a:r>
              <a:rPr lang="de-DE" baseline="0" dirty="0" err="1"/>
              <a:t>which</a:t>
            </a:r>
            <a:r>
              <a:rPr lang="de-DE" baseline="0" dirty="0"/>
              <a:t> </a:t>
            </a:r>
            <a:r>
              <a:rPr lang="de-DE" baseline="0" dirty="0" err="1"/>
              <a:t>can</a:t>
            </a:r>
            <a:r>
              <a:rPr lang="de-DE" baseline="0" dirty="0"/>
              <a:t> </a:t>
            </a:r>
            <a:r>
              <a:rPr lang="de-DE" baseline="0" dirty="0" err="1"/>
              <a:t>be</a:t>
            </a:r>
            <a:r>
              <a:rPr lang="de-DE" baseline="0" dirty="0"/>
              <a:t> </a:t>
            </a:r>
            <a:r>
              <a:rPr lang="de-DE" baseline="0" dirty="0" err="1"/>
              <a:t>domain</a:t>
            </a:r>
            <a:r>
              <a:rPr lang="de-DE" baseline="0" dirty="0"/>
              <a:t> </a:t>
            </a:r>
            <a:r>
              <a:rPr lang="de-DE" baseline="0" dirty="0" err="1"/>
              <a:t>experts</a:t>
            </a:r>
            <a:r>
              <a:rPr lang="de-DE" baseline="0" dirty="0"/>
              <a:t> </a:t>
            </a:r>
            <a:r>
              <a:rPr lang="de-DE" baseline="0" dirty="0" err="1"/>
              <a:t>or</a:t>
            </a:r>
            <a:r>
              <a:rPr lang="de-DE" baseline="0" dirty="0"/>
              <a:t> </a:t>
            </a:r>
            <a:r>
              <a:rPr lang="de-DE" baseline="0" dirty="0" err="1"/>
              <a:t>even</a:t>
            </a:r>
            <a:r>
              <a:rPr lang="de-DE" baseline="0" dirty="0"/>
              <a:t> </a:t>
            </a:r>
            <a:r>
              <a:rPr lang="de-DE" baseline="0" dirty="0" err="1"/>
              <a:t>machine</a:t>
            </a:r>
            <a:r>
              <a:rPr lang="de-DE" baseline="0" dirty="0"/>
              <a:t> </a:t>
            </a:r>
            <a:r>
              <a:rPr lang="de-DE" baseline="0" dirty="0" err="1"/>
              <a:t>learning</a:t>
            </a:r>
            <a:r>
              <a:rPr lang="de-DE" baseline="0" dirty="0"/>
              <a:t> </a:t>
            </a:r>
            <a:r>
              <a:rPr lang="de-DE" baseline="0" dirty="0" err="1"/>
              <a:t>experts</a:t>
            </a:r>
            <a:endParaRPr lang="de-DE" baseline="0" dirty="0"/>
          </a:p>
          <a:p>
            <a:pPr marL="171450" indent="-171450">
              <a:buFont typeface="Arial" panose="020B0604020202020204" pitchFamily="34" charset="0"/>
              <a:buChar char="•"/>
            </a:pPr>
            <a:endParaRPr lang="de-DE" baseline="0" dirty="0"/>
          </a:p>
          <a:p>
            <a:pPr marL="171450" indent="-171450">
              <a:buFont typeface="Arial" panose="020B0604020202020204" pitchFamily="34" charset="0"/>
              <a:buChar char="•"/>
            </a:pPr>
            <a:r>
              <a:rPr lang="de-DE" baseline="0" dirty="0" err="1"/>
              <a:t>How</a:t>
            </a:r>
            <a:r>
              <a:rPr lang="de-DE" baseline="0" dirty="0"/>
              <a:t> </a:t>
            </a:r>
            <a:r>
              <a:rPr lang="de-DE" baseline="0" dirty="0" err="1"/>
              <a:t>can</a:t>
            </a:r>
            <a:r>
              <a:rPr lang="de-DE" baseline="0" dirty="0"/>
              <a:t> </a:t>
            </a:r>
            <a:r>
              <a:rPr lang="de-DE" baseline="0" dirty="0" err="1"/>
              <a:t>we</a:t>
            </a:r>
            <a:r>
              <a:rPr lang="de-DE" baseline="0" dirty="0"/>
              <a:t> </a:t>
            </a:r>
            <a:r>
              <a:rPr lang="de-DE" baseline="0" dirty="0" err="1"/>
              <a:t>tackle</a:t>
            </a:r>
            <a:r>
              <a:rPr lang="de-DE" baseline="0" dirty="0"/>
              <a:t> </a:t>
            </a:r>
            <a:r>
              <a:rPr lang="de-DE" baseline="0" dirty="0" err="1"/>
              <a:t>this</a:t>
            </a:r>
            <a:r>
              <a:rPr lang="de-DE" baseline="0" dirty="0"/>
              <a:t>?</a:t>
            </a:r>
          </a:p>
          <a:p>
            <a:pPr marL="171450" indent="-171450">
              <a:buFont typeface="Arial" panose="020B0604020202020204" pitchFamily="34" charset="0"/>
              <a:buChar char="•"/>
            </a:pPr>
            <a:r>
              <a:rPr lang="de-DE" baseline="0" dirty="0"/>
              <a:t>Non </a:t>
            </a:r>
            <a:r>
              <a:rPr lang="de-DE" baseline="0" dirty="0" err="1"/>
              <a:t>conversational</a:t>
            </a:r>
            <a:r>
              <a:rPr lang="de-DE" baseline="0" dirty="0"/>
              <a:t> -&gt; </a:t>
            </a:r>
            <a:r>
              <a:rPr lang="de-DE" baseline="0" dirty="0" err="1"/>
              <a:t>dialogue</a:t>
            </a:r>
            <a:r>
              <a:rPr lang="de-DE" baseline="0" dirty="0"/>
              <a:t> </a:t>
            </a:r>
            <a:r>
              <a:rPr lang="de-DE" baseline="0" dirty="0" err="1"/>
              <a:t>system</a:t>
            </a:r>
            <a:endParaRPr lang="de-DE" baseline="0" dirty="0"/>
          </a:p>
          <a:p>
            <a:pPr marL="171450" indent="-171450">
              <a:buFont typeface="Arial" panose="020B0604020202020204" pitchFamily="34" charset="0"/>
              <a:buChar char="•"/>
            </a:pPr>
            <a:r>
              <a:rPr lang="de-DE" baseline="0" dirty="0"/>
              <a:t>Limited </a:t>
            </a:r>
            <a:r>
              <a:rPr lang="de-DE" baseline="0" dirty="0" err="1"/>
              <a:t>to</a:t>
            </a:r>
            <a:r>
              <a:rPr lang="de-DE" baseline="0" dirty="0"/>
              <a:t> </a:t>
            </a:r>
            <a:r>
              <a:rPr lang="de-DE" baseline="0" dirty="0" err="1"/>
              <a:t>data</a:t>
            </a:r>
            <a:r>
              <a:rPr lang="de-DE" baseline="0" dirty="0"/>
              <a:t> </a:t>
            </a:r>
            <a:r>
              <a:rPr lang="de-DE" baseline="0" dirty="0" err="1"/>
              <a:t>only</a:t>
            </a:r>
            <a:r>
              <a:rPr lang="de-DE" baseline="0" dirty="0"/>
              <a:t> -&gt; </a:t>
            </a:r>
            <a:r>
              <a:rPr lang="de-DE" baseline="0" dirty="0" err="1"/>
              <a:t>extend</a:t>
            </a:r>
            <a:r>
              <a:rPr lang="de-DE" baseline="0" dirty="0"/>
              <a:t> </a:t>
            </a:r>
            <a:r>
              <a:rPr lang="de-DE" baseline="0" dirty="0" err="1"/>
              <a:t>with</a:t>
            </a:r>
            <a:r>
              <a:rPr lang="de-DE" baseline="0" dirty="0"/>
              <a:t> additional </a:t>
            </a:r>
            <a:r>
              <a:rPr lang="de-DE" baseline="0" dirty="0" err="1"/>
              <a:t>sourcdes</a:t>
            </a:r>
            <a:r>
              <a:rPr lang="de-DE" baseline="0" dirty="0"/>
              <a:t> e.g. </a:t>
            </a:r>
            <a:r>
              <a:rPr lang="de-DE" baseline="0" dirty="0" err="1"/>
              <a:t>domain</a:t>
            </a:r>
            <a:r>
              <a:rPr lang="de-DE" baseline="0" dirty="0"/>
              <a:t> </a:t>
            </a:r>
            <a:r>
              <a:rPr lang="de-DE" baseline="0" dirty="0" err="1"/>
              <a:t>knowledge</a:t>
            </a:r>
            <a:endParaRPr lang="de-DE" baseline="0" dirty="0"/>
          </a:p>
          <a:p>
            <a:pPr marL="171450" indent="-171450">
              <a:buFont typeface="Arial" panose="020B0604020202020204" pitchFamily="34" charset="0"/>
              <a:buChar char="•"/>
            </a:pPr>
            <a:r>
              <a:rPr lang="de-DE" baseline="0" dirty="0"/>
              <a:t>Main </a:t>
            </a:r>
            <a:r>
              <a:rPr lang="de-DE" baseline="0" dirty="0" err="1"/>
              <a:t>focus</a:t>
            </a:r>
            <a:r>
              <a:rPr lang="de-DE" baseline="0" dirty="0"/>
              <a:t> on expert </a:t>
            </a:r>
            <a:r>
              <a:rPr lang="de-DE" baseline="0" dirty="0" err="1"/>
              <a:t>users</a:t>
            </a:r>
            <a:r>
              <a:rPr lang="de-DE" baseline="0" dirty="0"/>
              <a:t> -&gt; </a:t>
            </a:r>
            <a:r>
              <a:rPr lang="de-DE" baseline="0" dirty="0" err="1"/>
              <a:t>personalization</a:t>
            </a:r>
            <a:r>
              <a:rPr lang="de-DE" baseline="0" dirty="0"/>
              <a:t>/</a:t>
            </a:r>
            <a:r>
              <a:rPr lang="de-DE" baseline="0" dirty="0" err="1"/>
              <a:t>adapation</a:t>
            </a:r>
            <a:r>
              <a:rPr lang="de-DE" baseline="0" dirty="0"/>
              <a:t> </a:t>
            </a:r>
            <a:r>
              <a:rPr lang="de-DE" baseline="0" dirty="0" err="1"/>
              <a:t>to</a:t>
            </a:r>
            <a:r>
              <a:rPr lang="de-DE" baseline="0" dirty="0"/>
              <a:t> </a:t>
            </a:r>
            <a:r>
              <a:rPr lang="de-DE" baseline="0" dirty="0" err="1"/>
              <a:t>user</a:t>
            </a:r>
            <a:r>
              <a:rPr lang="de-DE" baseline="0" dirty="0"/>
              <a:t> </a:t>
            </a:r>
            <a:r>
              <a:rPr lang="de-DE" baseline="0" dirty="0" err="1"/>
              <a:t>needs</a:t>
            </a:r>
            <a:endParaRPr lang="de-DE" baseline="0" dirty="0"/>
          </a:p>
          <a:p>
            <a:pPr marL="171450" indent="-171450">
              <a:buFont typeface="Arial" panose="020B0604020202020204" pitchFamily="34" charset="0"/>
              <a:buChar char="•"/>
            </a:pPr>
            <a:endParaRPr lang="de-DE" baseline="0" dirty="0"/>
          </a:p>
        </p:txBody>
      </p:sp>
      <p:sp>
        <p:nvSpPr>
          <p:cNvPr id="4" name="Foliennummernplatzhalter 3"/>
          <p:cNvSpPr>
            <a:spLocks noGrp="1"/>
          </p:cNvSpPr>
          <p:nvPr>
            <p:ph type="sldNum" sz="quarter" idx="10"/>
          </p:nvPr>
        </p:nvSpPr>
        <p:spPr/>
        <p:txBody>
          <a:bodyPr/>
          <a:lstStyle/>
          <a:p>
            <a:fld id="{C1E8E1B3-6545-954E-9998-292C9C5033CF}" type="slidenum">
              <a:rPr lang="de-DE" smtClean="0"/>
              <a:t>10</a:t>
            </a:fld>
            <a:endParaRPr lang="de-DE"/>
          </a:p>
        </p:txBody>
      </p:sp>
    </p:spTree>
    <p:extLst>
      <p:ext uri="{BB962C8B-B14F-4D97-AF65-F5344CB8AC3E}">
        <p14:creationId xmlns:p14="http://schemas.microsoft.com/office/powerpoint/2010/main" val="221336284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B1C16C-120F-AA9F-93C3-B3C0E655CB41}"/>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6B09BDD7-DBE8-7B7C-5096-E4490F72C495}"/>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9C9B459E-000F-5713-956A-76B0EE072778}"/>
              </a:ext>
            </a:extLst>
          </p:cNvPr>
          <p:cNvSpPr>
            <a:spLocks noGrp="1"/>
          </p:cNvSpPr>
          <p:nvPr>
            <p:ph type="body" idx="1"/>
          </p:nvPr>
        </p:nvSpPr>
        <p:spPr/>
        <p:txBody>
          <a:bodyPr/>
          <a:lstStyle/>
          <a:p>
            <a:pPr marL="171450" indent="-171450">
              <a:buFont typeface="Arial" panose="020B0604020202020204" pitchFamily="34" charset="0"/>
              <a:buChar char="•"/>
            </a:pPr>
            <a:r>
              <a:rPr lang="de-DE" dirty="0"/>
              <a:t>XAI</a:t>
            </a:r>
            <a:r>
              <a:rPr lang="de-DE" baseline="0" dirty="0"/>
              <a:t> </a:t>
            </a:r>
            <a:r>
              <a:rPr lang="de-DE" baseline="0" dirty="0" err="1"/>
              <a:t>offers</a:t>
            </a:r>
            <a:r>
              <a:rPr lang="de-DE" baseline="0" dirty="0"/>
              <a:t> </a:t>
            </a:r>
            <a:r>
              <a:rPr lang="de-DE" baseline="0" dirty="0" err="1"/>
              <a:t>more</a:t>
            </a:r>
            <a:r>
              <a:rPr lang="de-DE" baseline="0" dirty="0"/>
              <a:t> </a:t>
            </a:r>
            <a:r>
              <a:rPr lang="de-DE" baseline="0" dirty="0" err="1"/>
              <a:t>complex</a:t>
            </a:r>
            <a:r>
              <a:rPr lang="de-DE" baseline="0" dirty="0"/>
              <a:t> </a:t>
            </a:r>
            <a:r>
              <a:rPr lang="de-DE" baseline="0" dirty="0" err="1"/>
              <a:t>explanations</a:t>
            </a:r>
            <a:r>
              <a:rPr lang="de-DE" baseline="0" dirty="0"/>
              <a:t>; non </a:t>
            </a:r>
            <a:r>
              <a:rPr lang="de-DE" baseline="0" dirty="0" err="1"/>
              <a:t>conversational</a:t>
            </a:r>
            <a:endParaRPr lang="de-DE" baseline="0" dirty="0"/>
          </a:p>
          <a:p>
            <a:pPr marL="171450" indent="-171450">
              <a:buFont typeface="Arial" panose="020B0604020202020204" pitchFamily="34" charset="0"/>
              <a:buChar char="•"/>
            </a:pPr>
            <a:r>
              <a:rPr lang="de-DE" baseline="0" dirty="0"/>
              <a:t>The </a:t>
            </a:r>
            <a:r>
              <a:rPr lang="de-DE" baseline="0" dirty="0" err="1"/>
              <a:t>information</a:t>
            </a:r>
            <a:r>
              <a:rPr lang="de-DE" baseline="0" dirty="0"/>
              <a:t> </a:t>
            </a:r>
            <a:r>
              <a:rPr lang="de-DE" baseline="0" dirty="0" err="1"/>
              <a:t>is</a:t>
            </a:r>
            <a:r>
              <a:rPr lang="de-DE" baseline="0" dirty="0"/>
              <a:t> limited </a:t>
            </a:r>
            <a:r>
              <a:rPr lang="de-DE" baseline="0" dirty="0" err="1"/>
              <a:t>to</a:t>
            </a:r>
            <a:r>
              <a:rPr lang="de-DE" baseline="0" dirty="0"/>
              <a:t> </a:t>
            </a:r>
            <a:r>
              <a:rPr lang="de-DE" baseline="0" dirty="0" err="1"/>
              <a:t>data</a:t>
            </a:r>
            <a:r>
              <a:rPr lang="de-DE" baseline="0" dirty="0"/>
              <a:t> </a:t>
            </a:r>
            <a:r>
              <a:rPr lang="de-DE" baseline="0" dirty="0" err="1"/>
              <a:t>and</a:t>
            </a:r>
            <a:r>
              <a:rPr lang="de-DE" baseline="0" dirty="0"/>
              <a:t> </a:t>
            </a:r>
            <a:r>
              <a:rPr lang="de-DE" baseline="0" dirty="0" err="1"/>
              <a:t>model</a:t>
            </a:r>
            <a:r>
              <a:rPr lang="de-DE" baseline="0" dirty="0"/>
              <a:t> </a:t>
            </a:r>
            <a:r>
              <a:rPr lang="de-DE" baseline="0" dirty="0" err="1"/>
              <a:t>only</a:t>
            </a:r>
            <a:r>
              <a:rPr lang="de-DE" baseline="0" dirty="0"/>
              <a:t>; </a:t>
            </a:r>
            <a:r>
              <a:rPr lang="de-DE" baseline="0" dirty="0" err="1"/>
              <a:t>no</a:t>
            </a:r>
            <a:r>
              <a:rPr lang="de-DE" baseline="0" dirty="0"/>
              <a:t> additional </a:t>
            </a:r>
            <a:r>
              <a:rPr lang="de-DE" baseline="0" dirty="0" err="1"/>
              <a:t>information</a:t>
            </a:r>
            <a:r>
              <a:rPr lang="de-DE" baseline="0" dirty="0"/>
              <a:t> </a:t>
            </a:r>
            <a:r>
              <a:rPr lang="de-DE" baseline="0" dirty="0" err="1"/>
              <a:t>about</a:t>
            </a:r>
            <a:r>
              <a:rPr lang="de-DE" baseline="0" dirty="0"/>
              <a:t> </a:t>
            </a:r>
            <a:r>
              <a:rPr lang="de-DE" baseline="0" dirty="0" err="1"/>
              <a:t>the</a:t>
            </a:r>
            <a:r>
              <a:rPr lang="de-DE" baseline="0" dirty="0"/>
              <a:t> </a:t>
            </a:r>
            <a:r>
              <a:rPr lang="de-DE" baseline="0" dirty="0" err="1"/>
              <a:t>process</a:t>
            </a:r>
            <a:r>
              <a:rPr lang="de-DE" baseline="0" dirty="0"/>
              <a:t>/</a:t>
            </a:r>
            <a:r>
              <a:rPr lang="de-DE" baseline="0" dirty="0" err="1"/>
              <a:t>domain</a:t>
            </a:r>
            <a:endParaRPr lang="de-DE" baseline="0" dirty="0"/>
          </a:p>
          <a:p>
            <a:pPr marL="171450" indent="-171450">
              <a:buFont typeface="Arial" panose="020B0604020202020204" pitchFamily="34" charset="0"/>
              <a:buChar char="•"/>
            </a:pPr>
            <a:r>
              <a:rPr lang="de-DE" baseline="0" dirty="0"/>
              <a:t>Main </a:t>
            </a:r>
            <a:r>
              <a:rPr lang="de-DE" baseline="0" dirty="0" err="1"/>
              <a:t>focus</a:t>
            </a:r>
            <a:r>
              <a:rPr lang="de-DE" baseline="0" dirty="0"/>
              <a:t> on expert </a:t>
            </a:r>
            <a:r>
              <a:rPr lang="de-DE" baseline="0" dirty="0" err="1"/>
              <a:t>users</a:t>
            </a:r>
            <a:r>
              <a:rPr lang="de-DE" baseline="0" dirty="0"/>
              <a:t>, </a:t>
            </a:r>
            <a:r>
              <a:rPr lang="de-DE" baseline="0" dirty="0" err="1"/>
              <a:t>which</a:t>
            </a:r>
            <a:r>
              <a:rPr lang="de-DE" baseline="0" dirty="0"/>
              <a:t> </a:t>
            </a:r>
            <a:r>
              <a:rPr lang="de-DE" baseline="0" dirty="0" err="1"/>
              <a:t>can</a:t>
            </a:r>
            <a:r>
              <a:rPr lang="de-DE" baseline="0" dirty="0"/>
              <a:t> </a:t>
            </a:r>
            <a:r>
              <a:rPr lang="de-DE" baseline="0" dirty="0" err="1"/>
              <a:t>be</a:t>
            </a:r>
            <a:r>
              <a:rPr lang="de-DE" baseline="0" dirty="0"/>
              <a:t> </a:t>
            </a:r>
            <a:r>
              <a:rPr lang="de-DE" baseline="0" dirty="0" err="1"/>
              <a:t>domain</a:t>
            </a:r>
            <a:r>
              <a:rPr lang="de-DE" baseline="0" dirty="0"/>
              <a:t> </a:t>
            </a:r>
            <a:r>
              <a:rPr lang="de-DE" baseline="0" dirty="0" err="1"/>
              <a:t>experts</a:t>
            </a:r>
            <a:r>
              <a:rPr lang="de-DE" baseline="0" dirty="0"/>
              <a:t> </a:t>
            </a:r>
            <a:r>
              <a:rPr lang="de-DE" baseline="0" dirty="0" err="1"/>
              <a:t>or</a:t>
            </a:r>
            <a:r>
              <a:rPr lang="de-DE" baseline="0" dirty="0"/>
              <a:t> </a:t>
            </a:r>
            <a:r>
              <a:rPr lang="de-DE" baseline="0" dirty="0" err="1"/>
              <a:t>even</a:t>
            </a:r>
            <a:r>
              <a:rPr lang="de-DE" baseline="0" dirty="0"/>
              <a:t> </a:t>
            </a:r>
            <a:r>
              <a:rPr lang="de-DE" baseline="0" dirty="0" err="1"/>
              <a:t>machine</a:t>
            </a:r>
            <a:r>
              <a:rPr lang="de-DE" baseline="0" dirty="0"/>
              <a:t> </a:t>
            </a:r>
            <a:r>
              <a:rPr lang="de-DE" baseline="0" dirty="0" err="1"/>
              <a:t>learning</a:t>
            </a:r>
            <a:r>
              <a:rPr lang="de-DE" baseline="0" dirty="0"/>
              <a:t> </a:t>
            </a:r>
            <a:r>
              <a:rPr lang="de-DE" baseline="0" dirty="0" err="1"/>
              <a:t>experts</a:t>
            </a:r>
            <a:endParaRPr lang="de-DE" baseline="0" dirty="0"/>
          </a:p>
          <a:p>
            <a:pPr marL="171450" indent="-171450">
              <a:buFont typeface="Arial" panose="020B0604020202020204" pitchFamily="34" charset="0"/>
              <a:buChar char="•"/>
            </a:pPr>
            <a:endParaRPr lang="de-DE" baseline="0" dirty="0"/>
          </a:p>
          <a:p>
            <a:pPr marL="171450" indent="-171450">
              <a:buFont typeface="Arial" panose="020B0604020202020204" pitchFamily="34" charset="0"/>
              <a:buChar char="•"/>
            </a:pPr>
            <a:r>
              <a:rPr lang="de-DE" baseline="0" dirty="0" err="1"/>
              <a:t>How</a:t>
            </a:r>
            <a:r>
              <a:rPr lang="de-DE" baseline="0" dirty="0"/>
              <a:t> </a:t>
            </a:r>
            <a:r>
              <a:rPr lang="de-DE" baseline="0" dirty="0" err="1"/>
              <a:t>can</a:t>
            </a:r>
            <a:r>
              <a:rPr lang="de-DE" baseline="0" dirty="0"/>
              <a:t> </a:t>
            </a:r>
            <a:r>
              <a:rPr lang="de-DE" baseline="0" dirty="0" err="1"/>
              <a:t>we</a:t>
            </a:r>
            <a:r>
              <a:rPr lang="de-DE" baseline="0" dirty="0"/>
              <a:t> </a:t>
            </a:r>
            <a:r>
              <a:rPr lang="de-DE" baseline="0" dirty="0" err="1"/>
              <a:t>tackle</a:t>
            </a:r>
            <a:r>
              <a:rPr lang="de-DE" baseline="0" dirty="0"/>
              <a:t> </a:t>
            </a:r>
            <a:r>
              <a:rPr lang="de-DE" baseline="0" dirty="0" err="1"/>
              <a:t>this</a:t>
            </a:r>
            <a:r>
              <a:rPr lang="de-DE" baseline="0" dirty="0"/>
              <a:t>?</a:t>
            </a:r>
          </a:p>
          <a:p>
            <a:pPr marL="171450" indent="-171450">
              <a:buFont typeface="Arial" panose="020B0604020202020204" pitchFamily="34" charset="0"/>
              <a:buChar char="•"/>
            </a:pPr>
            <a:r>
              <a:rPr lang="de-DE" baseline="0" dirty="0"/>
              <a:t>Non </a:t>
            </a:r>
            <a:r>
              <a:rPr lang="de-DE" baseline="0" dirty="0" err="1"/>
              <a:t>conversational</a:t>
            </a:r>
            <a:r>
              <a:rPr lang="de-DE" baseline="0" dirty="0"/>
              <a:t> -&gt; </a:t>
            </a:r>
            <a:r>
              <a:rPr lang="de-DE" baseline="0" dirty="0" err="1"/>
              <a:t>dialogue</a:t>
            </a:r>
            <a:r>
              <a:rPr lang="de-DE" baseline="0" dirty="0"/>
              <a:t> </a:t>
            </a:r>
            <a:r>
              <a:rPr lang="de-DE" baseline="0" dirty="0" err="1"/>
              <a:t>system</a:t>
            </a:r>
            <a:endParaRPr lang="de-DE" baseline="0" dirty="0"/>
          </a:p>
          <a:p>
            <a:pPr marL="171450" indent="-171450">
              <a:buFont typeface="Arial" panose="020B0604020202020204" pitchFamily="34" charset="0"/>
              <a:buChar char="•"/>
            </a:pPr>
            <a:r>
              <a:rPr lang="de-DE" baseline="0" dirty="0"/>
              <a:t>Limited </a:t>
            </a:r>
            <a:r>
              <a:rPr lang="de-DE" baseline="0" dirty="0" err="1"/>
              <a:t>to</a:t>
            </a:r>
            <a:r>
              <a:rPr lang="de-DE" baseline="0" dirty="0"/>
              <a:t> </a:t>
            </a:r>
            <a:r>
              <a:rPr lang="de-DE" baseline="0" dirty="0" err="1"/>
              <a:t>data</a:t>
            </a:r>
            <a:r>
              <a:rPr lang="de-DE" baseline="0" dirty="0"/>
              <a:t> </a:t>
            </a:r>
            <a:r>
              <a:rPr lang="de-DE" baseline="0" dirty="0" err="1"/>
              <a:t>only</a:t>
            </a:r>
            <a:r>
              <a:rPr lang="de-DE" baseline="0" dirty="0"/>
              <a:t> -&gt; </a:t>
            </a:r>
            <a:r>
              <a:rPr lang="de-DE" baseline="0" dirty="0" err="1"/>
              <a:t>extend</a:t>
            </a:r>
            <a:r>
              <a:rPr lang="de-DE" baseline="0" dirty="0"/>
              <a:t> </a:t>
            </a:r>
            <a:r>
              <a:rPr lang="de-DE" baseline="0" dirty="0" err="1"/>
              <a:t>with</a:t>
            </a:r>
            <a:r>
              <a:rPr lang="de-DE" baseline="0" dirty="0"/>
              <a:t> additional </a:t>
            </a:r>
            <a:r>
              <a:rPr lang="de-DE" baseline="0" dirty="0" err="1"/>
              <a:t>sourcdes</a:t>
            </a:r>
            <a:r>
              <a:rPr lang="de-DE" baseline="0" dirty="0"/>
              <a:t> e.g. </a:t>
            </a:r>
            <a:r>
              <a:rPr lang="de-DE" baseline="0" dirty="0" err="1"/>
              <a:t>domain</a:t>
            </a:r>
            <a:r>
              <a:rPr lang="de-DE" baseline="0" dirty="0"/>
              <a:t> </a:t>
            </a:r>
            <a:r>
              <a:rPr lang="de-DE" baseline="0" dirty="0" err="1"/>
              <a:t>knowledge</a:t>
            </a:r>
            <a:endParaRPr lang="de-DE" baseline="0" dirty="0"/>
          </a:p>
          <a:p>
            <a:pPr marL="171450" indent="-171450">
              <a:buFont typeface="Arial" panose="020B0604020202020204" pitchFamily="34" charset="0"/>
              <a:buChar char="•"/>
            </a:pPr>
            <a:r>
              <a:rPr lang="de-DE" baseline="0" dirty="0"/>
              <a:t>Main </a:t>
            </a:r>
            <a:r>
              <a:rPr lang="de-DE" baseline="0" dirty="0" err="1"/>
              <a:t>focus</a:t>
            </a:r>
            <a:r>
              <a:rPr lang="de-DE" baseline="0" dirty="0"/>
              <a:t> on expert </a:t>
            </a:r>
            <a:r>
              <a:rPr lang="de-DE" baseline="0" dirty="0" err="1"/>
              <a:t>users</a:t>
            </a:r>
            <a:r>
              <a:rPr lang="de-DE" baseline="0" dirty="0"/>
              <a:t> -&gt; </a:t>
            </a:r>
            <a:r>
              <a:rPr lang="de-DE" baseline="0" dirty="0" err="1"/>
              <a:t>personalization</a:t>
            </a:r>
            <a:r>
              <a:rPr lang="de-DE" baseline="0" dirty="0"/>
              <a:t>/</a:t>
            </a:r>
            <a:r>
              <a:rPr lang="de-DE" baseline="0" dirty="0" err="1"/>
              <a:t>adapation</a:t>
            </a:r>
            <a:r>
              <a:rPr lang="de-DE" baseline="0" dirty="0"/>
              <a:t> </a:t>
            </a:r>
            <a:r>
              <a:rPr lang="de-DE" baseline="0" dirty="0" err="1"/>
              <a:t>to</a:t>
            </a:r>
            <a:r>
              <a:rPr lang="de-DE" baseline="0" dirty="0"/>
              <a:t> </a:t>
            </a:r>
            <a:r>
              <a:rPr lang="de-DE" baseline="0" dirty="0" err="1"/>
              <a:t>user</a:t>
            </a:r>
            <a:r>
              <a:rPr lang="de-DE" baseline="0" dirty="0"/>
              <a:t> </a:t>
            </a:r>
            <a:r>
              <a:rPr lang="de-DE" baseline="0" dirty="0" err="1"/>
              <a:t>needs</a:t>
            </a:r>
            <a:endParaRPr lang="de-DE" baseline="0" dirty="0"/>
          </a:p>
          <a:p>
            <a:pPr marL="171450" indent="-171450">
              <a:buFont typeface="Arial" panose="020B0604020202020204" pitchFamily="34" charset="0"/>
              <a:buChar char="•"/>
            </a:pPr>
            <a:endParaRPr lang="de-DE" baseline="0" dirty="0"/>
          </a:p>
        </p:txBody>
      </p:sp>
      <p:sp>
        <p:nvSpPr>
          <p:cNvPr id="4" name="Foliennummernplatzhalter 3">
            <a:extLst>
              <a:ext uri="{FF2B5EF4-FFF2-40B4-BE49-F238E27FC236}">
                <a16:creationId xmlns:a16="http://schemas.microsoft.com/office/drawing/2014/main" id="{52BCD19A-9593-9AA1-860A-E840943AB606}"/>
              </a:ext>
            </a:extLst>
          </p:cNvPr>
          <p:cNvSpPr>
            <a:spLocks noGrp="1"/>
          </p:cNvSpPr>
          <p:nvPr>
            <p:ph type="sldNum" sz="quarter" idx="10"/>
          </p:nvPr>
        </p:nvSpPr>
        <p:spPr/>
        <p:txBody>
          <a:bodyPr/>
          <a:lstStyle/>
          <a:p>
            <a:fld id="{C1E8E1B3-6545-954E-9998-292C9C5033CF}" type="slidenum">
              <a:rPr lang="de-DE" smtClean="0"/>
              <a:t>11</a:t>
            </a:fld>
            <a:endParaRPr lang="de-DE"/>
          </a:p>
        </p:txBody>
      </p:sp>
    </p:spTree>
    <p:extLst>
      <p:ext uri="{BB962C8B-B14F-4D97-AF65-F5344CB8AC3E}">
        <p14:creationId xmlns:p14="http://schemas.microsoft.com/office/powerpoint/2010/main" val="2675585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0C2475-AD2B-4E18-BC62-1FDFF420193A}"/>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62A59E76-BB00-6EE4-91D3-365155029860}"/>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4C8BF77F-F78B-E34C-BB23-62182034CBE3}"/>
              </a:ext>
            </a:extLst>
          </p:cNvPr>
          <p:cNvSpPr>
            <a:spLocks noGrp="1"/>
          </p:cNvSpPr>
          <p:nvPr>
            <p:ph type="body" idx="1"/>
          </p:nvPr>
        </p:nvSpPr>
        <p:spPr/>
        <p:txBody>
          <a:bodyPr/>
          <a:lstStyle/>
          <a:p>
            <a:endParaRPr lang="en-US" dirty="0"/>
          </a:p>
        </p:txBody>
      </p:sp>
      <p:sp>
        <p:nvSpPr>
          <p:cNvPr id="4" name="Foliennummernplatzhalter 3">
            <a:extLst>
              <a:ext uri="{FF2B5EF4-FFF2-40B4-BE49-F238E27FC236}">
                <a16:creationId xmlns:a16="http://schemas.microsoft.com/office/drawing/2014/main" id="{93C91CFD-DE42-639E-82CE-BA39F498DAFC}"/>
              </a:ext>
            </a:extLst>
          </p:cNvPr>
          <p:cNvSpPr>
            <a:spLocks noGrp="1"/>
          </p:cNvSpPr>
          <p:nvPr>
            <p:ph type="sldNum" sz="quarter" idx="5"/>
          </p:nvPr>
        </p:nvSpPr>
        <p:spPr/>
        <p:txBody>
          <a:bodyPr/>
          <a:lstStyle/>
          <a:p>
            <a:fld id="{C1E8E1B3-6545-954E-9998-292C9C5033CF}" type="slidenum">
              <a:rPr lang="de-DE" smtClean="0"/>
              <a:t>12</a:t>
            </a:fld>
            <a:endParaRPr lang="de-DE"/>
          </a:p>
        </p:txBody>
      </p:sp>
    </p:spTree>
    <p:extLst>
      <p:ext uri="{BB962C8B-B14F-4D97-AF65-F5344CB8AC3E}">
        <p14:creationId xmlns:p14="http://schemas.microsoft.com/office/powerpoint/2010/main" val="127307935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5"/>
          </p:nvPr>
        </p:nvSpPr>
        <p:spPr/>
        <p:txBody>
          <a:bodyPr/>
          <a:lstStyle/>
          <a:p>
            <a:fld id="{C1E8E1B3-6545-954E-9998-292C9C5033CF}" type="slidenum">
              <a:rPr lang="de-DE" smtClean="0"/>
              <a:t>13</a:t>
            </a:fld>
            <a:endParaRPr lang="de-DE"/>
          </a:p>
        </p:txBody>
      </p:sp>
    </p:spTree>
    <p:extLst>
      <p:ext uri="{BB962C8B-B14F-4D97-AF65-F5344CB8AC3E}">
        <p14:creationId xmlns:p14="http://schemas.microsoft.com/office/powerpoint/2010/main" val="304973205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5"/>
          </p:nvPr>
        </p:nvSpPr>
        <p:spPr/>
        <p:txBody>
          <a:bodyPr/>
          <a:lstStyle/>
          <a:p>
            <a:fld id="{C1E8E1B3-6545-954E-9998-292C9C5033CF}" type="slidenum">
              <a:rPr lang="de-DE" smtClean="0"/>
              <a:t>14</a:t>
            </a:fld>
            <a:endParaRPr lang="de-DE"/>
          </a:p>
        </p:txBody>
      </p:sp>
    </p:spTree>
    <p:extLst>
      <p:ext uri="{BB962C8B-B14F-4D97-AF65-F5344CB8AC3E}">
        <p14:creationId xmlns:p14="http://schemas.microsoft.com/office/powerpoint/2010/main" val="213247352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Genauere Einführung;</a:t>
            </a:r>
            <a:br>
              <a:rPr lang="de-DE" dirty="0"/>
            </a:br>
            <a:br>
              <a:rPr lang="de-DE" dirty="0"/>
            </a:br>
            <a:r>
              <a:rPr lang="de-DE" dirty="0"/>
              <a:t>Relationen, Kanten, Argumente,</a:t>
            </a:r>
          </a:p>
          <a:p>
            <a:endParaRPr lang="de-DE" dirty="0"/>
          </a:p>
          <a:p>
            <a:pPr marL="0" marR="0" lvl="0" indent="0" algn="l" defTabSz="685800" rtl="0" eaLnBrk="1" fontAlgn="auto" latinLnBrk="0" hangingPunct="1">
              <a:lnSpc>
                <a:spcPct val="100000"/>
              </a:lnSpc>
              <a:spcBef>
                <a:spcPts val="0"/>
              </a:spcBef>
              <a:spcAft>
                <a:spcPts val="0"/>
              </a:spcAft>
              <a:buClrTx/>
              <a:buSzTx/>
              <a:buFontTx/>
              <a:buNone/>
              <a:tabLst/>
              <a:defRPr/>
            </a:pPr>
            <a:br>
              <a:rPr lang="de-DE" dirty="0"/>
            </a:br>
            <a:r>
              <a:rPr lang="de-DE" dirty="0"/>
              <a:t>Gewichtete Modelle: </a:t>
            </a:r>
            <a:r>
              <a:rPr lang="de-DE" sz="900" i="1" dirty="0" err="1">
                <a:effectLst/>
                <a:latin typeface="Segoe UI" panose="020B0502040204020203" pitchFamily="34" charset="0"/>
              </a:rPr>
              <a:t>Amgoud</a:t>
            </a:r>
            <a:r>
              <a:rPr lang="de-DE" sz="900" i="1" dirty="0">
                <a:effectLst/>
                <a:latin typeface="Segoe UI" panose="020B0502040204020203" pitchFamily="34" charset="0"/>
              </a:rPr>
              <a:t>, Leila, and Jonathan Ben-Naim. </a:t>
            </a:r>
            <a:r>
              <a:rPr lang="de-DE" sz="900" i="1" dirty="0" err="1">
                <a:effectLst/>
                <a:latin typeface="Segoe UI" panose="020B0502040204020203" pitchFamily="34" charset="0"/>
              </a:rPr>
              <a:t>Weighted</a:t>
            </a:r>
            <a:r>
              <a:rPr lang="de-DE" sz="900" i="1" dirty="0">
                <a:effectLst/>
                <a:latin typeface="Segoe UI" panose="020B0502040204020203" pitchFamily="34" charset="0"/>
              </a:rPr>
              <a:t> Bipolar Argumentation Graphs: Axioms and </a:t>
            </a:r>
            <a:r>
              <a:rPr lang="de-DE" sz="900" i="1" dirty="0" err="1">
                <a:effectLst/>
                <a:latin typeface="Segoe UI" panose="020B0502040204020203" pitchFamily="34" charset="0"/>
              </a:rPr>
              <a:t>Semantics</a:t>
            </a:r>
            <a:r>
              <a:rPr lang="de-DE" sz="900" i="1" dirty="0">
                <a:effectLst/>
                <a:latin typeface="Segoe UI" panose="020B0502040204020203" pitchFamily="34" charset="0"/>
              </a:rPr>
              <a:t>. Twenty-</a:t>
            </a:r>
            <a:r>
              <a:rPr lang="de-DE" sz="900" i="1" dirty="0" err="1">
                <a:effectLst/>
                <a:latin typeface="Segoe UI" panose="020B0502040204020203" pitchFamily="34" charset="0"/>
              </a:rPr>
              <a:t>Seventh</a:t>
            </a:r>
            <a:r>
              <a:rPr lang="de-DE" sz="900" i="1" dirty="0">
                <a:effectLst/>
                <a:latin typeface="Segoe UI" panose="020B0502040204020203" pitchFamily="34" charset="0"/>
              </a:rPr>
              <a:t> International Joint Conference on </a:t>
            </a:r>
            <a:r>
              <a:rPr lang="de-DE" sz="900" i="1" dirty="0" err="1">
                <a:effectLst/>
                <a:latin typeface="Segoe UI" panose="020B0502040204020203" pitchFamily="34" charset="0"/>
              </a:rPr>
              <a:t>Artificial</a:t>
            </a:r>
            <a:r>
              <a:rPr lang="de-DE" sz="900" i="1" dirty="0">
                <a:effectLst/>
                <a:latin typeface="Segoe UI" panose="020B0502040204020203" pitchFamily="34" charset="0"/>
              </a:rPr>
              <a:t> </a:t>
            </a:r>
            <a:r>
              <a:rPr lang="de-DE" sz="900" i="1" dirty="0" err="1">
                <a:effectLst/>
                <a:latin typeface="Segoe UI" panose="020B0502040204020203" pitchFamily="34" charset="0"/>
              </a:rPr>
              <a:t>Intelligence</a:t>
            </a:r>
            <a:r>
              <a:rPr lang="de-DE" sz="900" i="1" dirty="0">
                <a:effectLst/>
                <a:latin typeface="Segoe UI" panose="020B0502040204020203" pitchFamily="34" charset="0"/>
              </a:rPr>
              <a:t>-IJCAI 2018. </a:t>
            </a:r>
            <a:endParaRPr lang="de-DE" sz="900" i="1" dirty="0"/>
          </a:p>
          <a:p>
            <a:br>
              <a:rPr lang="de-DE" dirty="0"/>
            </a:br>
            <a:r>
              <a:rPr lang="de-DE" dirty="0"/>
              <a:t>Christian Stab: </a:t>
            </a:r>
            <a:endParaRPr lang="en-US" dirty="0">
              <a:effectLst/>
              <a:latin typeface="Segoe UI" panose="020B0502040204020203" pitchFamily="34" charset="0"/>
            </a:endParaRPr>
          </a:p>
          <a:p>
            <a:r>
              <a:rPr lang="en-US" dirty="0">
                <a:effectLst/>
                <a:latin typeface="Segoe UI" panose="020B0502040204020203" pitchFamily="34" charset="0"/>
              </a:rPr>
              <a:t>Stab, C., &amp; </a:t>
            </a:r>
            <a:r>
              <a:rPr lang="en-US" dirty="0" err="1">
                <a:effectLst/>
                <a:latin typeface="Segoe UI" panose="020B0502040204020203" pitchFamily="34" charset="0"/>
              </a:rPr>
              <a:t>Gurevych</a:t>
            </a:r>
            <a:r>
              <a:rPr lang="en-US" dirty="0">
                <a:effectLst/>
                <a:latin typeface="Segoe UI" panose="020B0502040204020203" pitchFamily="34" charset="0"/>
              </a:rPr>
              <a:t>, I. (2014a). Annotating argument components and relations in persuasive</a:t>
            </a:r>
            <a:br>
              <a:rPr lang="en-US" dirty="0">
                <a:effectLst/>
                <a:latin typeface="Segoe UI" panose="020B0502040204020203" pitchFamily="34" charset="0"/>
              </a:rPr>
            </a:br>
            <a:r>
              <a:rPr lang="en-US" dirty="0">
                <a:effectLst/>
                <a:latin typeface="Segoe UI" panose="020B0502040204020203" pitchFamily="34" charset="0"/>
              </a:rPr>
              <a:t>essays. Proceedings of COLING 2014, the 25th International Conference on Computational</a:t>
            </a:r>
            <a:br>
              <a:rPr lang="en-US" dirty="0">
                <a:effectLst/>
                <a:latin typeface="Segoe UI" panose="020B0502040204020203" pitchFamily="34" charset="0"/>
              </a:rPr>
            </a:br>
            <a:r>
              <a:rPr lang="en-US" dirty="0">
                <a:effectLst/>
                <a:latin typeface="Segoe UI" panose="020B0502040204020203" pitchFamily="34" charset="0"/>
              </a:rPr>
              <a:t>Linguistics: Technical Papers, 1501–1510.</a:t>
            </a:r>
            <a:br>
              <a:rPr lang="en-US" dirty="0">
                <a:effectLst/>
                <a:latin typeface="Segoe UI" panose="020B0502040204020203" pitchFamily="34" charset="0"/>
              </a:rPr>
            </a:br>
            <a:br>
              <a:rPr lang="en-US" dirty="0">
                <a:effectLst/>
                <a:latin typeface="Segoe UI" panose="020B0502040204020203" pitchFamily="34" charset="0"/>
              </a:rPr>
            </a:br>
            <a:r>
              <a:rPr lang="en-US" dirty="0" err="1">
                <a:effectLst/>
                <a:latin typeface="Segoe UI" panose="020B0502040204020203" pitchFamily="34" charset="0"/>
              </a:rPr>
              <a:t>Strukturen</a:t>
            </a:r>
            <a:r>
              <a:rPr lang="en-US" dirty="0">
                <a:effectLst/>
                <a:latin typeface="Segoe UI" panose="020B0502040204020203" pitchFamily="34" charset="0"/>
              </a:rPr>
              <a:t> für Essays; </a:t>
            </a:r>
            <a:endParaRPr lang="de-DE" dirty="0"/>
          </a:p>
        </p:txBody>
      </p:sp>
      <p:sp>
        <p:nvSpPr>
          <p:cNvPr id="4" name="Foliennummernplatzhalter 3"/>
          <p:cNvSpPr>
            <a:spLocks noGrp="1"/>
          </p:cNvSpPr>
          <p:nvPr>
            <p:ph type="sldNum" sz="quarter" idx="10"/>
          </p:nvPr>
        </p:nvSpPr>
        <p:spPr/>
        <p:txBody>
          <a:bodyPr/>
          <a:lstStyle/>
          <a:p>
            <a:fld id="{C1E8E1B3-6545-954E-9998-292C9C5033CF}" type="slidenum">
              <a:rPr lang="de-DE" smtClean="0"/>
              <a:t>15</a:t>
            </a:fld>
            <a:endParaRPr lang="de-DE"/>
          </a:p>
        </p:txBody>
      </p:sp>
    </p:spTree>
    <p:extLst>
      <p:ext uri="{BB962C8B-B14F-4D97-AF65-F5344CB8AC3E}">
        <p14:creationId xmlns:p14="http://schemas.microsoft.com/office/powerpoint/2010/main" val="407758002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77F268-DAB6-CE18-785B-C02716CB9C81}"/>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7228401C-EE14-148F-629F-2E424F79B258}"/>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7BFBD4DF-D55F-C911-DEE4-05E30DF549EA}"/>
              </a:ext>
            </a:extLst>
          </p:cNvPr>
          <p:cNvSpPr>
            <a:spLocks noGrp="1"/>
          </p:cNvSpPr>
          <p:nvPr>
            <p:ph type="body" idx="1"/>
          </p:nvPr>
        </p:nvSpPr>
        <p:spPr/>
        <p:txBody>
          <a:bodyPr/>
          <a:lstStyle/>
          <a:p>
            <a:r>
              <a:rPr lang="de-DE" dirty="0"/>
              <a:t>Integration</a:t>
            </a:r>
            <a:r>
              <a:rPr lang="de-DE" baseline="0" dirty="0"/>
              <a:t> </a:t>
            </a:r>
            <a:r>
              <a:rPr lang="de-DE" baseline="0" dirty="0" err="1"/>
              <a:t>of</a:t>
            </a:r>
            <a:r>
              <a:rPr lang="de-DE" baseline="0" dirty="0"/>
              <a:t> DK </a:t>
            </a:r>
            <a:r>
              <a:rPr lang="de-DE" baseline="0" dirty="0" err="1"/>
              <a:t>requires</a:t>
            </a:r>
            <a:r>
              <a:rPr lang="de-DE" baseline="0" dirty="0"/>
              <a:t> a </a:t>
            </a:r>
            <a:r>
              <a:rPr lang="de-DE" baseline="0" dirty="0" err="1"/>
              <a:t>connection</a:t>
            </a:r>
            <a:r>
              <a:rPr lang="de-DE" baseline="0" dirty="0"/>
              <a:t> </a:t>
            </a:r>
            <a:r>
              <a:rPr lang="de-DE" baseline="0" dirty="0" err="1"/>
              <a:t>between</a:t>
            </a:r>
            <a:r>
              <a:rPr lang="de-DE" baseline="0" dirty="0"/>
              <a:t> XAI &amp; DK;</a:t>
            </a:r>
            <a:br>
              <a:rPr lang="de-DE" baseline="0" dirty="0"/>
            </a:br>
            <a:r>
              <a:rPr lang="de-DE" baseline="0" dirty="0" err="1"/>
              <a:t>We</a:t>
            </a:r>
            <a:r>
              <a:rPr lang="de-DE" baseline="0" dirty="0"/>
              <a:t> </a:t>
            </a:r>
            <a:r>
              <a:rPr lang="de-DE" baseline="0" dirty="0" err="1"/>
              <a:t>assume</a:t>
            </a:r>
            <a:r>
              <a:rPr lang="de-DE" baseline="0" dirty="0"/>
              <a:t> </a:t>
            </a:r>
            <a:r>
              <a:rPr lang="de-DE" baseline="0" dirty="0" err="1"/>
              <a:t>that</a:t>
            </a:r>
            <a:r>
              <a:rPr lang="de-DE" baseline="0" dirty="0"/>
              <a:t> </a:t>
            </a:r>
            <a:r>
              <a:rPr lang="de-DE" baseline="0" dirty="0" err="1"/>
              <a:t>every</a:t>
            </a:r>
            <a:r>
              <a:rPr lang="de-DE" baseline="0" dirty="0"/>
              <a:t> XAI </a:t>
            </a:r>
            <a:r>
              <a:rPr lang="de-DE" baseline="0" dirty="0" err="1"/>
              <a:t>explanation</a:t>
            </a:r>
            <a:r>
              <a:rPr lang="de-DE" baseline="0" dirty="0"/>
              <a:t> </a:t>
            </a:r>
            <a:r>
              <a:rPr lang="de-DE" baseline="0" dirty="0" err="1"/>
              <a:t>has</a:t>
            </a:r>
            <a:r>
              <a:rPr lang="de-DE" baseline="0" dirty="0"/>
              <a:t> </a:t>
            </a:r>
            <a:r>
              <a:rPr lang="de-DE" baseline="0" dirty="0" err="1"/>
              <a:t>some</a:t>
            </a:r>
            <a:r>
              <a:rPr lang="de-DE" baseline="0" dirty="0"/>
              <a:t> </a:t>
            </a:r>
            <a:r>
              <a:rPr lang="de-DE" baseline="0" dirty="0" err="1"/>
              <a:t>sort</a:t>
            </a:r>
            <a:r>
              <a:rPr lang="de-DE" baseline="0" dirty="0"/>
              <a:t> </a:t>
            </a:r>
            <a:r>
              <a:rPr lang="de-DE" baseline="0" dirty="0" err="1"/>
              <a:t>of</a:t>
            </a:r>
            <a:r>
              <a:rPr lang="de-DE" baseline="0" dirty="0"/>
              <a:t> </a:t>
            </a:r>
            <a:r>
              <a:rPr lang="de-DE" baseline="0" dirty="0" err="1"/>
              <a:t>relation</a:t>
            </a:r>
            <a:r>
              <a:rPr lang="de-DE" baseline="0" dirty="0"/>
              <a:t> </a:t>
            </a:r>
            <a:r>
              <a:rPr lang="de-DE" baseline="0" dirty="0" err="1"/>
              <a:t>to</a:t>
            </a:r>
            <a:r>
              <a:rPr lang="de-DE" baseline="0" dirty="0"/>
              <a:t> a </a:t>
            </a:r>
            <a:r>
              <a:rPr lang="de-DE" baseline="0" dirty="0" err="1"/>
              <a:t>specific</a:t>
            </a:r>
            <a:r>
              <a:rPr lang="de-DE" baseline="0" dirty="0"/>
              <a:t> </a:t>
            </a:r>
            <a:r>
              <a:rPr lang="de-DE" baseline="0" dirty="0" err="1"/>
              <a:t>feature</a:t>
            </a:r>
            <a:r>
              <a:rPr lang="de-DE" baseline="0" dirty="0"/>
              <a:t> (</a:t>
            </a:r>
            <a:r>
              <a:rPr lang="de-DE" baseline="0" dirty="0" err="1"/>
              <a:t>or</a:t>
            </a:r>
            <a:r>
              <a:rPr lang="de-DE" baseline="0" dirty="0"/>
              <a:t> </a:t>
            </a:r>
            <a:r>
              <a:rPr lang="de-DE" baseline="0" dirty="0" err="1"/>
              <a:t>domain</a:t>
            </a:r>
            <a:r>
              <a:rPr lang="de-DE" baseline="0" dirty="0"/>
              <a:t> </a:t>
            </a:r>
            <a:r>
              <a:rPr lang="de-DE" baseline="0" dirty="0" err="1"/>
              <a:t>word</a:t>
            </a:r>
            <a:r>
              <a:rPr lang="de-DE" baseline="0" dirty="0"/>
              <a:t>) </a:t>
            </a:r>
            <a:r>
              <a:rPr lang="de-DE" baseline="0" dirty="0" err="1"/>
              <a:t>and</a:t>
            </a:r>
            <a:r>
              <a:rPr lang="de-DE" baseline="0" dirty="0"/>
              <a:t> a </a:t>
            </a:r>
            <a:r>
              <a:rPr lang="de-DE" baseline="0" dirty="0" err="1"/>
              <a:t>outcome</a:t>
            </a:r>
            <a:br>
              <a:rPr lang="de-DE" baseline="0" dirty="0"/>
            </a:br>
            <a:br>
              <a:rPr lang="de-DE" baseline="0" dirty="0"/>
            </a:br>
            <a:r>
              <a:rPr lang="de-DE" baseline="0" dirty="0"/>
              <a:t>This </a:t>
            </a:r>
            <a:r>
              <a:rPr lang="de-DE" baseline="0" dirty="0" err="1"/>
              <a:t>can</a:t>
            </a:r>
            <a:r>
              <a:rPr lang="de-DE" baseline="0" dirty="0"/>
              <a:t> </a:t>
            </a:r>
            <a:r>
              <a:rPr lang="de-DE" baseline="0" dirty="0" err="1"/>
              <a:t>be</a:t>
            </a:r>
            <a:r>
              <a:rPr lang="de-DE" baseline="0" dirty="0"/>
              <a:t> </a:t>
            </a:r>
            <a:r>
              <a:rPr lang="de-DE" baseline="0" dirty="0" err="1"/>
              <a:t>reduced</a:t>
            </a:r>
            <a:r>
              <a:rPr lang="de-DE" baseline="0" dirty="0"/>
              <a:t> </a:t>
            </a:r>
            <a:r>
              <a:rPr lang="de-DE" baseline="0" dirty="0" err="1"/>
              <a:t>to</a:t>
            </a:r>
            <a:r>
              <a:rPr lang="de-DE" baseline="0" dirty="0"/>
              <a:t> </a:t>
            </a:r>
            <a:r>
              <a:rPr lang="de-DE" baseline="0" dirty="0" err="1"/>
              <a:t>some</a:t>
            </a:r>
            <a:r>
              <a:rPr lang="de-DE" baseline="0" dirty="0"/>
              <a:t> </a:t>
            </a:r>
            <a:r>
              <a:rPr lang="de-DE" baseline="0" dirty="0" err="1"/>
              <a:t>sort</a:t>
            </a:r>
            <a:r>
              <a:rPr lang="de-DE" baseline="0" dirty="0"/>
              <a:t> </a:t>
            </a:r>
            <a:r>
              <a:rPr lang="de-DE" baseline="0" dirty="0" err="1"/>
              <a:t>of</a:t>
            </a:r>
            <a:r>
              <a:rPr lang="de-DE" baseline="0" dirty="0"/>
              <a:t> </a:t>
            </a:r>
            <a:r>
              <a:rPr lang="de-DE" baseline="0" dirty="0" err="1"/>
              <a:t>claim</a:t>
            </a:r>
            <a:endParaRPr lang="de-DE" baseline="0" dirty="0"/>
          </a:p>
          <a:p>
            <a:br>
              <a:rPr lang="de-DE" baseline="0" dirty="0"/>
            </a:br>
            <a:r>
              <a:rPr lang="de-DE" baseline="0" dirty="0"/>
              <a:t>A </a:t>
            </a:r>
            <a:r>
              <a:rPr lang="de-DE" baseline="0" dirty="0" err="1"/>
              <a:t>claim</a:t>
            </a:r>
            <a:r>
              <a:rPr lang="de-DE" baseline="0" dirty="0"/>
              <a:t> </a:t>
            </a:r>
            <a:r>
              <a:rPr lang="de-DE" baseline="0" dirty="0" err="1"/>
              <a:t>is</a:t>
            </a:r>
            <a:r>
              <a:rPr lang="de-DE" baseline="0" dirty="0"/>
              <a:t> </a:t>
            </a:r>
            <a:r>
              <a:rPr lang="de-DE" baseline="0" dirty="0" err="1"/>
              <a:t>needed</a:t>
            </a:r>
            <a:r>
              <a:rPr lang="de-DE" baseline="0" dirty="0"/>
              <a:t> </a:t>
            </a:r>
            <a:r>
              <a:rPr lang="de-DE" baseline="0" dirty="0" err="1"/>
              <a:t>as</a:t>
            </a:r>
            <a:r>
              <a:rPr lang="de-DE" baseline="0" dirty="0"/>
              <a:t> </a:t>
            </a:r>
            <a:r>
              <a:rPr lang="de-DE" baseline="0" dirty="0" err="1"/>
              <a:t>starting</a:t>
            </a:r>
            <a:r>
              <a:rPr lang="de-DE" baseline="0" dirty="0"/>
              <a:t> </a:t>
            </a:r>
            <a:r>
              <a:rPr lang="de-DE" baseline="0" dirty="0" err="1"/>
              <a:t>point</a:t>
            </a:r>
            <a:r>
              <a:rPr lang="de-DE" baseline="0" dirty="0"/>
              <a:t> </a:t>
            </a:r>
            <a:r>
              <a:rPr lang="de-DE" baseline="0" dirty="0" err="1"/>
              <a:t>for</a:t>
            </a:r>
            <a:r>
              <a:rPr lang="de-DE" baseline="0" dirty="0"/>
              <a:t> an </a:t>
            </a:r>
            <a:r>
              <a:rPr lang="de-DE" baseline="0" dirty="0" err="1"/>
              <a:t>argument</a:t>
            </a:r>
            <a:r>
              <a:rPr lang="de-DE" baseline="0" dirty="0"/>
              <a:t> </a:t>
            </a:r>
            <a:r>
              <a:rPr lang="de-DE" baseline="0" dirty="0" err="1"/>
              <a:t>tree</a:t>
            </a:r>
            <a:endParaRPr lang="de-DE" baseline="0" dirty="0"/>
          </a:p>
          <a:p>
            <a:endParaRPr lang="de-DE" baseline="0" dirty="0"/>
          </a:p>
          <a:p>
            <a:r>
              <a:rPr lang="de-DE" baseline="0" dirty="0"/>
              <a:t>With </a:t>
            </a:r>
            <a:r>
              <a:rPr lang="de-DE" baseline="0" dirty="0" err="1"/>
              <a:t>this</a:t>
            </a:r>
            <a:r>
              <a:rPr lang="de-DE" baseline="0" dirty="0"/>
              <a:t> </a:t>
            </a:r>
            <a:r>
              <a:rPr lang="de-DE" baseline="0" dirty="0" err="1"/>
              <a:t>pipeline</a:t>
            </a:r>
            <a:r>
              <a:rPr lang="de-DE" baseline="0" dirty="0"/>
              <a:t> </a:t>
            </a:r>
            <a:r>
              <a:rPr lang="de-DE" baseline="0" dirty="0" err="1"/>
              <a:t>we</a:t>
            </a:r>
            <a:r>
              <a:rPr lang="de-DE" baseline="0" dirty="0"/>
              <a:t> </a:t>
            </a:r>
            <a:r>
              <a:rPr lang="de-DE" baseline="0" dirty="0" err="1"/>
              <a:t>can</a:t>
            </a:r>
            <a:r>
              <a:rPr lang="de-DE" baseline="0" dirty="0"/>
              <a:t> connect XAI and </a:t>
            </a:r>
            <a:r>
              <a:rPr lang="de-DE" baseline="0" dirty="0" err="1"/>
              <a:t>arguments</a:t>
            </a:r>
            <a:r>
              <a:rPr lang="de-DE" baseline="0" dirty="0"/>
              <a:t> on a </a:t>
            </a:r>
            <a:r>
              <a:rPr lang="de-DE" baseline="0" dirty="0" err="1"/>
              <a:t>topic</a:t>
            </a:r>
            <a:r>
              <a:rPr lang="de-DE" baseline="0" dirty="0"/>
              <a:t> </a:t>
            </a:r>
            <a:r>
              <a:rPr lang="de-DE" baseline="0" dirty="0" err="1"/>
              <a:t>level</a:t>
            </a:r>
            <a:br>
              <a:rPr lang="de-DE" baseline="0" dirty="0"/>
            </a:br>
            <a:r>
              <a:rPr lang="de-DE" baseline="0" dirty="0" err="1"/>
              <a:t>where</a:t>
            </a:r>
            <a:r>
              <a:rPr lang="de-DE" baseline="0" dirty="0"/>
              <a:t> </a:t>
            </a:r>
            <a:r>
              <a:rPr lang="de-DE" baseline="0" dirty="0" err="1"/>
              <a:t>each</a:t>
            </a:r>
            <a:r>
              <a:rPr lang="de-DE" baseline="0" dirty="0"/>
              <a:t> </a:t>
            </a:r>
            <a:r>
              <a:rPr lang="de-DE" baseline="0" dirty="0" err="1"/>
              <a:t>topic</a:t>
            </a:r>
            <a:r>
              <a:rPr lang="de-DE" baseline="0" dirty="0"/>
              <a:t> </a:t>
            </a:r>
            <a:r>
              <a:rPr lang="de-DE" baseline="0" dirty="0" err="1"/>
              <a:t>is</a:t>
            </a:r>
            <a:r>
              <a:rPr lang="de-DE" baseline="0" dirty="0"/>
              <a:t> a </a:t>
            </a:r>
            <a:r>
              <a:rPr lang="de-DE" baseline="0" dirty="0" err="1"/>
              <a:t>tree</a:t>
            </a:r>
            <a:r>
              <a:rPr lang="de-DE" baseline="0" dirty="0"/>
              <a:t> </a:t>
            </a:r>
            <a:r>
              <a:rPr lang="de-DE" baseline="0" dirty="0" err="1"/>
              <a:t>with</a:t>
            </a:r>
            <a:r>
              <a:rPr lang="de-DE" baseline="0" dirty="0"/>
              <a:t> </a:t>
            </a:r>
            <a:r>
              <a:rPr lang="de-DE" baseline="0" dirty="0" err="1"/>
              <a:t>corresponding</a:t>
            </a:r>
            <a:r>
              <a:rPr lang="de-DE" baseline="0" dirty="0"/>
              <a:t> </a:t>
            </a:r>
            <a:r>
              <a:rPr lang="de-DE" baseline="0" dirty="0" err="1"/>
              <a:t>arguments</a:t>
            </a:r>
            <a:endParaRPr lang="de-DE" baseline="0" dirty="0"/>
          </a:p>
        </p:txBody>
      </p:sp>
      <p:sp>
        <p:nvSpPr>
          <p:cNvPr id="4" name="Foliennummernplatzhalter 3">
            <a:extLst>
              <a:ext uri="{FF2B5EF4-FFF2-40B4-BE49-F238E27FC236}">
                <a16:creationId xmlns:a16="http://schemas.microsoft.com/office/drawing/2014/main" id="{F9505380-F391-0CC1-E717-21E4FA5BCCD7}"/>
              </a:ext>
            </a:extLst>
          </p:cNvPr>
          <p:cNvSpPr>
            <a:spLocks noGrp="1"/>
          </p:cNvSpPr>
          <p:nvPr>
            <p:ph type="sldNum" sz="quarter" idx="10"/>
          </p:nvPr>
        </p:nvSpPr>
        <p:spPr/>
        <p:txBody>
          <a:bodyPr/>
          <a:lstStyle/>
          <a:p>
            <a:fld id="{C1E8E1B3-6545-954E-9998-292C9C5033CF}" type="slidenum">
              <a:rPr lang="de-DE" smtClean="0"/>
              <a:t>16</a:t>
            </a:fld>
            <a:endParaRPr lang="de-DE"/>
          </a:p>
        </p:txBody>
      </p:sp>
    </p:spTree>
    <p:extLst>
      <p:ext uri="{BB962C8B-B14F-4D97-AF65-F5344CB8AC3E}">
        <p14:creationId xmlns:p14="http://schemas.microsoft.com/office/powerpoint/2010/main" val="304747431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10"/>
          </p:nvPr>
        </p:nvSpPr>
        <p:spPr/>
        <p:txBody>
          <a:bodyPr/>
          <a:lstStyle/>
          <a:p>
            <a:fld id="{C1E8E1B3-6545-954E-9998-292C9C5033CF}" type="slidenum">
              <a:rPr lang="de-DE" smtClean="0"/>
              <a:t>17</a:t>
            </a:fld>
            <a:endParaRPr lang="de-DE"/>
          </a:p>
        </p:txBody>
      </p:sp>
    </p:spTree>
    <p:extLst>
      <p:ext uri="{BB962C8B-B14F-4D97-AF65-F5344CB8AC3E}">
        <p14:creationId xmlns:p14="http://schemas.microsoft.com/office/powerpoint/2010/main" val="220734295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A579BA-85F1-F531-E45B-9F7B545A89A9}"/>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F57B7277-8730-320A-D6FD-42D97A6886CC}"/>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4E1B66B7-2375-D64A-45E4-84F53C88D45E}"/>
              </a:ext>
            </a:extLst>
          </p:cNvPr>
          <p:cNvSpPr>
            <a:spLocks noGrp="1"/>
          </p:cNvSpPr>
          <p:nvPr>
            <p:ph type="body" idx="1"/>
          </p:nvPr>
        </p:nvSpPr>
        <p:spPr/>
        <p:txBody>
          <a:bodyPr/>
          <a:lstStyle/>
          <a:p>
            <a:endParaRPr lang="de-DE" dirty="0"/>
          </a:p>
        </p:txBody>
      </p:sp>
      <p:sp>
        <p:nvSpPr>
          <p:cNvPr id="4" name="Foliennummernplatzhalter 3">
            <a:extLst>
              <a:ext uri="{FF2B5EF4-FFF2-40B4-BE49-F238E27FC236}">
                <a16:creationId xmlns:a16="http://schemas.microsoft.com/office/drawing/2014/main" id="{54B66872-1A01-1416-09A8-E50944E5BDFB}"/>
              </a:ext>
            </a:extLst>
          </p:cNvPr>
          <p:cNvSpPr>
            <a:spLocks noGrp="1"/>
          </p:cNvSpPr>
          <p:nvPr>
            <p:ph type="sldNum" sz="quarter" idx="10"/>
          </p:nvPr>
        </p:nvSpPr>
        <p:spPr/>
        <p:txBody>
          <a:bodyPr/>
          <a:lstStyle/>
          <a:p>
            <a:fld id="{C1E8E1B3-6545-954E-9998-292C9C5033CF}" type="slidenum">
              <a:rPr lang="de-DE" smtClean="0"/>
              <a:t>18</a:t>
            </a:fld>
            <a:endParaRPr lang="de-DE"/>
          </a:p>
        </p:txBody>
      </p:sp>
    </p:spTree>
    <p:extLst>
      <p:ext uri="{BB962C8B-B14F-4D97-AF65-F5344CB8AC3E}">
        <p14:creationId xmlns:p14="http://schemas.microsoft.com/office/powerpoint/2010/main" val="134819771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498D61-7FBD-5FC9-C7AC-FC3385EB696D}"/>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DD4ECCAC-F7F8-D575-79BE-1731C610BFE3}"/>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3F91ACD7-F3F0-8CA6-0A5B-CFF989515679}"/>
              </a:ext>
            </a:extLst>
          </p:cNvPr>
          <p:cNvSpPr>
            <a:spLocks noGrp="1"/>
          </p:cNvSpPr>
          <p:nvPr>
            <p:ph type="body" idx="1"/>
          </p:nvPr>
        </p:nvSpPr>
        <p:spPr/>
        <p:txBody>
          <a:bodyPr/>
          <a:lstStyle/>
          <a:p>
            <a:pPr marL="171450" indent="-171450">
              <a:buFont typeface="Arial" panose="020B0604020202020204" pitchFamily="34" charset="0"/>
              <a:buChar char="•"/>
            </a:pPr>
            <a:r>
              <a:rPr lang="de-DE" baseline="0" dirty="0" err="1"/>
              <a:t>Evaluate</a:t>
            </a:r>
            <a:r>
              <a:rPr lang="de-DE" baseline="0" dirty="0"/>
              <a:t> XAI </a:t>
            </a:r>
            <a:r>
              <a:rPr lang="de-DE" baseline="0" dirty="0" err="1"/>
              <a:t>with</a:t>
            </a:r>
            <a:r>
              <a:rPr lang="de-DE" baseline="0" dirty="0"/>
              <a:t> DK</a:t>
            </a:r>
          </a:p>
          <a:p>
            <a:pPr marL="171450" indent="-171450">
              <a:buFont typeface="Arial" panose="020B0604020202020204" pitchFamily="34" charset="0"/>
              <a:buChar char="•"/>
            </a:pPr>
            <a:r>
              <a:rPr lang="de-DE" baseline="0" dirty="0"/>
              <a:t>User </a:t>
            </a:r>
            <a:r>
              <a:rPr lang="de-DE" baseline="0" dirty="0" err="1"/>
              <a:t>interacts</a:t>
            </a:r>
            <a:endParaRPr lang="de-DE" baseline="0" dirty="0"/>
          </a:p>
          <a:p>
            <a:pPr marL="171450" indent="-171450">
              <a:buFont typeface="Arial" panose="020B0604020202020204" pitchFamily="34" charset="0"/>
              <a:buChar char="•"/>
            </a:pPr>
            <a:r>
              <a:rPr lang="de-DE" baseline="0" dirty="0" err="1"/>
              <a:t>How</a:t>
            </a:r>
            <a:r>
              <a:rPr lang="de-DE" baseline="0" dirty="0"/>
              <a:t> </a:t>
            </a:r>
            <a:r>
              <a:rPr lang="de-DE" baseline="0" dirty="0" err="1"/>
              <a:t>can</a:t>
            </a:r>
            <a:r>
              <a:rPr lang="de-DE" baseline="0" dirty="0"/>
              <a:t> </a:t>
            </a:r>
            <a:r>
              <a:rPr lang="de-DE" baseline="0" dirty="0" err="1"/>
              <a:t>we</a:t>
            </a:r>
            <a:r>
              <a:rPr lang="de-DE" baseline="0" dirty="0"/>
              <a:t> </a:t>
            </a:r>
            <a:r>
              <a:rPr lang="de-DE" baseline="0" dirty="0" err="1"/>
              <a:t>measure</a:t>
            </a:r>
            <a:r>
              <a:rPr lang="de-DE" baseline="0" dirty="0"/>
              <a:t> </a:t>
            </a:r>
            <a:r>
              <a:rPr lang="de-DE" baseline="0" dirty="0" err="1"/>
              <a:t>if</a:t>
            </a:r>
            <a:r>
              <a:rPr lang="de-DE" baseline="0" dirty="0"/>
              <a:t> </a:t>
            </a:r>
            <a:r>
              <a:rPr lang="de-DE" baseline="0" dirty="0" err="1"/>
              <a:t>the</a:t>
            </a:r>
            <a:r>
              <a:rPr lang="de-DE" baseline="0" dirty="0"/>
              <a:t> </a:t>
            </a:r>
            <a:r>
              <a:rPr lang="de-DE" baseline="0" dirty="0" err="1"/>
              <a:t>user</a:t>
            </a:r>
            <a:r>
              <a:rPr lang="de-DE" baseline="0" dirty="0"/>
              <a:t> </a:t>
            </a:r>
            <a:r>
              <a:rPr lang="de-DE" baseline="0" dirty="0" err="1"/>
              <a:t>has</a:t>
            </a:r>
            <a:r>
              <a:rPr lang="de-DE" baseline="0" dirty="0"/>
              <a:t> </a:t>
            </a:r>
            <a:r>
              <a:rPr lang="de-DE" baseline="0" dirty="0" err="1"/>
              <a:t>better</a:t>
            </a:r>
            <a:r>
              <a:rPr lang="de-DE" baseline="0" dirty="0"/>
              <a:t> </a:t>
            </a:r>
            <a:r>
              <a:rPr lang="de-DE" baseline="0" dirty="0" err="1"/>
              <a:t>understanding</a:t>
            </a:r>
            <a:r>
              <a:rPr lang="de-DE" baseline="0" dirty="0"/>
              <a:t> </a:t>
            </a:r>
            <a:r>
              <a:rPr lang="de-DE" baseline="0" dirty="0" err="1"/>
              <a:t>of</a:t>
            </a:r>
            <a:r>
              <a:rPr lang="de-DE" baseline="0" dirty="0"/>
              <a:t> </a:t>
            </a:r>
            <a:r>
              <a:rPr lang="de-DE" baseline="0" dirty="0" err="1"/>
              <a:t>the</a:t>
            </a:r>
            <a:r>
              <a:rPr lang="de-DE" baseline="0" dirty="0"/>
              <a:t> </a:t>
            </a:r>
            <a:r>
              <a:rPr lang="de-DE" baseline="0" dirty="0" err="1"/>
              <a:t>underlying</a:t>
            </a:r>
            <a:r>
              <a:rPr lang="de-DE" baseline="0" dirty="0"/>
              <a:t> AI?</a:t>
            </a:r>
          </a:p>
          <a:p>
            <a:pPr marL="171450" indent="-171450">
              <a:buFont typeface="Arial" panose="020B0604020202020204" pitchFamily="34" charset="0"/>
              <a:buChar char="•"/>
            </a:pPr>
            <a:r>
              <a:rPr lang="de-DE" baseline="0" dirty="0" err="1"/>
              <a:t>Distinguish</a:t>
            </a:r>
            <a:r>
              <a:rPr lang="de-DE" baseline="0" dirty="0"/>
              <a:t> </a:t>
            </a:r>
            <a:r>
              <a:rPr lang="de-DE" baseline="0" dirty="0" err="1"/>
              <a:t>between</a:t>
            </a:r>
            <a:r>
              <a:rPr lang="de-DE" baseline="0" dirty="0"/>
              <a:t> </a:t>
            </a:r>
            <a:r>
              <a:rPr lang="de-DE" baseline="0" dirty="0" err="1"/>
              <a:t>False</a:t>
            </a:r>
            <a:r>
              <a:rPr lang="de-DE" baseline="0" dirty="0"/>
              <a:t>/</a:t>
            </a:r>
            <a:r>
              <a:rPr lang="de-DE" baseline="0" dirty="0" err="1"/>
              <a:t>true</a:t>
            </a:r>
            <a:r>
              <a:rPr lang="de-DE" baseline="0" dirty="0"/>
              <a:t> AI</a:t>
            </a:r>
          </a:p>
          <a:p>
            <a:pPr marL="171450" indent="-171450">
              <a:buFont typeface="Arial" panose="020B0604020202020204" pitchFamily="34" charset="0"/>
              <a:buChar char="•"/>
            </a:pPr>
            <a:r>
              <a:rPr lang="de-DE" baseline="0" dirty="0"/>
              <a:t>Flip </a:t>
            </a:r>
            <a:r>
              <a:rPr lang="de-DE" baseline="0" dirty="0" err="1"/>
              <a:t>outcomes</a:t>
            </a:r>
            <a:r>
              <a:rPr lang="de-DE" baseline="0" dirty="0"/>
              <a:t> </a:t>
            </a:r>
            <a:r>
              <a:rPr lang="de-DE" baseline="0" dirty="0" err="1"/>
              <a:t>for</a:t>
            </a:r>
            <a:r>
              <a:rPr lang="de-DE" baseline="0" dirty="0"/>
              <a:t> </a:t>
            </a:r>
            <a:r>
              <a:rPr lang="de-DE" baseline="0" dirty="0" err="1"/>
              <a:t>falsy</a:t>
            </a:r>
            <a:r>
              <a:rPr lang="de-DE" baseline="0" dirty="0"/>
              <a:t> AI</a:t>
            </a:r>
          </a:p>
          <a:p>
            <a:pPr marL="0" indent="0">
              <a:buFont typeface="Arial" panose="020B0604020202020204" pitchFamily="34" charset="0"/>
              <a:buNone/>
            </a:pPr>
            <a:endParaRPr lang="de-DE" baseline="0" dirty="0"/>
          </a:p>
          <a:p>
            <a:pPr marL="171450" indent="-171450">
              <a:buFont typeface="Arial" panose="020B0604020202020204" pitchFamily="34" charset="0"/>
              <a:buChar char="•"/>
            </a:pPr>
            <a:r>
              <a:rPr lang="de-DE" baseline="0" dirty="0"/>
              <a:t>User </a:t>
            </a:r>
            <a:r>
              <a:rPr lang="de-DE" baseline="0" dirty="0" err="1"/>
              <a:t>should</a:t>
            </a:r>
            <a:r>
              <a:rPr lang="de-DE" baseline="0" dirty="0"/>
              <a:t> </a:t>
            </a:r>
            <a:r>
              <a:rPr lang="de-DE" baseline="0" dirty="0" err="1"/>
              <a:t>detect</a:t>
            </a:r>
            <a:r>
              <a:rPr lang="de-DE" baseline="0" dirty="0"/>
              <a:t> </a:t>
            </a:r>
            <a:r>
              <a:rPr lang="de-DE" baseline="0" dirty="0" err="1"/>
              <a:t>the</a:t>
            </a:r>
            <a:r>
              <a:rPr lang="de-DE" baseline="0" dirty="0"/>
              <a:t> </a:t>
            </a:r>
            <a:r>
              <a:rPr lang="de-DE" baseline="0" dirty="0" err="1"/>
              <a:t>wrong</a:t>
            </a:r>
            <a:r>
              <a:rPr lang="de-DE" baseline="0" dirty="0"/>
              <a:t> </a:t>
            </a:r>
            <a:r>
              <a:rPr lang="de-DE" baseline="0" dirty="0" err="1"/>
              <a:t>behavior</a:t>
            </a:r>
            <a:r>
              <a:rPr lang="de-DE" baseline="0" dirty="0"/>
              <a:t> and </a:t>
            </a:r>
            <a:r>
              <a:rPr lang="de-DE" baseline="0" dirty="0" err="1"/>
              <a:t>disagree</a:t>
            </a:r>
            <a:r>
              <a:rPr lang="de-DE" baseline="0" dirty="0"/>
              <a:t> </a:t>
            </a:r>
            <a:r>
              <a:rPr lang="de-DE" baseline="0" dirty="0" err="1"/>
              <a:t>with</a:t>
            </a:r>
            <a:r>
              <a:rPr lang="de-DE" baseline="0" dirty="0"/>
              <a:t> </a:t>
            </a:r>
            <a:r>
              <a:rPr lang="de-DE" baseline="0" dirty="0" err="1"/>
              <a:t>false</a:t>
            </a:r>
            <a:r>
              <a:rPr lang="de-DE" baseline="0" dirty="0"/>
              <a:t> </a:t>
            </a:r>
            <a:r>
              <a:rPr lang="de-DE" baseline="0" dirty="0" err="1"/>
              <a:t>system</a:t>
            </a:r>
            <a:endParaRPr lang="de-DE" baseline="0" dirty="0"/>
          </a:p>
          <a:p>
            <a:pPr marL="171450" indent="-171450">
              <a:buFont typeface="Arial" panose="020B0604020202020204" pitchFamily="34" charset="0"/>
              <a:buChar char="•"/>
            </a:pPr>
            <a:endParaRPr lang="de-DE" baseline="0" dirty="0"/>
          </a:p>
          <a:p>
            <a:pPr marL="171450" indent="-171450">
              <a:buFont typeface="Arial" panose="020B0604020202020204" pitchFamily="34" charset="0"/>
              <a:buChar char="•"/>
            </a:pPr>
            <a:endParaRPr lang="de-DE" baseline="0" dirty="0"/>
          </a:p>
        </p:txBody>
      </p:sp>
      <p:sp>
        <p:nvSpPr>
          <p:cNvPr id="4" name="Foliennummernplatzhalter 3">
            <a:extLst>
              <a:ext uri="{FF2B5EF4-FFF2-40B4-BE49-F238E27FC236}">
                <a16:creationId xmlns:a16="http://schemas.microsoft.com/office/drawing/2014/main" id="{DC1FB892-176B-ECBB-8628-079AD2B45D41}"/>
              </a:ext>
            </a:extLst>
          </p:cNvPr>
          <p:cNvSpPr>
            <a:spLocks noGrp="1"/>
          </p:cNvSpPr>
          <p:nvPr>
            <p:ph type="sldNum" sz="quarter" idx="10"/>
          </p:nvPr>
        </p:nvSpPr>
        <p:spPr/>
        <p:txBody>
          <a:bodyPr/>
          <a:lstStyle/>
          <a:p>
            <a:fld id="{C1E8E1B3-6545-954E-9998-292C9C5033CF}" type="slidenum">
              <a:rPr lang="de-DE" smtClean="0"/>
              <a:t>19</a:t>
            </a:fld>
            <a:endParaRPr lang="de-DE"/>
          </a:p>
        </p:txBody>
      </p:sp>
    </p:spTree>
    <p:extLst>
      <p:ext uri="{BB962C8B-B14F-4D97-AF65-F5344CB8AC3E}">
        <p14:creationId xmlns:p14="http://schemas.microsoft.com/office/powerpoint/2010/main" val="323682338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Blue box = </a:t>
            </a:r>
            <a:r>
              <a:rPr lang="de-DE" dirty="0" err="1"/>
              <a:t>user</a:t>
            </a:r>
            <a:r>
              <a:rPr lang="de-DE" baseline="0" dirty="0"/>
              <a:t> </a:t>
            </a:r>
            <a:r>
              <a:rPr lang="de-DE" baseline="0" dirty="0" err="1"/>
              <a:t>requests</a:t>
            </a:r>
            <a:r>
              <a:rPr lang="de-DE" baseline="0" dirty="0"/>
              <a:t>;</a:t>
            </a:r>
          </a:p>
          <a:p>
            <a:r>
              <a:rPr lang="de-DE" baseline="0" dirty="0"/>
              <a:t>Orange </a:t>
            </a:r>
            <a:r>
              <a:rPr lang="de-DE" baseline="0" dirty="0" err="1"/>
              <a:t>boxes</a:t>
            </a:r>
            <a:r>
              <a:rPr lang="de-DE" baseline="0" dirty="0"/>
              <a:t> = </a:t>
            </a:r>
            <a:r>
              <a:rPr lang="de-DE" baseline="0" dirty="0" err="1"/>
              <a:t>system</a:t>
            </a:r>
            <a:r>
              <a:rPr lang="de-DE" baseline="0" dirty="0"/>
              <a:t> </a:t>
            </a:r>
            <a:r>
              <a:rPr lang="de-DE" baseline="0" dirty="0" err="1"/>
              <a:t>action</a:t>
            </a:r>
            <a:endParaRPr lang="de-DE" baseline="0" dirty="0"/>
          </a:p>
          <a:p>
            <a:endParaRPr lang="de-DE" baseline="0" dirty="0"/>
          </a:p>
          <a:p>
            <a:br>
              <a:rPr lang="de-DE" baseline="0" dirty="0"/>
            </a:br>
            <a:r>
              <a:rPr lang="de-DE" sz="900" dirty="0"/>
              <a:t>3 </a:t>
            </a:r>
            <a:r>
              <a:rPr lang="de-DE" sz="900" dirty="0" err="1"/>
              <a:t>explanation</a:t>
            </a:r>
            <a:r>
              <a:rPr lang="de-DE" sz="900" dirty="0"/>
              <a:t> </a:t>
            </a:r>
            <a:r>
              <a:rPr lang="de-DE" sz="900" dirty="0" err="1"/>
              <a:t>requests</a:t>
            </a:r>
            <a:r>
              <a:rPr lang="de-DE" sz="900" dirty="0"/>
              <a:t>; 2 </a:t>
            </a:r>
            <a:r>
              <a:rPr lang="de-DE" sz="900" dirty="0" err="1"/>
              <a:t>specific</a:t>
            </a:r>
            <a:r>
              <a:rPr lang="de-DE" sz="900" dirty="0"/>
              <a:t> </a:t>
            </a:r>
            <a:r>
              <a:rPr lang="de-DE" sz="900" dirty="0" err="1"/>
              <a:t>mapped</a:t>
            </a:r>
            <a:r>
              <a:rPr lang="de-DE" sz="900" dirty="0"/>
              <a:t> </a:t>
            </a:r>
            <a:r>
              <a:rPr lang="de-DE" sz="900" dirty="0" err="1"/>
              <a:t>to</a:t>
            </a:r>
            <a:r>
              <a:rPr lang="de-DE" sz="900" dirty="0"/>
              <a:t> XAI</a:t>
            </a:r>
          </a:p>
          <a:p>
            <a:r>
              <a:rPr lang="de-DE" sz="900" dirty="0"/>
              <a:t>Always </a:t>
            </a:r>
            <a:r>
              <a:rPr lang="de-DE" sz="900" dirty="0" err="1"/>
              <a:t>start</a:t>
            </a:r>
            <a:r>
              <a:rPr lang="de-DE" sz="900" dirty="0"/>
              <a:t> </a:t>
            </a:r>
            <a:r>
              <a:rPr lang="de-DE" sz="900" dirty="0" err="1"/>
              <a:t>with</a:t>
            </a:r>
            <a:r>
              <a:rPr lang="de-DE" sz="900" dirty="0"/>
              <a:t> XAI</a:t>
            </a:r>
          </a:p>
          <a:p>
            <a:r>
              <a:rPr lang="de-DE" sz="900" dirty="0" err="1"/>
              <a:t>Provide</a:t>
            </a:r>
            <a:r>
              <a:rPr lang="de-DE" sz="900" dirty="0"/>
              <a:t> </a:t>
            </a:r>
            <a:r>
              <a:rPr lang="de-DE" sz="900" dirty="0" err="1"/>
              <a:t>arguments</a:t>
            </a:r>
            <a:r>
              <a:rPr lang="de-DE" sz="900" dirty="0"/>
              <a:t> </a:t>
            </a:r>
            <a:r>
              <a:rPr lang="de-DE" sz="900" dirty="0" err="1"/>
              <a:t>until</a:t>
            </a:r>
            <a:r>
              <a:rPr lang="de-DE" sz="900" dirty="0"/>
              <a:t> </a:t>
            </a:r>
            <a:r>
              <a:rPr lang="de-DE" sz="900" dirty="0" err="1"/>
              <a:t>no</a:t>
            </a:r>
            <a:r>
              <a:rPr lang="de-DE" sz="900" dirty="0"/>
              <a:t> </a:t>
            </a:r>
            <a:r>
              <a:rPr lang="de-DE" sz="900" dirty="0" err="1"/>
              <a:t>more</a:t>
            </a:r>
            <a:r>
              <a:rPr lang="de-DE" sz="900" dirty="0"/>
              <a:t> </a:t>
            </a:r>
            <a:r>
              <a:rPr lang="de-DE" sz="900" dirty="0" err="1"/>
              <a:t>arguments</a:t>
            </a:r>
            <a:r>
              <a:rPr lang="de-DE" sz="900" dirty="0"/>
              <a:t> </a:t>
            </a:r>
            <a:r>
              <a:rPr lang="de-DE" sz="900" dirty="0" err="1"/>
              <a:t>of</a:t>
            </a:r>
            <a:r>
              <a:rPr lang="de-DE" sz="900" dirty="0"/>
              <a:t> </a:t>
            </a:r>
            <a:r>
              <a:rPr lang="de-DE" sz="900" dirty="0" err="1"/>
              <a:t>topic</a:t>
            </a:r>
            <a:r>
              <a:rPr lang="de-DE" sz="900" dirty="0"/>
              <a:t> </a:t>
            </a:r>
            <a:r>
              <a:rPr lang="de-DE" sz="900" dirty="0" err="1"/>
              <a:t>are</a:t>
            </a:r>
            <a:r>
              <a:rPr lang="de-DE" sz="900" dirty="0"/>
              <a:t> </a:t>
            </a:r>
            <a:r>
              <a:rPr lang="de-DE" sz="900" dirty="0" err="1"/>
              <a:t>left</a:t>
            </a:r>
            <a:endParaRPr lang="de-DE" sz="900" dirty="0"/>
          </a:p>
          <a:p>
            <a:r>
              <a:rPr lang="de-DE" sz="900" dirty="0" err="1"/>
              <a:t>Offer</a:t>
            </a:r>
            <a:r>
              <a:rPr lang="de-DE" sz="900" dirty="0"/>
              <a:t> </a:t>
            </a:r>
            <a:r>
              <a:rPr lang="de-DE" sz="900" dirty="0" err="1"/>
              <a:t>counterfactuals</a:t>
            </a:r>
            <a:r>
              <a:rPr lang="de-DE" sz="900" dirty="0"/>
              <a:t> </a:t>
            </a:r>
            <a:r>
              <a:rPr lang="de-DE" sz="900" dirty="0" err="1"/>
              <a:t>as</a:t>
            </a:r>
            <a:r>
              <a:rPr lang="de-DE" sz="900" dirty="0"/>
              <a:t> alternative</a:t>
            </a:r>
          </a:p>
          <a:p>
            <a:endParaRPr lang="de-DE" dirty="0"/>
          </a:p>
        </p:txBody>
      </p:sp>
      <p:sp>
        <p:nvSpPr>
          <p:cNvPr id="4" name="Foliennummernplatzhalter 3"/>
          <p:cNvSpPr>
            <a:spLocks noGrp="1"/>
          </p:cNvSpPr>
          <p:nvPr>
            <p:ph type="sldNum" sz="quarter" idx="10"/>
          </p:nvPr>
        </p:nvSpPr>
        <p:spPr/>
        <p:txBody>
          <a:bodyPr/>
          <a:lstStyle/>
          <a:p>
            <a:fld id="{C1E8E1B3-6545-954E-9998-292C9C5033CF}" type="slidenum">
              <a:rPr lang="de-DE" smtClean="0"/>
              <a:t>20</a:t>
            </a:fld>
            <a:endParaRPr lang="de-DE"/>
          </a:p>
        </p:txBody>
      </p:sp>
    </p:spTree>
    <p:extLst>
      <p:ext uri="{BB962C8B-B14F-4D97-AF65-F5344CB8AC3E}">
        <p14:creationId xmlns:p14="http://schemas.microsoft.com/office/powerpoint/2010/main" val="274752695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err="1"/>
              <a:t>To</a:t>
            </a:r>
            <a:r>
              <a:rPr lang="de-DE" baseline="0" dirty="0"/>
              <a:t> </a:t>
            </a:r>
            <a:r>
              <a:rPr lang="de-DE" baseline="0" dirty="0" err="1"/>
              <a:t>evaluate</a:t>
            </a:r>
            <a:r>
              <a:rPr lang="de-DE" baseline="0" dirty="0"/>
              <a:t> </a:t>
            </a:r>
            <a:r>
              <a:rPr lang="de-DE" baseline="0" dirty="0" err="1"/>
              <a:t>the</a:t>
            </a:r>
            <a:r>
              <a:rPr lang="de-DE" baseline="0" dirty="0"/>
              <a:t> </a:t>
            </a:r>
            <a:r>
              <a:rPr lang="de-DE" baseline="0" dirty="0" err="1"/>
              <a:t>process</a:t>
            </a:r>
            <a:r>
              <a:rPr lang="de-DE" baseline="0" dirty="0"/>
              <a:t> </a:t>
            </a:r>
            <a:r>
              <a:rPr lang="de-DE" baseline="0" dirty="0" err="1"/>
              <a:t>we</a:t>
            </a:r>
            <a:r>
              <a:rPr lang="de-DE" baseline="0" dirty="0"/>
              <a:t> </a:t>
            </a:r>
            <a:r>
              <a:rPr lang="de-DE" baseline="0" dirty="0" err="1"/>
              <a:t>introduced</a:t>
            </a:r>
            <a:r>
              <a:rPr lang="de-DE" baseline="0" dirty="0"/>
              <a:t> </a:t>
            </a:r>
            <a:r>
              <a:rPr lang="de-DE" baseline="0" dirty="0" err="1"/>
              <a:t>the</a:t>
            </a:r>
            <a:r>
              <a:rPr lang="de-DE" baseline="0" dirty="0"/>
              <a:t> </a:t>
            </a:r>
            <a:r>
              <a:rPr lang="de-DE" baseline="0" dirty="0" err="1"/>
              <a:t>system</a:t>
            </a:r>
            <a:r>
              <a:rPr lang="de-DE" baseline="0" dirty="0"/>
              <a:t> </a:t>
            </a:r>
            <a:r>
              <a:rPr lang="de-DE" baseline="0" dirty="0" err="1"/>
              <a:t>athena</a:t>
            </a:r>
            <a:endParaRPr lang="de-DE" baseline="0" dirty="0"/>
          </a:p>
          <a:p>
            <a:endParaRPr lang="de-DE" dirty="0"/>
          </a:p>
        </p:txBody>
      </p:sp>
      <p:sp>
        <p:nvSpPr>
          <p:cNvPr id="4" name="Foliennummernplatzhalter 3"/>
          <p:cNvSpPr>
            <a:spLocks noGrp="1"/>
          </p:cNvSpPr>
          <p:nvPr>
            <p:ph type="sldNum" sz="quarter" idx="10"/>
          </p:nvPr>
        </p:nvSpPr>
        <p:spPr/>
        <p:txBody>
          <a:bodyPr/>
          <a:lstStyle/>
          <a:p>
            <a:fld id="{C1E8E1B3-6545-954E-9998-292C9C5033CF}" type="slidenum">
              <a:rPr lang="de-DE" smtClean="0"/>
              <a:t>21</a:t>
            </a:fld>
            <a:endParaRPr lang="de-DE"/>
          </a:p>
        </p:txBody>
      </p:sp>
    </p:spTree>
    <p:extLst>
      <p:ext uri="{BB962C8B-B14F-4D97-AF65-F5344CB8AC3E}">
        <p14:creationId xmlns:p14="http://schemas.microsoft.com/office/powerpoint/2010/main" val="311534736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10"/>
          </p:nvPr>
        </p:nvSpPr>
        <p:spPr/>
        <p:txBody>
          <a:bodyPr/>
          <a:lstStyle/>
          <a:p>
            <a:fld id="{C1E8E1B3-6545-954E-9998-292C9C5033CF}" type="slidenum">
              <a:rPr lang="de-DE" smtClean="0"/>
              <a:t>22</a:t>
            </a:fld>
            <a:endParaRPr lang="de-DE"/>
          </a:p>
        </p:txBody>
      </p:sp>
    </p:spTree>
    <p:extLst>
      <p:ext uri="{BB962C8B-B14F-4D97-AF65-F5344CB8AC3E}">
        <p14:creationId xmlns:p14="http://schemas.microsoft.com/office/powerpoint/2010/main" val="255033357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5"/>
          </p:nvPr>
        </p:nvSpPr>
        <p:spPr/>
        <p:txBody>
          <a:bodyPr/>
          <a:lstStyle/>
          <a:p>
            <a:fld id="{C1E8E1B3-6545-954E-9998-292C9C5033CF}" type="slidenum">
              <a:rPr lang="de-DE" smtClean="0"/>
              <a:t>23</a:t>
            </a:fld>
            <a:endParaRPr lang="de-DE"/>
          </a:p>
        </p:txBody>
      </p:sp>
    </p:spTree>
    <p:extLst>
      <p:ext uri="{BB962C8B-B14F-4D97-AF65-F5344CB8AC3E}">
        <p14:creationId xmlns:p14="http://schemas.microsoft.com/office/powerpoint/2010/main" val="104187365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pPr marL="171450" indent="-171450">
              <a:buFont typeface="Arial" panose="020B0604020202020204" pitchFamily="34" charset="0"/>
              <a:buChar char="•"/>
            </a:pPr>
            <a:r>
              <a:rPr lang="de-DE" dirty="0"/>
              <a:t>Domain </a:t>
            </a:r>
            <a:r>
              <a:rPr lang="de-DE" dirty="0" err="1"/>
              <a:t>knowledge</a:t>
            </a:r>
            <a:r>
              <a:rPr lang="de-DE" dirty="0"/>
              <a:t> </a:t>
            </a:r>
            <a:r>
              <a:rPr lang="de-DE" dirty="0" err="1"/>
              <a:t>lets</a:t>
            </a:r>
            <a:r>
              <a:rPr lang="de-DE" dirty="0"/>
              <a:t> </a:t>
            </a:r>
            <a:r>
              <a:rPr lang="de-DE" dirty="0" err="1"/>
              <a:t>user</a:t>
            </a:r>
            <a:r>
              <a:rPr lang="de-DE" dirty="0"/>
              <a:t> </a:t>
            </a:r>
            <a:r>
              <a:rPr lang="de-DE" dirty="0" err="1"/>
              <a:t>agree</a:t>
            </a:r>
            <a:r>
              <a:rPr lang="de-DE" dirty="0"/>
              <a:t> </a:t>
            </a:r>
            <a:r>
              <a:rPr lang="de-DE" dirty="0" err="1"/>
              <a:t>more</a:t>
            </a:r>
            <a:r>
              <a:rPr lang="de-DE" dirty="0"/>
              <a:t> </a:t>
            </a:r>
            <a:r>
              <a:rPr lang="de-DE" dirty="0" err="1"/>
              <a:t>with</a:t>
            </a:r>
            <a:r>
              <a:rPr lang="de-DE" dirty="0"/>
              <a:t> </a:t>
            </a:r>
            <a:r>
              <a:rPr lang="de-DE" dirty="0" err="1"/>
              <a:t>the</a:t>
            </a:r>
            <a:r>
              <a:rPr lang="de-DE" dirty="0"/>
              <a:t> </a:t>
            </a:r>
            <a:r>
              <a:rPr lang="de-DE" dirty="0" err="1"/>
              <a:t>system</a:t>
            </a:r>
            <a:r>
              <a:rPr lang="de-DE" dirty="0"/>
              <a:t>(!) </a:t>
            </a:r>
            <a:r>
              <a:rPr lang="de-DE" dirty="0" err="1"/>
              <a:t>for</a:t>
            </a:r>
            <a:r>
              <a:rPr lang="de-DE" dirty="0"/>
              <a:t> </a:t>
            </a:r>
            <a:r>
              <a:rPr lang="de-DE" dirty="0" err="1"/>
              <a:t>true</a:t>
            </a:r>
            <a:r>
              <a:rPr lang="de-DE" dirty="0"/>
              <a:t> AI </a:t>
            </a:r>
            <a:r>
              <a:rPr lang="de-DE" dirty="0" err="1"/>
              <a:t>what</a:t>
            </a:r>
            <a:r>
              <a:rPr lang="de-DE" baseline="0" dirty="0"/>
              <a:t> </a:t>
            </a:r>
            <a:r>
              <a:rPr lang="de-DE" baseline="0" dirty="0" err="1"/>
              <a:t>we</a:t>
            </a:r>
            <a:r>
              <a:rPr lang="de-DE" baseline="0" dirty="0"/>
              <a:t> </a:t>
            </a:r>
            <a:r>
              <a:rPr lang="de-DE" baseline="0" dirty="0" err="1"/>
              <a:t>want</a:t>
            </a:r>
            <a:r>
              <a:rPr lang="de-DE" baseline="0" dirty="0"/>
              <a:t>, </a:t>
            </a:r>
            <a:r>
              <a:rPr lang="de-DE" baseline="0" dirty="0" err="1"/>
              <a:t>false</a:t>
            </a:r>
            <a:r>
              <a:rPr lang="de-DE" baseline="0" dirty="0"/>
              <a:t> AI </a:t>
            </a:r>
            <a:r>
              <a:rPr lang="de-DE" baseline="0" dirty="0" err="1"/>
              <a:t>misleading</a:t>
            </a:r>
            <a:endParaRPr lang="de-DE" dirty="0"/>
          </a:p>
          <a:p>
            <a:pPr marL="171450" indent="-171450">
              <a:buFont typeface="Arial" panose="020B0604020202020204" pitchFamily="34" charset="0"/>
              <a:buChar char="•"/>
            </a:pPr>
            <a:r>
              <a:rPr lang="de-DE" dirty="0" err="1"/>
              <a:t>Difference</a:t>
            </a:r>
            <a:r>
              <a:rPr lang="de-DE" dirty="0"/>
              <a:t> </a:t>
            </a:r>
            <a:r>
              <a:rPr lang="de-DE" dirty="0" err="1"/>
              <a:t>between</a:t>
            </a:r>
            <a:r>
              <a:rPr lang="de-DE" dirty="0"/>
              <a:t> </a:t>
            </a:r>
            <a:r>
              <a:rPr lang="de-DE" dirty="0" err="1"/>
              <a:t>true</a:t>
            </a:r>
            <a:r>
              <a:rPr lang="de-DE" dirty="0"/>
              <a:t>/</a:t>
            </a:r>
            <a:r>
              <a:rPr lang="de-DE" dirty="0" err="1"/>
              <a:t>false</a:t>
            </a:r>
            <a:r>
              <a:rPr lang="de-DE" baseline="0" dirty="0"/>
              <a:t> AI </a:t>
            </a:r>
            <a:r>
              <a:rPr lang="de-DE" baseline="0" dirty="0" err="1"/>
              <a:t>as</a:t>
            </a:r>
            <a:r>
              <a:rPr lang="de-DE" baseline="0" dirty="0"/>
              <a:t> </a:t>
            </a:r>
            <a:r>
              <a:rPr lang="de-DE" baseline="0" dirty="0" err="1"/>
              <a:t>expected</a:t>
            </a:r>
            <a:endParaRPr lang="de-DE" baseline="0" dirty="0"/>
          </a:p>
          <a:p>
            <a:pPr marL="171450" indent="-171450">
              <a:buFont typeface="Arial" panose="020B0604020202020204" pitchFamily="34" charset="0"/>
              <a:buChar char="•"/>
            </a:pPr>
            <a:endParaRPr lang="de-DE" baseline="0" dirty="0"/>
          </a:p>
          <a:p>
            <a:pPr marL="171450" indent="-171450">
              <a:buFont typeface="Arial" panose="020B0604020202020204" pitchFamily="34" charset="0"/>
              <a:buChar char="•"/>
            </a:pPr>
            <a:endParaRPr lang="de-DE" dirty="0"/>
          </a:p>
        </p:txBody>
      </p:sp>
      <p:sp>
        <p:nvSpPr>
          <p:cNvPr id="4" name="Foliennummernplatzhalter 3"/>
          <p:cNvSpPr>
            <a:spLocks noGrp="1"/>
          </p:cNvSpPr>
          <p:nvPr>
            <p:ph type="sldNum" sz="quarter" idx="10"/>
          </p:nvPr>
        </p:nvSpPr>
        <p:spPr/>
        <p:txBody>
          <a:bodyPr/>
          <a:lstStyle/>
          <a:p>
            <a:fld id="{C1E8E1B3-6545-954E-9998-292C9C5033CF}" type="slidenum">
              <a:rPr lang="de-DE" smtClean="0"/>
              <a:t>24</a:t>
            </a:fld>
            <a:endParaRPr lang="de-DE"/>
          </a:p>
        </p:txBody>
      </p:sp>
    </p:spTree>
    <p:extLst>
      <p:ext uri="{BB962C8B-B14F-4D97-AF65-F5344CB8AC3E}">
        <p14:creationId xmlns:p14="http://schemas.microsoft.com/office/powerpoint/2010/main" val="249301773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err="1"/>
              <a:t>Likeability</a:t>
            </a:r>
            <a:endParaRPr lang="de-DE" dirty="0"/>
          </a:p>
          <a:p>
            <a:r>
              <a:rPr lang="de-DE" dirty="0" err="1"/>
              <a:t>Robustness</a:t>
            </a:r>
            <a:endParaRPr lang="de-DE" dirty="0"/>
          </a:p>
          <a:p>
            <a:r>
              <a:rPr lang="de-DE" dirty="0" err="1"/>
              <a:t>Cognitvie</a:t>
            </a:r>
            <a:endParaRPr lang="de-DE" dirty="0"/>
          </a:p>
          <a:p>
            <a:r>
              <a:rPr lang="de-DE" dirty="0"/>
              <a:t>Demand</a:t>
            </a:r>
          </a:p>
          <a:p>
            <a:endParaRPr lang="de-DE" dirty="0"/>
          </a:p>
        </p:txBody>
      </p:sp>
      <p:sp>
        <p:nvSpPr>
          <p:cNvPr id="4" name="Foliennummernplatzhalter 3"/>
          <p:cNvSpPr>
            <a:spLocks noGrp="1"/>
          </p:cNvSpPr>
          <p:nvPr>
            <p:ph type="sldNum" sz="quarter" idx="10"/>
          </p:nvPr>
        </p:nvSpPr>
        <p:spPr/>
        <p:txBody>
          <a:bodyPr/>
          <a:lstStyle/>
          <a:p>
            <a:fld id="{C1E8E1B3-6545-954E-9998-292C9C5033CF}" type="slidenum">
              <a:rPr lang="de-DE" smtClean="0"/>
              <a:t>25</a:t>
            </a:fld>
            <a:endParaRPr lang="de-DE"/>
          </a:p>
        </p:txBody>
      </p:sp>
    </p:spTree>
    <p:extLst>
      <p:ext uri="{BB962C8B-B14F-4D97-AF65-F5344CB8AC3E}">
        <p14:creationId xmlns:p14="http://schemas.microsoft.com/office/powerpoint/2010/main" val="33351237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EEDD26-DB36-F345-51FD-FD9A99AE7167}"/>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699D7EE8-6AE4-0321-DB42-79DA415C59B7}"/>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CDF34165-B46B-BBA5-F613-8C78E516B06E}"/>
              </a:ext>
            </a:extLst>
          </p:cNvPr>
          <p:cNvSpPr>
            <a:spLocks noGrp="1"/>
          </p:cNvSpPr>
          <p:nvPr>
            <p:ph type="body" idx="1"/>
          </p:nvPr>
        </p:nvSpPr>
        <p:spPr/>
        <p:txBody>
          <a:bodyPr/>
          <a:lstStyle/>
          <a:p>
            <a:endParaRPr lang="de-DE" dirty="0"/>
          </a:p>
        </p:txBody>
      </p:sp>
      <p:sp>
        <p:nvSpPr>
          <p:cNvPr id="4" name="Foliennummernplatzhalter 3">
            <a:extLst>
              <a:ext uri="{FF2B5EF4-FFF2-40B4-BE49-F238E27FC236}">
                <a16:creationId xmlns:a16="http://schemas.microsoft.com/office/drawing/2014/main" id="{5B39D431-55F7-6125-EB4B-EDB1AC47D76E}"/>
              </a:ext>
            </a:extLst>
          </p:cNvPr>
          <p:cNvSpPr>
            <a:spLocks noGrp="1"/>
          </p:cNvSpPr>
          <p:nvPr>
            <p:ph type="sldNum" sz="quarter" idx="5"/>
          </p:nvPr>
        </p:nvSpPr>
        <p:spPr/>
        <p:txBody>
          <a:bodyPr/>
          <a:lstStyle/>
          <a:p>
            <a:fld id="{C1E8E1B3-6545-954E-9998-292C9C5033CF}" type="slidenum">
              <a:rPr lang="de-DE" smtClean="0"/>
              <a:t>26</a:t>
            </a:fld>
            <a:endParaRPr lang="de-DE"/>
          </a:p>
        </p:txBody>
      </p:sp>
    </p:spTree>
    <p:extLst>
      <p:ext uri="{BB962C8B-B14F-4D97-AF65-F5344CB8AC3E}">
        <p14:creationId xmlns:p14="http://schemas.microsoft.com/office/powerpoint/2010/main" val="62693691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167AFF-D221-729D-7F55-0423239E3860}"/>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E666F7DD-20C2-99CC-C830-3C09FB0E7AF8}"/>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9D83038F-5E40-183E-E796-15814F985151}"/>
              </a:ext>
            </a:extLst>
          </p:cNvPr>
          <p:cNvSpPr>
            <a:spLocks noGrp="1"/>
          </p:cNvSpPr>
          <p:nvPr>
            <p:ph type="body" idx="1"/>
          </p:nvPr>
        </p:nvSpPr>
        <p:spPr/>
        <p:txBody>
          <a:bodyPr/>
          <a:lstStyle/>
          <a:p>
            <a:r>
              <a:rPr lang="en-US" dirty="0"/>
              <a:t>In the diabetes scenario with a true AI, the presence of DK was associated with higher perceived system accuracy ($p^* = 0.062$) and lower ratings of boredom ($p^* = 0.113$), suggesting that DK may have contributed to greater engagement. In the credit scenario with a false AI, users rated the system as more pleasant and friendly when DK was present ($p^* = 0.137$), with further indications that DK may have enhanced enjoyment ($p^* = 0.171$)</a:t>
            </a:r>
          </a:p>
          <a:p>
            <a:endParaRPr lang="en-US" dirty="0"/>
          </a:p>
          <a:p>
            <a:endParaRPr lang="de-DE" dirty="0"/>
          </a:p>
        </p:txBody>
      </p:sp>
      <p:sp>
        <p:nvSpPr>
          <p:cNvPr id="4" name="Foliennummernplatzhalter 3">
            <a:extLst>
              <a:ext uri="{FF2B5EF4-FFF2-40B4-BE49-F238E27FC236}">
                <a16:creationId xmlns:a16="http://schemas.microsoft.com/office/drawing/2014/main" id="{8FB4922E-4B63-6771-BC4F-52944C7C5018}"/>
              </a:ext>
            </a:extLst>
          </p:cNvPr>
          <p:cNvSpPr>
            <a:spLocks noGrp="1"/>
          </p:cNvSpPr>
          <p:nvPr>
            <p:ph type="sldNum" sz="quarter" idx="10"/>
          </p:nvPr>
        </p:nvSpPr>
        <p:spPr/>
        <p:txBody>
          <a:bodyPr/>
          <a:lstStyle/>
          <a:p>
            <a:fld id="{C1E8E1B3-6545-954E-9998-292C9C5033CF}" type="slidenum">
              <a:rPr lang="de-DE" smtClean="0"/>
              <a:t>29</a:t>
            </a:fld>
            <a:endParaRPr lang="de-DE"/>
          </a:p>
        </p:txBody>
      </p:sp>
    </p:spTree>
    <p:extLst>
      <p:ext uri="{BB962C8B-B14F-4D97-AF65-F5344CB8AC3E}">
        <p14:creationId xmlns:p14="http://schemas.microsoft.com/office/powerpoint/2010/main" val="107780471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DC34DB-9CB0-5005-1501-45222DAAA1D6}"/>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691C1D95-D5A0-C1F0-6B6B-5167C7861587}"/>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2FD9B662-409D-DECF-2E52-43443ED8D6C0}"/>
              </a:ext>
            </a:extLst>
          </p:cNvPr>
          <p:cNvSpPr>
            <a:spLocks noGrp="1"/>
          </p:cNvSpPr>
          <p:nvPr>
            <p:ph type="body" idx="1"/>
          </p:nvPr>
        </p:nvSpPr>
        <p:spPr/>
        <p:txBody>
          <a:bodyPr/>
          <a:lstStyle/>
          <a:p>
            <a:endParaRPr lang="de-DE" dirty="0"/>
          </a:p>
        </p:txBody>
      </p:sp>
      <p:sp>
        <p:nvSpPr>
          <p:cNvPr id="4" name="Foliennummernplatzhalter 3">
            <a:extLst>
              <a:ext uri="{FF2B5EF4-FFF2-40B4-BE49-F238E27FC236}">
                <a16:creationId xmlns:a16="http://schemas.microsoft.com/office/drawing/2014/main" id="{13F3F38E-8846-DFFB-5EB1-6115C7A01DD8}"/>
              </a:ext>
            </a:extLst>
          </p:cNvPr>
          <p:cNvSpPr>
            <a:spLocks noGrp="1"/>
          </p:cNvSpPr>
          <p:nvPr>
            <p:ph type="sldNum" sz="quarter" idx="10"/>
          </p:nvPr>
        </p:nvSpPr>
        <p:spPr/>
        <p:txBody>
          <a:bodyPr/>
          <a:lstStyle/>
          <a:p>
            <a:fld id="{C1E8E1B3-6545-954E-9998-292C9C5033CF}" type="slidenum">
              <a:rPr lang="de-DE" smtClean="0"/>
              <a:t>30</a:t>
            </a:fld>
            <a:endParaRPr lang="de-DE"/>
          </a:p>
        </p:txBody>
      </p:sp>
    </p:spTree>
    <p:extLst>
      <p:ext uri="{BB962C8B-B14F-4D97-AF65-F5344CB8AC3E}">
        <p14:creationId xmlns:p14="http://schemas.microsoft.com/office/powerpoint/2010/main" val="376392099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10"/>
          </p:nvPr>
        </p:nvSpPr>
        <p:spPr/>
        <p:txBody>
          <a:bodyPr/>
          <a:lstStyle/>
          <a:p>
            <a:fld id="{C1E8E1B3-6545-954E-9998-292C9C5033CF}" type="slidenum">
              <a:rPr lang="de-DE" smtClean="0"/>
              <a:t>31</a:t>
            </a:fld>
            <a:endParaRPr lang="de-DE"/>
          </a:p>
        </p:txBody>
      </p:sp>
    </p:spTree>
    <p:extLst>
      <p:ext uri="{BB962C8B-B14F-4D97-AF65-F5344CB8AC3E}">
        <p14:creationId xmlns:p14="http://schemas.microsoft.com/office/powerpoint/2010/main" val="383154263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en-US"/>
          </a:p>
        </p:txBody>
      </p:sp>
      <p:sp>
        <p:nvSpPr>
          <p:cNvPr id="4" name="Foliennummernplatzhalter 3"/>
          <p:cNvSpPr>
            <a:spLocks noGrp="1"/>
          </p:cNvSpPr>
          <p:nvPr>
            <p:ph type="sldNum" sz="quarter" idx="5"/>
          </p:nvPr>
        </p:nvSpPr>
        <p:spPr/>
        <p:txBody>
          <a:bodyPr/>
          <a:lstStyle/>
          <a:p>
            <a:fld id="{C1E8E1B3-6545-954E-9998-292C9C5033CF}" type="slidenum">
              <a:rPr lang="de-DE" smtClean="0"/>
              <a:t>35</a:t>
            </a:fld>
            <a:endParaRPr lang="de-DE"/>
          </a:p>
        </p:txBody>
      </p:sp>
    </p:spTree>
    <p:extLst>
      <p:ext uri="{BB962C8B-B14F-4D97-AF65-F5344CB8AC3E}">
        <p14:creationId xmlns:p14="http://schemas.microsoft.com/office/powerpoint/2010/main" val="263150282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5"/>
          </p:nvPr>
        </p:nvSpPr>
        <p:spPr/>
        <p:txBody>
          <a:bodyPr/>
          <a:lstStyle/>
          <a:p>
            <a:fld id="{C1E8E1B3-6545-954E-9998-292C9C5033CF}" type="slidenum">
              <a:rPr lang="de-DE" smtClean="0"/>
              <a:t>36</a:t>
            </a:fld>
            <a:endParaRPr lang="de-DE"/>
          </a:p>
        </p:txBody>
      </p:sp>
    </p:spTree>
    <p:extLst>
      <p:ext uri="{BB962C8B-B14F-4D97-AF65-F5344CB8AC3E}">
        <p14:creationId xmlns:p14="http://schemas.microsoft.com/office/powerpoint/2010/main" val="205857109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Explanation </a:t>
            </a:r>
            <a:r>
              <a:rPr lang="de-DE" dirty="0" err="1"/>
              <a:t>states</a:t>
            </a:r>
            <a:r>
              <a:rPr lang="de-DE" dirty="0"/>
              <a:t>/</a:t>
            </a:r>
            <a:r>
              <a:rPr lang="de-DE" dirty="0" err="1"/>
              <a:t>Policy:Connection</a:t>
            </a:r>
            <a:r>
              <a:rPr lang="de-DE" dirty="0"/>
              <a:t> XAI &amp; </a:t>
            </a:r>
            <a:r>
              <a:rPr lang="de-DE" dirty="0" err="1"/>
              <a:t>Dialogue</a:t>
            </a:r>
            <a:br>
              <a:rPr lang="de-DE" dirty="0"/>
            </a:br>
            <a:r>
              <a:rPr lang="de-DE" dirty="0"/>
              <a:t>         Module </a:t>
            </a:r>
            <a:r>
              <a:rPr lang="de-DE" dirty="0" err="1"/>
              <a:t>for</a:t>
            </a:r>
            <a:r>
              <a:rPr lang="de-DE" dirty="0"/>
              <a:t> XAI</a:t>
            </a:r>
          </a:p>
          <a:p>
            <a:pPr lvl="1"/>
            <a:r>
              <a:rPr lang="de-DE" dirty="0"/>
              <a:t>User </a:t>
            </a:r>
            <a:r>
              <a:rPr lang="de-DE" dirty="0" err="1"/>
              <a:t>requests</a:t>
            </a:r>
            <a:r>
              <a:rPr lang="de-DE" dirty="0"/>
              <a:t> </a:t>
            </a:r>
            <a:r>
              <a:rPr lang="de-DE" dirty="0" err="1"/>
              <a:t>as</a:t>
            </a:r>
            <a:r>
              <a:rPr lang="de-DE" dirty="0"/>
              <a:t> </a:t>
            </a:r>
            <a:r>
              <a:rPr lang="de-DE" dirty="0" err="1"/>
              <a:t>explanation</a:t>
            </a:r>
            <a:r>
              <a:rPr lang="de-DE" dirty="0"/>
              <a:t> </a:t>
            </a:r>
            <a:r>
              <a:rPr lang="de-DE" dirty="0" err="1"/>
              <a:t>requests</a:t>
            </a:r>
            <a:r>
              <a:rPr lang="de-DE" dirty="0"/>
              <a:t>; </a:t>
            </a:r>
            <a:r>
              <a:rPr lang="de-DE" dirty="0" err="1"/>
              <a:t>mapping</a:t>
            </a:r>
            <a:r>
              <a:rPr lang="de-DE" dirty="0"/>
              <a:t> </a:t>
            </a:r>
            <a:r>
              <a:rPr lang="de-DE" dirty="0" err="1"/>
              <a:t>questions</a:t>
            </a:r>
            <a:r>
              <a:rPr lang="de-DE" dirty="0"/>
              <a:t> </a:t>
            </a:r>
            <a:r>
              <a:rPr lang="de-DE" dirty="0" err="1"/>
              <a:t>to</a:t>
            </a:r>
            <a:r>
              <a:rPr lang="de-DE" dirty="0"/>
              <a:t> </a:t>
            </a:r>
            <a:r>
              <a:rPr lang="de-DE" dirty="0" err="1"/>
              <a:t>methods</a:t>
            </a:r>
            <a:r>
              <a:rPr lang="de-DE" dirty="0"/>
              <a:t> </a:t>
            </a:r>
          </a:p>
          <a:p>
            <a:pPr lvl="1"/>
            <a:r>
              <a:rPr lang="de-DE" dirty="0" err="1"/>
              <a:t>Extracting</a:t>
            </a:r>
            <a:r>
              <a:rPr lang="de-DE" dirty="0"/>
              <a:t> </a:t>
            </a:r>
            <a:r>
              <a:rPr lang="de-DE" dirty="0" err="1"/>
              <a:t>users</a:t>
            </a:r>
            <a:r>
              <a:rPr lang="de-DE" dirty="0"/>
              <a:t> </a:t>
            </a:r>
            <a:r>
              <a:rPr lang="de-DE" dirty="0" err="1"/>
              <a:t>intent</a:t>
            </a:r>
            <a:r>
              <a:rPr lang="de-DE" dirty="0"/>
              <a:t>: </a:t>
            </a:r>
            <a:r>
              <a:rPr lang="de-DE" dirty="0" err="1"/>
              <a:t>semantic</a:t>
            </a:r>
            <a:r>
              <a:rPr lang="de-DE" dirty="0"/>
              <a:t> </a:t>
            </a:r>
            <a:r>
              <a:rPr lang="de-DE" dirty="0" err="1"/>
              <a:t>representation</a:t>
            </a:r>
            <a:r>
              <a:rPr lang="de-DE" dirty="0"/>
              <a:t> </a:t>
            </a:r>
            <a:r>
              <a:rPr lang="de-DE" dirty="0" err="1"/>
              <a:t>of</a:t>
            </a:r>
            <a:r>
              <a:rPr lang="de-DE" dirty="0"/>
              <a:t> </a:t>
            </a:r>
            <a:r>
              <a:rPr lang="de-DE" dirty="0" err="1"/>
              <a:t>request</a:t>
            </a:r>
            <a:endParaRPr lang="de-DE" dirty="0"/>
          </a:p>
          <a:p>
            <a:endParaRPr lang="de-DE" dirty="0"/>
          </a:p>
          <a:p>
            <a:pPr lvl="1"/>
            <a:r>
              <a:rPr lang="de-DE" dirty="0" err="1"/>
              <a:t>Which</a:t>
            </a:r>
            <a:r>
              <a:rPr lang="de-DE" dirty="0"/>
              <a:t> </a:t>
            </a:r>
            <a:r>
              <a:rPr lang="de-DE" dirty="0" err="1"/>
              <a:t>explanation</a:t>
            </a:r>
            <a:r>
              <a:rPr lang="de-DE" dirty="0"/>
              <a:t> </a:t>
            </a:r>
            <a:r>
              <a:rPr lang="de-DE" dirty="0" err="1"/>
              <a:t>have</a:t>
            </a:r>
            <a:r>
              <a:rPr lang="de-DE" dirty="0"/>
              <a:t> </a:t>
            </a:r>
            <a:r>
              <a:rPr lang="de-DE" dirty="0" err="1"/>
              <a:t>been</a:t>
            </a:r>
            <a:r>
              <a:rPr lang="de-DE" dirty="0"/>
              <a:t> </a:t>
            </a:r>
            <a:r>
              <a:rPr lang="de-DE" dirty="0" err="1"/>
              <a:t>shown</a:t>
            </a:r>
            <a:r>
              <a:rPr lang="de-DE" dirty="0"/>
              <a:t> </a:t>
            </a:r>
            <a:r>
              <a:rPr lang="de-DE" dirty="0" err="1"/>
              <a:t>already</a:t>
            </a:r>
            <a:r>
              <a:rPr lang="de-DE" dirty="0"/>
              <a:t>; </a:t>
            </a:r>
            <a:r>
              <a:rPr lang="de-DE" dirty="0" err="1"/>
              <a:t>what</a:t>
            </a:r>
            <a:r>
              <a:rPr lang="de-DE" dirty="0"/>
              <a:t> </a:t>
            </a:r>
            <a:r>
              <a:rPr lang="de-DE" dirty="0" err="1"/>
              <a:t>explanation</a:t>
            </a:r>
            <a:r>
              <a:rPr lang="de-DE" dirty="0"/>
              <a:t> </a:t>
            </a:r>
            <a:r>
              <a:rPr lang="de-DE" dirty="0" err="1"/>
              <a:t>suits</a:t>
            </a:r>
            <a:r>
              <a:rPr lang="de-DE" dirty="0"/>
              <a:t> </a:t>
            </a:r>
            <a:r>
              <a:rPr lang="de-DE" dirty="0" err="1"/>
              <a:t>the</a:t>
            </a:r>
            <a:r>
              <a:rPr lang="de-DE" dirty="0"/>
              <a:t> </a:t>
            </a:r>
            <a:r>
              <a:rPr lang="de-DE" dirty="0" err="1"/>
              <a:t>current</a:t>
            </a:r>
            <a:r>
              <a:rPr lang="de-DE" dirty="0"/>
              <a:t> </a:t>
            </a:r>
            <a:r>
              <a:rPr lang="de-DE" dirty="0" err="1"/>
              <a:t>context</a:t>
            </a:r>
            <a:endParaRPr lang="de-DE" dirty="0"/>
          </a:p>
          <a:p>
            <a:r>
              <a:rPr lang="de-DE" dirty="0"/>
              <a:t>Extension </a:t>
            </a:r>
            <a:r>
              <a:rPr lang="de-DE" dirty="0" err="1"/>
              <a:t>of</a:t>
            </a:r>
            <a:r>
              <a:rPr lang="de-DE" dirty="0"/>
              <a:t> „</a:t>
            </a:r>
            <a:r>
              <a:rPr lang="de-DE" dirty="0" err="1"/>
              <a:t>raw</a:t>
            </a:r>
            <a:r>
              <a:rPr lang="de-DE" dirty="0"/>
              <a:t>“ </a:t>
            </a:r>
            <a:r>
              <a:rPr lang="de-DE" dirty="0" err="1"/>
              <a:t>explanations</a:t>
            </a:r>
            <a:endParaRPr lang="de-DE" dirty="0"/>
          </a:p>
          <a:p>
            <a:pPr lvl="1"/>
            <a:r>
              <a:rPr lang="de-DE" dirty="0" err="1"/>
              <a:t>Extend</a:t>
            </a:r>
            <a:r>
              <a:rPr lang="de-DE" dirty="0"/>
              <a:t> </a:t>
            </a:r>
            <a:r>
              <a:rPr lang="de-DE" dirty="0" err="1"/>
              <a:t>with</a:t>
            </a:r>
            <a:r>
              <a:rPr lang="de-DE" dirty="0"/>
              <a:t> </a:t>
            </a:r>
            <a:r>
              <a:rPr lang="de-DE" dirty="0" err="1"/>
              <a:t>information</a:t>
            </a:r>
            <a:r>
              <a:rPr lang="de-DE" dirty="0"/>
              <a:t> </a:t>
            </a:r>
            <a:r>
              <a:rPr lang="de-DE" dirty="0" err="1"/>
              <a:t>from</a:t>
            </a:r>
            <a:r>
              <a:rPr lang="de-DE" dirty="0"/>
              <a:t> </a:t>
            </a:r>
            <a:r>
              <a:rPr lang="de-DE" dirty="0" err="1"/>
              <a:t>domain</a:t>
            </a:r>
            <a:endParaRPr lang="de-DE" dirty="0"/>
          </a:p>
          <a:p>
            <a:pPr lvl="1"/>
            <a:r>
              <a:rPr lang="de-DE" dirty="0" err="1"/>
              <a:t>Extend</a:t>
            </a:r>
            <a:r>
              <a:rPr lang="de-DE" dirty="0"/>
              <a:t> </a:t>
            </a:r>
            <a:r>
              <a:rPr lang="de-DE" dirty="0" err="1"/>
              <a:t>with</a:t>
            </a:r>
            <a:r>
              <a:rPr lang="de-DE" dirty="0"/>
              <a:t> </a:t>
            </a:r>
            <a:r>
              <a:rPr lang="de-DE" dirty="0" err="1"/>
              <a:t>information</a:t>
            </a:r>
            <a:r>
              <a:rPr lang="de-DE" dirty="0"/>
              <a:t> </a:t>
            </a:r>
            <a:r>
              <a:rPr lang="de-DE" dirty="0" err="1"/>
              <a:t>from</a:t>
            </a:r>
            <a:r>
              <a:rPr lang="de-DE" dirty="0"/>
              <a:t> real </a:t>
            </a:r>
            <a:r>
              <a:rPr lang="de-DE" dirty="0" err="1"/>
              <a:t>world</a:t>
            </a:r>
            <a:endParaRPr lang="de-DE" dirty="0"/>
          </a:p>
          <a:p>
            <a:r>
              <a:rPr lang="de-DE" dirty="0"/>
              <a:t>Generation </a:t>
            </a:r>
            <a:r>
              <a:rPr lang="de-DE" dirty="0" err="1"/>
              <a:t>of</a:t>
            </a:r>
            <a:r>
              <a:rPr lang="de-DE" dirty="0"/>
              <a:t> </a:t>
            </a:r>
            <a:r>
              <a:rPr lang="de-DE" dirty="0" err="1"/>
              <a:t>natural</a:t>
            </a:r>
            <a:r>
              <a:rPr lang="de-DE" dirty="0"/>
              <a:t> </a:t>
            </a:r>
            <a:r>
              <a:rPr lang="de-DE" dirty="0" err="1"/>
              <a:t>language</a:t>
            </a:r>
            <a:r>
              <a:rPr lang="de-DE" dirty="0"/>
              <a:t> </a:t>
            </a:r>
            <a:r>
              <a:rPr lang="de-DE" dirty="0" err="1"/>
              <a:t>explanation</a:t>
            </a:r>
            <a:endParaRPr lang="de-DE" dirty="0"/>
          </a:p>
          <a:p>
            <a:pPr lvl="1"/>
            <a:r>
              <a:rPr lang="de-DE" dirty="0" err="1"/>
              <a:t>should</a:t>
            </a:r>
            <a:r>
              <a:rPr lang="de-DE" dirty="0"/>
              <a:t> </a:t>
            </a:r>
            <a:r>
              <a:rPr lang="de-DE" dirty="0" err="1"/>
              <a:t>contain</a:t>
            </a:r>
            <a:r>
              <a:rPr lang="de-DE" dirty="0"/>
              <a:t> original </a:t>
            </a:r>
            <a:r>
              <a:rPr lang="de-DE" dirty="0" err="1"/>
              <a:t>information</a:t>
            </a:r>
            <a:r>
              <a:rPr lang="de-DE" dirty="0"/>
              <a:t> </a:t>
            </a:r>
            <a:r>
              <a:rPr lang="de-DE" dirty="0" err="1"/>
              <a:t>from</a:t>
            </a:r>
            <a:r>
              <a:rPr lang="de-DE" dirty="0"/>
              <a:t> XAI</a:t>
            </a:r>
          </a:p>
          <a:p>
            <a:pPr lvl="1"/>
            <a:r>
              <a:rPr lang="de-DE" dirty="0" err="1"/>
              <a:t>Should</a:t>
            </a:r>
            <a:r>
              <a:rPr lang="de-DE" dirty="0"/>
              <a:t> fit </a:t>
            </a:r>
            <a:r>
              <a:rPr lang="de-DE" dirty="0" err="1"/>
              <a:t>the</a:t>
            </a:r>
            <a:r>
              <a:rPr lang="de-DE" dirty="0"/>
              <a:t> </a:t>
            </a:r>
            <a:r>
              <a:rPr lang="de-DE" dirty="0" err="1"/>
              <a:t>dialogue</a:t>
            </a:r>
            <a:r>
              <a:rPr lang="de-DE" dirty="0"/>
              <a:t> </a:t>
            </a:r>
            <a:r>
              <a:rPr lang="de-DE" dirty="0" err="1"/>
              <a:t>context</a:t>
            </a:r>
            <a:endParaRPr lang="de-DE" dirty="0"/>
          </a:p>
          <a:p>
            <a:endParaRPr lang="de-DE" dirty="0"/>
          </a:p>
        </p:txBody>
      </p:sp>
      <p:sp>
        <p:nvSpPr>
          <p:cNvPr id="4" name="Foliennummernplatzhalter 3"/>
          <p:cNvSpPr>
            <a:spLocks noGrp="1"/>
          </p:cNvSpPr>
          <p:nvPr>
            <p:ph type="sldNum" sz="quarter" idx="5"/>
          </p:nvPr>
        </p:nvSpPr>
        <p:spPr/>
        <p:txBody>
          <a:bodyPr/>
          <a:lstStyle/>
          <a:p>
            <a:fld id="{C1E8E1B3-6545-954E-9998-292C9C5033CF}" type="slidenum">
              <a:rPr lang="de-DE" smtClean="0"/>
              <a:t>37</a:t>
            </a:fld>
            <a:endParaRPr lang="de-DE"/>
          </a:p>
        </p:txBody>
      </p:sp>
    </p:spTree>
    <p:extLst>
      <p:ext uri="{BB962C8B-B14F-4D97-AF65-F5344CB8AC3E}">
        <p14:creationId xmlns:p14="http://schemas.microsoft.com/office/powerpoint/2010/main" val="150582121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blanko">
    <p:spTree>
      <p:nvGrpSpPr>
        <p:cNvPr id="1" name=""/>
        <p:cNvGrpSpPr/>
        <p:nvPr/>
      </p:nvGrpSpPr>
      <p:grpSpPr>
        <a:xfrm>
          <a:off x="0" y="0"/>
          <a:ext cx="0" cy="0"/>
          <a:chOff x="0" y="0"/>
          <a:chExt cx="0" cy="0"/>
        </a:xfrm>
      </p:grpSpPr>
      <p:sp>
        <p:nvSpPr>
          <p:cNvPr id="12" name="Rechteck 11">
            <a:extLst>
              <a:ext uri="{FF2B5EF4-FFF2-40B4-BE49-F238E27FC236}">
                <a16:creationId xmlns:a16="http://schemas.microsoft.com/office/drawing/2014/main" id="{FB49F6D1-9CF7-1D43-ABA7-9865E2F6B0C7}"/>
              </a:ext>
            </a:extLst>
          </p:cNvPr>
          <p:cNvSpPr/>
          <p:nvPr userDrawn="1"/>
        </p:nvSpPr>
        <p:spPr>
          <a:xfrm>
            <a:off x="8518524" y="4971106"/>
            <a:ext cx="230187" cy="120513"/>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3" name="Date Placeholder 3">
            <a:extLst>
              <a:ext uri="{FF2B5EF4-FFF2-40B4-BE49-F238E27FC236}">
                <a16:creationId xmlns:a16="http://schemas.microsoft.com/office/drawing/2014/main" id="{1EF02E05-E0B6-DB47-AA72-6A7E625DBA9B}"/>
              </a:ext>
            </a:extLst>
          </p:cNvPr>
          <p:cNvSpPr>
            <a:spLocks noGrp="1"/>
          </p:cNvSpPr>
          <p:nvPr>
            <p:ph type="dt" sz="half" idx="10"/>
          </p:nvPr>
        </p:nvSpPr>
        <p:spPr>
          <a:xfrm>
            <a:off x="7701332" y="4978682"/>
            <a:ext cx="826083" cy="122236"/>
          </a:xfrm>
          <a:prstGeom prst="rect">
            <a:avLst/>
          </a:prstGeom>
        </p:spPr>
        <p:txBody>
          <a:bodyPr/>
          <a:lstStyle>
            <a:lvl1pPr>
              <a:defRPr sz="900" baseline="0">
                <a:latin typeface="+mn-lt"/>
              </a:defRPr>
            </a:lvl1pPr>
          </a:lstStyle>
          <a:p>
            <a:r>
              <a:rPr lang="en-US"/>
              <a:t>18.08.2025</a:t>
            </a:r>
            <a:endParaRPr lang="de-DE" dirty="0"/>
          </a:p>
        </p:txBody>
      </p:sp>
      <p:sp>
        <p:nvSpPr>
          <p:cNvPr id="14" name="Footer Placeholder 4">
            <a:extLst>
              <a:ext uri="{FF2B5EF4-FFF2-40B4-BE49-F238E27FC236}">
                <a16:creationId xmlns:a16="http://schemas.microsoft.com/office/drawing/2014/main" id="{F6302119-A5DB-524B-B629-BB637DF426BB}"/>
              </a:ext>
            </a:extLst>
          </p:cNvPr>
          <p:cNvSpPr>
            <a:spLocks noGrp="1"/>
          </p:cNvSpPr>
          <p:nvPr>
            <p:ph type="ftr" sz="quarter" idx="11"/>
          </p:nvPr>
        </p:nvSpPr>
        <p:spPr>
          <a:xfrm>
            <a:off x="395288" y="4978682"/>
            <a:ext cx="7246916" cy="120158"/>
          </a:xfrm>
          <a:prstGeom prst="rect">
            <a:avLst/>
          </a:prstGeom>
        </p:spPr>
        <p:txBody>
          <a:bodyPr/>
          <a:lstStyle>
            <a:lvl1pPr>
              <a:defRPr sz="900" baseline="0">
                <a:latin typeface="+mn-lt"/>
              </a:defRPr>
            </a:lvl1pPr>
          </a:lstStyle>
          <a:p>
            <a:r>
              <a:rPr lang="en-US"/>
              <a:t>Enhancing model transparency: Effects of DK Integration for Conversational XAI | Feustel</a:t>
            </a:r>
            <a:endParaRPr lang="de-DE" dirty="0"/>
          </a:p>
        </p:txBody>
      </p:sp>
      <p:sp>
        <p:nvSpPr>
          <p:cNvPr id="15" name="Slide Number Placeholder 5">
            <a:extLst>
              <a:ext uri="{FF2B5EF4-FFF2-40B4-BE49-F238E27FC236}">
                <a16:creationId xmlns:a16="http://schemas.microsoft.com/office/drawing/2014/main" id="{D75B72B9-7DB5-8947-90DF-1ED2424F5833}"/>
              </a:ext>
            </a:extLst>
          </p:cNvPr>
          <p:cNvSpPr>
            <a:spLocks noGrp="1"/>
          </p:cNvSpPr>
          <p:nvPr>
            <p:ph type="sldNum" sz="quarter" idx="12"/>
          </p:nvPr>
        </p:nvSpPr>
        <p:spPr>
          <a:xfrm>
            <a:off x="8495030" y="4978682"/>
            <a:ext cx="212654" cy="136107"/>
          </a:xfrm>
          <a:prstGeom prst="rect">
            <a:avLst/>
          </a:prstGeom>
        </p:spPr>
        <p:txBody>
          <a:bodyPr/>
          <a:lstStyle>
            <a:lvl1pPr algn="r">
              <a:defRPr sz="900" baseline="0">
                <a:solidFill>
                  <a:schemeClr val="bg1"/>
                </a:solidFill>
                <a:latin typeface="+mn-lt"/>
              </a:defRPr>
            </a:lvl1pPr>
          </a:lstStyle>
          <a:p>
            <a:r>
              <a:rPr lang="de-DE"/>
              <a:t> </a:t>
            </a:r>
            <a:fld id="{FE120BDC-5456-EC41-8BB6-7A3B726EA19B}" type="slidenum">
              <a:rPr lang="de-DE" smtClean="0"/>
              <a:pPr/>
              <a:t>‹Nr.›</a:t>
            </a:fld>
            <a:endParaRPr lang="de-DE" dirty="0"/>
          </a:p>
        </p:txBody>
      </p:sp>
      <p:sp>
        <p:nvSpPr>
          <p:cNvPr id="8" name="Inhaltsplatzhalter 8">
            <a:extLst>
              <a:ext uri="{FF2B5EF4-FFF2-40B4-BE49-F238E27FC236}">
                <a16:creationId xmlns:a16="http://schemas.microsoft.com/office/drawing/2014/main" id="{69C4859A-41C4-C343-9FD6-4E847BE2C98E}"/>
              </a:ext>
            </a:extLst>
          </p:cNvPr>
          <p:cNvSpPr>
            <a:spLocks noGrp="1"/>
          </p:cNvSpPr>
          <p:nvPr>
            <p:ph sz="quarter" idx="15"/>
          </p:nvPr>
        </p:nvSpPr>
        <p:spPr>
          <a:xfrm>
            <a:off x="2519363" y="1139824"/>
            <a:ext cx="6229350" cy="1106071"/>
          </a:xfrm>
        </p:spPr>
        <p:txBody>
          <a:bodyPr>
            <a:noAutofit/>
          </a:bodyPr>
          <a:lstStyle>
            <a:lvl1pPr>
              <a:defRPr sz="1400" baseline="0"/>
            </a:lvl1pPr>
          </a:lstStyle>
          <a:p>
            <a:pPr lvl="0"/>
            <a:r>
              <a:rPr lang="de-DE" dirty="0"/>
              <a:t>Mastertextformat bearbeiten</a:t>
            </a:r>
          </a:p>
        </p:txBody>
      </p:sp>
    </p:spTree>
    <p:extLst>
      <p:ext uri="{BB962C8B-B14F-4D97-AF65-F5344CB8AC3E}">
        <p14:creationId xmlns:p14="http://schemas.microsoft.com/office/powerpoint/2010/main" val="3853760764"/>
      </p:ext>
    </p:extLst>
  </p:cSld>
  <p:clrMapOvr>
    <a:masterClrMapping/>
  </p:clrMapOvr>
  <p:extLst>
    <p:ext uri="{DCECCB84-F9BA-43D5-87BE-67443E8EF086}">
      <p15:sldGuideLst xmlns:p15="http://schemas.microsoft.com/office/powerpoint/2012/main">
        <p15:guide id="2" pos="5511" userDrawn="1">
          <p15:clr>
            <a:srgbClr val="FBAE40"/>
          </p15:clr>
        </p15:guide>
        <p15:guide id="3" pos="249" userDrawn="1">
          <p15:clr>
            <a:srgbClr val="FBAE40"/>
          </p15:clr>
        </p15:guide>
        <p15:guide id="4" orient="horz" pos="191" userDrawn="1">
          <p15:clr>
            <a:srgbClr val="FBAE40"/>
          </p15:clr>
        </p15:guide>
        <p15:guide id="5" orient="horz" pos="713" userDrawn="1">
          <p15:clr>
            <a:srgbClr val="FBAE40"/>
          </p15:clr>
        </p15:guide>
        <p15:guide id="6" orient="horz" pos="3026" userDrawn="1">
          <p15:clr>
            <a:srgbClr val="FBAE40"/>
          </p15:clr>
        </p15:guide>
        <p15:guide id="7" pos="2925" userDrawn="1">
          <p15:clr>
            <a:srgbClr val="FBAE40"/>
          </p15:clr>
        </p15:guide>
        <p15:guide id="8" pos="1587"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elfolie_1">
    <p:spTree>
      <p:nvGrpSpPr>
        <p:cNvPr id="1" name=""/>
        <p:cNvGrpSpPr/>
        <p:nvPr/>
      </p:nvGrpSpPr>
      <p:grpSpPr>
        <a:xfrm>
          <a:off x="0" y="0"/>
          <a:ext cx="0" cy="0"/>
          <a:chOff x="0" y="0"/>
          <a:chExt cx="0" cy="0"/>
        </a:xfrm>
      </p:grpSpPr>
      <p:sp>
        <p:nvSpPr>
          <p:cNvPr id="11" name="Bildplatzhalter 10">
            <a:extLst>
              <a:ext uri="{FF2B5EF4-FFF2-40B4-BE49-F238E27FC236}">
                <a16:creationId xmlns:a16="http://schemas.microsoft.com/office/drawing/2014/main" id="{1CD7C907-DB27-3F42-85B7-A41E435E011C}"/>
              </a:ext>
            </a:extLst>
          </p:cNvPr>
          <p:cNvSpPr>
            <a:spLocks noGrp="1"/>
          </p:cNvSpPr>
          <p:nvPr>
            <p:ph type="pic" sz="quarter" idx="13" hasCustomPrompt="1"/>
          </p:nvPr>
        </p:nvSpPr>
        <p:spPr>
          <a:xfrm>
            <a:off x="395288" y="1131888"/>
            <a:ext cx="8353425" cy="1884580"/>
          </a:xfrm>
        </p:spPr>
        <p:txBody>
          <a:bodyPr>
            <a:normAutofit/>
          </a:bodyPr>
          <a:lstStyle>
            <a:lvl1pPr>
              <a:defRPr sz="1500" baseline="0">
                <a:solidFill>
                  <a:schemeClr val="tx1">
                    <a:lumMod val="50000"/>
                    <a:lumOff val="50000"/>
                  </a:schemeClr>
                </a:solidFill>
              </a:defRPr>
            </a:lvl1pPr>
          </a:lstStyle>
          <a:p>
            <a:r>
              <a:rPr lang="de-DE" dirty="0"/>
              <a:t>Bild einfügen: Klick auf Symbol</a:t>
            </a:r>
          </a:p>
        </p:txBody>
      </p:sp>
      <p:sp>
        <p:nvSpPr>
          <p:cNvPr id="3" name="Subtitle 2"/>
          <p:cNvSpPr>
            <a:spLocks noGrp="1"/>
          </p:cNvSpPr>
          <p:nvPr>
            <p:ph type="subTitle" idx="1" hasCustomPrompt="1"/>
          </p:nvPr>
        </p:nvSpPr>
        <p:spPr>
          <a:xfrm>
            <a:off x="2523668" y="3680314"/>
            <a:ext cx="6037318" cy="926192"/>
          </a:xfrm>
        </p:spPr>
        <p:txBody>
          <a:bodyPr lIns="0" tIns="0" rIns="0" bIns="0">
            <a:noAutofit/>
          </a:bodyPr>
          <a:lstStyle>
            <a:lvl1pPr marL="0" indent="0" algn="l">
              <a:spcBef>
                <a:spcPts val="0"/>
              </a:spcBef>
              <a:buNone/>
              <a:defRPr sz="1600" baseline="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de-DE" dirty="0"/>
              <a:t>Untertitel einfügen</a:t>
            </a:r>
            <a:endParaRPr lang="en-US" dirty="0"/>
          </a:p>
        </p:txBody>
      </p:sp>
      <p:pic>
        <p:nvPicPr>
          <p:cNvPr id="8" name="Grafik 7">
            <a:extLst>
              <a:ext uri="{FF2B5EF4-FFF2-40B4-BE49-F238E27FC236}">
                <a16:creationId xmlns:a16="http://schemas.microsoft.com/office/drawing/2014/main" id="{D0F82C32-F0EA-1A4D-9578-8AE79F2CD217}"/>
              </a:ext>
            </a:extLst>
          </p:cNvPr>
          <p:cNvPicPr>
            <a:picLocks noChangeAspect="1"/>
          </p:cNvPicPr>
          <p:nvPr userDrawn="1"/>
        </p:nvPicPr>
        <p:blipFill>
          <a:blip r:embed="rId2" cstate="hqprint">
            <a:extLst>
              <a:ext uri="{28A0092B-C50C-407E-A947-70E740481C1C}">
                <a14:useLocalDpi xmlns:a14="http://schemas.microsoft.com/office/drawing/2010/main"/>
              </a:ext>
            </a:extLst>
          </a:blip>
          <a:stretch>
            <a:fillRect/>
          </a:stretch>
        </p:blipFill>
        <p:spPr>
          <a:xfrm>
            <a:off x="7015808" y="315210"/>
            <a:ext cx="1744130" cy="495059"/>
          </a:xfrm>
          <a:prstGeom prst="rect">
            <a:avLst/>
          </a:prstGeom>
        </p:spPr>
      </p:pic>
      <p:sp>
        <p:nvSpPr>
          <p:cNvPr id="12" name="Rechteck 11">
            <a:extLst>
              <a:ext uri="{FF2B5EF4-FFF2-40B4-BE49-F238E27FC236}">
                <a16:creationId xmlns:a16="http://schemas.microsoft.com/office/drawing/2014/main" id="{8C2F7F02-FD2D-BA42-9F81-DE47E9F09704}"/>
              </a:ext>
            </a:extLst>
          </p:cNvPr>
          <p:cNvSpPr/>
          <p:nvPr userDrawn="1"/>
        </p:nvSpPr>
        <p:spPr>
          <a:xfrm>
            <a:off x="395288" y="2956034"/>
            <a:ext cx="8353425" cy="576228"/>
          </a:xfrm>
          <a:prstGeom prst="rect">
            <a:avLst/>
          </a:prstGeom>
          <a:solidFill>
            <a:srgbClr val="A3263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2" name="Title 1"/>
          <p:cNvSpPr>
            <a:spLocks noGrp="1"/>
          </p:cNvSpPr>
          <p:nvPr>
            <p:ph type="ctrTitle" hasCustomPrompt="1"/>
          </p:nvPr>
        </p:nvSpPr>
        <p:spPr>
          <a:xfrm>
            <a:off x="2516743" y="3072412"/>
            <a:ext cx="6037367" cy="436375"/>
          </a:xfrm>
        </p:spPr>
        <p:txBody>
          <a:bodyPr anchor="t" anchorCtr="0"/>
          <a:lstStyle>
            <a:lvl1pPr algn="l">
              <a:defRPr sz="2400" baseline="0">
                <a:solidFill>
                  <a:schemeClr val="bg1"/>
                </a:solidFill>
              </a:defRPr>
            </a:lvl1pPr>
          </a:lstStyle>
          <a:p>
            <a:r>
              <a:rPr lang="de-DE" dirty="0"/>
              <a:t>Haupttitel einfügen</a:t>
            </a:r>
            <a:endParaRPr lang="en-US" dirty="0"/>
          </a:p>
        </p:txBody>
      </p:sp>
      <p:sp>
        <p:nvSpPr>
          <p:cNvPr id="23" name="Rechteck 22">
            <a:extLst>
              <a:ext uri="{FF2B5EF4-FFF2-40B4-BE49-F238E27FC236}">
                <a16:creationId xmlns:a16="http://schemas.microsoft.com/office/drawing/2014/main" id="{2D58DEDF-A97A-3A4D-953A-3E79533C5AE2}"/>
              </a:ext>
            </a:extLst>
          </p:cNvPr>
          <p:cNvSpPr/>
          <p:nvPr userDrawn="1"/>
        </p:nvSpPr>
        <p:spPr>
          <a:xfrm>
            <a:off x="8518524" y="4971106"/>
            <a:ext cx="230187" cy="120513"/>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4" name="Date Placeholder 3">
            <a:extLst>
              <a:ext uri="{FF2B5EF4-FFF2-40B4-BE49-F238E27FC236}">
                <a16:creationId xmlns:a16="http://schemas.microsoft.com/office/drawing/2014/main" id="{71DD0F86-F2A7-8145-AD2F-2CD118D95116}"/>
              </a:ext>
            </a:extLst>
          </p:cNvPr>
          <p:cNvSpPr>
            <a:spLocks noGrp="1"/>
          </p:cNvSpPr>
          <p:nvPr>
            <p:ph type="dt" sz="half" idx="10"/>
          </p:nvPr>
        </p:nvSpPr>
        <p:spPr>
          <a:xfrm>
            <a:off x="7701332" y="4978682"/>
            <a:ext cx="826083" cy="122236"/>
          </a:xfrm>
          <a:prstGeom prst="rect">
            <a:avLst/>
          </a:prstGeom>
        </p:spPr>
        <p:txBody>
          <a:bodyPr/>
          <a:lstStyle>
            <a:lvl1pPr>
              <a:defRPr sz="700" baseline="0"/>
            </a:lvl1pPr>
          </a:lstStyle>
          <a:p>
            <a:r>
              <a:rPr lang="en-US"/>
              <a:t>18.08.2025</a:t>
            </a:r>
            <a:endParaRPr lang="de-DE" dirty="0"/>
          </a:p>
        </p:txBody>
      </p:sp>
      <p:sp>
        <p:nvSpPr>
          <p:cNvPr id="25" name="Footer Placeholder 4">
            <a:extLst>
              <a:ext uri="{FF2B5EF4-FFF2-40B4-BE49-F238E27FC236}">
                <a16:creationId xmlns:a16="http://schemas.microsoft.com/office/drawing/2014/main" id="{1A16C839-EC8A-CC43-BC18-99F651B68595}"/>
              </a:ext>
            </a:extLst>
          </p:cNvPr>
          <p:cNvSpPr>
            <a:spLocks noGrp="1"/>
          </p:cNvSpPr>
          <p:nvPr>
            <p:ph type="ftr" sz="quarter" idx="11"/>
          </p:nvPr>
        </p:nvSpPr>
        <p:spPr>
          <a:xfrm>
            <a:off x="395288" y="4978682"/>
            <a:ext cx="7246916" cy="120158"/>
          </a:xfrm>
          <a:prstGeom prst="rect">
            <a:avLst/>
          </a:prstGeom>
        </p:spPr>
        <p:txBody>
          <a:bodyPr/>
          <a:lstStyle>
            <a:lvl1pPr>
              <a:defRPr sz="700" baseline="0"/>
            </a:lvl1pPr>
          </a:lstStyle>
          <a:p>
            <a:r>
              <a:rPr lang="en-US"/>
              <a:t>Enhancing model transparency: Effects of DK Integration for Conversational XAI | Feustel</a:t>
            </a:r>
            <a:endParaRPr lang="de-DE" dirty="0"/>
          </a:p>
        </p:txBody>
      </p:sp>
      <p:sp>
        <p:nvSpPr>
          <p:cNvPr id="26" name="Slide Number Placeholder 5">
            <a:extLst>
              <a:ext uri="{FF2B5EF4-FFF2-40B4-BE49-F238E27FC236}">
                <a16:creationId xmlns:a16="http://schemas.microsoft.com/office/drawing/2014/main" id="{C1049D0C-BDE5-7D41-A8E9-24F468B7BE6B}"/>
              </a:ext>
            </a:extLst>
          </p:cNvPr>
          <p:cNvSpPr>
            <a:spLocks noGrp="1"/>
          </p:cNvSpPr>
          <p:nvPr>
            <p:ph type="sldNum" sz="quarter" idx="12"/>
          </p:nvPr>
        </p:nvSpPr>
        <p:spPr>
          <a:xfrm>
            <a:off x="8495030" y="4978682"/>
            <a:ext cx="212654" cy="136107"/>
          </a:xfrm>
          <a:prstGeom prst="rect">
            <a:avLst/>
          </a:prstGeom>
        </p:spPr>
        <p:txBody>
          <a:bodyPr/>
          <a:lstStyle>
            <a:lvl1pPr algn="r">
              <a:defRPr sz="700" baseline="0">
                <a:solidFill>
                  <a:schemeClr val="bg1"/>
                </a:solidFill>
              </a:defRPr>
            </a:lvl1pPr>
          </a:lstStyle>
          <a:p>
            <a:r>
              <a:rPr lang="de-DE" dirty="0"/>
              <a:t> </a:t>
            </a:r>
            <a:fld id="{FE120BDC-5456-EC41-8BB6-7A3B726EA19B}" type="slidenum">
              <a:rPr lang="de-DE" smtClean="0"/>
              <a:pPr/>
              <a:t>‹Nr.›</a:t>
            </a:fld>
            <a:endParaRPr lang="de-DE" dirty="0"/>
          </a:p>
        </p:txBody>
      </p:sp>
      <p:cxnSp>
        <p:nvCxnSpPr>
          <p:cNvPr id="27" name="Gerade Verbindung 26">
            <a:extLst>
              <a:ext uri="{FF2B5EF4-FFF2-40B4-BE49-F238E27FC236}">
                <a16:creationId xmlns:a16="http://schemas.microsoft.com/office/drawing/2014/main" id="{3BCE0243-EDBC-B240-9013-DC31D02E8996}"/>
              </a:ext>
            </a:extLst>
          </p:cNvPr>
          <p:cNvCxnSpPr/>
          <p:nvPr userDrawn="1"/>
        </p:nvCxnSpPr>
        <p:spPr>
          <a:xfrm>
            <a:off x="395288" y="4969853"/>
            <a:ext cx="8353425" cy="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4" name="Vertikaler Textplatzhalter 13">
            <a:extLst>
              <a:ext uri="{FF2B5EF4-FFF2-40B4-BE49-F238E27FC236}">
                <a16:creationId xmlns:a16="http://schemas.microsoft.com/office/drawing/2014/main" id="{3A62E8B5-7BB4-BB42-84D1-8136AE8322A7}"/>
              </a:ext>
            </a:extLst>
          </p:cNvPr>
          <p:cNvSpPr>
            <a:spLocks noGrp="1"/>
          </p:cNvSpPr>
          <p:nvPr>
            <p:ph type="body" orient="vert" sz="quarter" idx="15"/>
          </p:nvPr>
        </p:nvSpPr>
        <p:spPr>
          <a:xfrm rot="10800000">
            <a:off x="8754500" y="1131887"/>
            <a:ext cx="135118" cy="1819653"/>
          </a:xfrm>
        </p:spPr>
        <p:txBody>
          <a:bodyPr vert="eaVert">
            <a:normAutofit/>
          </a:bodyPr>
          <a:lstStyle>
            <a:lvl1pPr marL="0" indent="0">
              <a:buFontTx/>
              <a:buNone/>
              <a:defRPr sz="700" baseline="0">
                <a:solidFill>
                  <a:schemeClr val="bg1">
                    <a:lumMod val="75000"/>
                  </a:schemeClr>
                </a:solidFill>
              </a:defRPr>
            </a:lvl1pPr>
          </a:lstStyle>
          <a:p>
            <a:pPr lvl="0"/>
            <a:r>
              <a:rPr lang="de-DE" dirty="0"/>
              <a:t>Mastertextformat bearbeiten</a:t>
            </a:r>
          </a:p>
        </p:txBody>
      </p:sp>
    </p:spTree>
    <p:extLst>
      <p:ext uri="{BB962C8B-B14F-4D97-AF65-F5344CB8AC3E}">
        <p14:creationId xmlns:p14="http://schemas.microsoft.com/office/powerpoint/2010/main" val="3373887579"/>
      </p:ext>
    </p:extLst>
  </p:cSld>
  <p:clrMapOvr>
    <a:masterClrMapping/>
  </p:clrMapOvr>
  <p:extLst>
    <p:ext uri="{DCECCB84-F9BA-43D5-87BE-67443E8EF086}">
      <p15:sldGuideLst xmlns:p15="http://schemas.microsoft.com/office/powerpoint/2012/main">
        <p15:guide id="2" pos="5511" userDrawn="1">
          <p15:clr>
            <a:srgbClr val="FBAE40"/>
          </p15:clr>
        </p15:guide>
        <p15:guide id="3" pos="249" userDrawn="1">
          <p15:clr>
            <a:srgbClr val="FBAE40"/>
          </p15:clr>
        </p15:guide>
        <p15:guide id="4" pos="4853" userDrawn="1">
          <p15:clr>
            <a:srgbClr val="FBAE40"/>
          </p15:clr>
        </p15:guide>
        <p15:guide id="5" pos="1587" userDrawn="1">
          <p15:clr>
            <a:srgbClr val="FBAE40"/>
          </p15:clr>
        </p15:guide>
        <p15:guide id="6" orient="horz" pos="3026" userDrawn="1">
          <p15:clr>
            <a:srgbClr val="FBAE40"/>
          </p15:clr>
        </p15:guide>
        <p15:guide id="7" orient="horz" pos="713"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elfolie_2">
    <p:spTree>
      <p:nvGrpSpPr>
        <p:cNvPr id="1" name=""/>
        <p:cNvGrpSpPr/>
        <p:nvPr/>
      </p:nvGrpSpPr>
      <p:grpSpPr>
        <a:xfrm>
          <a:off x="0" y="0"/>
          <a:ext cx="0" cy="0"/>
          <a:chOff x="0" y="0"/>
          <a:chExt cx="0" cy="0"/>
        </a:xfrm>
      </p:grpSpPr>
      <p:sp>
        <p:nvSpPr>
          <p:cNvPr id="12" name="Rechteck 11">
            <a:extLst>
              <a:ext uri="{FF2B5EF4-FFF2-40B4-BE49-F238E27FC236}">
                <a16:creationId xmlns:a16="http://schemas.microsoft.com/office/drawing/2014/main" id="{8C2F7F02-FD2D-BA42-9F81-DE47E9F09704}"/>
              </a:ext>
            </a:extLst>
          </p:cNvPr>
          <p:cNvSpPr/>
          <p:nvPr userDrawn="1"/>
        </p:nvSpPr>
        <p:spPr>
          <a:xfrm>
            <a:off x="395288" y="1136610"/>
            <a:ext cx="8353425" cy="3671887"/>
          </a:xfrm>
          <a:prstGeom prst="rect">
            <a:avLst/>
          </a:prstGeom>
          <a:solidFill>
            <a:srgbClr val="A3263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3" name="Subtitle 2"/>
          <p:cNvSpPr>
            <a:spLocks noGrp="1"/>
          </p:cNvSpPr>
          <p:nvPr>
            <p:ph type="subTitle" idx="1" hasCustomPrompt="1"/>
          </p:nvPr>
        </p:nvSpPr>
        <p:spPr>
          <a:xfrm>
            <a:off x="4643438" y="3125909"/>
            <a:ext cx="3870834" cy="1412873"/>
          </a:xfrm>
        </p:spPr>
        <p:txBody>
          <a:bodyPr lIns="0" tIns="0" rIns="0" bIns="0">
            <a:noAutofit/>
          </a:bodyPr>
          <a:lstStyle>
            <a:lvl1pPr marL="0" indent="0" algn="l">
              <a:spcBef>
                <a:spcPts val="0"/>
              </a:spcBef>
              <a:buNone/>
              <a:defRPr sz="1600" baseline="0">
                <a:solidFill>
                  <a:schemeClr val="bg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de-DE" dirty="0"/>
              <a:t>Untertitel einfügen</a:t>
            </a:r>
            <a:endParaRPr lang="en-US" dirty="0"/>
          </a:p>
        </p:txBody>
      </p:sp>
      <p:pic>
        <p:nvPicPr>
          <p:cNvPr id="8" name="Grafik 7">
            <a:extLst>
              <a:ext uri="{FF2B5EF4-FFF2-40B4-BE49-F238E27FC236}">
                <a16:creationId xmlns:a16="http://schemas.microsoft.com/office/drawing/2014/main" id="{D0F82C32-F0EA-1A4D-9578-8AE79F2CD217}"/>
              </a:ext>
            </a:extLst>
          </p:cNvPr>
          <p:cNvPicPr>
            <a:picLocks noChangeAspect="1"/>
          </p:cNvPicPr>
          <p:nvPr userDrawn="1"/>
        </p:nvPicPr>
        <p:blipFill>
          <a:blip r:embed="rId2" cstate="hqprint">
            <a:extLst>
              <a:ext uri="{28A0092B-C50C-407E-A947-70E740481C1C}">
                <a14:useLocalDpi xmlns:a14="http://schemas.microsoft.com/office/drawing/2010/main"/>
              </a:ext>
            </a:extLst>
          </a:blip>
          <a:stretch>
            <a:fillRect/>
          </a:stretch>
        </p:blipFill>
        <p:spPr>
          <a:xfrm>
            <a:off x="7015808" y="315210"/>
            <a:ext cx="1744130" cy="495059"/>
          </a:xfrm>
          <a:prstGeom prst="rect">
            <a:avLst/>
          </a:prstGeom>
        </p:spPr>
      </p:pic>
      <p:sp>
        <p:nvSpPr>
          <p:cNvPr id="2" name="Title 1"/>
          <p:cNvSpPr>
            <a:spLocks noGrp="1"/>
          </p:cNvSpPr>
          <p:nvPr>
            <p:ph type="ctrTitle" hasCustomPrompt="1"/>
          </p:nvPr>
        </p:nvSpPr>
        <p:spPr>
          <a:xfrm>
            <a:off x="4643439" y="1422693"/>
            <a:ext cx="3853580" cy="1492736"/>
          </a:xfrm>
        </p:spPr>
        <p:txBody>
          <a:bodyPr anchor="t" anchorCtr="0"/>
          <a:lstStyle>
            <a:lvl1pPr algn="l">
              <a:defRPr sz="2400" baseline="0">
                <a:solidFill>
                  <a:schemeClr val="bg1"/>
                </a:solidFill>
              </a:defRPr>
            </a:lvl1pPr>
          </a:lstStyle>
          <a:p>
            <a:r>
              <a:rPr lang="de-DE" dirty="0"/>
              <a:t>Haupttitel einfügen</a:t>
            </a:r>
            <a:endParaRPr lang="en-US" dirty="0"/>
          </a:p>
        </p:txBody>
      </p:sp>
      <p:sp>
        <p:nvSpPr>
          <p:cNvPr id="10" name="Bildplatzhalter 9">
            <a:extLst>
              <a:ext uri="{FF2B5EF4-FFF2-40B4-BE49-F238E27FC236}">
                <a16:creationId xmlns:a16="http://schemas.microsoft.com/office/drawing/2014/main" id="{4DE92ED1-A59A-B642-949A-EF9A610056A4}"/>
              </a:ext>
            </a:extLst>
          </p:cNvPr>
          <p:cNvSpPr>
            <a:spLocks noGrp="1"/>
          </p:cNvSpPr>
          <p:nvPr>
            <p:ph type="pic" sz="quarter" idx="13"/>
          </p:nvPr>
        </p:nvSpPr>
        <p:spPr>
          <a:xfrm>
            <a:off x="395288" y="1137675"/>
            <a:ext cx="4107701" cy="3665624"/>
          </a:xfrm>
        </p:spPr>
        <p:txBody>
          <a:bodyPr/>
          <a:lstStyle/>
          <a:p>
            <a:endParaRPr lang="de-DE" dirty="0"/>
          </a:p>
        </p:txBody>
      </p:sp>
      <p:sp>
        <p:nvSpPr>
          <p:cNvPr id="14" name="Vertikaler Textplatzhalter 13">
            <a:extLst>
              <a:ext uri="{FF2B5EF4-FFF2-40B4-BE49-F238E27FC236}">
                <a16:creationId xmlns:a16="http://schemas.microsoft.com/office/drawing/2014/main" id="{4CB101D6-79F6-3A4A-BCC9-1B9E765B1336}"/>
              </a:ext>
            </a:extLst>
          </p:cNvPr>
          <p:cNvSpPr>
            <a:spLocks noGrp="1"/>
          </p:cNvSpPr>
          <p:nvPr>
            <p:ph type="body" orient="vert" sz="quarter" idx="15"/>
          </p:nvPr>
        </p:nvSpPr>
        <p:spPr>
          <a:xfrm rot="10800000">
            <a:off x="8754500" y="2534856"/>
            <a:ext cx="146432" cy="2268919"/>
          </a:xfrm>
        </p:spPr>
        <p:txBody>
          <a:bodyPr vert="eaVert">
            <a:normAutofit/>
          </a:bodyPr>
          <a:lstStyle>
            <a:lvl1pPr marL="0" indent="0">
              <a:buFontTx/>
              <a:buNone/>
              <a:defRPr sz="700" baseline="0">
                <a:solidFill>
                  <a:schemeClr val="bg1">
                    <a:lumMod val="75000"/>
                  </a:schemeClr>
                </a:solidFill>
              </a:defRPr>
            </a:lvl1pPr>
          </a:lstStyle>
          <a:p>
            <a:pPr lvl="0"/>
            <a:r>
              <a:rPr lang="de-DE" dirty="0"/>
              <a:t>Mastertextformat bearbeiten</a:t>
            </a:r>
          </a:p>
        </p:txBody>
      </p:sp>
      <p:sp>
        <p:nvSpPr>
          <p:cNvPr id="19" name="Rechteck 18">
            <a:extLst>
              <a:ext uri="{FF2B5EF4-FFF2-40B4-BE49-F238E27FC236}">
                <a16:creationId xmlns:a16="http://schemas.microsoft.com/office/drawing/2014/main" id="{A3BC75B8-12E8-6943-8E8B-E7AFA50D3E8F}"/>
              </a:ext>
            </a:extLst>
          </p:cNvPr>
          <p:cNvSpPr/>
          <p:nvPr userDrawn="1"/>
        </p:nvSpPr>
        <p:spPr>
          <a:xfrm>
            <a:off x="8518524" y="4971106"/>
            <a:ext cx="230187" cy="120513"/>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0" name="Date Placeholder 3">
            <a:extLst>
              <a:ext uri="{FF2B5EF4-FFF2-40B4-BE49-F238E27FC236}">
                <a16:creationId xmlns:a16="http://schemas.microsoft.com/office/drawing/2014/main" id="{0F7AA9F3-48F4-CD47-B5E8-7EF744433F4E}"/>
              </a:ext>
            </a:extLst>
          </p:cNvPr>
          <p:cNvSpPr>
            <a:spLocks noGrp="1"/>
          </p:cNvSpPr>
          <p:nvPr>
            <p:ph type="dt" sz="half" idx="10"/>
          </p:nvPr>
        </p:nvSpPr>
        <p:spPr>
          <a:xfrm>
            <a:off x="7701332" y="4978682"/>
            <a:ext cx="826083" cy="122236"/>
          </a:xfrm>
          <a:prstGeom prst="rect">
            <a:avLst/>
          </a:prstGeom>
        </p:spPr>
        <p:txBody>
          <a:bodyPr/>
          <a:lstStyle>
            <a:lvl1pPr>
              <a:defRPr sz="700" baseline="0"/>
            </a:lvl1pPr>
          </a:lstStyle>
          <a:p>
            <a:r>
              <a:rPr lang="en-US"/>
              <a:t>18.08.2025</a:t>
            </a:r>
            <a:endParaRPr lang="de-DE" dirty="0"/>
          </a:p>
        </p:txBody>
      </p:sp>
      <p:sp>
        <p:nvSpPr>
          <p:cNvPr id="21" name="Footer Placeholder 4">
            <a:extLst>
              <a:ext uri="{FF2B5EF4-FFF2-40B4-BE49-F238E27FC236}">
                <a16:creationId xmlns:a16="http://schemas.microsoft.com/office/drawing/2014/main" id="{FBCC930C-798A-8D4D-BF19-EEF955546218}"/>
              </a:ext>
            </a:extLst>
          </p:cNvPr>
          <p:cNvSpPr>
            <a:spLocks noGrp="1"/>
          </p:cNvSpPr>
          <p:nvPr>
            <p:ph type="ftr" sz="quarter" idx="11"/>
          </p:nvPr>
        </p:nvSpPr>
        <p:spPr>
          <a:xfrm>
            <a:off x="395288" y="4978682"/>
            <a:ext cx="7246916" cy="120158"/>
          </a:xfrm>
          <a:prstGeom prst="rect">
            <a:avLst/>
          </a:prstGeom>
        </p:spPr>
        <p:txBody>
          <a:bodyPr/>
          <a:lstStyle>
            <a:lvl1pPr>
              <a:defRPr sz="700" baseline="0"/>
            </a:lvl1pPr>
          </a:lstStyle>
          <a:p>
            <a:r>
              <a:rPr lang="en-US"/>
              <a:t>Enhancing model transparency: Effects of DK Integration for Conversational XAI | Feustel</a:t>
            </a:r>
            <a:endParaRPr lang="de-DE" dirty="0"/>
          </a:p>
        </p:txBody>
      </p:sp>
      <p:sp>
        <p:nvSpPr>
          <p:cNvPr id="22" name="Slide Number Placeholder 5">
            <a:extLst>
              <a:ext uri="{FF2B5EF4-FFF2-40B4-BE49-F238E27FC236}">
                <a16:creationId xmlns:a16="http://schemas.microsoft.com/office/drawing/2014/main" id="{49447958-A6BD-2146-8035-DE7D4AA7DF95}"/>
              </a:ext>
            </a:extLst>
          </p:cNvPr>
          <p:cNvSpPr>
            <a:spLocks noGrp="1"/>
          </p:cNvSpPr>
          <p:nvPr>
            <p:ph type="sldNum" sz="quarter" idx="12"/>
          </p:nvPr>
        </p:nvSpPr>
        <p:spPr>
          <a:xfrm>
            <a:off x="8495030" y="4978682"/>
            <a:ext cx="212654" cy="136107"/>
          </a:xfrm>
          <a:prstGeom prst="rect">
            <a:avLst/>
          </a:prstGeom>
        </p:spPr>
        <p:txBody>
          <a:bodyPr/>
          <a:lstStyle>
            <a:lvl1pPr algn="r">
              <a:defRPr sz="700" baseline="0">
                <a:solidFill>
                  <a:schemeClr val="bg1"/>
                </a:solidFill>
              </a:defRPr>
            </a:lvl1pPr>
          </a:lstStyle>
          <a:p>
            <a:r>
              <a:rPr lang="de-DE" dirty="0"/>
              <a:t> </a:t>
            </a:r>
            <a:fld id="{FE120BDC-5456-EC41-8BB6-7A3B726EA19B}" type="slidenum">
              <a:rPr lang="de-DE" smtClean="0"/>
              <a:pPr/>
              <a:t>‹Nr.›</a:t>
            </a:fld>
            <a:endParaRPr lang="de-DE" dirty="0"/>
          </a:p>
        </p:txBody>
      </p:sp>
      <p:cxnSp>
        <p:nvCxnSpPr>
          <p:cNvPr id="23" name="Gerade Verbindung 22">
            <a:extLst>
              <a:ext uri="{FF2B5EF4-FFF2-40B4-BE49-F238E27FC236}">
                <a16:creationId xmlns:a16="http://schemas.microsoft.com/office/drawing/2014/main" id="{B79042CD-34EF-D345-94D3-D02C084A9082}"/>
              </a:ext>
            </a:extLst>
          </p:cNvPr>
          <p:cNvCxnSpPr/>
          <p:nvPr userDrawn="1"/>
        </p:nvCxnSpPr>
        <p:spPr>
          <a:xfrm>
            <a:off x="395288" y="4969853"/>
            <a:ext cx="8353425" cy="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83396711"/>
      </p:ext>
    </p:extLst>
  </p:cSld>
  <p:clrMapOvr>
    <a:masterClrMapping/>
  </p:clrMapOvr>
  <p:extLst>
    <p:ext uri="{DCECCB84-F9BA-43D5-87BE-67443E8EF086}">
      <p15:sldGuideLst xmlns:p15="http://schemas.microsoft.com/office/powerpoint/2012/main">
        <p15:guide id="2" pos="5511" userDrawn="1">
          <p15:clr>
            <a:srgbClr val="FBAE40"/>
          </p15:clr>
        </p15:guide>
        <p15:guide id="3" pos="249" userDrawn="1">
          <p15:clr>
            <a:srgbClr val="FBAE40"/>
          </p15:clr>
        </p15:guide>
        <p15:guide id="4" pos="4853" userDrawn="1">
          <p15:clr>
            <a:srgbClr val="FBAE40"/>
          </p15:clr>
        </p15:guide>
        <p15:guide id="5" pos="1587" userDrawn="1">
          <p15:clr>
            <a:srgbClr val="FBAE40"/>
          </p15:clr>
        </p15:guide>
        <p15:guide id="6" pos="2925" userDrawn="1">
          <p15:clr>
            <a:srgbClr val="FBAE40"/>
          </p15:clr>
        </p15:guide>
        <p15:guide id="7" orient="horz" pos="3026" userDrawn="1">
          <p15:clr>
            <a:srgbClr val="FBAE40"/>
          </p15:clr>
        </p15:guide>
        <p15:guide id="8" orient="horz" pos="713"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elfolie_3">
    <p:spTree>
      <p:nvGrpSpPr>
        <p:cNvPr id="1" name=""/>
        <p:cNvGrpSpPr/>
        <p:nvPr/>
      </p:nvGrpSpPr>
      <p:grpSpPr>
        <a:xfrm>
          <a:off x="0" y="0"/>
          <a:ext cx="0" cy="0"/>
          <a:chOff x="0" y="0"/>
          <a:chExt cx="0" cy="0"/>
        </a:xfrm>
      </p:grpSpPr>
      <p:sp>
        <p:nvSpPr>
          <p:cNvPr id="11" name="Bildplatzhalter 10">
            <a:extLst>
              <a:ext uri="{FF2B5EF4-FFF2-40B4-BE49-F238E27FC236}">
                <a16:creationId xmlns:a16="http://schemas.microsoft.com/office/drawing/2014/main" id="{1CD7C907-DB27-3F42-85B7-A41E435E011C}"/>
              </a:ext>
            </a:extLst>
          </p:cNvPr>
          <p:cNvSpPr>
            <a:spLocks noGrp="1"/>
          </p:cNvSpPr>
          <p:nvPr>
            <p:ph type="pic" sz="quarter" idx="13" hasCustomPrompt="1"/>
          </p:nvPr>
        </p:nvSpPr>
        <p:spPr>
          <a:xfrm>
            <a:off x="0" y="1155536"/>
            <a:ext cx="9144000" cy="4011612"/>
          </a:xfrm>
        </p:spPr>
        <p:txBody>
          <a:bodyPr>
            <a:normAutofit/>
          </a:bodyPr>
          <a:lstStyle>
            <a:lvl1pPr>
              <a:defRPr sz="1500" baseline="0">
                <a:solidFill>
                  <a:schemeClr val="tx1">
                    <a:lumMod val="50000"/>
                    <a:lumOff val="50000"/>
                  </a:schemeClr>
                </a:solidFill>
              </a:defRPr>
            </a:lvl1pPr>
          </a:lstStyle>
          <a:p>
            <a:r>
              <a:rPr lang="de-DE" dirty="0"/>
              <a:t>Bild einfügen: Klick auf Symbol</a:t>
            </a:r>
          </a:p>
        </p:txBody>
      </p:sp>
      <p:pic>
        <p:nvPicPr>
          <p:cNvPr id="8" name="Grafik 7">
            <a:extLst>
              <a:ext uri="{FF2B5EF4-FFF2-40B4-BE49-F238E27FC236}">
                <a16:creationId xmlns:a16="http://schemas.microsoft.com/office/drawing/2014/main" id="{D0F82C32-F0EA-1A4D-9578-8AE79F2CD217}"/>
              </a:ext>
            </a:extLst>
          </p:cNvPr>
          <p:cNvPicPr>
            <a:picLocks noChangeAspect="1"/>
          </p:cNvPicPr>
          <p:nvPr userDrawn="1"/>
        </p:nvPicPr>
        <p:blipFill>
          <a:blip r:embed="rId2" cstate="hqprint">
            <a:extLst>
              <a:ext uri="{28A0092B-C50C-407E-A947-70E740481C1C}">
                <a14:useLocalDpi xmlns:a14="http://schemas.microsoft.com/office/drawing/2010/main"/>
              </a:ext>
            </a:extLst>
          </a:blip>
          <a:stretch>
            <a:fillRect/>
          </a:stretch>
        </p:blipFill>
        <p:spPr>
          <a:xfrm>
            <a:off x="7015808" y="315210"/>
            <a:ext cx="1744130" cy="495059"/>
          </a:xfrm>
          <a:prstGeom prst="rect">
            <a:avLst/>
          </a:prstGeom>
        </p:spPr>
      </p:pic>
      <p:sp>
        <p:nvSpPr>
          <p:cNvPr id="2" name="Title 1"/>
          <p:cNvSpPr>
            <a:spLocks noGrp="1"/>
          </p:cNvSpPr>
          <p:nvPr>
            <p:ph type="ctrTitle" hasCustomPrompt="1"/>
          </p:nvPr>
        </p:nvSpPr>
        <p:spPr>
          <a:xfrm>
            <a:off x="4756345" y="1303440"/>
            <a:ext cx="3992367" cy="1454950"/>
          </a:xfrm>
        </p:spPr>
        <p:txBody>
          <a:bodyPr anchor="t" anchorCtr="0"/>
          <a:lstStyle>
            <a:lvl1pPr algn="l">
              <a:defRPr sz="2400" baseline="0">
                <a:solidFill>
                  <a:schemeClr val="tx1"/>
                </a:solidFill>
              </a:defRPr>
            </a:lvl1pPr>
          </a:lstStyle>
          <a:p>
            <a:r>
              <a:rPr lang="de-DE" dirty="0"/>
              <a:t>Haupttitel einfügen</a:t>
            </a:r>
            <a:endParaRPr lang="en-US" dirty="0"/>
          </a:p>
        </p:txBody>
      </p:sp>
      <p:sp>
        <p:nvSpPr>
          <p:cNvPr id="23" name="Rechteck 22">
            <a:extLst>
              <a:ext uri="{FF2B5EF4-FFF2-40B4-BE49-F238E27FC236}">
                <a16:creationId xmlns:a16="http://schemas.microsoft.com/office/drawing/2014/main" id="{2D58DEDF-A97A-3A4D-953A-3E79533C5AE2}"/>
              </a:ext>
            </a:extLst>
          </p:cNvPr>
          <p:cNvSpPr/>
          <p:nvPr userDrawn="1"/>
        </p:nvSpPr>
        <p:spPr>
          <a:xfrm>
            <a:off x="8518524" y="4971106"/>
            <a:ext cx="230187" cy="120513"/>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4" name="Date Placeholder 3">
            <a:extLst>
              <a:ext uri="{FF2B5EF4-FFF2-40B4-BE49-F238E27FC236}">
                <a16:creationId xmlns:a16="http://schemas.microsoft.com/office/drawing/2014/main" id="{71DD0F86-F2A7-8145-AD2F-2CD118D95116}"/>
              </a:ext>
            </a:extLst>
          </p:cNvPr>
          <p:cNvSpPr>
            <a:spLocks noGrp="1"/>
          </p:cNvSpPr>
          <p:nvPr>
            <p:ph type="dt" sz="half" idx="10"/>
          </p:nvPr>
        </p:nvSpPr>
        <p:spPr>
          <a:xfrm>
            <a:off x="7701332" y="4978682"/>
            <a:ext cx="826083" cy="122236"/>
          </a:xfrm>
          <a:prstGeom prst="rect">
            <a:avLst/>
          </a:prstGeom>
        </p:spPr>
        <p:txBody>
          <a:bodyPr/>
          <a:lstStyle>
            <a:lvl1pPr>
              <a:defRPr sz="700" baseline="0"/>
            </a:lvl1pPr>
          </a:lstStyle>
          <a:p>
            <a:r>
              <a:rPr lang="en-US"/>
              <a:t>18.08.2025</a:t>
            </a:r>
            <a:endParaRPr lang="de-DE" dirty="0"/>
          </a:p>
        </p:txBody>
      </p:sp>
      <p:sp>
        <p:nvSpPr>
          <p:cNvPr id="25" name="Footer Placeholder 4">
            <a:extLst>
              <a:ext uri="{FF2B5EF4-FFF2-40B4-BE49-F238E27FC236}">
                <a16:creationId xmlns:a16="http://schemas.microsoft.com/office/drawing/2014/main" id="{1A16C839-EC8A-CC43-BC18-99F651B68595}"/>
              </a:ext>
            </a:extLst>
          </p:cNvPr>
          <p:cNvSpPr>
            <a:spLocks noGrp="1"/>
          </p:cNvSpPr>
          <p:nvPr>
            <p:ph type="ftr" sz="quarter" idx="11"/>
          </p:nvPr>
        </p:nvSpPr>
        <p:spPr>
          <a:xfrm>
            <a:off x="395288" y="4978682"/>
            <a:ext cx="7246916" cy="120158"/>
          </a:xfrm>
          <a:prstGeom prst="rect">
            <a:avLst/>
          </a:prstGeom>
        </p:spPr>
        <p:txBody>
          <a:bodyPr/>
          <a:lstStyle>
            <a:lvl1pPr>
              <a:defRPr sz="700" baseline="0"/>
            </a:lvl1pPr>
          </a:lstStyle>
          <a:p>
            <a:r>
              <a:rPr lang="en-US"/>
              <a:t>Enhancing model transparency: Effects of DK Integration for Conversational XAI | Feustel</a:t>
            </a:r>
            <a:endParaRPr lang="de-DE" dirty="0"/>
          </a:p>
        </p:txBody>
      </p:sp>
      <p:sp>
        <p:nvSpPr>
          <p:cNvPr id="26" name="Slide Number Placeholder 5">
            <a:extLst>
              <a:ext uri="{FF2B5EF4-FFF2-40B4-BE49-F238E27FC236}">
                <a16:creationId xmlns:a16="http://schemas.microsoft.com/office/drawing/2014/main" id="{C1049D0C-BDE5-7D41-A8E9-24F468B7BE6B}"/>
              </a:ext>
            </a:extLst>
          </p:cNvPr>
          <p:cNvSpPr>
            <a:spLocks noGrp="1"/>
          </p:cNvSpPr>
          <p:nvPr>
            <p:ph type="sldNum" sz="quarter" idx="12"/>
          </p:nvPr>
        </p:nvSpPr>
        <p:spPr>
          <a:xfrm>
            <a:off x="8495030" y="4978682"/>
            <a:ext cx="212654" cy="136107"/>
          </a:xfrm>
          <a:prstGeom prst="rect">
            <a:avLst/>
          </a:prstGeom>
        </p:spPr>
        <p:txBody>
          <a:bodyPr/>
          <a:lstStyle>
            <a:lvl1pPr algn="r">
              <a:defRPr sz="700" baseline="0">
                <a:solidFill>
                  <a:schemeClr val="bg1"/>
                </a:solidFill>
              </a:defRPr>
            </a:lvl1pPr>
          </a:lstStyle>
          <a:p>
            <a:r>
              <a:rPr lang="de-DE" dirty="0"/>
              <a:t> </a:t>
            </a:r>
            <a:fld id="{FE120BDC-5456-EC41-8BB6-7A3B726EA19B}" type="slidenum">
              <a:rPr lang="de-DE" smtClean="0"/>
              <a:pPr/>
              <a:t>‹Nr.›</a:t>
            </a:fld>
            <a:endParaRPr lang="de-DE" dirty="0"/>
          </a:p>
        </p:txBody>
      </p:sp>
      <p:cxnSp>
        <p:nvCxnSpPr>
          <p:cNvPr id="27" name="Gerade Verbindung 26">
            <a:extLst>
              <a:ext uri="{FF2B5EF4-FFF2-40B4-BE49-F238E27FC236}">
                <a16:creationId xmlns:a16="http://schemas.microsoft.com/office/drawing/2014/main" id="{3BCE0243-EDBC-B240-9013-DC31D02E8996}"/>
              </a:ext>
            </a:extLst>
          </p:cNvPr>
          <p:cNvCxnSpPr/>
          <p:nvPr userDrawn="1"/>
        </p:nvCxnSpPr>
        <p:spPr>
          <a:xfrm>
            <a:off x="395288" y="4969853"/>
            <a:ext cx="8353425" cy="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5" name="Subtitle 2">
            <a:extLst>
              <a:ext uri="{FF2B5EF4-FFF2-40B4-BE49-F238E27FC236}">
                <a16:creationId xmlns:a16="http://schemas.microsoft.com/office/drawing/2014/main" id="{F91A1CC9-5EDF-284C-B33F-1127EF0CCD81}"/>
              </a:ext>
            </a:extLst>
          </p:cNvPr>
          <p:cNvSpPr>
            <a:spLocks noGrp="1"/>
          </p:cNvSpPr>
          <p:nvPr>
            <p:ph type="subTitle" idx="1" hasCustomPrompt="1"/>
          </p:nvPr>
        </p:nvSpPr>
        <p:spPr>
          <a:xfrm>
            <a:off x="4768103" y="2926916"/>
            <a:ext cx="3980609" cy="667244"/>
          </a:xfrm>
        </p:spPr>
        <p:txBody>
          <a:bodyPr lIns="0" tIns="0" rIns="0" bIns="0">
            <a:noAutofit/>
          </a:bodyPr>
          <a:lstStyle>
            <a:lvl1pPr marL="0" indent="0" algn="l">
              <a:spcBef>
                <a:spcPts val="0"/>
              </a:spcBef>
              <a:buNone/>
              <a:defRPr sz="1600" baseline="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de-DE" dirty="0"/>
              <a:t>Untertitel einfügen</a:t>
            </a:r>
            <a:endParaRPr lang="en-US" dirty="0"/>
          </a:p>
        </p:txBody>
      </p:sp>
    </p:spTree>
    <p:extLst>
      <p:ext uri="{BB962C8B-B14F-4D97-AF65-F5344CB8AC3E}">
        <p14:creationId xmlns:p14="http://schemas.microsoft.com/office/powerpoint/2010/main" val="3588655846"/>
      </p:ext>
    </p:extLst>
  </p:cSld>
  <p:clrMapOvr>
    <a:masterClrMapping/>
  </p:clrMapOvr>
  <p:extLst>
    <p:ext uri="{DCECCB84-F9BA-43D5-87BE-67443E8EF086}">
      <p15:sldGuideLst xmlns:p15="http://schemas.microsoft.com/office/powerpoint/2012/main">
        <p15:guide id="2" pos="5511" userDrawn="1">
          <p15:clr>
            <a:srgbClr val="FBAE40"/>
          </p15:clr>
        </p15:guide>
        <p15:guide id="3" pos="249" userDrawn="1">
          <p15:clr>
            <a:srgbClr val="FBAE40"/>
          </p15:clr>
        </p15:guide>
        <p15:guide id="4" pos="4853" userDrawn="1">
          <p15:clr>
            <a:srgbClr val="FBAE40"/>
          </p15:clr>
        </p15:guide>
        <p15:guide id="5" pos="1587" userDrawn="1">
          <p15:clr>
            <a:srgbClr val="FBAE40"/>
          </p15:clr>
        </p15:guide>
        <p15:guide id="6" orient="horz" pos="3026" userDrawn="1">
          <p15:clr>
            <a:srgbClr val="FBAE40"/>
          </p15:clr>
        </p15:guide>
        <p15:guide id="7" pos="2880" userDrawn="1">
          <p15:clr>
            <a:srgbClr val="FBAE40"/>
          </p15:clr>
        </p15:guide>
        <p15:guide id="8" orient="horz" pos="713"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elfolie_4">
    <p:spTree>
      <p:nvGrpSpPr>
        <p:cNvPr id="1" name=""/>
        <p:cNvGrpSpPr/>
        <p:nvPr/>
      </p:nvGrpSpPr>
      <p:grpSpPr>
        <a:xfrm>
          <a:off x="0" y="0"/>
          <a:ext cx="0" cy="0"/>
          <a:chOff x="0" y="0"/>
          <a:chExt cx="0" cy="0"/>
        </a:xfrm>
      </p:grpSpPr>
      <p:sp>
        <p:nvSpPr>
          <p:cNvPr id="7" name="Rechteck 6">
            <a:extLst>
              <a:ext uri="{FF2B5EF4-FFF2-40B4-BE49-F238E27FC236}">
                <a16:creationId xmlns:a16="http://schemas.microsoft.com/office/drawing/2014/main" id="{B709B1D2-310E-C447-AB1F-2183983B1658}"/>
              </a:ext>
            </a:extLst>
          </p:cNvPr>
          <p:cNvSpPr/>
          <p:nvPr userDrawn="1"/>
        </p:nvSpPr>
        <p:spPr>
          <a:xfrm>
            <a:off x="0" y="1131887"/>
            <a:ext cx="9144000" cy="3671887"/>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4" name="Rechteck 3">
            <a:extLst>
              <a:ext uri="{FF2B5EF4-FFF2-40B4-BE49-F238E27FC236}">
                <a16:creationId xmlns:a16="http://schemas.microsoft.com/office/drawing/2014/main" id="{E1FAC41D-D255-E347-92B3-6C2D73FB2BCE}"/>
              </a:ext>
            </a:extLst>
          </p:cNvPr>
          <p:cNvSpPr/>
          <p:nvPr userDrawn="1"/>
        </p:nvSpPr>
        <p:spPr>
          <a:xfrm>
            <a:off x="-1" y="1131887"/>
            <a:ext cx="2373550" cy="3671887"/>
          </a:xfrm>
          <a:prstGeom prst="rect">
            <a:avLst/>
          </a:prstGeom>
          <a:solidFill>
            <a:srgbClr val="A3263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 name="Subtitle 2"/>
          <p:cNvSpPr>
            <a:spLocks noGrp="1"/>
          </p:cNvSpPr>
          <p:nvPr>
            <p:ph type="subTitle" idx="1" hasCustomPrompt="1"/>
          </p:nvPr>
        </p:nvSpPr>
        <p:spPr>
          <a:xfrm>
            <a:off x="4580626" y="2938892"/>
            <a:ext cx="3626969" cy="848104"/>
          </a:xfrm>
        </p:spPr>
        <p:txBody>
          <a:bodyPr lIns="0" tIns="0" rIns="0" bIns="0">
            <a:noAutofit/>
          </a:bodyPr>
          <a:lstStyle>
            <a:lvl1pPr marL="0" indent="0" algn="l">
              <a:spcBef>
                <a:spcPts val="0"/>
              </a:spcBef>
              <a:buNone/>
              <a:defRPr sz="1600" baseline="0">
                <a:solidFill>
                  <a:schemeClr val="bg1">
                    <a:lumMod val="75000"/>
                  </a:schemeClr>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de-DE" dirty="0"/>
              <a:t>Untertitelformat einfügen</a:t>
            </a:r>
            <a:endParaRPr lang="en-US" dirty="0"/>
          </a:p>
        </p:txBody>
      </p:sp>
      <p:pic>
        <p:nvPicPr>
          <p:cNvPr id="8" name="Grafik 7">
            <a:extLst>
              <a:ext uri="{FF2B5EF4-FFF2-40B4-BE49-F238E27FC236}">
                <a16:creationId xmlns:a16="http://schemas.microsoft.com/office/drawing/2014/main" id="{D0F82C32-F0EA-1A4D-9578-8AE79F2CD217}"/>
              </a:ext>
            </a:extLst>
          </p:cNvPr>
          <p:cNvPicPr>
            <a:picLocks noChangeAspect="1"/>
          </p:cNvPicPr>
          <p:nvPr userDrawn="1"/>
        </p:nvPicPr>
        <p:blipFill>
          <a:blip r:embed="rId2" cstate="hqprint">
            <a:extLst>
              <a:ext uri="{28A0092B-C50C-407E-A947-70E740481C1C}">
                <a14:useLocalDpi xmlns:a14="http://schemas.microsoft.com/office/drawing/2010/main"/>
              </a:ext>
            </a:extLst>
          </a:blip>
          <a:stretch>
            <a:fillRect/>
          </a:stretch>
        </p:blipFill>
        <p:spPr>
          <a:xfrm>
            <a:off x="7015808" y="315210"/>
            <a:ext cx="1732905" cy="491873"/>
          </a:xfrm>
          <a:prstGeom prst="rect">
            <a:avLst/>
          </a:prstGeom>
        </p:spPr>
      </p:pic>
      <p:sp>
        <p:nvSpPr>
          <p:cNvPr id="2" name="Title 1"/>
          <p:cNvSpPr>
            <a:spLocks noGrp="1"/>
          </p:cNvSpPr>
          <p:nvPr>
            <p:ph type="ctrTitle" hasCustomPrompt="1"/>
          </p:nvPr>
        </p:nvSpPr>
        <p:spPr>
          <a:xfrm>
            <a:off x="2523616" y="1312391"/>
            <a:ext cx="6225097" cy="1517073"/>
          </a:xfrm>
        </p:spPr>
        <p:txBody>
          <a:bodyPr anchor="t" anchorCtr="0"/>
          <a:lstStyle>
            <a:lvl1pPr algn="l">
              <a:defRPr sz="3000" baseline="0">
                <a:solidFill>
                  <a:schemeClr val="bg1"/>
                </a:solidFill>
              </a:defRPr>
            </a:lvl1pPr>
          </a:lstStyle>
          <a:p>
            <a:r>
              <a:rPr lang="de-DE" dirty="0"/>
              <a:t>Haupttitel einfügen</a:t>
            </a:r>
            <a:endParaRPr lang="en-US" dirty="0"/>
          </a:p>
        </p:txBody>
      </p:sp>
      <p:sp>
        <p:nvSpPr>
          <p:cNvPr id="37" name="Bildplatzhalter 3">
            <a:extLst>
              <a:ext uri="{FF2B5EF4-FFF2-40B4-BE49-F238E27FC236}">
                <a16:creationId xmlns:a16="http://schemas.microsoft.com/office/drawing/2014/main" id="{124D8558-D4B3-B54C-BC4F-D5348588F6D1}"/>
              </a:ext>
            </a:extLst>
          </p:cNvPr>
          <p:cNvSpPr>
            <a:spLocks noGrp="1"/>
          </p:cNvSpPr>
          <p:nvPr>
            <p:ph type="pic" sz="quarter" idx="28"/>
          </p:nvPr>
        </p:nvSpPr>
        <p:spPr>
          <a:xfrm>
            <a:off x="403309" y="1139142"/>
            <a:ext cx="1973125" cy="1772908"/>
          </a:xfrm>
        </p:spPr>
        <p:txBody>
          <a:bodyPr/>
          <a:lstStyle/>
          <a:p>
            <a:endParaRPr lang="de-DE"/>
          </a:p>
        </p:txBody>
      </p:sp>
      <p:sp>
        <p:nvSpPr>
          <p:cNvPr id="19" name="Vertikaler Textplatzhalter 13">
            <a:extLst>
              <a:ext uri="{FF2B5EF4-FFF2-40B4-BE49-F238E27FC236}">
                <a16:creationId xmlns:a16="http://schemas.microsoft.com/office/drawing/2014/main" id="{B447566C-FA35-5B46-BB98-1ECEC04FFFB5}"/>
              </a:ext>
            </a:extLst>
          </p:cNvPr>
          <p:cNvSpPr>
            <a:spLocks noGrp="1"/>
          </p:cNvSpPr>
          <p:nvPr>
            <p:ph type="body" orient="vert" sz="quarter" idx="15"/>
          </p:nvPr>
        </p:nvSpPr>
        <p:spPr>
          <a:xfrm rot="10800000">
            <a:off x="8754500" y="2176041"/>
            <a:ext cx="129070" cy="2598799"/>
          </a:xfrm>
        </p:spPr>
        <p:txBody>
          <a:bodyPr vert="eaVert">
            <a:normAutofit/>
          </a:bodyPr>
          <a:lstStyle>
            <a:lvl1pPr marL="0" indent="0">
              <a:buFontTx/>
              <a:buNone/>
              <a:defRPr sz="700" baseline="0">
                <a:solidFill>
                  <a:schemeClr val="bg1">
                    <a:lumMod val="65000"/>
                  </a:schemeClr>
                </a:solidFill>
              </a:defRPr>
            </a:lvl1pPr>
          </a:lstStyle>
          <a:p>
            <a:pPr lvl="0"/>
            <a:r>
              <a:rPr lang="de-DE" dirty="0"/>
              <a:t>Mastertextformat bearbeiten</a:t>
            </a:r>
          </a:p>
        </p:txBody>
      </p:sp>
      <p:sp>
        <p:nvSpPr>
          <p:cNvPr id="15" name="Rechteck 14">
            <a:extLst>
              <a:ext uri="{FF2B5EF4-FFF2-40B4-BE49-F238E27FC236}">
                <a16:creationId xmlns:a16="http://schemas.microsoft.com/office/drawing/2014/main" id="{B1750C59-0348-C742-A735-A082924529B9}"/>
              </a:ext>
            </a:extLst>
          </p:cNvPr>
          <p:cNvSpPr/>
          <p:nvPr userDrawn="1"/>
        </p:nvSpPr>
        <p:spPr>
          <a:xfrm>
            <a:off x="8518524" y="4971106"/>
            <a:ext cx="230187" cy="120513"/>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6" name="Date Placeholder 3">
            <a:extLst>
              <a:ext uri="{FF2B5EF4-FFF2-40B4-BE49-F238E27FC236}">
                <a16:creationId xmlns:a16="http://schemas.microsoft.com/office/drawing/2014/main" id="{81EEA14A-64DD-E84F-AFFC-490A119A7FFE}"/>
              </a:ext>
            </a:extLst>
          </p:cNvPr>
          <p:cNvSpPr>
            <a:spLocks noGrp="1"/>
          </p:cNvSpPr>
          <p:nvPr>
            <p:ph type="dt" sz="half" idx="10"/>
          </p:nvPr>
        </p:nvSpPr>
        <p:spPr>
          <a:xfrm>
            <a:off x="7701332" y="4978682"/>
            <a:ext cx="826083" cy="122236"/>
          </a:xfrm>
          <a:prstGeom prst="rect">
            <a:avLst/>
          </a:prstGeom>
        </p:spPr>
        <p:txBody>
          <a:bodyPr/>
          <a:lstStyle>
            <a:lvl1pPr>
              <a:defRPr sz="700" baseline="0"/>
            </a:lvl1pPr>
          </a:lstStyle>
          <a:p>
            <a:r>
              <a:rPr lang="en-US"/>
              <a:t>18.08.2025</a:t>
            </a:r>
            <a:endParaRPr lang="de-DE" dirty="0"/>
          </a:p>
        </p:txBody>
      </p:sp>
      <p:sp>
        <p:nvSpPr>
          <p:cNvPr id="17" name="Footer Placeholder 4">
            <a:extLst>
              <a:ext uri="{FF2B5EF4-FFF2-40B4-BE49-F238E27FC236}">
                <a16:creationId xmlns:a16="http://schemas.microsoft.com/office/drawing/2014/main" id="{EB7C1BF2-0B01-4D49-BBB7-2682E1A6989C}"/>
              </a:ext>
            </a:extLst>
          </p:cNvPr>
          <p:cNvSpPr>
            <a:spLocks noGrp="1"/>
          </p:cNvSpPr>
          <p:nvPr>
            <p:ph type="ftr" sz="quarter" idx="11"/>
          </p:nvPr>
        </p:nvSpPr>
        <p:spPr>
          <a:xfrm>
            <a:off x="395288" y="4978682"/>
            <a:ext cx="7246916" cy="120158"/>
          </a:xfrm>
          <a:prstGeom prst="rect">
            <a:avLst/>
          </a:prstGeom>
        </p:spPr>
        <p:txBody>
          <a:bodyPr/>
          <a:lstStyle>
            <a:lvl1pPr>
              <a:defRPr sz="700" baseline="0"/>
            </a:lvl1pPr>
          </a:lstStyle>
          <a:p>
            <a:r>
              <a:rPr lang="en-US"/>
              <a:t>Enhancing model transparency: Effects of DK Integration for Conversational XAI | Feustel</a:t>
            </a:r>
            <a:endParaRPr lang="de-DE" dirty="0"/>
          </a:p>
        </p:txBody>
      </p:sp>
      <p:sp>
        <p:nvSpPr>
          <p:cNvPr id="24" name="Slide Number Placeholder 5">
            <a:extLst>
              <a:ext uri="{FF2B5EF4-FFF2-40B4-BE49-F238E27FC236}">
                <a16:creationId xmlns:a16="http://schemas.microsoft.com/office/drawing/2014/main" id="{340BDE51-5F37-824C-9B54-8D60CD47459A}"/>
              </a:ext>
            </a:extLst>
          </p:cNvPr>
          <p:cNvSpPr>
            <a:spLocks noGrp="1"/>
          </p:cNvSpPr>
          <p:nvPr>
            <p:ph type="sldNum" sz="quarter" idx="12"/>
          </p:nvPr>
        </p:nvSpPr>
        <p:spPr>
          <a:xfrm>
            <a:off x="8495030" y="4978682"/>
            <a:ext cx="212654" cy="136107"/>
          </a:xfrm>
          <a:prstGeom prst="rect">
            <a:avLst/>
          </a:prstGeom>
        </p:spPr>
        <p:txBody>
          <a:bodyPr/>
          <a:lstStyle>
            <a:lvl1pPr algn="r">
              <a:defRPr sz="700" baseline="0">
                <a:solidFill>
                  <a:schemeClr val="bg1"/>
                </a:solidFill>
              </a:defRPr>
            </a:lvl1pPr>
          </a:lstStyle>
          <a:p>
            <a:r>
              <a:rPr lang="de-DE" dirty="0"/>
              <a:t> </a:t>
            </a:r>
            <a:fld id="{FE120BDC-5456-EC41-8BB6-7A3B726EA19B}" type="slidenum">
              <a:rPr lang="de-DE" smtClean="0"/>
              <a:pPr/>
              <a:t>‹Nr.›</a:t>
            </a:fld>
            <a:endParaRPr lang="de-DE" dirty="0"/>
          </a:p>
        </p:txBody>
      </p:sp>
      <p:cxnSp>
        <p:nvCxnSpPr>
          <p:cNvPr id="25" name="Gerade Verbindung 24">
            <a:extLst>
              <a:ext uri="{FF2B5EF4-FFF2-40B4-BE49-F238E27FC236}">
                <a16:creationId xmlns:a16="http://schemas.microsoft.com/office/drawing/2014/main" id="{2F47FCB4-AA2A-7044-83E7-0898C32374BA}"/>
              </a:ext>
            </a:extLst>
          </p:cNvPr>
          <p:cNvCxnSpPr/>
          <p:nvPr userDrawn="1"/>
        </p:nvCxnSpPr>
        <p:spPr>
          <a:xfrm>
            <a:off x="395288" y="4969853"/>
            <a:ext cx="8353425" cy="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8" name="Bildplatzhalter 3">
            <a:extLst>
              <a:ext uri="{FF2B5EF4-FFF2-40B4-BE49-F238E27FC236}">
                <a16:creationId xmlns:a16="http://schemas.microsoft.com/office/drawing/2014/main" id="{F650C33A-2D00-8147-869A-35BABC39CB41}"/>
              </a:ext>
            </a:extLst>
          </p:cNvPr>
          <p:cNvSpPr>
            <a:spLocks noGrp="1"/>
          </p:cNvSpPr>
          <p:nvPr>
            <p:ph type="pic" sz="quarter" idx="29"/>
          </p:nvPr>
        </p:nvSpPr>
        <p:spPr>
          <a:xfrm>
            <a:off x="403309" y="3030867"/>
            <a:ext cx="1973125" cy="1772908"/>
          </a:xfrm>
        </p:spPr>
        <p:txBody>
          <a:bodyPr/>
          <a:lstStyle/>
          <a:p>
            <a:endParaRPr lang="de-DE"/>
          </a:p>
        </p:txBody>
      </p:sp>
    </p:spTree>
    <p:extLst>
      <p:ext uri="{BB962C8B-B14F-4D97-AF65-F5344CB8AC3E}">
        <p14:creationId xmlns:p14="http://schemas.microsoft.com/office/powerpoint/2010/main" val="1726703174"/>
      </p:ext>
    </p:extLst>
  </p:cSld>
  <p:clrMapOvr>
    <a:masterClrMapping/>
  </p:clrMapOvr>
  <p:extLst>
    <p:ext uri="{DCECCB84-F9BA-43D5-87BE-67443E8EF086}">
      <p15:sldGuideLst xmlns:p15="http://schemas.microsoft.com/office/powerpoint/2012/main">
        <p15:guide id="2" pos="5511" userDrawn="1">
          <p15:clr>
            <a:srgbClr val="FBAE40"/>
          </p15:clr>
        </p15:guide>
        <p15:guide id="3" pos="249" userDrawn="1">
          <p15:clr>
            <a:srgbClr val="FBAE40"/>
          </p15:clr>
        </p15:guide>
        <p15:guide id="4" orient="horz" pos="713" userDrawn="1">
          <p15:clr>
            <a:srgbClr val="FBAE40"/>
          </p15:clr>
        </p15:guide>
        <p15:guide id="5" pos="1587" userDrawn="1">
          <p15:clr>
            <a:srgbClr val="FBAE40"/>
          </p15:clr>
        </p15:guide>
        <p15:guide id="6" orient="horz" pos="3026" userDrawn="1">
          <p15:clr>
            <a:srgbClr val="FBAE40"/>
          </p15:clr>
        </p15:guide>
        <p15:guide id="7" pos="2880"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Inhalt_1">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403380" y="303213"/>
            <a:ext cx="7432604" cy="611187"/>
          </a:xfrm>
        </p:spPr>
        <p:txBody>
          <a:bodyPr anchor="t" anchorCtr="0"/>
          <a:lstStyle>
            <a:lvl1pPr algn="l">
              <a:defRPr sz="2100" baseline="0">
                <a:solidFill>
                  <a:schemeClr val="tx1"/>
                </a:solidFill>
              </a:defRPr>
            </a:lvl1pPr>
          </a:lstStyle>
          <a:p>
            <a:r>
              <a:rPr lang="de-DE" dirty="0"/>
              <a:t>Haupttitel einfügen</a:t>
            </a:r>
            <a:br>
              <a:rPr lang="de-DE" dirty="0"/>
            </a:br>
            <a:r>
              <a:rPr lang="de-DE" dirty="0"/>
              <a:t>Beispiel zweizeilig</a:t>
            </a:r>
            <a:endParaRPr lang="en-US" dirty="0"/>
          </a:p>
        </p:txBody>
      </p:sp>
      <p:sp>
        <p:nvSpPr>
          <p:cNvPr id="28" name="Inhaltsplatzhalter 27">
            <a:extLst>
              <a:ext uri="{FF2B5EF4-FFF2-40B4-BE49-F238E27FC236}">
                <a16:creationId xmlns:a16="http://schemas.microsoft.com/office/drawing/2014/main" id="{124E8B85-BA5E-874D-8C1C-2EAE36589FBB}"/>
              </a:ext>
            </a:extLst>
          </p:cNvPr>
          <p:cNvSpPr>
            <a:spLocks noGrp="1"/>
          </p:cNvSpPr>
          <p:nvPr>
            <p:ph sz="quarter" idx="13"/>
          </p:nvPr>
        </p:nvSpPr>
        <p:spPr>
          <a:xfrm>
            <a:off x="395288" y="1131888"/>
            <a:ext cx="8353425" cy="3676282"/>
          </a:xfrm>
        </p:spPr>
        <p:txBody>
          <a:bodyPr>
            <a:normAutofit/>
          </a:bodyPr>
          <a:lstStyle>
            <a:lvl1pPr marL="171450" indent="-171450">
              <a:buClr>
                <a:srgbClr val="A32638"/>
              </a:buClr>
              <a:buFont typeface="Wingdings" pitchFamily="2" charset="2"/>
              <a:buChar char="§"/>
              <a:defRPr sz="1800" baseline="0"/>
            </a:lvl1pPr>
            <a:lvl2pPr>
              <a:buClr>
                <a:srgbClr val="A32638"/>
              </a:buClr>
              <a:defRPr sz="1800" baseline="0"/>
            </a:lvl2pPr>
            <a:lvl3pPr>
              <a:buClr>
                <a:srgbClr val="A32638"/>
              </a:buClr>
              <a:defRPr sz="1600" baseline="0"/>
            </a:lvl3pPr>
            <a:lvl4pPr>
              <a:buClr>
                <a:srgbClr val="A32638"/>
              </a:buClr>
              <a:defRPr sz="1600"/>
            </a:lvl4pPr>
            <a:lvl5pPr>
              <a:buClr>
                <a:srgbClr val="A32638"/>
              </a:buClr>
              <a:defRPr sz="1600"/>
            </a:lvl5p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9" name="Rechteck 8">
            <a:extLst>
              <a:ext uri="{FF2B5EF4-FFF2-40B4-BE49-F238E27FC236}">
                <a16:creationId xmlns:a16="http://schemas.microsoft.com/office/drawing/2014/main" id="{C07FC60A-001B-A84D-8439-0377246C9107}"/>
              </a:ext>
            </a:extLst>
          </p:cNvPr>
          <p:cNvSpPr/>
          <p:nvPr userDrawn="1"/>
        </p:nvSpPr>
        <p:spPr>
          <a:xfrm>
            <a:off x="8518524" y="4971106"/>
            <a:ext cx="230187" cy="120513"/>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0" name="Date Placeholder 3">
            <a:extLst>
              <a:ext uri="{FF2B5EF4-FFF2-40B4-BE49-F238E27FC236}">
                <a16:creationId xmlns:a16="http://schemas.microsoft.com/office/drawing/2014/main" id="{81B77694-1C0E-484A-A9D3-D38FE59C8DE8}"/>
              </a:ext>
            </a:extLst>
          </p:cNvPr>
          <p:cNvSpPr>
            <a:spLocks noGrp="1"/>
          </p:cNvSpPr>
          <p:nvPr>
            <p:ph type="dt" sz="half" idx="10"/>
          </p:nvPr>
        </p:nvSpPr>
        <p:spPr>
          <a:xfrm>
            <a:off x="7701332" y="4978681"/>
            <a:ext cx="985466" cy="148021"/>
          </a:xfrm>
          <a:prstGeom prst="rect">
            <a:avLst/>
          </a:prstGeom>
        </p:spPr>
        <p:txBody>
          <a:bodyPr/>
          <a:lstStyle>
            <a:lvl1pPr>
              <a:defRPr sz="900" baseline="0"/>
            </a:lvl1pPr>
          </a:lstStyle>
          <a:p>
            <a:r>
              <a:rPr lang="en-US"/>
              <a:t>18.08.2025</a:t>
            </a:r>
            <a:endParaRPr lang="de-DE" dirty="0"/>
          </a:p>
        </p:txBody>
      </p:sp>
      <p:sp>
        <p:nvSpPr>
          <p:cNvPr id="11" name="Footer Placeholder 4">
            <a:extLst>
              <a:ext uri="{FF2B5EF4-FFF2-40B4-BE49-F238E27FC236}">
                <a16:creationId xmlns:a16="http://schemas.microsoft.com/office/drawing/2014/main" id="{CECEC9C2-949D-4841-B0EF-C514A8AD4A1B}"/>
              </a:ext>
            </a:extLst>
          </p:cNvPr>
          <p:cNvSpPr>
            <a:spLocks noGrp="1"/>
          </p:cNvSpPr>
          <p:nvPr>
            <p:ph type="ftr" sz="quarter" idx="11"/>
          </p:nvPr>
        </p:nvSpPr>
        <p:spPr>
          <a:xfrm>
            <a:off x="395288" y="4978682"/>
            <a:ext cx="7246916" cy="120158"/>
          </a:xfrm>
          <a:prstGeom prst="rect">
            <a:avLst/>
          </a:prstGeom>
        </p:spPr>
        <p:txBody>
          <a:bodyPr/>
          <a:lstStyle>
            <a:lvl1pPr>
              <a:defRPr sz="900" baseline="0"/>
            </a:lvl1pPr>
          </a:lstStyle>
          <a:p>
            <a:r>
              <a:rPr lang="en-US"/>
              <a:t>Enhancing model transparency: Effects of DK Integration for Conversational XAI | Feustel</a:t>
            </a:r>
            <a:endParaRPr lang="de-DE" dirty="0"/>
          </a:p>
        </p:txBody>
      </p:sp>
      <p:sp>
        <p:nvSpPr>
          <p:cNvPr id="12" name="Slide Number Placeholder 5">
            <a:extLst>
              <a:ext uri="{FF2B5EF4-FFF2-40B4-BE49-F238E27FC236}">
                <a16:creationId xmlns:a16="http://schemas.microsoft.com/office/drawing/2014/main" id="{3DAADBA6-0A7A-5C4E-BCE5-45204D495C59}"/>
              </a:ext>
            </a:extLst>
          </p:cNvPr>
          <p:cNvSpPr>
            <a:spLocks noGrp="1"/>
          </p:cNvSpPr>
          <p:nvPr>
            <p:ph type="sldNum" sz="quarter" idx="12"/>
          </p:nvPr>
        </p:nvSpPr>
        <p:spPr>
          <a:xfrm>
            <a:off x="8495029" y="4978682"/>
            <a:ext cx="253683" cy="164818"/>
          </a:xfrm>
          <a:prstGeom prst="rect">
            <a:avLst/>
          </a:prstGeom>
        </p:spPr>
        <p:txBody>
          <a:bodyPr/>
          <a:lstStyle>
            <a:lvl1pPr algn="r">
              <a:defRPr sz="900" baseline="0">
                <a:solidFill>
                  <a:schemeClr val="bg1"/>
                </a:solidFill>
              </a:defRPr>
            </a:lvl1pPr>
          </a:lstStyle>
          <a:p>
            <a:fld id="{FE120BDC-5456-EC41-8BB6-7A3B726EA19B}" type="slidenum">
              <a:rPr lang="de-DE" smtClean="0"/>
              <a:pPr/>
              <a:t>‹Nr.›</a:t>
            </a:fld>
            <a:endParaRPr lang="de-DE" dirty="0"/>
          </a:p>
        </p:txBody>
      </p:sp>
      <p:cxnSp>
        <p:nvCxnSpPr>
          <p:cNvPr id="13" name="Gerade Verbindung 12">
            <a:extLst>
              <a:ext uri="{FF2B5EF4-FFF2-40B4-BE49-F238E27FC236}">
                <a16:creationId xmlns:a16="http://schemas.microsoft.com/office/drawing/2014/main" id="{DCABEC5A-9225-BE46-991E-94971767F2BB}"/>
              </a:ext>
            </a:extLst>
          </p:cNvPr>
          <p:cNvCxnSpPr>
            <a:cxnSpLocks/>
          </p:cNvCxnSpPr>
          <p:nvPr userDrawn="1"/>
        </p:nvCxnSpPr>
        <p:spPr>
          <a:xfrm>
            <a:off x="395288" y="4969853"/>
            <a:ext cx="9965117" cy="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6593925"/>
      </p:ext>
    </p:extLst>
  </p:cSld>
  <p:clrMapOvr>
    <a:masterClrMapping/>
  </p:clrMapOvr>
  <p:extLst>
    <p:ext uri="{DCECCB84-F9BA-43D5-87BE-67443E8EF086}">
      <p15:sldGuideLst xmlns:p15="http://schemas.microsoft.com/office/powerpoint/2012/main">
        <p15:guide id="2" pos="5511" userDrawn="1">
          <p15:clr>
            <a:srgbClr val="FBAE40"/>
          </p15:clr>
        </p15:guide>
        <p15:guide id="3" pos="249" userDrawn="1">
          <p15:clr>
            <a:srgbClr val="FBAE40"/>
          </p15:clr>
        </p15:guide>
        <p15:guide id="4" orient="horz" pos="191" userDrawn="1">
          <p15:clr>
            <a:srgbClr val="FBAE40"/>
          </p15:clr>
        </p15:guide>
        <p15:guide id="5" orient="horz" pos="713" userDrawn="1">
          <p15:clr>
            <a:srgbClr val="FBAE40"/>
          </p15:clr>
        </p15:guide>
        <p15:guide id="6" pos="2041"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Inhalt_2_2-spalti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403380" y="303213"/>
            <a:ext cx="7432604" cy="611187"/>
          </a:xfrm>
        </p:spPr>
        <p:txBody>
          <a:bodyPr anchor="t" anchorCtr="0"/>
          <a:lstStyle>
            <a:lvl1pPr algn="l">
              <a:defRPr sz="2100" baseline="0">
                <a:solidFill>
                  <a:schemeClr val="tx1"/>
                </a:solidFill>
              </a:defRPr>
            </a:lvl1pPr>
          </a:lstStyle>
          <a:p>
            <a:r>
              <a:rPr lang="de-DE" dirty="0"/>
              <a:t>Haupttitel einfügen</a:t>
            </a:r>
            <a:br>
              <a:rPr lang="de-DE" dirty="0"/>
            </a:br>
            <a:r>
              <a:rPr lang="de-DE" dirty="0"/>
              <a:t>Beispiel zweizeilig</a:t>
            </a:r>
            <a:endParaRPr lang="en-US" dirty="0"/>
          </a:p>
        </p:txBody>
      </p:sp>
      <p:sp>
        <p:nvSpPr>
          <p:cNvPr id="17" name="Inhaltsplatzhalter 8">
            <a:extLst>
              <a:ext uri="{FF2B5EF4-FFF2-40B4-BE49-F238E27FC236}">
                <a16:creationId xmlns:a16="http://schemas.microsoft.com/office/drawing/2014/main" id="{9EA76A36-359F-3049-A4AF-05D8F649132B}"/>
              </a:ext>
            </a:extLst>
          </p:cNvPr>
          <p:cNvSpPr>
            <a:spLocks noGrp="1"/>
          </p:cNvSpPr>
          <p:nvPr>
            <p:ph sz="quarter" idx="15"/>
          </p:nvPr>
        </p:nvSpPr>
        <p:spPr>
          <a:xfrm>
            <a:off x="395289" y="1131887"/>
            <a:ext cx="4104044" cy="3671887"/>
          </a:xfrm>
        </p:spPr>
        <p:txBody>
          <a:bodyPr>
            <a:noAutofit/>
          </a:bodyPr>
          <a:lstStyle>
            <a:lvl1pPr>
              <a:defRPr sz="1800" baseline="0"/>
            </a:lvl1pPr>
            <a:lvl2pPr>
              <a:defRPr sz="1800" baseline="0"/>
            </a:lvl2pPr>
            <a:lvl3pPr>
              <a:defRPr sz="1600" baseline="0"/>
            </a:lvl3pPr>
            <a:lvl4pPr>
              <a:defRPr sz="1600" baseline="0"/>
            </a:lvl4pPr>
            <a:lvl5pPr>
              <a:defRPr sz="1600" baseline="0"/>
            </a:lvl5p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11" name="Bildplatzhalter 10">
            <a:extLst>
              <a:ext uri="{FF2B5EF4-FFF2-40B4-BE49-F238E27FC236}">
                <a16:creationId xmlns:a16="http://schemas.microsoft.com/office/drawing/2014/main" id="{5882F3C8-F6FC-1F43-8FF2-DEBCA37BD904}"/>
              </a:ext>
            </a:extLst>
          </p:cNvPr>
          <p:cNvSpPr>
            <a:spLocks noGrp="1"/>
          </p:cNvSpPr>
          <p:nvPr>
            <p:ph type="pic" sz="quarter" idx="17"/>
          </p:nvPr>
        </p:nvSpPr>
        <p:spPr>
          <a:xfrm>
            <a:off x="4645025" y="1131887"/>
            <a:ext cx="4103688" cy="3671887"/>
          </a:xfrm>
        </p:spPr>
        <p:txBody>
          <a:bodyPr/>
          <a:lstStyle/>
          <a:p>
            <a:endParaRPr lang="de-DE"/>
          </a:p>
        </p:txBody>
      </p:sp>
      <p:sp>
        <p:nvSpPr>
          <p:cNvPr id="13" name="Vertikaler Textplatzhalter 13">
            <a:extLst>
              <a:ext uri="{FF2B5EF4-FFF2-40B4-BE49-F238E27FC236}">
                <a16:creationId xmlns:a16="http://schemas.microsoft.com/office/drawing/2014/main" id="{017A6AA3-6E5D-3444-AF30-96548295A561}"/>
              </a:ext>
            </a:extLst>
          </p:cNvPr>
          <p:cNvSpPr>
            <a:spLocks noGrp="1"/>
          </p:cNvSpPr>
          <p:nvPr>
            <p:ph type="body" orient="vert" sz="quarter" idx="18"/>
          </p:nvPr>
        </p:nvSpPr>
        <p:spPr>
          <a:xfrm rot="10800000">
            <a:off x="8754500" y="2818435"/>
            <a:ext cx="146432" cy="1985340"/>
          </a:xfrm>
        </p:spPr>
        <p:txBody>
          <a:bodyPr vert="eaVert">
            <a:normAutofit/>
          </a:bodyPr>
          <a:lstStyle>
            <a:lvl1pPr marL="0" indent="0">
              <a:buFontTx/>
              <a:buNone/>
              <a:defRPr sz="700" baseline="0">
                <a:solidFill>
                  <a:schemeClr val="bg1">
                    <a:lumMod val="75000"/>
                  </a:schemeClr>
                </a:solidFill>
              </a:defRPr>
            </a:lvl1pPr>
          </a:lstStyle>
          <a:p>
            <a:pPr lvl="0"/>
            <a:r>
              <a:rPr lang="de-DE" dirty="0"/>
              <a:t>Mastertextformat bearbeiten</a:t>
            </a:r>
          </a:p>
        </p:txBody>
      </p:sp>
      <p:sp>
        <p:nvSpPr>
          <p:cNvPr id="18" name="Rechteck 17">
            <a:extLst>
              <a:ext uri="{FF2B5EF4-FFF2-40B4-BE49-F238E27FC236}">
                <a16:creationId xmlns:a16="http://schemas.microsoft.com/office/drawing/2014/main" id="{7EAA9515-108C-8A48-A086-969B3538B82B}"/>
              </a:ext>
            </a:extLst>
          </p:cNvPr>
          <p:cNvSpPr/>
          <p:nvPr userDrawn="1"/>
        </p:nvSpPr>
        <p:spPr>
          <a:xfrm>
            <a:off x="8518524" y="4971106"/>
            <a:ext cx="230187" cy="120513"/>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9" name="Date Placeholder 3">
            <a:extLst>
              <a:ext uri="{FF2B5EF4-FFF2-40B4-BE49-F238E27FC236}">
                <a16:creationId xmlns:a16="http://schemas.microsoft.com/office/drawing/2014/main" id="{939EAFFF-06C1-E944-928E-02AA85D49228}"/>
              </a:ext>
            </a:extLst>
          </p:cNvPr>
          <p:cNvSpPr>
            <a:spLocks noGrp="1"/>
          </p:cNvSpPr>
          <p:nvPr>
            <p:ph type="dt" sz="half" idx="10"/>
          </p:nvPr>
        </p:nvSpPr>
        <p:spPr>
          <a:xfrm>
            <a:off x="7701332" y="4978682"/>
            <a:ext cx="826083" cy="122236"/>
          </a:xfrm>
          <a:prstGeom prst="rect">
            <a:avLst/>
          </a:prstGeom>
        </p:spPr>
        <p:txBody>
          <a:bodyPr/>
          <a:lstStyle>
            <a:lvl1pPr>
              <a:defRPr sz="900" baseline="0"/>
            </a:lvl1pPr>
          </a:lstStyle>
          <a:p>
            <a:r>
              <a:rPr lang="en-US"/>
              <a:t>18.08.2025</a:t>
            </a:r>
            <a:endParaRPr lang="de-DE" dirty="0"/>
          </a:p>
        </p:txBody>
      </p:sp>
      <p:sp>
        <p:nvSpPr>
          <p:cNvPr id="20" name="Footer Placeholder 4">
            <a:extLst>
              <a:ext uri="{FF2B5EF4-FFF2-40B4-BE49-F238E27FC236}">
                <a16:creationId xmlns:a16="http://schemas.microsoft.com/office/drawing/2014/main" id="{4202ACA2-A6C1-2F41-B788-2041A8568827}"/>
              </a:ext>
            </a:extLst>
          </p:cNvPr>
          <p:cNvSpPr>
            <a:spLocks noGrp="1"/>
          </p:cNvSpPr>
          <p:nvPr>
            <p:ph type="ftr" sz="quarter" idx="11"/>
          </p:nvPr>
        </p:nvSpPr>
        <p:spPr>
          <a:xfrm>
            <a:off x="395288" y="4978682"/>
            <a:ext cx="7246916" cy="120158"/>
          </a:xfrm>
          <a:prstGeom prst="rect">
            <a:avLst/>
          </a:prstGeom>
        </p:spPr>
        <p:txBody>
          <a:bodyPr/>
          <a:lstStyle>
            <a:lvl1pPr>
              <a:defRPr sz="900" baseline="0"/>
            </a:lvl1pPr>
          </a:lstStyle>
          <a:p>
            <a:r>
              <a:rPr lang="en-US"/>
              <a:t>Enhancing model transparency: Effects of DK Integration for Conversational XAI | Feustel</a:t>
            </a:r>
            <a:endParaRPr lang="de-DE" dirty="0"/>
          </a:p>
        </p:txBody>
      </p:sp>
      <p:sp>
        <p:nvSpPr>
          <p:cNvPr id="21" name="Slide Number Placeholder 5">
            <a:extLst>
              <a:ext uri="{FF2B5EF4-FFF2-40B4-BE49-F238E27FC236}">
                <a16:creationId xmlns:a16="http://schemas.microsoft.com/office/drawing/2014/main" id="{9B0E0A55-0808-2541-8D86-0D4AB9117853}"/>
              </a:ext>
            </a:extLst>
          </p:cNvPr>
          <p:cNvSpPr>
            <a:spLocks noGrp="1"/>
          </p:cNvSpPr>
          <p:nvPr>
            <p:ph type="sldNum" sz="quarter" idx="12"/>
          </p:nvPr>
        </p:nvSpPr>
        <p:spPr>
          <a:xfrm>
            <a:off x="8495030" y="4978682"/>
            <a:ext cx="212654" cy="136107"/>
          </a:xfrm>
          <a:prstGeom prst="rect">
            <a:avLst/>
          </a:prstGeom>
        </p:spPr>
        <p:txBody>
          <a:bodyPr/>
          <a:lstStyle>
            <a:lvl1pPr algn="r">
              <a:defRPr sz="900" baseline="0">
                <a:solidFill>
                  <a:schemeClr val="bg1"/>
                </a:solidFill>
              </a:defRPr>
            </a:lvl1pPr>
          </a:lstStyle>
          <a:p>
            <a:r>
              <a:rPr lang="de-DE"/>
              <a:t> </a:t>
            </a:r>
            <a:fld id="{FE120BDC-5456-EC41-8BB6-7A3B726EA19B}" type="slidenum">
              <a:rPr lang="de-DE" smtClean="0"/>
              <a:pPr/>
              <a:t>‹Nr.›</a:t>
            </a:fld>
            <a:endParaRPr lang="de-DE" dirty="0"/>
          </a:p>
        </p:txBody>
      </p:sp>
      <p:cxnSp>
        <p:nvCxnSpPr>
          <p:cNvPr id="22" name="Gerade Verbindung 21">
            <a:extLst>
              <a:ext uri="{FF2B5EF4-FFF2-40B4-BE49-F238E27FC236}">
                <a16:creationId xmlns:a16="http://schemas.microsoft.com/office/drawing/2014/main" id="{72170822-D53A-ED41-BA40-C4790A3B417B}"/>
              </a:ext>
            </a:extLst>
          </p:cNvPr>
          <p:cNvCxnSpPr/>
          <p:nvPr userDrawn="1"/>
        </p:nvCxnSpPr>
        <p:spPr>
          <a:xfrm>
            <a:off x="395288" y="4969853"/>
            <a:ext cx="8353425" cy="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79069623"/>
      </p:ext>
    </p:extLst>
  </p:cSld>
  <p:clrMapOvr>
    <a:masterClrMapping/>
  </p:clrMapOvr>
  <p:extLst>
    <p:ext uri="{DCECCB84-F9BA-43D5-87BE-67443E8EF086}">
      <p15:sldGuideLst xmlns:p15="http://schemas.microsoft.com/office/powerpoint/2012/main">
        <p15:guide id="2" pos="5511" userDrawn="1">
          <p15:clr>
            <a:srgbClr val="FBAE40"/>
          </p15:clr>
        </p15:guide>
        <p15:guide id="3" pos="249" userDrawn="1">
          <p15:clr>
            <a:srgbClr val="FBAE40"/>
          </p15:clr>
        </p15:guide>
        <p15:guide id="4" orient="horz" pos="191" userDrawn="1">
          <p15:clr>
            <a:srgbClr val="FBAE40"/>
          </p15:clr>
        </p15:guide>
        <p15:guide id="5" orient="horz" pos="713" userDrawn="1">
          <p15:clr>
            <a:srgbClr val="FBAE40"/>
          </p15:clr>
        </p15:guide>
        <p15:guide id="6" orient="horz" pos="3026" userDrawn="1">
          <p15:clr>
            <a:srgbClr val="FBAE40"/>
          </p15:clr>
        </p15:guide>
        <p15:guide id="7" pos="2925"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Inhalt_2_2-spalti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403380" y="303213"/>
            <a:ext cx="7432604" cy="611187"/>
          </a:xfrm>
        </p:spPr>
        <p:txBody>
          <a:bodyPr anchor="t" anchorCtr="0"/>
          <a:lstStyle>
            <a:lvl1pPr algn="l">
              <a:defRPr sz="2100" baseline="0">
                <a:solidFill>
                  <a:schemeClr val="tx1"/>
                </a:solidFill>
              </a:defRPr>
            </a:lvl1pPr>
          </a:lstStyle>
          <a:p>
            <a:r>
              <a:rPr lang="de-DE" dirty="0"/>
              <a:t>Haupttitel einfügen</a:t>
            </a:r>
            <a:br>
              <a:rPr lang="de-DE" dirty="0"/>
            </a:br>
            <a:r>
              <a:rPr lang="de-DE" dirty="0"/>
              <a:t>Beispiel zweizeilig</a:t>
            </a:r>
            <a:endParaRPr lang="en-US" dirty="0"/>
          </a:p>
        </p:txBody>
      </p:sp>
      <p:sp>
        <p:nvSpPr>
          <p:cNvPr id="17" name="Inhaltsplatzhalter 8">
            <a:extLst>
              <a:ext uri="{FF2B5EF4-FFF2-40B4-BE49-F238E27FC236}">
                <a16:creationId xmlns:a16="http://schemas.microsoft.com/office/drawing/2014/main" id="{9EA76A36-359F-3049-A4AF-05D8F649132B}"/>
              </a:ext>
            </a:extLst>
          </p:cNvPr>
          <p:cNvSpPr>
            <a:spLocks noGrp="1"/>
          </p:cNvSpPr>
          <p:nvPr>
            <p:ph sz="quarter" idx="15"/>
          </p:nvPr>
        </p:nvSpPr>
        <p:spPr>
          <a:xfrm>
            <a:off x="4723672" y="1131888"/>
            <a:ext cx="4104044" cy="3671887"/>
          </a:xfrm>
        </p:spPr>
        <p:txBody>
          <a:bodyPr>
            <a:noAutofit/>
          </a:bodyPr>
          <a:lstStyle>
            <a:lvl1pPr>
              <a:defRPr sz="1800" baseline="0"/>
            </a:lvl1pPr>
            <a:lvl2pPr>
              <a:defRPr sz="1800" baseline="0"/>
            </a:lvl2pPr>
            <a:lvl3pPr>
              <a:defRPr sz="1800" baseline="0"/>
            </a:lvl3pPr>
            <a:lvl4pPr>
              <a:defRPr sz="1800" baseline="0"/>
            </a:lvl4pPr>
            <a:lvl5pPr>
              <a:defRPr sz="1800" baseline="0"/>
            </a:lvl5p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11" name="Bildplatzhalter 10">
            <a:extLst>
              <a:ext uri="{FF2B5EF4-FFF2-40B4-BE49-F238E27FC236}">
                <a16:creationId xmlns:a16="http://schemas.microsoft.com/office/drawing/2014/main" id="{5882F3C8-F6FC-1F43-8FF2-DEBCA37BD904}"/>
              </a:ext>
            </a:extLst>
          </p:cNvPr>
          <p:cNvSpPr>
            <a:spLocks noGrp="1"/>
          </p:cNvSpPr>
          <p:nvPr>
            <p:ph type="pic" sz="quarter" idx="17"/>
          </p:nvPr>
        </p:nvSpPr>
        <p:spPr>
          <a:xfrm>
            <a:off x="403380" y="1131888"/>
            <a:ext cx="4103688" cy="3671887"/>
          </a:xfrm>
        </p:spPr>
        <p:txBody>
          <a:bodyPr/>
          <a:lstStyle/>
          <a:p>
            <a:endParaRPr lang="de-DE"/>
          </a:p>
        </p:txBody>
      </p:sp>
      <p:sp>
        <p:nvSpPr>
          <p:cNvPr id="13" name="Vertikaler Textplatzhalter 13">
            <a:extLst>
              <a:ext uri="{FF2B5EF4-FFF2-40B4-BE49-F238E27FC236}">
                <a16:creationId xmlns:a16="http://schemas.microsoft.com/office/drawing/2014/main" id="{017A6AA3-6E5D-3444-AF30-96548295A561}"/>
              </a:ext>
            </a:extLst>
          </p:cNvPr>
          <p:cNvSpPr>
            <a:spLocks noGrp="1"/>
          </p:cNvSpPr>
          <p:nvPr>
            <p:ph type="body" orient="vert" sz="quarter" idx="18"/>
          </p:nvPr>
        </p:nvSpPr>
        <p:spPr>
          <a:xfrm rot="10800000">
            <a:off x="8754500" y="2818435"/>
            <a:ext cx="146432" cy="1985340"/>
          </a:xfrm>
        </p:spPr>
        <p:txBody>
          <a:bodyPr vert="eaVert">
            <a:normAutofit/>
          </a:bodyPr>
          <a:lstStyle>
            <a:lvl1pPr marL="0" indent="0">
              <a:buFontTx/>
              <a:buNone/>
              <a:defRPr sz="700" baseline="0">
                <a:solidFill>
                  <a:schemeClr val="bg1">
                    <a:lumMod val="75000"/>
                  </a:schemeClr>
                </a:solidFill>
              </a:defRPr>
            </a:lvl1pPr>
          </a:lstStyle>
          <a:p>
            <a:pPr lvl="0"/>
            <a:r>
              <a:rPr lang="de-DE" dirty="0"/>
              <a:t>Mastertextformat bearbeiten</a:t>
            </a:r>
          </a:p>
        </p:txBody>
      </p:sp>
      <p:sp>
        <p:nvSpPr>
          <p:cNvPr id="18" name="Rechteck 17">
            <a:extLst>
              <a:ext uri="{FF2B5EF4-FFF2-40B4-BE49-F238E27FC236}">
                <a16:creationId xmlns:a16="http://schemas.microsoft.com/office/drawing/2014/main" id="{7EAA9515-108C-8A48-A086-969B3538B82B}"/>
              </a:ext>
            </a:extLst>
          </p:cNvPr>
          <p:cNvSpPr/>
          <p:nvPr userDrawn="1"/>
        </p:nvSpPr>
        <p:spPr>
          <a:xfrm>
            <a:off x="8518524" y="4971106"/>
            <a:ext cx="230187" cy="120513"/>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9" name="Date Placeholder 3">
            <a:extLst>
              <a:ext uri="{FF2B5EF4-FFF2-40B4-BE49-F238E27FC236}">
                <a16:creationId xmlns:a16="http://schemas.microsoft.com/office/drawing/2014/main" id="{939EAFFF-06C1-E944-928E-02AA85D49228}"/>
              </a:ext>
            </a:extLst>
          </p:cNvPr>
          <p:cNvSpPr>
            <a:spLocks noGrp="1"/>
          </p:cNvSpPr>
          <p:nvPr>
            <p:ph type="dt" sz="half" idx="10"/>
          </p:nvPr>
        </p:nvSpPr>
        <p:spPr>
          <a:xfrm>
            <a:off x="7701332" y="4978682"/>
            <a:ext cx="826083" cy="122236"/>
          </a:xfrm>
          <a:prstGeom prst="rect">
            <a:avLst/>
          </a:prstGeom>
        </p:spPr>
        <p:txBody>
          <a:bodyPr/>
          <a:lstStyle>
            <a:lvl1pPr>
              <a:defRPr sz="900" baseline="0">
                <a:latin typeface="+mn-lt"/>
              </a:defRPr>
            </a:lvl1pPr>
          </a:lstStyle>
          <a:p>
            <a:r>
              <a:rPr lang="en-US"/>
              <a:t>18.08.2025</a:t>
            </a:r>
            <a:endParaRPr lang="de-DE" dirty="0"/>
          </a:p>
        </p:txBody>
      </p:sp>
      <p:sp>
        <p:nvSpPr>
          <p:cNvPr id="20" name="Footer Placeholder 4">
            <a:extLst>
              <a:ext uri="{FF2B5EF4-FFF2-40B4-BE49-F238E27FC236}">
                <a16:creationId xmlns:a16="http://schemas.microsoft.com/office/drawing/2014/main" id="{4202ACA2-A6C1-2F41-B788-2041A8568827}"/>
              </a:ext>
            </a:extLst>
          </p:cNvPr>
          <p:cNvSpPr>
            <a:spLocks noGrp="1"/>
          </p:cNvSpPr>
          <p:nvPr>
            <p:ph type="ftr" sz="quarter" idx="11"/>
          </p:nvPr>
        </p:nvSpPr>
        <p:spPr>
          <a:xfrm>
            <a:off x="395288" y="4978682"/>
            <a:ext cx="7246916" cy="120158"/>
          </a:xfrm>
          <a:prstGeom prst="rect">
            <a:avLst/>
          </a:prstGeom>
        </p:spPr>
        <p:txBody>
          <a:bodyPr/>
          <a:lstStyle>
            <a:lvl1pPr>
              <a:defRPr sz="900" baseline="0">
                <a:latin typeface="+mn-lt"/>
              </a:defRPr>
            </a:lvl1pPr>
          </a:lstStyle>
          <a:p>
            <a:r>
              <a:rPr lang="en-US"/>
              <a:t>Enhancing model transparency: Effects of DK Integration for Conversational XAI | Feustel</a:t>
            </a:r>
            <a:endParaRPr lang="de-DE" dirty="0"/>
          </a:p>
        </p:txBody>
      </p:sp>
      <p:sp>
        <p:nvSpPr>
          <p:cNvPr id="21" name="Slide Number Placeholder 5">
            <a:extLst>
              <a:ext uri="{FF2B5EF4-FFF2-40B4-BE49-F238E27FC236}">
                <a16:creationId xmlns:a16="http://schemas.microsoft.com/office/drawing/2014/main" id="{9B0E0A55-0808-2541-8D86-0D4AB9117853}"/>
              </a:ext>
            </a:extLst>
          </p:cNvPr>
          <p:cNvSpPr>
            <a:spLocks noGrp="1"/>
          </p:cNvSpPr>
          <p:nvPr>
            <p:ph type="sldNum" sz="quarter" idx="12"/>
          </p:nvPr>
        </p:nvSpPr>
        <p:spPr>
          <a:xfrm>
            <a:off x="8495030" y="4978682"/>
            <a:ext cx="212654" cy="136107"/>
          </a:xfrm>
          <a:prstGeom prst="rect">
            <a:avLst/>
          </a:prstGeom>
        </p:spPr>
        <p:txBody>
          <a:bodyPr/>
          <a:lstStyle>
            <a:lvl1pPr algn="r">
              <a:defRPr sz="900" baseline="0">
                <a:solidFill>
                  <a:schemeClr val="bg1"/>
                </a:solidFill>
                <a:latin typeface="+mn-lt"/>
              </a:defRPr>
            </a:lvl1pPr>
          </a:lstStyle>
          <a:p>
            <a:r>
              <a:rPr lang="de-DE"/>
              <a:t> </a:t>
            </a:r>
            <a:fld id="{FE120BDC-5456-EC41-8BB6-7A3B726EA19B}" type="slidenum">
              <a:rPr lang="de-DE" smtClean="0"/>
              <a:pPr/>
              <a:t>‹Nr.›</a:t>
            </a:fld>
            <a:endParaRPr lang="de-DE" dirty="0"/>
          </a:p>
        </p:txBody>
      </p:sp>
      <p:cxnSp>
        <p:nvCxnSpPr>
          <p:cNvPr id="22" name="Gerade Verbindung 21">
            <a:extLst>
              <a:ext uri="{FF2B5EF4-FFF2-40B4-BE49-F238E27FC236}">
                <a16:creationId xmlns:a16="http://schemas.microsoft.com/office/drawing/2014/main" id="{72170822-D53A-ED41-BA40-C4790A3B417B}"/>
              </a:ext>
            </a:extLst>
          </p:cNvPr>
          <p:cNvCxnSpPr/>
          <p:nvPr userDrawn="1"/>
        </p:nvCxnSpPr>
        <p:spPr>
          <a:xfrm>
            <a:off x="395288" y="4969853"/>
            <a:ext cx="8353425" cy="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47278103"/>
      </p:ext>
    </p:extLst>
  </p:cSld>
  <p:clrMapOvr>
    <a:masterClrMapping/>
  </p:clrMapOvr>
  <p:extLst>
    <p:ext uri="{DCECCB84-F9BA-43D5-87BE-67443E8EF086}">
      <p15:sldGuideLst xmlns:p15="http://schemas.microsoft.com/office/powerpoint/2012/main">
        <p15:guide id="2" pos="5511">
          <p15:clr>
            <a:srgbClr val="FBAE40"/>
          </p15:clr>
        </p15:guide>
        <p15:guide id="3" pos="249">
          <p15:clr>
            <a:srgbClr val="FBAE40"/>
          </p15:clr>
        </p15:guide>
        <p15:guide id="4" orient="horz" pos="191">
          <p15:clr>
            <a:srgbClr val="FBAE40"/>
          </p15:clr>
        </p15:guide>
        <p15:guide id="5" orient="horz" pos="713">
          <p15:clr>
            <a:srgbClr val="FBAE40"/>
          </p15:clr>
        </p15:guide>
        <p15:guide id="6" orient="horz" pos="3026">
          <p15:clr>
            <a:srgbClr val="FBAE40"/>
          </p15:clr>
        </p15:guide>
        <p15:guide id="7" pos="2925">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Inhalt_3_3-spalti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403380" y="303213"/>
            <a:ext cx="7432604" cy="611187"/>
          </a:xfrm>
        </p:spPr>
        <p:txBody>
          <a:bodyPr anchor="t" anchorCtr="0"/>
          <a:lstStyle>
            <a:lvl1pPr algn="l">
              <a:defRPr sz="2100" baseline="0">
                <a:solidFill>
                  <a:schemeClr val="tx1"/>
                </a:solidFill>
              </a:defRPr>
            </a:lvl1pPr>
          </a:lstStyle>
          <a:p>
            <a:r>
              <a:rPr lang="de-DE" dirty="0"/>
              <a:t>Haupttitel einfügen</a:t>
            </a:r>
            <a:br>
              <a:rPr lang="de-DE" dirty="0"/>
            </a:br>
            <a:r>
              <a:rPr lang="de-DE" dirty="0"/>
              <a:t>Beispiel zweizeilig</a:t>
            </a:r>
            <a:endParaRPr lang="en-US" dirty="0"/>
          </a:p>
        </p:txBody>
      </p:sp>
      <p:sp>
        <p:nvSpPr>
          <p:cNvPr id="17" name="Inhaltsplatzhalter 8">
            <a:extLst>
              <a:ext uri="{FF2B5EF4-FFF2-40B4-BE49-F238E27FC236}">
                <a16:creationId xmlns:a16="http://schemas.microsoft.com/office/drawing/2014/main" id="{9EA76A36-359F-3049-A4AF-05D8F649132B}"/>
              </a:ext>
            </a:extLst>
          </p:cNvPr>
          <p:cNvSpPr>
            <a:spLocks noGrp="1"/>
          </p:cNvSpPr>
          <p:nvPr>
            <p:ph sz="quarter" idx="15"/>
          </p:nvPr>
        </p:nvSpPr>
        <p:spPr>
          <a:xfrm>
            <a:off x="401076" y="1131888"/>
            <a:ext cx="2660428" cy="1933730"/>
          </a:xfrm>
        </p:spPr>
        <p:txBody>
          <a:bodyPr>
            <a:noAutofit/>
          </a:bodyPr>
          <a:lstStyle>
            <a:lvl1pPr>
              <a:defRPr sz="1600" baseline="0"/>
            </a:lvl1pPr>
            <a:lvl2pPr>
              <a:defRPr sz="1600" baseline="0"/>
            </a:lvl2pPr>
            <a:lvl3pPr>
              <a:defRPr sz="1800"/>
            </a:lvl3pPr>
            <a:lvl4pPr>
              <a:defRPr sz="1800"/>
            </a:lvl4pPr>
            <a:lvl5pPr>
              <a:defRPr sz="1800"/>
            </a:lvl5p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27" name="Bildplatzhalter 5">
            <a:extLst>
              <a:ext uri="{FF2B5EF4-FFF2-40B4-BE49-F238E27FC236}">
                <a16:creationId xmlns:a16="http://schemas.microsoft.com/office/drawing/2014/main" id="{92B60458-4FFD-0849-BEE7-47F10FEBCB76}"/>
              </a:ext>
            </a:extLst>
          </p:cNvPr>
          <p:cNvSpPr>
            <a:spLocks noGrp="1"/>
          </p:cNvSpPr>
          <p:nvPr>
            <p:ph type="pic" sz="quarter" idx="22"/>
          </p:nvPr>
        </p:nvSpPr>
        <p:spPr>
          <a:xfrm>
            <a:off x="400574" y="3195711"/>
            <a:ext cx="2666717" cy="1608064"/>
          </a:xfrm>
        </p:spPr>
        <p:txBody>
          <a:bodyPr numCol="3" spcCol="180000"/>
          <a:lstStyle/>
          <a:p>
            <a:endParaRPr lang="de-DE"/>
          </a:p>
        </p:txBody>
      </p:sp>
      <p:sp>
        <p:nvSpPr>
          <p:cNvPr id="36" name="Inhaltsplatzhalter 8">
            <a:extLst>
              <a:ext uri="{FF2B5EF4-FFF2-40B4-BE49-F238E27FC236}">
                <a16:creationId xmlns:a16="http://schemas.microsoft.com/office/drawing/2014/main" id="{E055EB21-537E-3846-BC1A-C961C1EC1451}"/>
              </a:ext>
            </a:extLst>
          </p:cNvPr>
          <p:cNvSpPr>
            <a:spLocks noGrp="1"/>
          </p:cNvSpPr>
          <p:nvPr>
            <p:ph sz="quarter" idx="23"/>
          </p:nvPr>
        </p:nvSpPr>
        <p:spPr>
          <a:xfrm>
            <a:off x="6082498" y="1131888"/>
            <a:ext cx="2660428" cy="1933730"/>
          </a:xfrm>
        </p:spPr>
        <p:txBody>
          <a:bodyPr>
            <a:noAutofit/>
          </a:bodyPr>
          <a:lstStyle>
            <a:lvl1pPr>
              <a:defRPr sz="1600" baseline="0"/>
            </a:lvl1pPr>
            <a:lvl2pPr>
              <a:defRPr sz="1600" baseline="0"/>
            </a:lvl2pPr>
            <a:lvl3pPr>
              <a:defRPr sz="1800"/>
            </a:lvl3pPr>
            <a:lvl4pPr>
              <a:defRPr sz="1800"/>
            </a:lvl4pPr>
            <a:lvl5pPr>
              <a:defRPr sz="1800"/>
            </a:lvl5p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37" name="Bildplatzhalter 5">
            <a:extLst>
              <a:ext uri="{FF2B5EF4-FFF2-40B4-BE49-F238E27FC236}">
                <a16:creationId xmlns:a16="http://schemas.microsoft.com/office/drawing/2014/main" id="{1C051F10-DD7B-144D-90F5-984DEDBE41B6}"/>
              </a:ext>
            </a:extLst>
          </p:cNvPr>
          <p:cNvSpPr>
            <a:spLocks noGrp="1"/>
          </p:cNvSpPr>
          <p:nvPr>
            <p:ph type="pic" sz="quarter" idx="24"/>
          </p:nvPr>
        </p:nvSpPr>
        <p:spPr>
          <a:xfrm>
            <a:off x="6081996" y="3195711"/>
            <a:ext cx="2666717" cy="1608064"/>
          </a:xfrm>
        </p:spPr>
        <p:txBody>
          <a:bodyPr numCol="3" spcCol="180000"/>
          <a:lstStyle/>
          <a:p>
            <a:endParaRPr lang="de-DE"/>
          </a:p>
        </p:txBody>
      </p:sp>
      <p:sp>
        <p:nvSpPr>
          <p:cNvPr id="38" name="Inhaltsplatzhalter 8">
            <a:extLst>
              <a:ext uri="{FF2B5EF4-FFF2-40B4-BE49-F238E27FC236}">
                <a16:creationId xmlns:a16="http://schemas.microsoft.com/office/drawing/2014/main" id="{DBAA7909-0F89-DB41-AA44-A96F7F52895A}"/>
              </a:ext>
            </a:extLst>
          </p:cNvPr>
          <p:cNvSpPr>
            <a:spLocks noGrp="1"/>
          </p:cNvSpPr>
          <p:nvPr>
            <p:ph sz="quarter" idx="25"/>
          </p:nvPr>
        </p:nvSpPr>
        <p:spPr>
          <a:xfrm>
            <a:off x="3238802" y="1131888"/>
            <a:ext cx="2660428" cy="1933730"/>
          </a:xfrm>
        </p:spPr>
        <p:txBody>
          <a:bodyPr>
            <a:noAutofit/>
          </a:bodyPr>
          <a:lstStyle>
            <a:lvl1pPr>
              <a:defRPr sz="1600" baseline="0"/>
            </a:lvl1pPr>
            <a:lvl2pPr>
              <a:defRPr sz="1600" baseline="0"/>
            </a:lvl2pPr>
            <a:lvl3pPr>
              <a:defRPr sz="1800"/>
            </a:lvl3pPr>
            <a:lvl4pPr>
              <a:defRPr sz="1800"/>
            </a:lvl4pPr>
            <a:lvl5pPr>
              <a:defRPr sz="1800"/>
            </a:lvl5p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39" name="Bildplatzhalter 5">
            <a:extLst>
              <a:ext uri="{FF2B5EF4-FFF2-40B4-BE49-F238E27FC236}">
                <a16:creationId xmlns:a16="http://schemas.microsoft.com/office/drawing/2014/main" id="{4C23EA98-655D-8748-A63B-CAA0101CE776}"/>
              </a:ext>
            </a:extLst>
          </p:cNvPr>
          <p:cNvSpPr>
            <a:spLocks noGrp="1"/>
          </p:cNvSpPr>
          <p:nvPr>
            <p:ph type="pic" sz="quarter" idx="26"/>
          </p:nvPr>
        </p:nvSpPr>
        <p:spPr>
          <a:xfrm>
            <a:off x="3238300" y="3195711"/>
            <a:ext cx="2666717" cy="1608064"/>
          </a:xfrm>
        </p:spPr>
        <p:txBody>
          <a:bodyPr numCol="3" spcCol="180000"/>
          <a:lstStyle/>
          <a:p>
            <a:endParaRPr lang="de-DE"/>
          </a:p>
        </p:txBody>
      </p:sp>
      <p:sp>
        <p:nvSpPr>
          <p:cNvPr id="41" name="Vertikaler Textplatzhalter 13">
            <a:extLst>
              <a:ext uri="{FF2B5EF4-FFF2-40B4-BE49-F238E27FC236}">
                <a16:creationId xmlns:a16="http://schemas.microsoft.com/office/drawing/2014/main" id="{9DBA0A74-B7D0-A54D-B9C7-5363DA2C9012}"/>
              </a:ext>
            </a:extLst>
          </p:cNvPr>
          <p:cNvSpPr>
            <a:spLocks noGrp="1"/>
          </p:cNvSpPr>
          <p:nvPr>
            <p:ph type="body" orient="vert" sz="quarter" idx="18"/>
          </p:nvPr>
        </p:nvSpPr>
        <p:spPr>
          <a:xfrm rot="10800000">
            <a:off x="8754500" y="1519417"/>
            <a:ext cx="155744" cy="3284358"/>
          </a:xfrm>
        </p:spPr>
        <p:txBody>
          <a:bodyPr vert="eaVert">
            <a:normAutofit/>
          </a:bodyPr>
          <a:lstStyle>
            <a:lvl1pPr marL="0" indent="0">
              <a:buFontTx/>
              <a:buNone/>
              <a:defRPr sz="700" baseline="0">
                <a:solidFill>
                  <a:schemeClr val="bg1">
                    <a:lumMod val="75000"/>
                  </a:schemeClr>
                </a:solidFill>
              </a:defRPr>
            </a:lvl1pPr>
          </a:lstStyle>
          <a:p>
            <a:pPr lvl="0"/>
            <a:r>
              <a:rPr lang="de-DE" dirty="0"/>
              <a:t>Mastertextformat bearbeiten</a:t>
            </a:r>
          </a:p>
        </p:txBody>
      </p:sp>
      <p:sp>
        <p:nvSpPr>
          <p:cNvPr id="15" name="Rechteck 14">
            <a:extLst>
              <a:ext uri="{FF2B5EF4-FFF2-40B4-BE49-F238E27FC236}">
                <a16:creationId xmlns:a16="http://schemas.microsoft.com/office/drawing/2014/main" id="{48AE1B9F-4990-5442-B195-260B90A0C06F}"/>
              </a:ext>
            </a:extLst>
          </p:cNvPr>
          <p:cNvSpPr/>
          <p:nvPr userDrawn="1"/>
        </p:nvSpPr>
        <p:spPr>
          <a:xfrm>
            <a:off x="8518524" y="4971106"/>
            <a:ext cx="230187" cy="120513"/>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8" name="Date Placeholder 3">
            <a:extLst>
              <a:ext uri="{FF2B5EF4-FFF2-40B4-BE49-F238E27FC236}">
                <a16:creationId xmlns:a16="http://schemas.microsoft.com/office/drawing/2014/main" id="{94DC9FEE-C221-5943-B1F0-F98C1579983F}"/>
              </a:ext>
            </a:extLst>
          </p:cNvPr>
          <p:cNvSpPr>
            <a:spLocks noGrp="1"/>
          </p:cNvSpPr>
          <p:nvPr>
            <p:ph type="dt" sz="half" idx="10"/>
          </p:nvPr>
        </p:nvSpPr>
        <p:spPr>
          <a:xfrm>
            <a:off x="7701332" y="4978682"/>
            <a:ext cx="826083" cy="122236"/>
          </a:xfrm>
          <a:prstGeom prst="rect">
            <a:avLst/>
          </a:prstGeom>
        </p:spPr>
        <p:txBody>
          <a:bodyPr/>
          <a:lstStyle>
            <a:lvl1pPr>
              <a:defRPr sz="900" baseline="0">
                <a:latin typeface="+mn-lt"/>
              </a:defRPr>
            </a:lvl1pPr>
          </a:lstStyle>
          <a:p>
            <a:r>
              <a:rPr lang="en-US"/>
              <a:t>18.08.2025</a:t>
            </a:r>
            <a:endParaRPr lang="de-DE" dirty="0"/>
          </a:p>
        </p:txBody>
      </p:sp>
      <p:sp>
        <p:nvSpPr>
          <p:cNvPr id="19" name="Footer Placeholder 4">
            <a:extLst>
              <a:ext uri="{FF2B5EF4-FFF2-40B4-BE49-F238E27FC236}">
                <a16:creationId xmlns:a16="http://schemas.microsoft.com/office/drawing/2014/main" id="{7AC9A84A-BC6E-E442-A7DE-1B40A0EB2090}"/>
              </a:ext>
            </a:extLst>
          </p:cNvPr>
          <p:cNvSpPr>
            <a:spLocks noGrp="1"/>
          </p:cNvSpPr>
          <p:nvPr>
            <p:ph type="ftr" sz="quarter" idx="11"/>
          </p:nvPr>
        </p:nvSpPr>
        <p:spPr>
          <a:xfrm>
            <a:off x="395288" y="4978682"/>
            <a:ext cx="7246916" cy="120158"/>
          </a:xfrm>
          <a:prstGeom prst="rect">
            <a:avLst/>
          </a:prstGeom>
        </p:spPr>
        <p:txBody>
          <a:bodyPr/>
          <a:lstStyle>
            <a:lvl1pPr>
              <a:defRPr sz="900" baseline="0">
                <a:latin typeface="+mn-lt"/>
              </a:defRPr>
            </a:lvl1pPr>
          </a:lstStyle>
          <a:p>
            <a:r>
              <a:rPr lang="en-US"/>
              <a:t>Enhancing model transparency: Effects of DK Integration for Conversational XAI | Feustel</a:t>
            </a:r>
            <a:endParaRPr lang="de-DE" dirty="0"/>
          </a:p>
        </p:txBody>
      </p:sp>
      <p:sp>
        <p:nvSpPr>
          <p:cNvPr id="20" name="Slide Number Placeholder 5">
            <a:extLst>
              <a:ext uri="{FF2B5EF4-FFF2-40B4-BE49-F238E27FC236}">
                <a16:creationId xmlns:a16="http://schemas.microsoft.com/office/drawing/2014/main" id="{71B675B5-CCF7-C348-ACA1-0BDE6FB544A5}"/>
              </a:ext>
            </a:extLst>
          </p:cNvPr>
          <p:cNvSpPr>
            <a:spLocks noGrp="1"/>
          </p:cNvSpPr>
          <p:nvPr>
            <p:ph type="sldNum" sz="quarter" idx="12"/>
          </p:nvPr>
        </p:nvSpPr>
        <p:spPr>
          <a:xfrm>
            <a:off x="8495030" y="4978682"/>
            <a:ext cx="212654" cy="136107"/>
          </a:xfrm>
          <a:prstGeom prst="rect">
            <a:avLst/>
          </a:prstGeom>
        </p:spPr>
        <p:txBody>
          <a:bodyPr/>
          <a:lstStyle>
            <a:lvl1pPr algn="r">
              <a:defRPr sz="900" baseline="0">
                <a:solidFill>
                  <a:schemeClr val="bg1"/>
                </a:solidFill>
                <a:latin typeface="+mn-lt"/>
              </a:defRPr>
            </a:lvl1pPr>
          </a:lstStyle>
          <a:p>
            <a:fld id="{FE120BDC-5456-EC41-8BB6-7A3B726EA19B}" type="slidenum">
              <a:rPr lang="de-DE" smtClean="0"/>
              <a:pPr/>
              <a:t>‹Nr.›</a:t>
            </a:fld>
            <a:endParaRPr lang="de-DE" dirty="0"/>
          </a:p>
        </p:txBody>
      </p:sp>
      <p:cxnSp>
        <p:nvCxnSpPr>
          <p:cNvPr id="21" name="Gerade Verbindung 20">
            <a:extLst>
              <a:ext uri="{FF2B5EF4-FFF2-40B4-BE49-F238E27FC236}">
                <a16:creationId xmlns:a16="http://schemas.microsoft.com/office/drawing/2014/main" id="{A35A79AD-4A78-A94E-B7A9-260D0C31E4E5}"/>
              </a:ext>
            </a:extLst>
          </p:cNvPr>
          <p:cNvCxnSpPr/>
          <p:nvPr userDrawn="1"/>
        </p:nvCxnSpPr>
        <p:spPr>
          <a:xfrm>
            <a:off x="395288" y="4969853"/>
            <a:ext cx="8353425" cy="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85014569"/>
      </p:ext>
    </p:extLst>
  </p:cSld>
  <p:clrMapOvr>
    <a:masterClrMapping/>
  </p:clrMapOvr>
  <p:extLst>
    <p:ext uri="{DCECCB84-F9BA-43D5-87BE-67443E8EF086}">
      <p15:sldGuideLst xmlns:p15="http://schemas.microsoft.com/office/powerpoint/2012/main">
        <p15:guide id="2" pos="5511" userDrawn="1">
          <p15:clr>
            <a:srgbClr val="FBAE40"/>
          </p15:clr>
        </p15:guide>
        <p15:guide id="3" pos="249" userDrawn="1">
          <p15:clr>
            <a:srgbClr val="FBAE40"/>
          </p15:clr>
        </p15:guide>
        <p15:guide id="4" orient="horz" pos="191" userDrawn="1">
          <p15:clr>
            <a:srgbClr val="FBAE40"/>
          </p15:clr>
        </p15:guide>
        <p15:guide id="5" orient="horz" pos="713" userDrawn="1">
          <p15:clr>
            <a:srgbClr val="FBAE40"/>
          </p15:clr>
        </p15:guide>
        <p15:guide id="6" orient="horz" pos="3026" userDrawn="1">
          <p15:clr>
            <a:srgbClr val="FBAE40"/>
          </p15:clr>
        </p15:guide>
        <p15:guide id="7" pos="2041"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Inhalt_4_3-spalti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403380" y="303213"/>
            <a:ext cx="7432604" cy="611187"/>
          </a:xfrm>
        </p:spPr>
        <p:txBody>
          <a:bodyPr anchor="t" anchorCtr="0"/>
          <a:lstStyle>
            <a:lvl1pPr algn="l">
              <a:defRPr sz="2100" baseline="0">
                <a:solidFill>
                  <a:schemeClr val="tx1"/>
                </a:solidFill>
              </a:defRPr>
            </a:lvl1pPr>
          </a:lstStyle>
          <a:p>
            <a:r>
              <a:rPr lang="de-DE" dirty="0"/>
              <a:t>Haupttitel einfügen</a:t>
            </a:r>
            <a:br>
              <a:rPr lang="de-DE" dirty="0"/>
            </a:br>
            <a:r>
              <a:rPr lang="de-DE" dirty="0"/>
              <a:t>Beispiel zweizeilig</a:t>
            </a:r>
            <a:endParaRPr lang="en-US" dirty="0"/>
          </a:p>
        </p:txBody>
      </p:sp>
      <p:sp>
        <p:nvSpPr>
          <p:cNvPr id="18" name="Inhaltsplatzhalter 8">
            <a:extLst>
              <a:ext uri="{FF2B5EF4-FFF2-40B4-BE49-F238E27FC236}">
                <a16:creationId xmlns:a16="http://schemas.microsoft.com/office/drawing/2014/main" id="{A62DF91A-B0B2-FF4C-93E2-B9F927EE580B}"/>
              </a:ext>
            </a:extLst>
          </p:cNvPr>
          <p:cNvSpPr>
            <a:spLocks noGrp="1"/>
          </p:cNvSpPr>
          <p:nvPr>
            <p:ph sz="quarter" idx="15"/>
          </p:nvPr>
        </p:nvSpPr>
        <p:spPr>
          <a:xfrm>
            <a:off x="395289" y="1131887"/>
            <a:ext cx="4104044" cy="3671887"/>
          </a:xfrm>
        </p:spPr>
        <p:txBody>
          <a:bodyPr>
            <a:normAutofit/>
          </a:bodyPr>
          <a:lstStyle>
            <a:lvl1pPr>
              <a:defRPr sz="1800" baseline="0"/>
            </a:lvl1pPr>
            <a:lvl2pPr>
              <a:defRPr sz="1800" baseline="0"/>
            </a:lvl2pPr>
            <a:lvl3pPr>
              <a:defRPr sz="1800"/>
            </a:lvl3pPr>
            <a:lvl4pPr>
              <a:defRPr sz="1800"/>
            </a:lvl4pPr>
            <a:lvl5pPr>
              <a:defRPr sz="1800"/>
            </a:lvl5p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30" name="Bildplatzhalter 3">
            <a:extLst>
              <a:ext uri="{FF2B5EF4-FFF2-40B4-BE49-F238E27FC236}">
                <a16:creationId xmlns:a16="http://schemas.microsoft.com/office/drawing/2014/main" id="{02870007-B315-A84C-826C-A93B8C05D8CC}"/>
              </a:ext>
            </a:extLst>
          </p:cNvPr>
          <p:cNvSpPr>
            <a:spLocks noGrp="1"/>
          </p:cNvSpPr>
          <p:nvPr>
            <p:ph type="pic" sz="quarter" idx="23"/>
          </p:nvPr>
        </p:nvSpPr>
        <p:spPr>
          <a:xfrm>
            <a:off x="4657789" y="1138990"/>
            <a:ext cx="1973125" cy="1748590"/>
          </a:xfrm>
        </p:spPr>
        <p:txBody>
          <a:bodyPr/>
          <a:lstStyle/>
          <a:p>
            <a:endParaRPr lang="de-DE"/>
          </a:p>
        </p:txBody>
      </p:sp>
      <p:sp>
        <p:nvSpPr>
          <p:cNvPr id="15" name="Vertikaler Textplatzhalter 13">
            <a:extLst>
              <a:ext uri="{FF2B5EF4-FFF2-40B4-BE49-F238E27FC236}">
                <a16:creationId xmlns:a16="http://schemas.microsoft.com/office/drawing/2014/main" id="{F1EA62FF-EC5E-E040-A2ED-2060076C6021}"/>
              </a:ext>
            </a:extLst>
          </p:cNvPr>
          <p:cNvSpPr>
            <a:spLocks noGrp="1"/>
          </p:cNvSpPr>
          <p:nvPr>
            <p:ph type="body" orient="vert" sz="quarter" idx="18"/>
          </p:nvPr>
        </p:nvSpPr>
        <p:spPr>
          <a:xfrm rot="10800000">
            <a:off x="8754500" y="1131887"/>
            <a:ext cx="198518" cy="3671887"/>
          </a:xfrm>
        </p:spPr>
        <p:txBody>
          <a:bodyPr vert="eaVert">
            <a:normAutofit/>
          </a:bodyPr>
          <a:lstStyle>
            <a:lvl1pPr marL="0" indent="0">
              <a:buFontTx/>
              <a:buNone/>
              <a:defRPr sz="700" baseline="0">
                <a:solidFill>
                  <a:schemeClr val="bg1">
                    <a:lumMod val="75000"/>
                  </a:schemeClr>
                </a:solidFill>
              </a:defRPr>
            </a:lvl1pPr>
          </a:lstStyle>
          <a:p>
            <a:pPr lvl="0"/>
            <a:r>
              <a:rPr lang="de-DE" dirty="0"/>
              <a:t>Mastertextformat bearbeiten</a:t>
            </a:r>
          </a:p>
        </p:txBody>
      </p:sp>
      <p:sp>
        <p:nvSpPr>
          <p:cNvPr id="14" name="Rechteck 13">
            <a:extLst>
              <a:ext uri="{FF2B5EF4-FFF2-40B4-BE49-F238E27FC236}">
                <a16:creationId xmlns:a16="http://schemas.microsoft.com/office/drawing/2014/main" id="{F08BCAD9-5353-7540-A74B-B971D65BC587}"/>
              </a:ext>
            </a:extLst>
          </p:cNvPr>
          <p:cNvSpPr/>
          <p:nvPr userDrawn="1"/>
        </p:nvSpPr>
        <p:spPr>
          <a:xfrm>
            <a:off x="8518524" y="4971106"/>
            <a:ext cx="230187" cy="120513"/>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0" name="Date Placeholder 3">
            <a:extLst>
              <a:ext uri="{FF2B5EF4-FFF2-40B4-BE49-F238E27FC236}">
                <a16:creationId xmlns:a16="http://schemas.microsoft.com/office/drawing/2014/main" id="{64F33E54-B64E-724D-B6F2-C896D5A59428}"/>
              </a:ext>
            </a:extLst>
          </p:cNvPr>
          <p:cNvSpPr>
            <a:spLocks noGrp="1"/>
          </p:cNvSpPr>
          <p:nvPr>
            <p:ph type="dt" sz="half" idx="10"/>
          </p:nvPr>
        </p:nvSpPr>
        <p:spPr>
          <a:xfrm>
            <a:off x="7701332" y="4978682"/>
            <a:ext cx="826083" cy="122236"/>
          </a:xfrm>
          <a:prstGeom prst="rect">
            <a:avLst/>
          </a:prstGeom>
        </p:spPr>
        <p:txBody>
          <a:bodyPr/>
          <a:lstStyle>
            <a:lvl1pPr>
              <a:defRPr sz="900" baseline="0"/>
            </a:lvl1pPr>
          </a:lstStyle>
          <a:p>
            <a:r>
              <a:rPr lang="en-US" dirty="0"/>
              <a:t>18.08.2025</a:t>
            </a:r>
            <a:endParaRPr lang="de-DE" dirty="0"/>
          </a:p>
        </p:txBody>
      </p:sp>
      <p:sp>
        <p:nvSpPr>
          <p:cNvPr id="21" name="Footer Placeholder 4">
            <a:extLst>
              <a:ext uri="{FF2B5EF4-FFF2-40B4-BE49-F238E27FC236}">
                <a16:creationId xmlns:a16="http://schemas.microsoft.com/office/drawing/2014/main" id="{6A32F750-1B9B-8248-988E-921F3CFA7E7E}"/>
              </a:ext>
            </a:extLst>
          </p:cNvPr>
          <p:cNvSpPr>
            <a:spLocks noGrp="1"/>
          </p:cNvSpPr>
          <p:nvPr>
            <p:ph type="ftr" sz="quarter" idx="11"/>
          </p:nvPr>
        </p:nvSpPr>
        <p:spPr>
          <a:xfrm>
            <a:off x="395288" y="4978682"/>
            <a:ext cx="7246916" cy="120158"/>
          </a:xfrm>
          <a:prstGeom prst="rect">
            <a:avLst/>
          </a:prstGeom>
        </p:spPr>
        <p:txBody>
          <a:bodyPr/>
          <a:lstStyle>
            <a:lvl1pPr>
              <a:defRPr sz="900" baseline="0"/>
            </a:lvl1pPr>
          </a:lstStyle>
          <a:p>
            <a:r>
              <a:rPr lang="en-US"/>
              <a:t>Enhancing model transparency: Effects of DK Integration for Conversational XAI | Feustel</a:t>
            </a:r>
            <a:endParaRPr lang="de-DE" dirty="0"/>
          </a:p>
        </p:txBody>
      </p:sp>
      <p:sp>
        <p:nvSpPr>
          <p:cNvPr id="22" name="Slide Number Placeholder 5">
            <a:extLst>
              <a:ext uri="{FF2B5EF4-FFF2-40B4-BE49-F238E27FC236}">
                <a16:creationId xmlns:a16="http://schemas.microsoft.com/office/drawing/2014/main" id="{CEC42CFF-3054-A24A-84C3-1DBC7E2D2496}"/>
              </a:ext>
            </a:extLst>
          </p:cNvPr>
          <p:cNvSpPr>
            <a:spLocks noGrp="1"/>
          </p:cNvSpPr>
          <p:nvPr>
            <p:ph type="sldNum" sz="quarter" idx="12"/>
          </p:nvPr>
        </p:nvSpPr>
        <p:spPr>
          <a:xfrm>
            <a:off x="8495030" y="4978682"/>
            <a:ext cx="212654" cy="136107"/>
          </a:xfrm>
          <a:prstGeom prst="rect">
            <a:avLst/>
          </a:prstGeom>
        </p:spPr>
        <p:txBody>
          <a:bodyPr/>
          <a:lstStyle>
            <a:lvl1pPr algn="r">
              <a:defRPr sz="900" baseline="0">
                <a:solidFill>
                  <a:schemeClr val="bg1"/>
                </a:solidFill>
                <a:latin typeface="+mn-lt"/>
              </a:defRPr>
            </a:lvl1pPr>
          </a:lstStyle>
          <a:p>
            <a:r>
              <a:rPr lang="de-DE"/>
              <a:t> </a:t>
            </a:r>
            <a:fld id="{FE120BDC-5456-EC41-8BB6-7A3B726EA19B}" type="slidenum">
              <a:rPr lang="de-DE" smtClean="0"/>
              <a:pPr/>
              <a:t>‹Nr.›</a:t>
            </a:fld>
            <a:endParaRPr lang="de-DE" dirty="0"/>
          </a:p>
        </p:txBody>
      </p:sp>
      <p:cxnSp>
        <p:nvCxnSpPr>
          <p:cNvPr id="23" name="Gerade Verbindung 22">
            <a:extLst>
              <a:ext uri="{FF2B5EF4-FFF2-40B4-BE49-F238E27FC236}">
                <a16:creationId xmlns:a16="http://schemas.microsoft.com/office/drawing/2014/main" id="{70276F58-AD42-434E-9F85-851C80A65513}"/>
              </a:ext>
            </a:extLst>
          </p:cNvPr>
          <p:cNvCxnSpPr/>
          <p:nvPr userDrawn="1"/>
        </p:nvCxnSpPr>
        <p:spPr>
          <a:xfrm>
            <a:off x="395288" y="4969853"/>
            <a:ext cx="8353425" cy="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7" name="Bildplatzhalter 3">
            <a:extLst>
              <a:ext uri="{FF2B5EF4-FFF2-40B4-BE49-F238E27FC236}">
                <a16:creationId xmlns:a16="http://schemas.microsoft.com/office/drawing/2014/main" id="{47624A23-F85B-4047-B34C-B0E8032B5D96}"/>
              </a:ext>
            </a:extLst>
          </p:cNvPr>
          <p:cNvSpPr>
            <a:spLocks noGrp="1"/>
          </p:cNvSpPr>
          <p:nvPr>
            <p:ph type="pic" sz="quarter" idx="27"/>
          </p:nvPr>
        </p:nvSpPr>
        <p:spPr>
          <a:xfrm>
            <a:off x="4657789" y="3055185"/>
            <a:ext cx="1973125" cy="1748590"/>
          </a:xfrm>
        </p:spPr>
        <p:txBody>
          <a:bodyPr/>
          <a:lstStyle/>
          <a:p>
            <a:endParaRPr lang="de-DE"/>
          </a:p>
        </p:txBody>
      </p:sp>
      <p:sp>
        <p:nvSpPr>
          <p:cNvPr id="19" name="Bildplatzhalter 3">
            <a:extLst>
              <a:ext uri="{FF2B5EF4-FFF2-40B4-BE49-F238E27FC236}">
                <a16:creationId xmlns:a16="http://schemas.microsoft.com/office/drawing/2014/main" id="{CF69278E-D2C2-D542-8B28-9B430699213A}"/>
              </a:ext>
            </a:extLst>
          </p:cNvPr>
          <p:cNvSpPr>
            <a:spLocks noGrp="1"/>
          </p:cNvSpPr>
          <p:nvPr>
            <p:ph type="pic" sz="quarter" idx="28"/>
          </p:nvPr>
        </p:nvSpPr>
        <p:spPr>
          <a:xfrm>
            <a:off x="6775588" y="1138990"/>
            <a:ext cx="1973125" cy="1748590"/>
          </a:xfrm>
        </p:spPr>
        <p:txBody>
          <a:bodyPr/>
          <a:lstStyle/>
          <a:p>
            <a:endParaRPr lang="de-DE"/>
          </a:p>
        </p:txBody>
      </p:sp>
      <p:sp>
        <p:nvSpPr>
          <p:cNvPr id="24" name="Bildplatzhalter 3">
            <a:extLst>
              <a:ext uri="{FF2B5EF4-FFF2-40B4-BE49-F238E27FC236}">
                <a16:creationId xmlns:a16="http://schemas.microsoft.com/office/drawing/2014/main" id="{C1B5A0D8-8609-6D4A-8558-4C297036DE9B}"/>
              </a:ext>
            </a:extLst>
          </p:cNvPr>
          <p:cNvSpPr>
            <a:spLocks noGrp="1"/>
          </p:cNvSpPr>
          <p:nvPr>
            <p:ph type="pic" sz="quarter" idx="29"/>
          </p:nvPr>
        </p:nvSpPr>
        <p:spPr>
          <a:xfrm>
            <a:off x="6775588" y="3055185"/>
            <a:ext cx="1973125" cy="1748590"/>
          </a:xfrm>
        </p:spPr>
        <p:txBody>
          <a:bodyPr/>
          <a:lstStyle/>
          <a:p>
            <a:endParaRPr lang="de-DE"/>
          </a:p>
        </p:txBody>
      </p:sp>
    </p:spTree>
    <p:extLst>
      <p:ext uri="{BB962C8B-B14F-4D97-AF65-F5344CB8AC3E}">
        <p14:creationId xmlns:p14="http://schemas.microsoft.com/office/powerpoint/2010/main" val="1833831435"/>
      </p:ext>
    </p:extLst>
  </p:cSld>
  <p:clrMapOvr>
    <a:masterClrMapping/>
  </p:clrMapOvr>
  <p:extLst>
    <p:ext uri="{DCECCB84-F9BA-43D5-87BE-67443E8EF086}">
      <p15:sldGuideLst xmlns:p15="http://schemas.microsoft.com/office/powerpoint/2012/main">
        <p15:guide id="2" pos="5511" userDrawn="1">
          <p15:clr>
            <a:srgbClr val="FBAE40"/>
          </p15:clr>
        </p15:guide>
        <p15:guide id="3" pos="249" userDrawn="1">
          <p15:clr>
            <a:srgbClr val="FBAE40"/>
          </p15:clr>
        </p15:guide>
        <p15:guide id="4" orient="horz" pos="191" userDrawn="1">
          <p15:clr>
            <a:srgbClr val="FBAE40"/>
          </p15:clr>
        </p15:guide>
        <p15:guide id="5" orient="horz" pos="713" userDrawn="1">
          <p15:clr>
            <a:srgbClr val="FBAE40"/>
          </p15:clr>
        </p15:guide>
        <p15:guide id="6" orient="horz" pos="3026" userDrawn="1">
          <p15:clr>
            <a:srgbClr val="FBAE40"/>
          </p15:clr>
        </p15:guide>
        <p15:guide id="7" pos="2925"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Inhalt_5_4-spalti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403380" y="303213"/>
            <a:ext cx="7432604" cy="611187"/>
          </a:xfrm>
        </p:spPr>
        <p:txBody>
          <a:bodyPr anchor="t" anchorCtr="0"/>
          <a:lstStyle>
            <a:lvl1pPr algn="l">
              <a:defRPr sz="2100" baseline="0">
                <a:solidFill>
                  <a:schemeClr val="tx1"/>
                </a:solidFill>
              </a:defRPr>
            </a:lvl1pPr>
          </a:lstStyle>
          <a:p>
            <a:r>
              <a:rPr lang="de-DE" dirty="0"/>
              <a:t>Haupttitel einfügen</a:t>
            </a:r>
            <a:br>
              <a:rPr lang="de-DE" dirty="0"/>
            </a:br>
            <a:r>
              <a:rPr lang="de-DE" dirty="0"/>
              <a:t>Beispiel zweizeilig</a:t>
            </a:r>
            <a:endParaRPr lang="en-US" dirty="0"/>
          </a:p>
        </p:txBody>
      </p:sp>
      <p:sp>
        <p:nvSpPr>
          <p:cNvPr id="18" name="Inhaltsplatzhalter 8">
            <a:extLst>
              <a:ext uri="{FF2B5EF4-FFF2-40B4-BE49-F238E27FC236}">
                <a16:creationId xmlns:a16="http://schemas.microsoft.com/office/drawing/2014/main" id="{A62DF91A-B0B2-FF4C-93E2-B9F927EE580B}"/>
              </a:ext>
            </a:extLst>
          </p:cNvPr>
          <p:cNvSpPr>
            <a:spLocks noGrp="1"/>
          </p:cNvSpPr>
          <p:nvPr>
            <p:ph sz="quarter" idx="15"/>
          </p:nvPr>
        </p:nvSpPr>
        <p:spPr>
          <a:xfrm>
            <a:off x="395289" y="1131887"/>
            <a:ext cx="4104044" cy="1696091"/>
          </a:xfrm>
        </p:spPr>
        <p:txBody>
          <a:bodyPr>
            <a:noAutofit/>
          </a:bodyPr>
          <a:lstStyle>
            <a:lvl1pPr>
              <a:defRPr sz="1800" baseline="0"/>
            </a:lvl1pPr>
            <a:lvl2pPr>
              <a:defRPr sz="1800" baseline="0"/>
            </a:lvl2pPr>
            <a:lvl3pPr>
              <a:defRPr sz="1800"/>
            </a:lvl3pPr>
            <a:lvl4pPr>
              <a:defRPr sz="1800"/>
            </a:lvl4pPr>
            <a:lvl5pPr>
              <a:defRPr sz="1800"/>
            </a:lvl5p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32" name="Bildplatzhalter 3">
            <a:extLst>
              <a:ext uri="{FF2B5EF4-FFF2-40B4-BE49-F238E27FC236}">
                <a16:creationId xmlns:a16="http://schemas.microsoft.com/office/drawing/2014/main" id="{02BECAA8-B05F-894F-A303-752FA1506B63}"/>
              </a:ext>
            </a:extLst>
          </p:cNvPr>
          <p:cNvSpPr>
            <a:spLocks noGrp="1"/>
          </p:cNvSpPr>
          <p:nvPr>
            <p:ph type="pic" sz="quarter" idx="25"/>
          </p:nvPr>
        </p:nvSpPr>
        <p:spPr>
          <a:xfrm>
            <a:off x="4657789" y="2967258"/>
            <a:ext cx="1973125" cy="1836517"/>
          </a:xfrm>
        </p:spPr>
        <p:txBody>
          <a:bodyPr/>
          <a:lstStyle/>
          <a:p>
            <a:endParaRPr lang="de-DE"/>
          </a:p>
        </p:txBody>
      </p:sp>
      <p:sp>
        <p:nvSpPr>
          <p:cNvPr id="33" name="Bildplatzhalter 3">
            <a:extLst>
              <a:ext uri="{FF2B5EF4-FFF2-40B4-BE49-F238E27FC236}">
                <a16:creationId xmlns:a16="http://schemas.microsoft.com/office/drawing/2014/main" id="{88B1D2C0-15B0-3942-8880-C8BE4C49434D}"/>
              </a:ext>
            </a:extLst>
          </p:cNvPr>
          <p:cNvSpPr>
            <a:spLocks noGrp="1"/>
          </p:cNvSpPr>
          <p:nvPr>
            <p:ph type="pic" sz="quarter" idx="26"/>
          </p:nvPr>
        </p:nvSpPr>
        <p:spPr>
          <a:xfrm>
            <a:off x="6775588" y="2967258"/>
            <a:ext cx="1973125" cy="1836517"/>
          </a:xfrm>
        </p:spPr>
        <p:txBody>
          <a:bodyPr/>
          <a:lstStyle/>
          <a:p>
            <a:endParaRPr lang="de-DE"/>
          </a:p>
        </p:txBody>
      </p:sp>
      <p:sp>
        <p:nvSpPr>
          <p:cNvPr id="14" name="Bildplatzhalter 3">
            <a:extLst>
              <a:ext uri="{FF2B5EF4-FFF2-40B4-BE49-F238E27FC236}">
                <a16:creationId xmlns:a16="http://schemas.microsoft.com/office/drawing/2014/main" id="{E6E39A3D-FEB4-8C4E-B671-C0784913AF85}"/>
              </a:ext>
            </a:extLst>
          </p:cNvPr>
          <p:cNvSpPr>
            <a:spLocks noGrp="1"/>
          </p:cNvSpPr>
          <p:nvPr>
            <p:ph type="pic" sz="quarter" idx="27"/>
          </p:nvPr>
        </p:nvSpPr>
        <p:spPr>
          <a:xfrm>
            <a:off x="401344" y="2967258"/>
            <a:ext cx="1973125" cy="1836517"/>
          </a:xfrm>
        </p:spPr>
        <p:txBody>
          <a:bodyPr/>
          <a:lstStyle/>
          <a:p>
            <a:endParaRPr lang="de-DE"/>
          </a:p>
        </p:txBody>
      </p:sp>
      <p:sp>
        <p:nvSpPr>
          <p:cNvPr id="15" name="Bildplatzhalter 3">
            <a:extLst>
              <a:ext uri="{FF2B5EF4-FFF2-40B4-BE49-F238E27FC236}">
                <a16:creationId xmlns:a16="http://schemas.microsoft.com/office/drawing/2014/main" id="{D4ADE4EC-101B-6D4B-A9CC-0DA708FF91EE}"/>
              </a:ext>
            </a:extLst>
          </p:cNvPr>
          <p:cNvSpPr>
            <a:spLocks noGrp="1"/>
          </p:cNvSpPr>
          <p:nvPr>
            <p:ph type="pic" sz="quarter" idx="28"/>
          </p:nvPr>
        </p:nvSpPr>
        <p:spPr>
          <a:xfrm>
            <a:off x="2519143" y="2967258"/>
            <a:ext cx="1973125" cy="1836517"/>
          </a:xfrm>
        </p:spPr>
        <p:txBody>
          <a:bodyPr/>
          <a:lstStyle/>
          <a:p>
            <a:endParaRPr lang="de-DE"/>
          </a:p>
        </p:txBody>
      </p:sp>
      <p:sp>
        <p:nvSpPr>
          <p:cNvPr id="16" name="Inhaltsplatzhalter 8">
            <a:extLst>
              <a:ext uri="{FF2B5EF4-FFF2-40B4-BE49-F238E27FC236}">
                <a16:creationId xmlns:a16="http://schemas.microsoft.com/office/drawing/2014/main" id="{C1AE140F-9F9D-3A40-A45B-D2E71FB12701}"/>
              </a:ext>
            </a:extLst>
          </p:cNvPr>
          <p:cNvSpPr>
            <a:spLocks noGrp="1"/>
          </p:cNvSpPr>
          <p:nvPr>
            <p:ph sz="quarter" idx="29"/>
          </p:nvPr>
        </p:nvSpPr>
        <p:spPr>
          <a:xfrm>
            <a:off x="4644669" y="1131887"/>
            <a:ext cx="4104044" cy="1696091"/>
          </a:xfrm>
        </p:spPr>
        <p:txBody>
          <a:bodyPr>
            <a:noAutofit/>
          </a:bodyPr>
          <a:lstStyle>
            <a:lvl1pPr>
              <a:defRPr sz="1800" baseline="0"/>
            </a:lvl1pPr>
            <a:lvl2pPr>
              <a:defRPr sz="1800" baseline="0"/>
            </a:lvl2pPr>
            <a:lvl3pPr>
              <a:defRPr sz="1800"/>
            </a:lvl3pPr>
            <a:lvl4pPr>
              <a:defRPr sz="1800"/>
            </a:lvl4pPr>
            <a:lvl5pPr>
              <a:defRPr sz="1800"/>
            </a:lvl5p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19" name="Vertikaler Textplatzhalter 13">
            <a:extLst>
              <a:ext uri="{FF2B5EF4-FFF2-40B4-BE49-F238E27FC236}">
                <a16:creationId xmlns:a16="http://schemas.microsoft.com/office/drawing/2014/main" id="{A9EC5628-A581-F84A-A69E-4087D65DB0D4}"/>
              </a:ext>
            </a:extLst>
          </p:cNvPr>
          <p:cNvSpPr>
            <a:spLocks noGrp="1"/>
          </p:cNvSpPr>
          <p:nvPr>
            <p:ph type="body" orient="vert" sz="quarter" idx="18"/>
          </p:nvPr>
        </p:nvSpPr>
        <p:spPr>
          <a:xfrm rot="10800000">
            <a:off x="8754499" y="1192192"/>
            <a:ext cx="221667" cy="3611583"/>
          </a:xfrm>
        </p:spPr>
        <p:txBody>
          <a:bodyPr vert="eaVert">
            <a:normAutofit/>
          </a:bodyPr>
          <a:lstStyle>
            <a:lvl1pPr marL="0" indent="0">
              <a:buFontTx/>
              <a:buNone/>
              <a:defRPr sz="700" baseline="0">
                <a:solidFill>
                  <a:schemeClr val="bg1">
                    <a:lumMod val="75000"/>
                  </a:schemeClr>
                </a:solidFill>
              </a:defRPr>
            </a:lvl1pPr>
          </a:lstStyle>
          <a:p>
            <a:pPr lvl="0"/>
            <a:r>
              <a:rPr lang="de-DE" dirty="0"/>
              <a:t>Mastertextformat bearbeiten</a:t>
            </a:r>
          </a:p>
        </p:txBody>
      </p:sp>
      <p:sp>
        <p:nvSpPr>
          <p:cNvPr id="22" name="Rechteck 21">
            <a:extLst>
              <a:ext uri="{FF2B5EF4-FFF2-40B4-BE49-F238E27FC236}">
                <a16:creationId xmlns:a16="http://schemas.microsoft.com/office/drawing/2014/main" id="{AC10869A-EE2A-B047-8C2F-73042413B3AB}"/>
              </a:ext>
            </a:extLst>
          </p:cNvPr>
          <p:cNvSpPr/>
          <p:nvPr userDrawn="1"/>
        </p:nvSpPr>
        <p:spPr>
          <a:xfrm>
            <a:off x="8518524" y="4971106"/>
            <a:ext cx="230187" cy="120513"/>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3" name="Date Placeholder 3">
            <a:extLst>
              <a:ext uri="{FF2B5EF4-FFF2-40B4-BE49-F238E27FC236}">
                <a16:creationId xmlns:a16="http://schemas.microsoft.com/office/drawing/2014/main" id="{5C47DB4A-3D96-EA44-B811-0018B89D6B28}"/>
              </a:ext>
            </a:extLst>
          </p:cNvPr>
          <p:cNvSpPr>
            <a:spLocks noGrp="1"/>
          </p:cNvSpPr>
          <p:nvPr>
            <p:ph type="dt" sz="half" idx="10"/>
          </p:nvPr>
        </p:nvSpPr>
        <p:spPr>
          <a:xfrm>
            <a:off x="7701332" y="4978682"/>
            <a:ext cx="826083" cy="122236"/>
          </a:xfrm>
          <a:prstGeom prst="rect">
            <a:avLst/>
          </a:prstGeom>
        </p:spPr>
        <p:txBody>
          <a:bodyPr/>
          <a:lstStyle>
            <a:lvl1pPr>
              <a:defRPr sz="900" baseline="0"/>
            </a:lvl1pPr>
          </a:lstStyle>
          <a:p>
            <a:r>
              <a:rPr lang="en-US"/>
              <a:t>18.08.2025</a:t>
            </a:r>
            <a:endParaRPr lang="de-DE" dirty="0"/>
          </a:p>
        </p:txBody>
      </p:sp>
      <p:sp>
        <p:nvSpPr>
          <p:cNvPr id="25" name="Footer Placeholder 4">
            <a:extLst>
              <a:ext uri="{FF2B5EF4-FFF2-40B4-BE49-F238E27FC236}">
                <a16:creationId xmlns:a16="http://schemas.microsoft.com/office/drawing/2014/main" id="{644EA2FF-D859-0B40-BBEC-B72A7936D2B9}"/>
              </a:ext>
            </a:extLst>
          </p:cNvPr>
          <p:cNvSpPr>
            <a:spLocks noGrp="1"/>
          </p:cNvSpPr>
          <p:nvPr>
            <p:ph type="ftr" sz="quarter" idx="11"/>
          </p:nvPr>
        </p:nvSpPr>
        <p:spPr>
          <a:xfrm>
            <a:off x="395288" y="4978682"/>
            <a:ext cx="7246916" cy="120158"/>
          </a:xfrm>
          <a:prstGeom prst="rect">
            <a:avLst/>
          </a:prstGeom>
        </p:spPr>
        <p:txBody>
          <a:bodyPr/>
          <a:lstStyle>
            <a:lvl1pPr>
              <a:defRPr sz="900" baseline="0"/>
            </a:lvl1pPr>
          </a:lstStyle>
          <a:p>
            <a:r>
              <a:rPr lang="en-US"/>
              <a:t>Enhancing model transparency: Effects of DK Integration for Conversational XAI | Feustel</a:t>
            </a:r>
            <a:endParaRPr lang="de-DE" dirty="0"/>
          </a:p>
        </p:txBody>
      </p:sp>
      <p:sp>
        <p:nvSpPr>
          <p:cNvPr id="26" name="Slide Number Placeholder 5">
            <a:extLst>
              <a:ext uri="{FF2B5EF4-FFF2-40B4-BE49-F238E27FC236}">
                <a16:creationId xmlns:a16="http://schemas.microsoft.com/office/drawing/2014/main" id="{01F0B857-13BE-E845-B684-81BD0AF15A53}"/>
              </a:ext>
            </a:extLst>
          </p:cNvPr>
          <p:cNvSpPr>
            <a:spLocks noGrp="1"/>
          </p:cNvSpPr>
          <p:nvPr>
            <p:ph type="sldNum" sz="quarter" idx="12"/>
          </p:nvPr>
        </p:nvSpPr>
        <p:spPr>
          <a:xfrm>
            <a:off x="8495030" y="4978682"/>
            <a:ext cx="212654" cy="136107"/>
          </a:xfrm>
          <a:prstGeom prst="rect">
            <a:avLst/>
          </a:prstGeom>
        </p:spPr>
        <p:txBody>
          <a:bodyPr/>
          <a:lstStyle>
            <a:lvl1pPr algn="r">
              <a:defRPr sz="700" baseline="0">
                <a:solidFill>
                  <a:schemeClr val="bg1"/>
                </a:solidFill>
              </a:defRPr>
            </a:lvl1pPr>
          </a:lstStyle>
          <a:p>
            <a:r>
              <a:rPr lang="de-DE" dirty="0"/>
              <a:t> </a:t>
            </a:r>
            <a:fld id="{FE120BDC-5456-EC41-8BB6-7A3B726EA19B}" type="slidenum">
              <a:rPr lang="de-DE" smtClean="0"/>
              <a:pPr/>
              <a:t>‹Nr.›</a:t>
            </a:fld>
            <a:endParaRPr lang="de-DE" dirty="0"/>
          </a:p>
        </p:txBody>
      </p:sp>
      <p:cxnSp>
        <p:nvCxnSpPr>
          <p:cNvPr id="27" name="Gerade Verbindung 26">
            <a:extLst>
              <a:ext uri="{FF2B5EF4-FFF2-40B4-BE49-F238E27FC236}">
                <a16:creationId xmlns:a16="http://schemas.microsoft.com/office/drawing/2014/main" id="{0FC4953C-11F5-5F49-80FA-4FCB261E6700}"/>
              </a:ext>
            </a:extLst>
          </p:cNvPr>
          <p:cNvCxnSpPr/>
          <p:nvPr userDrawn="1"/>
        </p:nvCxnSpPr>
        <p:spPr>
          <a:xfrm>
            <a:off x="395288" y="4969853"/>
            <a:ext cx="8353425" cy="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85560569"/>
      </p:ext>
    </p:extLst>
  </p:cSld>
  <p:clrMapOvr>
    <a:masterClrMapping/>
  </p:clrMapOvr>
  <p:extLst>
    <p:ext uri="{DCECCB84-F9BA-43D5-87BE-67443E8EF086}">
      <p15:sldGuideLst xmlns:p15="http://schemas.microsoft.com/office/powerpoint/2012/main">
        <p15:guide id="2" pos="5511" userDrawn="1">
          <p15:clr>
            <a:srgbClr val="FBAE40"/>
          </p15:clr>
        </p15:guide>
        <p15:guide id="3" pos="249" userDrawn="1">
          <p15:clr>
            <a:srgbClr val="FBAE40"/>
          </p15:clr>
        </p15:guide>
        <p15:guide id="4" orient="horz" pos="191" userDrawn="1">
          <p15:clr>
            <a:srgbClr val="FBAE40"/>
          </p15:clr>
        </p15:guide>
        <p15:guide id="5" orient="horz" pos="713" userDrawn="1">
          <p15:clr>
            <a:srgbClr val="FBAE40"/>
          </p15:clr>
        </p15:guide>
        <p15:guide id="6" orient="horz" pos="3026" userDrawn="1">
          <p15:clr>
            <a:srgbClr val="FBAE40"/>
          </p15:clr>
        </p15:guide>
        <p15:guide id="7" pos="2925"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Inhalt_6_2-spalti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403380" y="303213"/>
            <a:ext cx="7432604" cy="611187"/>
          </a:xfrm>
        </p:spPr>
        <p:txBody>
          <a:bodyPr anchor="t" anchorCtr="0"/>
          <a:lstStyle>
            <a:lvl1pPr algn="l">
              <a:defRPr sz="2100" baseline="0">
                <a:solidFill>
                  <a:schemeClr val="tx1"/>
                </a:solidFill>
              </a:defRPr>
            </a:lvl1pPr>
          </a:lstStyle>
          <a:p>
            <a:r>
              <a:rPr lang="de-DE" dirty="0"/>
              <a:t>Haupttitel einfügen</a:t>
            </a:r>
            <a:br>
              <a:rPr lang="de-DE" dirty="0"/>
            </a:br>
            <a:r>
              <a:rPr lang="de-DE" dirty="0"/>
              <a:t>Beispiel zweizeilig</a:t>
            </a:r>
            <a:endParaRPr lang="en-US" dirty="0"/>
          </a:p>
        </p:txBody>
      </p:sp>
      <p:sp>
        <p:nvSpPr>
          <p:cNvPr id="18" name="Inhaltsplatzhalter 8">
            <a:extLst>
              <a:ext uri="{FF2B5EF4-FFF2-40B4-BE49-F238E27FC236}">
                <a16:creationId xmlns:a16="http://schemas.microsoft.com/office/drawing/2014/main" id="{A62DF91A-B0B2-FF4C-93E2-B9F927EE580B}"/>
              </a:ext>
            </a:extLst>
          </p:cNvPr>
          <p:cNvSpPr>
            <a:spLocks noGrp="1"/>
          </p:cNvSpPr>
          <p:nvPr>
            <p:ph sz="quarter" idx="15"/>
          </p:nvPr>
        </p:nvSpPr>
        <p:spPr>
          <a:xfrm>
            <a:off x="2519363" y="1139824"/>
            <a:ext cx="6229350" cy="1106071"/>
          </a:xfrm>
        </p:spPr>
        <p:txBody>
          <a:bodyPr>
            <a:noAutofit/>
          </a:bodyPr>
          <a:lstStyle>
            <a:lvl1pPr>
              <a:defRPr sz="1800" baseline="0"/>
            </a:lvl1pPr>
          </a:lstStyle>
          <a:p>
            <a:pPr lvl="0"/>
            <a:r>
              <a:rPr lang="de-DE" dirty="0"/>
              <a:t>Mastertextformat bearbeiten</a:t>
            </a:r>
          </a:p>
        </p:txBody>
      </p:sp>
      <p:sp>
        <p:nvSpPr>
          <p:cNvPr id="20" name="Bildplatzhalter 3">
            <a:extLst>
              <a:ext uri="{FF2B5EF4-FFF2-40B4-BE49-F238E27FC236}">
                <a16:creationId xmlns:a16="http://schemas.microsoft.com/office/drawing/2014/main" id="{303CC690-6ACE-404F-BAB6-D72A58A0E04E}"/>
              </a:ext>
            </a:extLst>
          </p:cNvPr>
          <p:cNvSpPr>
            <a:spLocks noGrp="1"/>
          </p:cNvSpPr>
          <p:nvPr>
            <p:ph type="pic" sz="quarter" idx="28"/>
          </p:nvPr>
        </p:nvSpPr>
        <p:spPr>
          <a:xfrm>
            <a:off x="402908" y="1138988"/>
            <a:ext cx="1973125" cy="1110147"/>
          </a:xfrm>
        </p:spPr>
        <p:txBody>
          <a:bodyPr/>
          <a:lstStyle/>
          <a:p>
            <a:endParaRPr lang="de-DE"/>
          </a:p>
        </p:txBody>
      </p:sp>
      <p:sp>
        <p:nvSpPr>
          <p:cNvPr id="24" name="Inhaltsplatzhalter 8">
            <a:extLst>
              <a:ext uri="{FF2B5EF4-FFF2-40B4-BE49-F238E27FC236}">
                <a16:creationId xmlns:a16="http://schemas.microsoft.com/office/drawing/2014/main" id="{87645B6A-2033-4840-849C-1F554BF1A528}"/>
              </a:ext>
            </a:extLst>
          </p:cNvPr>
          <p:cNvSpPr>
            <a:spLocks noGrp="1"/>
          </p:cNvSpPr>
          <p:nvPr>
            <p:ph sz="quarter" idx="30"/>
          </p:nvPr>
        </p:nvSpPr>
        <p:spPr>
          <a:xfrm>
            <a:off x="2519363" y="2414337"/>
            <a:ext cx="6229350" cy="1122947"/>
          </a:xfrm>
        </p:spPr>
        <p:txBody>
          <a:bodyPr>
            <a:noAutofit/>
          </a:bodyPr>
          <a:lstStyle>
            <a:lvl1pPr>
              <a:defRPr sz="1800" baseline="0"/>
            </a:lvl1pPr>
          </a:lstStyle>
          <a:p>
            <a:pPr lvl="0"/>
            <a:r>
              <a:rPr lang="de-DE" dirty="0"/>
              <a:t>Mastertextformat bearbeiten</a:t>
            </a:r>
          </a:p>
        </p:txBody>
      </p:sp>
      <p:sp>
        <p:nvSpPr>
          <p:cNvPr id="28" name="Inhaltsplatzhalter 8">
            <a:extLst>
              <a:ext uri="{FF2B5EF4-FFF2-40B4-BE49-F238E27FC236}">
                <a16:creationId xmlns:a16="http://schemas.microsoft.com/office/drawing/2014/main" id="{BFC1FE68-4E7B-1F4E-A9E4-9BE064B2F65E}"/>
              </a:ext>
            </a:extLst>
          </p:cNvPr>
          <p:cNvSpPr>
            <a:spLocks noGrp="1"/>
          </p:cNvSpPr>
          <p:nvPr>
            <p:ph sz="quarter" idx="31"/>
          </p:nvPr>
        </p:nvSpPr>
        <p:spPr>
          <a:xfrm>
            <a:off x="2519363" y="3689684"/>
            <a:ext cx="6229350" cy="1114091"/>
          </a:xfrm>
        </p:spPr>
        <p:txBody>
          <a:bodyPr>
            <a:noAutofit/>
          </a:bodyPr>
          <a:lstStyle>
            <a:lvl1pPr>
              <a:defRPr sz="1800" baseline="0"/>
            </a:lvl1pPr>
          </a:lstStyle>
          <a:p>
            <a:pPr lvl="0"/>
            <a:r>
              <a:rPr lang="de-DE" dirty="0"/>
              <a:t>Mastertextformat bearbeiten</a:t>
            </a:r>
          </a:p>
        </p:txBody>
      </p:sp>
      <p:sp>
        <p:nvSpPr>
          <p:cNvPr id="16" name="Vertikaler Textplatzhalter 13">
            <a:extLst>
              <a:ext uri="{FF2B5EF4-FFF2-40B4-BE49-F238E27FC236}">
                <a16:creationId xmlns:a16="http://schemas.microsoft.com/office/drawing/2014/main" id="{442D2BAC-8A02-674E-930D-BE651DB3B62F}"/>
              </a:ext>
            </a:extLst>
          </p:cNvPr>
          <p:cNvSpPr>
            <a:spLocks noGrp="1"/>
          </p:cNvSpPr>
          <p:nvPr>
            <p:ph type="body" orient="vert" sz="quarter" idx="18"/>
          </p:nvPr>
        </p:nvSpPr>
        <p:spPr>
          <a:xfrm rot="10800000">
            <a:off x="8754500" y="1684117"/>
            <a:ext cx="140644" cy="3108084"/>
          </a:xfrm>
        </p:spPr>
        <p:txBody>
          <a:bodyPr vert="eaVert">
            <a:normAutofit/>
          </a:bodyPr>
          <a:lstStyle>
            <a:lvl1pPr marL="0" indent="0">
              <a:buFontTx/>
              <a:buNone/>
              <a:defRPr sz="700" baseline="0">
                <a:solidFill>
                  <a:schemeClr val="bg1">
                    <a:lumMod val="75000"/>
                  </a:schemeClr>
                </a:solidFill>
              </a:defRPr>
            </a:lvl1pPr>
          </a:lstStyle>
          <a:p>
            <a:pPr lvl="0"/>
            <a:r>
              <a:rPr lang="de-DE" dirty="0"/>
              <a:t>Mastertextformat bearbeiten</a:t>
            </a:r>
          </a:p>
        </p:txBody>
      </p:sp>
      <p:sp>
        <p:nvSpPr>
          <p:cNvPr id="15" name="Rechteck 14">
            <a:extLst>
              <a:ext uri="{FF2B5EF4-FFF2-40B4-BE49-F238E27FC236}">
                <a16:creationId xmlns:a16="http://schemas.microsoft.com/office/drawing/2014/main" id="{151F68BD-9BF8-7F41-BD66-FD43054126A5}"/>
              </a:ext>
            </a:extLst>
          </p:cNvPr>
          <p:cNvSpPr/>
          <p:nvPr userDrawn="1"/>
        </p:nvSpPr>
        <p:spPr>
          <a:xfrm>
            <a:off x="8518524" y="4971106"/>
            <a:ext cx="230187" cy="120513"/>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2" name="Date Placeholder 3">
            <a:extLst>
              <a:ext uri="{FF2B5EF4-FFF2-40B4-BE49-F238E27FC236}">
                <a16:creationId xmlns:a16="http://schemas.microsoft.com/office/drawing/2014/main" id="{AE6F048F-FCA2-3E4C-A482-C94E033476A1}"/>
              </a:ext>
            </a:extLst>
          </p:cNvPr>
          <p:cNvSpPr>
            <a:spLocks noGrp="1"/>
          </p:cNvSpPr>
          <p:nvPr>
            <p:ph type="dt" sz="half" idx="10"/>
          </p:nvPr>
        </p:nvSpPr>
        <p:spPr>
          <a:xfrm>
            <a:off x="7701332" y="4978682"/>
            <a:ext cx="826083" cy="122236"/>
          </a:xfrm>
          <a:prstGeom prst="rect">
            <a:avLst/>
          </a:prstGeom>
        </p:spPr>
        <p:txBody>
          <a:bodyPr/>
          <a:lstStyle>
            <a:lvl1pPr>
              <a:defRPr sz="900" baseline="0"/>
            </a:lvl1pPr>
          </a:lstStyle>
          <a:p>
            <a:r>
              <a:rPr lang="en-US"/>
              <a:t>18.08.2025</a:t>
            </a:r>
            <a:endParaRPr lang="de-DE" dirty="0"/>
          </a:p>
        </p:txBody>
      </p:sp>
      <p:sp>
        <p:nvSpPr>
          <p:cNvPr id="23" name="Footer Placeholder 4">
            <a:extLst>
              <a:ext uri="{FF2B5EF4-FFF2-40B4-BE49-F238E27FC236}">
                <a16:creationId xmlns:a16="http://schemas.microsoft.com/office/drawing/2014/main" id="{CE556AAB-7563-4D49-88BC-65D3EA21958A}"/>
              </a:ext>
            </a:extLst>
          </p:cNvPr>
          <p:cNvSpPr>
            <a:spLocks noGrp="1"/>
          </p:cNvSpPr>
          <p:nvPr>
            <p:ph type="ftr" sz="quarter" idx="11"/>
          </p:nvPr>
        </p:nvSpPr>
        <p:spPr>
          <a:xfrm>
            <a:off x="395288" y="4978682"/>
            <a:ext cx="7246916" cy="120158"/>
          </a:xfrm>
          <a:prstGeom prst="rect">
            <a:avLst/>
          </a:prstGeom>
        </p:spPr>
        <p:txBody>
          <a:bodyPr/>
          <a:lstStyle>
            <a:lvl1pPr>
              <a:defRPr sz="900" baseline="0"/>
            </a:lvl1pPr>
          </a:lstStyle>
          <a:p>
            <a:r>
              <a:rPr lang="en-US"/>
              <a:t>Enhancing model transparency: Effects of DK Integration for Conversational XAI | Feustel</a:t>
            </a:r>
            <a:endParaRPr lang="de-DE" dirty="0"/>
          </a:p>
        </p:txBody>
      </p:sp>
      <p:sp>
        <p:nvSpPr>
          <p:cNvPr id="25" name="Slide Number Placeholder 5">
            <a:extLst>
              <a:ext uri="{FF2B5EF4-FFF2-40B4-BE49-F238E27FC236}">
                <a16:creationId xmlns:a16="http://schemas.microsoft.com/office/drawing/2014/main" id="{B505D30C-93FA-644F-B4BA-E0B9604CBF9B}"/>
              </a:ext>
            </a:extLst>
          </p:cNvPr>
          <p:cNvSpPr>
            <a:spLocks noGrp="1"/>
          </p:cNvSpPr>
          <p:nvPr>
            <p:ph type="sldNum" sz="quarter" idx="12"/>
          </p:nvPr>
        </p:nvSpPr>
        <p:spPr>
          <a:xfrm>
            <a:off x="8495030" y="4978682"/>
            <a:ext cx="212654" cy="136107"/>
          </a:xfrm>
          <a:prstGeom prst="rect">
            <a:avLst/>
          </a:prstGeom>
        </p:spPr>
        <p:txBody>
          <a:bodyPr/>
          <a:lstStyle>
            <a:lvl1pPr algn="r">
              <a:defRPr sz="700" baseline="0">
                <a:solidFill>
                  <a:schemeClr val="bg1"/>
                </a:solidFill>
              </a:defRPr>
            </a:lvl1pPr>
          </a:lstStyle>
          <a:p>
            <a:r>
              <a:rPr lang="de-DE" dirty="0"/>
              <a:t> </a:t>
            </a:r>
            <a:fld id="{FE120BDC-5456-EC41-8BB6-7A3B726EA19B}" type="slidenum">
              <a:rPr lang="de-DE" smtClean="0"/>
              <a:pPr/>
              <a:t>‹Nr.›</a:t>
            </a:fld>
            <a:endParaRPr lang="de-DE" dirty="0"/>
          </a:p>
        </p:txBody>
      </p:sp>
      <p:cxnSp>
        <p:nvCxnSpPr>
          <p:cNvPr id="26" name="Gerade Verbindung 25">
            <a:extLst>
              <a:ext uri="{FF2B5EF4-FFF2-40B4-BE49-F238E27FC236}">
                <a16:creationId xmlns:a16="http://schemas.microsoft.com/office/drawing/2014/main" id="{AEBBF353-82D0-204D-9F82-93761CE2A8C4}"/>
              </a:ext>
            </a:extLst>
          </p:cNvPr>
          <p:cNvCxnSpPr/>
          <p:nvPr userDrawn="1"/>
        </p:nvCxnSpPr>
        <p:spPr>
          <a:xfrm>
            <a:off x="395288" y="4969853"/>
            <a:ext cx="8353425" cy="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7" name="Bildplatzhalter 3">
            <a:extLst>
              <a:ext uri="{FF2B5EF4-FFF2-40B4-BE49-F238E27FC236}">
                <a16:creationId xmlns:a16="http://schemas.microsoft.com/office/drawing/2014/main" id="{A133D1F5-F831-3343-9517-E0AB76EC8529}"/>
              </a:ext>
            </a:extLst>
          </p:cNvPr>
          <p:cNvSpPr>
            <a:spLocks noGrp="1"/>
          </p:cNvSpPr>
          <p:nvPr>
            <p:ph type="pic" sz="quarter" idx="32"/>
          </p:nvPr>
        </p:nvSpPr>
        <p:spPr>
          <a:xfrm>
            <a:off x="395288" y="3693628"/>
            <a:ext cx="1973125" cy="1110147"/>
          </a:xfrm>
        </p:spPr>
        <p:txBody>
          <a:bodyPr/>
          <a:lstStyle/>
          <a:p>
            <a:endParaRPr lang="de-DE"/>
          </a:p>
        </p:txBody>
      </p:sp>
      <p:sp>
        <p:nvSpPr>
          <p:cNvPr id="19" name="Bildplatzhalter 3">
            <a:extLst>
              <a:ext uri="{FF2B5EF4-FFF2-40B4-BE49-F238E27FC236}">
                <a16:creationId xmlns:a16="http://schemas.microsoft.com/office/drawing/2014/main" id="{35E4D7FB-EB64-6D41-B906-9867681988C9}"/>
              </a:ext>
            </a:extLst>
          </p:cNvPr>
          <p:cNvSpPr>
            <a:spLocks noGrp="1"/>
          </p:cNvSpPr>
          <p:nvPr>
            <p:ph type="pic" sz="quarter" idx="33"/>
          </p:nvPr>
        </p:nvSpPr>
        <p:spPr>
          <a:xfrm>
            <a:off x="395288" y="2422356"/>
            <a:ext cx="1973125" cy="1110147"/>
          </a:xfrm>
        </p:spPr>
        <p:txBody>
          <a:bodyPr/>
          <a:lstStyle/>
          <a:p>
            <a:endParaRPr lang="de-DE"/>
          </a:p>
        </p:txBody>
      </p:sp>
    </p:spTree>
    <p:extLst>
      <p:ext uri="{BB962C8B-B14F-4D97-AF65-F5344CB8AC3E}">
        <p14:creationId xmlns:p14="http://schemas.microsoft.com/office/powerpoint/2010/main" val="4063425441"/>
      </p:ext>
    </p:extLst>
  </p:cSld>
  <p:clrMapOvr>
    <a:masterClrMapping/>
  </p:clrMapOvr>
  <p:extLst>
    <p:ext uri="{DCECCB84-F9BA-43D5-87BE-67443E8EF086}">
      <p15:sldGuideLst xmlns:p15="http://schemas.microsoft.com/office/powerpoint/2012/main">
        <p15:guide id="2" pos="5511" userDrawn="1">
          <p15:clr>
            <a:srgbClr val="FBAE40"/>
          </p15:clr>
        </p15:guide>
        <p15:guide id="3" pos="249" userDrawn="1">
          <p15:clr>
            <a:srgbClr val="FBAE40"/>
          </p15:clr>
        </p15:guide>
        <p15:guide id="4" orient="horz" pos="191" userDrawn="1">
          <p15:clr>
            <a:srgbClr val="FBAE40"/>
          </p15:clr>
        </p15:guide>
        <p15:guide id="5" orient="horz" pos="713" userDrawn="1">
          <p15:clr>
            <a:srgbClr val="FBAE40"/>
          </p15:clr>
        </p15:guide>
        <p15:guide id="6" orient="horz" pos="3026" userDrawn="1">
          <p15:clr>
            <a:srgbClr val="FBAE40"/>
          </p15:clr>
        </p15:guide>
        <p15:guide id="7" pos="1587"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Slogan_1">
    <p:spTree>
      <p:nvGrpSpPr>
        <p:cNvPr id="1" name=""/>
        <p:cNvGrpSpPr/>
        <p:nvPr/>
      </p:nvGrpSpPr>
      <p:grpSpPr>
        <a:xfrm>
          <a:off x="0" y="0"/>
          <a:ext cx="0" cy="0"/>
          <a:chOff x="0" y="0"/>
          <a:chExt cx="0" cy="0"/>
        </a:xfrm>
      </p:grpSpPr>
      <p:sp>
        <p:nvSpPr>
          <p:cNvPr id="3" name="Rechteck 2">
            <a:extLst>
              <a:ext uri="{FF2B5EF4-FFF2-40B4-BE49-F238E27FC236}">
                <a16:creationId xmlns:a16="http://schemas.microsoft.com/office/drawing/2014/main" id="{56CD23B8-3E5E-9849-9B87-50DCBB99144B}"/>
              </a:ext>
            </a:extLst>
          </p:cNvPr>
          <p:cNvSpPr/>
          <p:nvPr userDrawn="1"/>
        </p:nvSpPr>
        <p:spPr>
          <a:xfrm>
            <a:off x="395288" y="1131887"/>
            <a:ext cx="8353425" cy="3671887"/>
          </a:xfrm>
          <a:prstGeom prst="rect">
            <a:avLst/>
          </a:prstGeom>
          <a:solidFill>
            <a:srgbClr val="A3263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19" name="Title 1">
            <a:extLst>
              <a:ext uri="{FF2B5EF4-FFF2-40B4-BE49-F238E27FC236}">
                <a16:creationId xmlns:a16="http://schemas.microsoft.com/office/drawing/2014/main" id="{172DC440-411E-1E43-B720-2976B6E9EDB3}"/>
              </a:ext>
            </a:extLst>
          </p:cNvPr>
          <p:cNvSpPr>
            <a:spLocks noGrp="1"/>
          </p:cNvSpPr>
          <p:nvPr>
            <p:ph type="ctrTitle" hasCustomPrompt="1"/>
          </p:nvPr>
        </p:nvSpPr>
        <p:spPr>
          <a:xfrm>
            <a:off x="2547220" y="1328102"/>
            <a:ext cx="5803150" cy="3192140"/>
          </a:xfrm>
        </p:spPr>
        <p:txBody>
          <a:bodyPr anchor="t" anchorCtr="0"/>
          <a:lstStyle>
            <a:lvl1pPr algn="l">
              <a:defRPr sz="3000" baseline="0">
                <a:solidFill>
                  <a:schemeClr val="bg1"/>
                </a:solidFill>
              </a:defRPr>
            </a:lvl1pPr>
          </a:lstStyle>
          <a:p>
            <a:r>
              <a:rPr lang="de-DE" dirty="0"/>
              <a:t>Haupttitel einfügen</a:t>
            </a:r>
            <a:endParaRPr lang="en-US" dirty="0"/>
          </a:p>
        </p:txBody>
      </p:sp>
      <p:sp>
        <p:nvSpPr>
          <p:cNvPr id="9" name="Rechteck 8">
            <a:extLst>
              <a:ext uri="{FF2B5EF4-FFF2-40B4-BE49-F238E27FC236}">
                <a16:creationId xmlns:a16="http://schemas.microsoft.com/office/drawing/2014/main" id="{126E4F1E-2524-7942-A45A-1A6E08C6C593}"/>
              </a:ext>
            </a:extLst>
          </p:cNvPr>
          <p:cNvSpPr/>
          <p:nvPr userDrawn="1"/>
        </p:nvSpPr>
        <p:spPr>
          <a:xfrm>
            <a:off x="8518524" y="4971106"/>
            <a:ext cx="230187" cy="120513"/>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5" name="Date Placeholder 3">
            <a:extLst>
              <a:ext uri="{FF2B5EF4-FFF2-40B4-BE49-F238E27FC236}">
                <a16:creationId xmlns:a16="http://schemas.microsoft.com/office/drawing/2014/main" id="{848B5C93-61DF-2B4C-BEC9-874AEEF624F1}"/>
              </a:ext>
            </a:extLst>
          </p:cNvPr>
          <p:cNvSpPr>
            <a:spLocks noGrp="1"/>
          </p:cNvSpPr>
          <p:nvPr>
            <p:ph type="dt" sz="half" idx="10"/>
          </p:nvPr>
        </p:nvSpPr>
        <p:spPr>
          <a:xfrm>
            <a:off x="7701332" y="4978682"/>
            <a:ext cx="826083" cy="122236"/>
          </a:xfrm>
          <a:prstGeom prst="rect">
            <a:avLst/>
          </a:prstGeom>
        </p:spPr>
        <p:txBody>
          <a:bodyPr/>
          <a:lstStyle>
            <a:lvl1pPr>
              <a:defRPr sz="900" baseline="0"/>
            </a:lvl1pPr>
          </a:lstStyle>
          <a:p>
            <a:r>
              <a:rPr lang="en-US"/>
              <a:t>18.08.2025</a:t>
            </a:r>
            <a:endParaRPr lang="de-DE" dirty="0"/>
          </a:p>
        </p:txBody>
      </p:sp>
      <p:sp>
        <p:nvSpPr>
          <p:cNvPr id="16" name="Footer Placeholder 4">
            <a:extLst>
              <a:ext uri="{FF2B5EF4-FFF2-40B4-BE49-F238E27FC236}">
                <a16:creationId xmlns:a16="http://schemas.microsoft.com/office/drawing/2014/main" id="{07D1FAB9-DC93-D141-8AAC-C8C41062A39B}"/>
              </a:ext>
            </a:extLst>
          </p:cNvPr>
          <p:cNvSpPr>
            <a:spLocks noGrp="1"/>
          </p:cNvSpPr>
          <p:nvPr>
            <p:ph type="ftr" sz="quarter" idx="11"/>
          </p:nvPr>
        </p:nvSpPr>
        <p:spPr>
          <a:xfrm>
            <a:off x="395288" y="4978682"/>
            <a:ext cx="7246916" cy="120158"/>
          </a:xfrm>
          <a:prstGeom prst="rect">
            <a:avLst/>
          </a:prstGeom>
        </p:spPr>
        <p:txBody>
          <a:bodyPr/>
          <a:lstStyle>
            <a:lvl1pPr>
              <a:defRPr sz="900" baseline="0"/>
            </a:lvl1pPr>
          </a:lstStyle>
          <a:p>
            <a:r>
              <a:rPr lang="en-US" dirty="0"/>
              <a:t>Enhancing model transparency: Effects of DK Integration for Conversational XAI | Feustel</a:t>
            </a:r>
            <a:endParaRPr lang="de-DE" dirty="0"/>
          </a:p>
        </p:txBody>
      </p:sp>
      <p:sp>
        <p:nvSpPr>
          <p:cNvPr id="17" name="Slide Number Placeholder 5">
            <a:extLst>
              <a:ext uri="{FF2B5EF4-FFF2-40B4-BE49-F238E27FC236}">
                <a16:creationId xmlns:a16="http://schemas.microsoft.com/office/drawing/2014/main" id="{FA92B0AB-5CBA-1942-801C-D2AC51652D79}"/>
              </a:ext>
            </a:extLst>
          </p:cNvPr>
          <p:cNvSpPr>
            <a:spLocks noGrp="1"/>
          </p:cNvSpPr>
          <p:nvPr>
            <p:ph type="sldNum" sz="quarter" idx="12"/>
          </p:nvPr>
        </p:nvSpPr>
        <p:spPr>
          <a:xfrm>
            <a:off x="8495030" y="4978682"/>
            <a:ext cx="212654" cy="136107"/>
          </a:xfrm>
          <a:prstGeom prst="rect">
            <a:avLst/>
          </a:prstGeom>
        </p:spPr>
        <p:txBody>
          <a:bodyPr/>
          <a:lstStyle>
            <a:lvl1pPr algn="r">
              <a:defRPr sz="700" baseline="0">
                <a:solidFill>
                  <a:schemeClr val="bg1"/>
                </a:solidFill>
              </a:defRPr>
            </a:lvl1pPr>
          </a:lstStyle>
          <a:p>
            <a:r>
              <a:rPr lang="de-DE" dirty="0"/>
              <a:t> </a:t>
            </a:r>
            <a:fld id="{FE120BDC-5456-EC41-8BB6-7A3B726EA19B}" type="slidenum">
              <a:rPr lang="de-DE" smtClean="0"/>
              <a:pPr/>
              <a:t>‹Nr.›</a:t>
            </a:fld>
            <a:endParaRPr lang="de-DE" dirty="0"/>
          </a:p>
        </p:txBody>
      </p:sp>
      <p:cxnSp>
        <p:nvCxnSpPr>
          <p:cNvPr id="18" name="Gerade Verbindung 17">
            <a:extLst>
              <a:ext uri="{FF2B5EF4-FFF2-40B4-BE49-F238E27FC236}">
                <a16:creationId xmlns:a16="http://schemas.microsoft.com/office/drawing/2014/main" id="{5BF03297-574B-6E45-B7F0-0CE0AF30DF1B}"/>
              </a:ext>
            </a:extLst>
          </p:cNvPr>
          <p:cNvCxnSpPr/>
          <p:nvPr userDrawn="1"/>
        </p:nvCxnSpPr>
        <p:spPr>
          <a:xfrm>
            <a:off x="395288" y="4969853"/>
            <a:ext cx="8353425" cy="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38169283"/>
      </p:ext>
    </p:extLst>
  </p:cSld>
  <p:clrMapOvr>
    <a:masterClrMapping/>
  </p:clrMapOvr>
  <p:extLst>
    <p:ext uri="{DCECCB84-F9BA-43D5-87BE-67443E8EF086}">
      <p15:sldGuideLst xmlns:p15="http://schemas.microsoft.com/office/powerpoint/2012/main">
        <p15:guide id="2" pos="5511" userDrawn="1">
          <p15:clr>
            <a:srgbClr val="FBAE40"/>
          </p15:clr>
        </p15:guide>
        <p15:guide id="3" pos="249" userDrawn="1">
          <p15:clr>
            <a:srgbClr val="FBAE40"/>
          </p15:clr>
        </p15:guide>
        <p15:guide id="4" orient="horz" pos="191" userDrawn="1">
          <p15:clr>
            <a:srgbClr val="FBAE40"/>
          </p15:clr>
        </p15:guide>
        <p15:guide id="5" orient="horz" pos="713" userDrawn="1">
          <p15:clr>
            <a:srgbClr val="FBAE40"/>
          </p15:clr>
        </p15:guide>
        <p15:guide id="6" orient="horz" pos="3026" userDrawn="1">
          <p15:clr>
            <a:srgbClr val="FBAE40"/>
          </p15:clr>
        </p15:guide>
        <p15:guide id="7" pos="1610"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Schlussfolie">
    <p:spTree>
      <p:nvGrpSpPr>
        <p:cNvPr id="1" name=""/>
        <p:cNvGrpSpPr/>
        <p:nvPr/>
      </p:nvGrpSpPr>
      <p:grpSpPr>
        <a:xfrm>
          <a:off x="0" y="0"/>
          <a:ext cx="0" cy="0"/>
          <a:chOff x="0" y="0"/>
          <a:chExt cx="0" cy="0"/>
        </a:xfrm>
      </p:grpSpPr>
      <p:sp>
        <p:nvSpPr>
          <p:cNvPr id="13" name="Inhaltsplatzhalter 8">
            <a:extLst>
              <a:ext uri="{FF2B5EF4-FFF2-40B4-BE49-F238E27FC236}">
                <a16:creationId xmlns:a16="http://schemas.microsoft.com/office/drawing/2014/main" id="{76AE7526-E4E8-C647-AEA7-5E99F79BD185}"/>
              </a:ext>
            </a:extLst>
          </p:cNvPr>
          <p:cNvSpPr>
            <a:spLocks noGrp="1"/>
          </p:cNvSpPr>
          <p:nvPr>
            <p:ph sz="quarter" idx="30"/>
          </p:nvPr>
        </p:nvSpPr>
        <p:spPr>
          <a:xfrm>
            <a:off x="2519363" y="2313305"/>
            <a:ext cx="6229350" cy="1176655"/>
          </a:xfrm>
        </p:spPr>
        <p:txBody>
          <a:bodyPr>
            <a:noAutofit/>
          </a:bodyPr>
          <a:lstStyle>
            <a:lvl1pPr>
              <a:defRPr sz="1400" baseline="0"/>
            </a:lvl1pPr>
          </a:lstStyle>
          <a:p>
            <a:pPr lvl="0"/>
            <a:r>
              <a:rPr lang="de-DE" dirty="0"/>
              <a:t>Mastertextformat bearbeiten</a:t>
            </a:r>
          </a:p>
        </p:txBody>
      </p:sp>
      <p:pic>
        <p:nvPicPr>
          <p:cNvPr id="14" name="Grafik 13">
            <a:extLst>
              <a:ext uri="{FF2B5EF4-FFF2-40B4-BE49-F238E27FC236}">
                <a16:creationId xmlns:a16="http://schemas.microsoft.com/office/drawing/2014/main" id="{74A1F2E6-3968-C845-A760-08640056B252}"/>
              </a:ext>
            </a:extLst>
          </p:cNvPr>
          <p:cNvPicPr>
            <a:picLocks noChangeAspect="1"/>
          </p:cNvPicPr>
          <p:nvPr userDrawn="1"/>
        </p:nvPicPr>
        <p:blipFill>
          <a:blip r:embed="rId2" cstate="hqprint">
            <a:extLst>
              <a:ext uri="{28A0092B-C50C-407E-A947-70E740481C1C}">
                <a14:useLocalDpi xmlns:a14="http://schemas.microsoft.com/office/drawing/2010/main"/>
              </a:ext>
            </a:extLst>
          </a:blip>
          <a:stretch>
            <a:fillRect/>
          </a:stretch>
        </p:blipFill>
        <p:spPr>
          <a:xfrm>
            <a:off x="7571341" y="460049"/>
            <a:ext cx="1177372" cy="334189"/>
          </a:xfrm>
          <a:prstGeom prst="rect">
            <a:avLst/>
          </a:prstGeom>
        </p:spPr>
      </p:pic>
      <p:sp>
        <p:nvSpPr>
          <p:cNvPr id="12" name="Rechteck 11">
            <a:extLst>
              <a:ext uri="{FF2B5EF4-FFF2-40B4-BE49-F238E27FC236}">
                <a16:creationId xmlns:a16="http://schemas.microsoft.com/office/drawing/2014/main" id="{194F84F6-FE4E-BE4F-928E-17D0179F766E}"/>
              </a:ext>
            </a:extLst>
          </p:cNvPr>
          <p:cNvSpPr/>
          <p:nvPr userDrawn="1"/>
        </p:nvSpPr>
        <p:spPr>
          <a:xfrm>
            <a:off x="8518524" y="4971106"/>
            <a:ext cx="230187" cy="120513"/>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5" name="Date Placeholder 3">
            <a:extLst>
              <a:ext uri="{FF2B5EF4-FFF2-40B4-BE49-F238E27FC236}">
                <a16:creationId xmlns:a16="http://schemas.microsoft.com/office/drawing/2014/main" id="{F325816C-0E87-2541-B280-772BE2E14F8D}"/>
              </a:ext>
            </a:extLst>
          </p:cNvPr>
          <p:cNvSpPr>
            <a:spLocks noGrp="1"/>
          </p:cNvSpPr>
          <p:nvPr>
            <p:ph type="dt" sz="half" idx="10"/>
          </p:nvPr>
        </p:nvSpPr>
        <p:spPr>
          <a:xfrm>
            <a:off x="7701332" y="4978682"/>
            <a:ext cx="826083" cy="122236"/>
          </a:xfrm>
          <a:prstGeom prst="rect">
            <a:avLst/>
          </a:prstGeom>
        </p:spPr>
        <p:txBody>
          <a:bodyPr/>
          <a:lstStyle>
            <a:lvl1pPr>
              <a:defRPr sz="700" baseline="0"/>
            </a:lvl1pPr>
          </a:lstStyle>
          <a:p>
            <a:r>
              <a:rPr lang="en-US"/>
              <a:t>18.08.2025</a:t>
            </a:r>
            <a:endParaRPr lang="de-DE" dirty="0"/>
          </a:p>
        </p:txBody>
      </p:sp>
      <p:sp>
        <p:nvSpPr>
          <p:cNvPr id="16" name="Footer Placeholder 4">
            <a:extLst>
              <a:ext uri="{FF2B5EF4-FFF2-40B4-BE49-F238E27FC236}">
                <a16:creationId xmlns:a16="http://schemas.microsoft.com/office/drawing/2014/main" id="{4094897E-0D05-7C44-96A3-8D7C8F215BDA}"/>
              </a:ext>
            </a:extLst>
          </p:cNvPr>
          <p:cNvSpPr>
            <a:spLocks noGrp="1"/>
          </p:cNvSpPr>
          <p:nvPr>
            <p:ph type="ftr" sz="quarter" idx="11"/>
          </p:nvPr>
        </p:nvSpPr>
        <p:spPr>
          <a:xfrm>
            <a:off x="395288" y="4978682"/>
            <a:ext cx="7246916" cy="120158"/>
          </a:xfrm>
          <a:prstGeom prst="rect">
            <a:avLst/>
          </a:prstGeom>
        </p:spPr>
        <p:txBody>
          <a:bodyPr/>
          <a:lstStyle>
            <a:lvl1pPr>
              <a:defRPr sz="700" baseline="0"/>
            </a:lvl1pPr>
          </a:lstStyle>
          <a:p>
            <a:r>
              <a:rPr lang="en-US"/>
              <a:t>Enhancing model transparency: Effects of DK Integration for Conversational XAI | Feustel</a:t>
            </a:r>
            <a:endParaRPr lang="de-DE" dirty="0"/>
          </a:p>
        </p:txBody>
      </p:sp>
      <p:sp>
        <p:nvSpPr>
          <p:cNvPr id="17" name="Slide Number Placeholder 5">
            <a:extLst>
              <a:ext uri="{FF2B5EF4-FFF2-40B4-BE49-F238E27FC236}">
                <a16:creationId xmlns:a16="http://schemas.microsoft.com/office/drawing/2014/main" id="{171A3CFE-E00C-3D48-82E1-EDC4AA23E79E}"/>
              </a:ext>
            </a:extLst>
          </p:cNvPr>
          <p:cNvSpPr>
            <a:spLocks noGrp="1"/>
          </p:cNvSpPr>
          <p:nvPr>
            <p:ph type="sldNum" sz="quarter" idx="12"/>
          </p:nvPr>
        </p:nvSpPr>
        <p:spPr>
          <a:xfrm>
            <a:off x="8495030" y="4978682"/>
            <a:ext cx="212654" cy="136107"/>
          </a:xfrm>
          <a:prstGeom prst="rect">
            <a:avLst/>
          </a:prstGeom>
        </p:spPr>
        <p:txBody>
          <a:bodyPr/>
          <a:lstStyle>
            <a:lvl1pPr algn="r">
              <a:defRPr sz="700" baseline="0">
                <a:solidFill>
                  <a:schemeClr val="bg1"/>
                </a:solidFill>
              </a:defRPr>
            </a:lvl1pPr>
          </a:lstStyle>
          <a:p>
            <a:r>
              <a:rPr lang="de-DE" dirty="0"/>
              <a:t> </a:t>
            </a:r>
            <a:fld id="{FE120BDC-5456-EC41-8BB6-7A3B726EA19B}" type="slidenum">
              <a:rPr lang="de-DE" smtClean="0"/>
              <a:pPr/>
              <a:t>‹Nr.›</a:t>
            </a:fld>
            <a:endParaRPr lang="de-DE" dirty="0"/>
          </a:p>
        </p:txBody>
      </p:sp>
      <p:cxnSp>
        <p:nvCxnSpPr>
          <p:cNvPr id="18" name="Gerade Verbindung 17">
            <a:extLst>
              <a:ext uri="{FF2B5EF4-FFF2-40B4-BE49-F238E27FC236}">
                <a16:creationId xmlns:a16="http://schemas.microsoft.com/office/drawing/2014/main" id="{559BF618-B2CC-F844-8C8B-1DC67E4BF327}"/>
              </a:ext>
            </a:extLst>
          </p:cNvPr>
          <p:cNvCxnSpPr/>
          <p:nvPr userDrawn="1"/>
        </p:nvCxnSpPr>
        <p:spPr>
          <a:xfrm>
            <a:off x="395288" y="4969853"/>
            <a:ext cx="8353425" cy="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57205160"/>
      </p:ext>
    </p:extLst>
  </p:cSld>
  <p:clrMapOvr>
    <a:masterClrMapping/>
  </p:clrMapOvr>
  <p:extLst>
    <p:ext uri="{DCECCB84-F9BA-43D5-87BE-67443E8EF086}">
      <p15:sldGuideLst xmlns:p15="http://schemas.microsoft.com/office/powerpoint/2012/main">
        <p15:guide id="2" pos="5511" userDrawn="1">
          <p15:clr>
            <a:srgbClr val="FBAE40"/>
          </p15:clr>
        </p15:guide>
        <p15:guide id="3" pos="249" userDrawn="1">
          <p15:clr>
            <a:srgbClr val="FBAE40"/>
          </p15:clr>
        </p15:guide>
        <p15:guide id="4" orient="horz" pos="191" userDrawn="1">
          <p15:clr>
            <a:srgbClr val="FBAE40"/>
          </p15:clr>
        </p15:guide>
        <p15:guide id="5" orient="horz" pos="622" userDrawn="1">
          <p15:clr>
            <a:srgbClr val="FBAE40"/>
          </p15:clr>
        </p15:guide>
        <p15:guide id="6" orient="horz" pos="3026" userDrawn="1">
          <p15:clr>
            <a:srgbClr val="FBAE40"/>
          </p15:clr>
        </p15:guide>
        <p15:guide id="7" pos="1587" userDrawn="1">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273844"/>
            <a:ext cx="7886700" cy="470075"/>
          </a:xfrm>
          <a:prstGeom prst="rect">
            <a:avLst/>
          </a:prstGeom>
        </p:spPr>
        <p:txBody>
          <a:bodyPr vert="horz" lIns="0" tIns="0" rIns="0" bIns="0" rtlCol="0" anchor="t" anchorCtr="0">
            <a:noAutofit/>
          </a:bodyPr>
          <a:lstStyle/>
          <a:p>
            <a:r>
              <a:rPr lang="de-DE" dirty="0"/>
              <a:t>Mastertitelformat bearbeiten</a:t>
            </a:r>
            <a:endParaRPr lang="en-US" dirty="0"/>
          </a:p>
        </p:txBody>
      </p:sp>
      <p:sp>
        <p:nvSpPr>
          <p:cNvPr id="3" name="Text Placeholder 2"/>
          <p:cNvSpPr>
            <a:spLocks noGrp="1"/>
          </p:cNvSpPr>
          <p:nvPr>
            <p:ph type="body" idx="1"/>
          </p:nvPr>
        </p:nvSpPr>
        <p:spPr>
          <a:xfrm>
            <a:off x="612000" y="1369219"/>
            <a:ext cx="7886700" cy="3263504"/>
          </a:xfrm>
          <a:prstGeom prst="rect">
            <a:avLst/>
          </a:prstGeom>
        </p:spPr>
        <p:txBody>
          <a:bodyPr vert="horz" lIns="0" tIns="0" rIns="0" bIns="0" rtlCol="0">
            <a:normAutofit/>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endParaRPr lang="en-US" dirty="0"/>
          </a:p>
        </p:txBody>
      </p:sp>
      <p:sp>
        <p:nvSpPr>
          <p:cNvPr id="4" name="Date Placeholder 3"/>
          <p:cNvSpPr>
            <a:spLocks noGrp="1"/>
          </p:cNvSpPr>
          <p:nvPr>
            <p:ph type="dt" sz="half" idx="2"/>
          </p:nvPr>
        </p:nvSpPr>
        <p:spPr>
          <a:xfrm>
            <a:off x="7325282" y="5002791"/>
            <a:ext cx="899064" cy="140709"/>
          </a:xfrm>
          <a:prstGeom prst="rect">
            <a:avLst/>
          </a:prstGeom>
        </p:spPr>
        <p:txBody>
          <a:bodyPr vert="horz" lIns="0" tIns="0" rIns="0" bIns="0" rtlCol="0" anchor="t" anchorCtr="0"/>
          <a:lstStyle>
            <a:lvl1pPr algn="l">
              <a:defRPr sz="900" baseline="0">
                <a:solidFill>
                  <a:schemeClr val="tx1">
                    <a:tint val="75000"/>
                  </a:schemeClr>
                </a:solidFill>
                <a:latin typeface="+mn-lt"/>
              </a:defRPr>
            </a:lvl1pPr>
          </a:lstStyle>
          <a:p>
            <a:r>
              <a:rPr lang="en-US"/>
              <a:t>18.08.2025</a:t>
            </a:r>
            <a:endParaRPr lang="de-DE" dirty="0"/>
          </a:p>
        </p:txBody>
      </p:sp>
      <p:sp>
        <p:nvSpPr>
          <p:cNvPr id="5" name="Footer Placeholder 4"/>
          <p:cNvSpPr>
            <a:spLocks noGrp="1"/>
          </p:cNvSpPr>
          <p:nvPr>
            <p:ph type="ftr" sz="quarter" idx="3"/>
          </p:nvPr>
        </p:nvSpPr>
        <p:spPr>
          <a:xfrm>
            <a:off x="632114" y="5002790"/>
            <a:ext cx="5738408" cy="140709"/>
          </a:xfrm>
          <a:prstGeom prst="rect">
            <a:avLst/>
          </a:prstGeom>
        </p:spPr>
        <p:txBody>
          <a:bodyPr vert="horz" lIns="0" tIns="0" rIns="0" bIns="0" rtlCol="0" anchor="t" anchorCtr="0"/>
          <a:lstStyle>
            <a:lvl1pPr algn="l">
              <a:defRPr sz="900" b="0" i="0" baseline="0">
                <a:solidFill>
                  <a:schemeClr val="tx1">
                    <a:tint val="75000"/>
                  </a:schemeClr>
                </a:solidFill>
                <a:latin typeface="+mn-lt"/>
                <a:cs typeface="Arial" panose="020B0604020202020204" pitchFamily="34" charset="0"/>
              </a:defRPr>
            </a:lvl1pPr>
          </a:lstStyle>
          <a:p>
            <a:r>
              <a:rPr lang="en-US" dirty="0"/>
              <a:t>Enhancing model transparency: Effects of DK Integration for Conversational XAI | Feustel</a:t>
            </a:r>
            <a:endParaRPr lang="de-DE" dirty="0"/>
          </a:p>
        </p:txBody>
      </p:sp>
      <p:sp>
        <p:nvSpPr>
          <p:cNvPr id="6" name="Slide Number Placeholder 5"/>
          <p:cNvSpPr>
            <a:spLocks noGrp="1"/>
          </p:cNvSpPr>
          <p:nvPr>
            <p:ph type="sldNum" sz="quarter" idx="4"/>
          </p:nvPr>
        </p:nvSpPr>
        <p:spPr>
          <a:xfrm>
            <a:off x="8245366" y="5002791"/>
            <a:ext cx="269983" cy="137246"/>
          </a:xfrm>
          <a:prstGeom prst="rect">
            <a:avLst/>
          </a:prstGeom>
        </p:spPr>
        <p:txBody>
          <a:bodyPr vert="horz" lIns="0" tIns="0" rIns="0" bIns="0" rtlCol="0" anchor="t" anchorCtr="0"/>
          <a:lstStyle>
            <a:lvl1pPr algn="r">
              <a:defRPr sz="700" b="0" i="0" baseline="0">
                <a:solidFill>
                  <a:schemeClr val="bg1"/>
                </a:solidFill>
                <a:latin typeface="Arial" panose="020B0604020202020204" pitchFamily="34" charset="0"/>
                <a:cs typeface="Arial" panose="020B0604020202020204" pitchFamily="34" charset="0"/>
              </a:defRPr>
            </a:lvl1pPr>
          </a:lstStyle>
          <a:p>
            <a:fld id="{FE120BDC-5456-EC41-8BB6-7A3B726EA19B}" type="slidenum">
              <a:rPr lang="de-DE" smtClean="0"/>
              <a:pPr/>
              <a:t>‹Nr.›</a:t>
            </a:fld>
            <a:endParaRPr lang="de-DE" dirty="0"/>
          </a:p>
        </p:txBody>
      </p:sp>
    </p:spTree>
    <p:extLst>
      <p:ext uri="{BB962C8B-B14F-4D97-AF65-F5344CB8AC3E}">
        <p14:creationId xmlns:p14="http://schemas.microsoft.com/office/powerpoint/2010/main" val="3278109057"/>
      </p:ext>
    </p:extLst>
  </p:cSld>
  <p:clrMap bg1="lt1" tx1="dk1" bg2="lt2" tx2="dk2" accent1="accent1" accent2="accent2" accent3="accent3" accent4="accent4" accent5="accent5" accent6="accent6" hlink="hlink" folHlink="folHlink"/>
  <p:sldLayoutIdLst>
    <p:sldLayoutId id="2147483675" r:id="rId1"/>
    <p:sldLayoutId id="2147483661" r:id="rId2"/>
    <p:sldLayoutId id="2147483676" r:id="rId3"/>
    <p:sldLayoutId id="2147483680" r:id="rId4"/>
    <p:sldLayoutId id="2147483668" r:id="rId5"/>
    <p:sldLayoutId id="2147483669" r:id="rId6"/>
    <p:sldLayoutId id="2147483670" r:id="rId7"/>
    <p:sldLayoutId id="2147483681" r:id="rId8"/>
    <p:sldLayoutId id="2147483678" r:id="rId9"/>
    <p:sldLayoutId id="2147483671" r:id="rId10"/>
    <p:sldLayoutId id="2147483672" r:id="rId11"/>
    <p:sldLayoutId id="2147483677" r:id="rId12"/>
    <p:sldLayoutId id="2147483673" r:id="rId13"/>
    <p:sldLayoutId id="2147483679" r:id="rId14"/>
  </p:sldLayoutIdLst>
  <p:hf hdr="0"/>
  <p:txStyles>
    <p:titleStyle>
      <a:lvl1pPr algn="l" defTabSz="685800" rtl="0" eaLnBrk="1" latinLnBrk="0" hangingPunct="1">
        <a:lnSpc>
          <a:spcPct val="100000"/>
        </a:lnSpc>
        <a:spcBef>
          <a:spcPct val="0"/>
        </a:spcBef>
        <a:buNone/>
        <a:defRPr sz="2100" b="1" i="0" kern="1200" baseline="0">
          <a:solidFill>
            <a:schemeClr val="tx1"/>
          </a:solidFill>
          <a:latin typeface="+mn-lt"/>
          <a:ea typeface="+mj-ea"/>
          <a:cs typeface="Arial" panose="020B0604020202020204" pitchFamily="34" charset="0"/>
        </a:defRPr>
      </a:lvl1pPr>
    </p:titleStyle>
    <p:bodyStyle>
      <a:lvl1pPr marL="171450" indent="-171450" algn="l" defTabSz="685800" rtl="0" eaLnBrk="1" latinLnBrk="0" hangingPunct="1">
        <a:lnSpc>
          <a:spcPct val="100000"/>
        </a:lnSpc>
        <a:spcBef>
          <a:spcPts val="750"/>
        </a:spcBef>
        <a:buClr>
          <a:srgbClr val="A32638"/>
        </a:buClr>
        <a:buFont typeface="Wingdings" pitchFamily="2" charset="2"/>
        <a:buChar char="§"/>
        <a:defRPr sz="1800" b="0" i="0" kern="1200" baseline="0">
          <a:solidFill>
            <a:schemeClr val="tx1"/>
          </a:solidFill>
          <a:latin typeface="+mn-lt"/>
          <a:ea typeface="+mn-ea"/>
          <a:cs typeface="Arial" panose="020B0604020202020204" pitchFamily="34" charset="0"/>
        </a:defRPr>
      </a:lvl1pPr>
      <a:lvl2pPr marL="514350" indent="-171450" algn="l" defTabSz="685800" rtl="0" eaLnBrk="1" latinLnBrk="0" hangingPunct="1">
        <a:lnSpc>
          <a:spcPct val="100000"/>
        </a:lnSpc>
        <a:spcBef>
          <a:spcPts val="375"/>
        </a:spcBef>
        <a:buFont typeface="Arial" panose="020B0604020202020204" pitchFamily="34" charset="0"/>
        <a:buChar char="•"/>
        <a:defRPr sz="1800" b="0" i="0" kern="1200" baseline="0">
          <a:solidFill>
            <a:schemeClr val="tx1"/>
          </a:solidFill>
          <a:latin typeface="+mn-lt"/>
          <a:ea typeface="+mn-ea"/>
          <a:cs typeface="Arial" panose="020B0604020202020204" pitchFamily="34" charset="0"/>
        </a:defRPr>
      </a:lvl2pPr>
      <a:lvl3pPr marL="857250" indent="-171450" algn="l" defTabSz="685800" rtl="0" eaLnBrk="1" latinLnBrk="0" hangingPunct="1">
        <a:lnSpc>
          <a:spcPct val="100000"/>
        </a:lnSpc>
        <a:spcBef>
          <a:spcPts val="375"/>
        </a:spcBef>
        <a:buFont typeface="Arial" panose="020B0604020202020204" pitchFamily="34" charset="0"/>
        <a:buChar char="•"/>
        <a:defRPr sz="1600" b="0" i="0" kern="1200" baseline="0">
          <a:solidFill>
            <a:schemeClr val="tx1"/>
          </a:solidFill>
          <a:latin typeface="+mn-lt"/>
          <a:ea typeface="+mn-ea"/>
          <a:cs typeface="Arial" panose="020B0604020202020204" pitchFamily="34" charset="0"/>
        </a:defRPr>
      </a:lvl3pPr>
      <a:lvl4pPr marL="1200150" indent="-171450" algn="l" defTabSz="685800" rtl="0" eaLnBrk="1" latinLnBrk="0" hangingPunct="1">
        <a:lnSpc>
          <a:spcPct val="100000"/>
        </a:lnSpc>
        <a:spcBef>
          <a:spcPts val="375"/>
        </a:spcBef>
        <a:buFont typeface="Arial" panose="020B0604020202020204" pitchFamily="34" charset="0"/>
        <a:buChar char="•"/>
        <a:defRPr sz="1600" b="0" i="0" kern="1200" baseline="0">
          <a:solidFill>
            <a:schemeClr val="tx1"/>
          </a:solidFill>
          <a:latin typeface="+mn-lt"/>
          <a:ea typeface="+mn-ea"/>
          <a:cs typeface="Arial" panose="020B0604020202020204" pitchFamily="34" charset="0"/>
        </a:defRPr>
      </a:lvl4pPr>
      <a:lvl5pPr marL="1543050" indent="-171450" algn="l" defTabSz="685800" rtl="0" eaLnBrk="1" latinLnBrk="0" hangingPunct="1">
        <a:lnSpc>
          <a:spcPct val="100000"/>
        </a:lnSpc>
        <a:spcBef>
          <a:spcPts val="375"/>
        </a:spcBef>
        <a:buFont typeface="Arial" panose="020B0604020202020204" pitchFamily="34" charset="0"/>
        <a:buChar char="•"/>
        <a:defRPr sz="1600" b="0" i="0" kern="1200" baseline="0">
          <a:solidFill>
            <a:schemeClr val="tx1"/>
          </a:solidFill>
          <a:latin typeface="+mn-lt"/>
          <a:ea typeface="+mn-ea"/>
          <a:cs typeface="Arial" panose="020B0604020202020204" pitchFamily="34"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eg"/><Relationship Id="rId7"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3.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8" Type="http://schemas.openxmlformats.org/officeDocument/2006/relationships/image" Target="../media/image13.svg"/><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notesSlide" Target="../notesSlides/notesSlide2.xml"/><Relationship Id="rId1" Type="http://schemas.openxmlformats.org/officeDocument/2006/relationships/slideLayout" Target="../slideLayouts/slideLayout6.xml"/><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image" Target="../media/image9.svg"/></Relationships>
</file>

<file path=ppt/slides/_rels/slide3.xml.rels><?xml version="1.0" encoding="UTF-8" standalone="yes"?>
<Relationships xmlns="http://schemas.openxmlformats.org/package/2006/relationships"><Relationship Id="rId8" Type="http://schemas.openxmlformats.org/officeDocument/2006/relationships/image" Target="../media/image19.svg"/><Relationship Id="rId13" Type="http://schemas.openxmlformats.org/officeDocument/2006/relationships/image" Target="../media/image24.png"/><Relationship Id="rId3" Type="http://schemas.openxmlformats.org/officeDocument/2006/relationships/image" Target="../media/image14.png"/><Relationship Id="rId7" Type="http://schemas.openxmlformats.org/officeDocument/2006/relationships/image" Target="../media/image18.png"/><Relationship Id="rId12" Type="http://schemas.openxmlformats.org/officeDocument/2006/relationships/image" Target="../media/image23.svg"/><Relationship Id="rId2" Type="http://schemas.openxmlformats.org/officeDocument/2006/relationships/notesSlide" Target="../notesSlides/notesSlide3.xml"/><Relationship Id="rId1" Type="http://schemas.openxmlformats.org/officeDocument/2006/relationships/slideLayout" Target="../slideLayouts/slideLayout6.xml"/><Relationship Id="rId6" Type="http://schemas.openxmlformats.org/officeDocument/2006/relationships/image" Target="../media/image17.svg"/><Relationship Id="rId11" Type="http://schemas.openxmlformats.org/officeDocument/2006/relationships/image" Target="../media/image22.png"/><Relationship Id="rId5" Type="http://schemas.openxmlformats.org/officeDocument/2006/relationships/image" Target="../media/image16.png"/><Relationship Id="rId10" Type="http://schemas.openxmlformats.org/officeDocument/2006/relationships/image" Target="../media/image21.svg"/><Relationship Id="rId4" Type="http://schemas.openxmlformats.org/officeDocument/2006/relationships/image" Target="../media/image15.svg"/><Relationship Id="rId9" Type="http://schemas.openxmlformats.org/officeDocument/2006/relationships/image" Target="../media/image20.png"/><Relationship Id="rId14" Type="http://schemas.openxmlformats.org/officeDocument/2006/relationships/image" Target="../media/image25.svg"/></Relationships>
</file>

<file path=ppt/slides/_rels/slide4.xml.rels><?xml version="1.0" encoding="UTF-8" standalone="yes"?>
<Relationships xmlns="http://schemas.openxmlformats.org/package/2006/relationships"><Relationship Id="rId13" Type="http://schemas.openxmlformats.org/officeDocument/2006/relationships/image" Target="../media/image36.svg"/><Relationship Id="rId18" Type="http://schemas.openxmlformats.org/officeDocument/2006/relationships/image" Target="../media/image41.png"/><Relationship Id="rId26" Type="http://schemas.openxmlformats.org/officeDocument/2006/relationships/image" Target="../media/image49.png"/><Relationship Id="rId39" Type="http://schemas.openxmlformats.org/officeDocument/2006/relationships/image" Target="../media/image62.png"/><Relationship Id="rId21" Type="http://schemas.openxmlformats.org/officeDocument/2006/relationships/image" Target="../media/image44.svg"/><Relationship Id="rId34" Type="http://schemas.openxmlformats.org/officeDocument/2006/relationships/image" Target="../media/image57.svg"/><Relationship Id="rId42" Type="http://schemas.openxmlformats.org/officeDocument/2006/relationships/image" Target="../media/image65.svg"/><Relationship Id="rId47" Type="http://schemas.openxmlformats.org/officeDocument/2006/relationships/image" Target="../media/image18.png"/><Relationship Id="rId50" Type="http://schemas.openxmlformats.org/officeDocument/2006/relationships/image" Target="../media/image21.svg"/><Relationship Id="rId55" Type="http://schemas.openxmlformats.org/officeDocument/2006/relationships/image" Target="../media/image66.png"/><Relationship Id="rId7" Type="http://schemas.openxmlformats.org/officeDocument/2006/relationships/image" Target="../media/image30.svg"/><Relationship Id="rId12" Type="http://schemas.openxmlformats.org/officeDocument/2006/relationships/image" Target="../media/image35.png"/><Relationship Id="rId17" Type="http://schemas.openxmlformats.org/officeDocument/2006/relationships/image" Target="../media/image40.svg"/><Relationship Id="rId25" Type="http://schemas.openxmlformats.org/officeDocument/2006/relationships/image" Target="../media/image48.svg"/><Relationship Id="rId33" Type="http://schemas.openxmlformats.org/officeDocument/2006/relationships/image" Target="../media/image56.png"/><Relationship Id="rId38" Type="http://schemas.openxmlformats.org/officeDocument/2006/relationships/image" Target="../media/image61.png"/><Relationship Id="rId46" Type="http://schemas.openxmlformats.org/officeDocument/2006/relationships/image" Target="../media/image17.svg"/><Relationship Id="rId2" Type="http://schemas.openxmlformats.org/officeDocument/2006/relationships/notesSlide" Target="../notesSlides/notesSlide4.xml"/><Relationship Id="rId16" Type="http://schemas.openxmlformats.org/officeDocument/2006/relationships/image" Target="../media/image39.png"/><Relationship Id="rId20" Type="http://schemas.openxmlformats.org/officeDocument/2006/relationships/image" Target="../media/image43.png"/><Relationship Id="rId29" Type="http://schemas.openxmlformats.org/officeDocument/2006/relationships/image" Target="../media/image52.svg"/><Relationship Id="rId41" Type="http://schemas.openxmlformats.org/officeDocument/2006/relationships/image" Target="../media/image64.png"/><Relationship Id="rId54" Type="http://schemas.openxmlformats.org/officeDocument/2006/relationships/image" Target="../media/image25.svg"/><Relationship Id="rId1" Type="http://schemas.openxmlformats.org/officeDocument/2006/relationships/slideLayout" Target="../slideLayouts/slideLayout8.xml"/><Relationship Id="rId6" Type="http://schemas.openxmlformats.org/officeDocument/2006/relationships/image" Target="../media/image29.png"/><Relationship Id="rId11" Type="http://schemas.openxmlformats.org/officeDocument/2006/relationships/image" Target="../media/image34.svg"/><Relationship Id="rId24" Type="http://schemas.openxmlformats.org/officeDocument/2006/relationships/image" Target="../media/image47.png"/><Relationship Id="rId32" Type="http://schemas.openxmlformats.org/officeDocument/2006/relationships/image" Target="../media/image55.png"/><Relationship Id="rId37" Type="http://schemas.openxmlformats.org/officeDocument/2006/relationships/image" Target="../media/image60.png"/><Relationship Id="rId40" Type="http://schemas.openxmlformats.org/officeDocument/2006/relationships/image" Target="../media/image63.svg"/><Relationship Id="rId45" Type="http://schemas.openxmlformats.org/officeDocument/2006/relationships/image" Target="../media/image16.png"/><Relationship Id="rId53" Type="http://schemas.openxmlformats.org/officeDocument/2006/relationships/image" Target="../media/image24.png"/><Relationship Id="rId58" Type="http://schemas.openxmlformats.org/officeDocument/2006/relationships/image" Target="../media/image69.svg"/><Relationship Id="rId5" Type="http://schemas.openxmlformats.org/officeDocument/2006/relationships/image" Target="../media/image28.png"/><Relationship Id="rId15" Type="http://schemas.openxmlformats.org/officeDocument/2006/relationships/image" Target="../media/image38.svg"/><Relationship Id="rId23" Type="http://schemas.openxmlformats.org/officeDocument/2006/relationships/image" Target="../media/image46.svg"/><Relationship Id="rId28" Type="http://schemas.openxmlformats.org/officeDocument/2006/relationships/image" Target="../media/image51.png"/><Relationship Id="rId36" Type="http://schemas.openxmlformats.org/officeDocument/2006/relationships/image" Target="../media/image59.png"/><Relationship Id="rId49" Type="http://schemas.openxmlformats.org/officeDocument/2006/relationships/image" Target="../media/image20.png"/><Relationship Id="rId57" Type="http://schemas.openxmlformats.org/officeDocument/2006/relationships/image" Target="../media/image68.png"/><Relationship Id="rId10" Type="http://schemas.openxmlformats.org/officeDocument/2006/relationships/image" Target="../media/image33.png"/><Relationship Id="rId19" Type="http://schemas.openxmlformats.org/officeDocument/2006/relationships/image" Target="../media/image42.svg"/><Relationship Id="rId31" Type="http://schemas.openxmlformats.org/officeDocument/2006/relationships/image" Target="../media/image54.svg"/><Relationship Id="rId44" Type="http://schemas.openxmlformats.org/officeDocument/2006/relationships/image" Target="../media/image15.svg"/><Relationship Id="rId52" Type="http://schemas.openxmlformats.org/officeDocument/2006/relationships/image" Target="../media/image23.svg"/><Relationship Id="rId4" Type="http://schemas.openxmlformats.org/officeDocument/2006/relationships/image" Target="../media/image27.png"/><Relationship Id="rId9" Type="http://schemas.openxmlformats.org/officeDocument/2006/relationships/image" Target="../media/image32.svg"/><Relationship Id="rId14" Type="http://schemas.openxmlformats.org/officeDocument/2006/relationships/image" Target="../media/image37.png"/><Relationship Id="rId22" Type="http://schemas.openxmlformats.org/officeDocument/2006/relationships/image" Target="../media/image45.png"/><Relationship Id="rId27" Type="http://schemas.openxmlformats.org/officeDocument/2006/relationships/image" Target="../media/image50.svg"/><Relationship Id="rId30" Type="http://schemas.openxmlformats.org/officeDocument/2006/relationships/image" Target="../media/image53.png"/><Relationship Id="rId35" Type="http://schemas.openxmlformats.org/officeDocument/2006/relationships/image" Target="../media/image58.png"/><Relationship Id="rId43" Type="http://schemas.openxmlformats.org/officeDocument/2006/relationships/image" Target="../media/image14.png"/><Relationship Id="rId48" Type="http://schemas.openxmlformats.org/officeDocument/2006/relationships/image" Target="../media/image19.svg"/><Relationship Id="rId56" Type="http://schemas.openxmlformats.org/officeDocument/2006/relationships/image" Target="../media/image67.svg"/><Relationship Id="rId8" Type="http://schemas.openxmlformats.org/officeDocument/2006/relationships/image" Target="../media/image31.png"/><Relationship Id="rId51" Type="http://schemas.openxmlformats.org/officeDocument/2006/relationships/image" Target="../media/image22.png"/><Relationship Id="rId3" Type="http://schemas.openxmlformats.org/officeDocument/2006/relationships/image" Target="../media/image26.png"/></Relationships>
</file>

<file path=ppt/slides/_rels/slide5.xml.rels><?xml version="1.0" encoding="UTF-8" standalone="yes"?>
<Relationships xmlns="http://schemas.openxmlformats.org/package/2006/relationships"><Relationship Id="rId8" Type="http://schemas.openxmlformats.org/officeDocument/2006/relationships/image" Target="../media/image15.svg"/><Relationship Id="rId13" Type="http://schemas.openxmlformats.org/officeDocument/2006/relationships/image" Target="../media/image20.png"/><Relationship Id="rId18" Type="http://schemas.openxmlformats.org/officeDocument/2006/relationships/image" Target="../media/image25.svg"/><Relationship Id="rId3" Type="http://schemas.openxmlformats.org/officeDocument/2006/relationships/image" Target="../media/image70.png"/><Relationship Id="rId7" Type="http://schemas.openxmlformats.org/officeDocument/2006/relationships/image" Target="../media/image14.png"/><Relationship Id="rId12" Type="http://schemas.openxmlformats.org/officeDocument/2006/relationships/image" Target="../media/image19.svg"/><Relationship Id="rId17" Type="http://schemas.openxmlformats.org/officeDocument/2006/relationships/image" Target="../media/image24.png"/><Relationship Id="rId2" Type="http://schemas.openxmlformats.org/officeDocument/2006/relationships/notesSlide" Target="../notesSlides/notesSlide5.xml"/><Relationship Id="rId16" Type="http://schemas.openxmlformats.org/officeDocument/2006/relationships/image" Target="../media/image23.svg"/><Relationship Id="rId1" Type="http://schemas.openxmlformats.org/officeDocument/2006/relationships/slideLayout" Target="../slideLayouts/slideLayout7.xml"/><Relationship Id="rId6" Type="http://schemas.openxmlformats.org/officeDocument/2006/relationships/image" Target="../media/image73.png"/><Relationship Id="rId11" Type="http://schemas.openxmlformats.org/officeDocument/2006/relationships/image" Target="../media/image18.png"/><Relationship Id="rId5" Type="http://schemas.openxmlformats.org/officeDocument/2006/relationships/image" Target="../media/image72.png"/><Relationship Id="rId15" Type="http://schemas.openxmlformats.org/officeDocument/2006/relationships/image" Target="../media/image22.png"/><Relationship Id="rId10" Type="http://schemas.openxmlformats.org/officeDocument/2006/relationships/image" Target="../media/image17.svg"/><Relationship Id="rId4" Type="http://schemas.openxmlformats.org/officeDocument/2006/relationships/image" Target="../media/image71.png"/><Relationship Id="rId9" Type="http://schemas.openxmlformats.org/officeDocument/2006/relationships/image" Target="../media/image16.png"/><Relationship Id="rId14" Type="http://schemas.openxmlformats.org/officeDocument/2006/relationships/image" Target="../media/image21.svg"/></Relationships>
</file>

<file path=ppt/slides/_rels/slide6.xml.rels><?xml version="1.0" encoding="UTF-8" standalone="yes"?>
<Relationships xmlns="http://schemas.openxmlformats.org/package/2006/relationships"><Relationship Id="rId8" Type="http://schemas.openxmlformats.org/officeDocument/2006/relationships/image" Target="../media/image19.svg"/><Relationship Id="rId13" Type="http://schemas.openxmlformats.org/officeDocument/2006/relationships/image" Target="../media/image24.png"/><Relationship Id="rId3" Type="http://schemas.openxmlformats.org/officeDocument/2006/relationships/image" Target="../media/image14.png"/><Relationship Id="rId7" Type="http://schemas.openxmlformats.org/officeDocument/2006/relationships/image" Target="../media/image18.png"/><Relationship Id="rId12" Type="http://schemas.openxmlformats.org/officeDocument/2006/relationships/image" Target="../media/image23.sv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17.svg"/><Relationship Id="rId11" Type="http://schemas.openxmlformats.org/officeDocument/2006/relationships/image" Target="../media/image22.png"/><Relationship Id="rId5" Type="http://schemas.openxmlformats.org/officeDocument/2006/relationships/image" Target="../media/image16.png"/><Relationship Id="rId10" Type="http://schemas.openxmlformats.org/officeDocument/2006/relationships/image" Target="../media/image21.svg"/><Relationship Id="rId4" Type="http://schemas.openxmlformats.org/officeDocument/2006/relationships/image" Target="../media/image15.svg"/><Relationship Id="rId9" Type="http://schemas.openxmlformats.org/officeDocument/2006/relationships/image" Target="../media/image20.png"/><Relationship Id="rId14" Type="http://schemas.openxmlformats.org/officeDocument/2006/relationships/image" Target="../media/image25.svg"/></Relationships>
</file>

<file path=ppt/slides/_rels/slide7.xml.rels><?xml version="1.0" encoding="UTF-8" standalone="yes"?>
<Relationships xmlns="http://schemas.openxmlformats.org/package/2006/relationships"><Relationship Id="rId8" Type="http://schemas.openxmlformats.org/officeDocument/2006/relationships/image" Target="../media/image79.svg"/><Relationship Id="rId13" Type="http://schemas.openxmlformats.org/officeDocument/2006/relationships/image" Target="../media/image20.png"/><Relationship Id="rId18" Type="http://schemas.openxmlformats.org/officeDocument/2006/relationships/image" Target="../media/image25.svg"/><Relationship Id="rId3" Type="http://schemas.openxmlformats.org/officeDocument/2006/relationships/image" Target="../media/image74.png"/><Relationship Id="rId7" Type="http://schemas.openxmlformats.org/officeDocument/2006/relationships/image" Target="../media/image78.png"/><Relationship Id="rId12" Type="http://schemas.openxmlformats.org/officeDocument/2006/relationships/image" Target="../media/image19.svg"/><Relationship Id="rId17" Type="http://schemas.openxmlformats.org/officeDocument/2006/relationships/image" Target="../media/image24.png"/><Relationship Id="rId2" Type="http://schemas.openxmlformats.org/officeDocument/2006/relationships/notesSlide" Target="../notesSlides/notesSlide7.xml"/><Relationship Id="rId16" Type="http://schemas.openxmlformats.org/officeDocument/2006/relationships/image" Target="../media/image23.svg"/><Relationship Id="rId1" Type="http://schemas.openxmlformats.org/officeDocument/2006/relationships/slideLayout" Target="../slideLayouts/slideLayout6.xml"/><Relationship Id="rId6" Type="http://schemas.openxmlformats.org/officeDocument/2006/relationships/image" Target="../media/image77.svg"/><Relationship Id="rId11" Type="http://schemas.openxmlformats.org/officeDocument/2006/relationships/image" Target="../media/image18.png"/><Relationship Id="rId5" Type="http://schemas.openxmlformats.org/officeDocument/2006/relationships/image" Target="../media/image76.png"/><Relationship Id="rId15" Type="http://schemas.openxmlformats.org/officeDocument/2006/relationships/image" Target="../media/image22.png"/><Relationship Id="rId10" Type="http://schemas.openxmlformats.org/officeDocument/2006/relationships/image" Target="../media/image17.svg"/><Relationship Id="rId4" Type="http://schemas.openxmlformats.org/officeDocument/2006/relationships/image" Target="../media/image75.svg"/><Relationship Id="rId9" Type="http://schemas.openxmlformats.org/officeDocument/2006/relationships/image" Target="../media/image16.png"/><Relationship Id="rId14" Type="http://schemas.openxmlformats.org/officeDocument/2006/relationships/image" Target="../media/image21.svg"/></Relationships>
</file>

<file path=ppt/slides/_rels/slide8.xml.rels><?xml version="1.0" encoding="UTF-8" standalone="yes"?>
<Relationships xmlns="http://schemas.openxmlformats.org/package/2006/relationships"><Relationship Id="rId8" Type="http://schemas.openxmlformats.org/officeDocument/2006/relationships/image" Target="../media/image79.svg"/><Relationship Id="rId13" Type="http://schemas.openxmlformats.org/officeDocument/2006/relationships/image" Target="../media/image20.png"/><Relationship Id="rId18" Type="http://schemas.openxmlformats.org/officeDocument/2006/relationships/image" Target="../media/image25.svg"/><Relationship Id="rId3" Type="http://schemas.openxmlformats.org/officeDocument/2006/relationships/image" Target="../media/image80.png"/><Relationship Id="rId7" Type="http://schemas.openxmlformats.org/officeDocument/2006/relationships/image" Target="../media/image78.png"/><Relationship Id="rId12" Type="http://schemas.openxmlformats.org/officeDocument/2006/relationships/image" Target="../media/image19.svg"/><Relationship Id="rId17" Type="http://schemas.openxmlformats.org/officeDocument/2006/relationships/image" Target="../media/image24.png"/><Relationship Id="rId2" Type="http://schemas.openxmlformats.org/officeDocument/2006/relationships/notesSlide" Target="../notesSlides/notesSlide8.xml"/><Relationship Id="rId16" Type="http://schemas.openxmlformats.org/officeDocument/2006/relationships/image" Target="../media/image23.svg"/><Relationship Id="rId1" Type="http://schemas.openxmlformats.org/officeDocument/2006/relationships/slideLayout" Target="../slideLayouts/slideLayout6.xml"/><Relationship Id="rId6" Type="http://schemas.openxmlformats.org/officeDocument/2006/relationships/image" Target="../media/image83.svg"/><Relationship Id="rId11" Type="http://schemas.openxmlformats.org/officeDocument/2006/relationships/image" Target="../media/image18.png"/><Relationship Id="rId5" Type="http://schemas.openxmlformats.org/officeDocument/2006/relationships/image" Target="../media/image82.png"/><Relationship Id="rId15" Type="http://schemas.openxmlformats.org/officeDocument/2006/relationships/image" Target="../media/image22.png"/><Relationship Id="rId10" Type="http://schemas.openxmlformats.org/officeDocument/2006/relationships/image" Target="../media/image17.svg"/><Relationship Id="rId4" Type="http://schemas.openxmlformats.org/officeDocument/2006/relationships/image" Target="../media/image81.svg"/><Relationship Id="rId9" Type="http://schemas.openxmlformats.org/officeDocument/2006/relationships/image" Target="../media/image16.png"/><Relationship Id="rId14" Type="http://schemas.openxmlformats.org/officeDocument/2006/relationships/image" Target="../media/image21.svg"/></Relationships>
</file>

<file path=ppt/slides/_rels/slide9.xml.rels><?xml version="1.0" encoding="UTF-8" standalone="yes"?>
<Relationships xmlns="http://schemas.openxmlformats.org/package/2006/relationships"><Relationship Id="rId8" Type="http://schemas.openxmlformats.org/officeDocument/2006/relationships/image" Target="../media/image17.svg"/><Relationship Id="rId13" Type="http://schemas.openxmlformats.org/officeDocument/2006/relationships/image" Target="../media/image22.png"/><Relationship Id="rId18" Type="http://schemas.openxmlformats.org/officeDocument/2006/relationships/image" Target="../media/image85.svg"/><Relationship Id="rId3" Type="http://schemas.openxmlformats.org/officeDocument/2006/relationships/image" Target="../media/image80.png"/><Relationship Id="rId7" Type="http://schemas.openxmlformats.org/officeDocument/2006/relationships/image" Target="../media/image16.png"/><Relationship Id="rId12" Type="http://schemas.openxmlformats.org/officeDocument/2006/relationships/image" Target="../media/image21.svg"/><Relationship Id="rId17" Type="http://schemas.openxmlformats.org/officeDocument/2006/relationships/image" Target="../media/image84.png"/><Relationship Id="rId2" Type="http://schemas.openxmlformats.org/officeDocument/2006/relationships/notesSlide" Target="../notesSlides/notesSlide9.xml"/><Relationship Id="rId16" Type="http://schemas.openxmlformats.org/officeDocument/2006/relationships/image" Target="../media/image25.svg"/><Relationship Id="rId20" Type="http://schemas.openxmlformats.org/officeDocument/2006/relationships/image" Target="../media/image87.svg"/><Relationship Id="rId1" Type="http://schemas.openxmlformats.org/officeDocument/2006/relationships/slideLayout" Target="../slideLayouts/slideLayout6.xml"/><Relationship Id="rId6" Type="http://schemas.openxmlformats.org/officeDocument/2006/relationships/image" Target="../media/image79.svg"/><Relationship Id="rId11" Type="http://schemas.openxmlformats.org/officeDocument/2006/relationships/image" Target="../media/image20.png"/><Relationship Id="rId5" Type="http://schemas.openxmlformats.org/officeDocument/2006/relationships/image" Target="../media/image78.png"/><Relationship Id="rId15" Type="http://schemas.openxmlformats.org/officeDocument/2006/relationships/image" Target="../media/image24.png"/><Relationship Id="rId10" Type="http://schemas.openxmlformats.org/officeDocument/2006/relationships/image" Target="../media/image19.svg"/><Relationship Id="rId19" Type="http://schemas.openxmlformats.org/officeDocument/2006/relationships/image" Target="../media/image86.png"/><Relationship Id="rId4" Type="http://schemas.openxmlformats.org/officeDocument/2006/relationships/image" Target="../media/image81.svg"/><Relationship Id="rId9" Type="http://schemas.openxmlformats.org/officeDocument/2006/relationships/image" Target="../media/image18.png"/><Relationship Id="rId14" Type="http://schemas.openxmlformats.org/officeDocument/2006/relationships/image" Target="../media/image23.svg"/></Relationships>
</file>

<file path=ppt/slides/_rels/slide10.xml.rels><?xml version="1.0" encoding="UTF-8" standalone="yes"?>
<Relationships xmlns="http://schemas.openxmlformats.org/package/2006/relationships"><Relationship Id="rId8" Type="http://schemas.openxmlformats.org/officeDocument/2006/relationships/image" Target="../media/image16.png"/><Relationship Id="rId13" Type="http://schemas.openxmlformats.org/officeDocument/2006/relationships/image" Target="../media/image21.svg"/><Relationship Id="rId3" Type="http://schemas.openxmlformats.org/officeDocument/2006/relationships/image" Target="../media/image88.png"/><Relationship Id="rId7" Type="http://schemas.openxmlformats.org/officeDocument/2006/relationships/image" Target="../media/image79.svg"/><Relationship Id="rId12" Type="http://schemas.openxmlformats.org/officeDocument/2006/relationships/image" Target="../media/image20.png"/><Relationship Id="rId17" Type="http://schemas.openxmlformats.org/officeDocument/2006/relationships/image" Target="../media/image25.svg"/><Relationship Id="rId2" Type="http://schemas.openxmlformats.org/officeDocument/2006/relationships/notesSlide" Target="../notesSlides/notesSlide10.xml"/><Relationship Id="rId16" Type="http://schemas.openxmlformats.org/officeDocument/2006/relationships/image" Target="../media/image24.png"/><Relationship Id="rId1" Type="http://schemas.openxmlformats.org/officeDocument/2006/relationships/slideLayout" Target="../slideLayouts/slideLayout7.xml"/><Relationship Id="rId6" Type="http://schemas.openxmlformats.org/officeDocument/2006/relationships/image" Target="../media/image78.png"/><Relationship Id="rId11" Type="http://schemas.openxmlformats.org/officeDocument/2006/relationships/image" Target="../media/image19.svg"/><Relationship Id="rId5" Type="http://schemas.openxmlformats.org/officeDocument/2006/relationships/image" Target="../media/image90.png"/><Relationship Id="rId15" Type="http://schemas.openxmlformats.org/officeDocument/2006/relationships/image" Target="../media/image23.svg"/><Relationship Id="rId10" Type="http://schemas.openxmlformats.org/officeDocument/2006/relationships/image" Target="../media/image18.png"/><Relationship Id="rId4" Type="http://schemas.openxmlformats.org/officeDocument/2006/relationships/image" Target="../media/image89.png"/><Relationship Id="rId9" Type="http://schemas.openxmlformats.org/officeDocument/2006/relationships/image" Target="../media/image17.svg"/><Relationship Id="rId14" Type="http://schemas.openxmlformats.org/officeDocument/2006/relationships/image" Target="../media/image22.png"/></Relationships>
</file>

<file path=ppt/slides/_rels/slide11.xml.rels><?xml version="1.0" encoding="UTF-8" standalone="yes"?>
<Relationships xmlns="http://schemas.openxmlformats.org/package/2006/relationships"><Relationship Id="rId8" Type="http://schemas.openxmlformats.org/officeDocument/2006/relationships/image" Target="../media/image16.png"/><Relationship Id="rId13" Type="http://schemas.openxmlformats.org/officeDocument/2006/relationships/image" Target="../media/image21.svg"/><Relationship Id="rId18" Type="http://schemas.openxmlformats.org/officeDocument/2006/relationships/image" Target="../media/image91.png"/><Relationship Id="rId3" Type="http://schemas.openxmlformats.org/officeDocument/2006/relationships/image" Target="../media/image88.png"/><Relationship Id="rId7" Type="http://schemas.openxmlformats.org/officeDocument/2006/relationships/image" Target="../media/image79.svg"/><Relationship Id="rId12" Type="http://schemas.openxmlformats.org/officeDocument/2006/relationships/image" Target="../media/image20.png"/><Relationship Id="rId17" Type="http://schemas.openxmlformats.org/officeDocument/2006/relationships/image" Target="../media/image25.svg"/><Relationship Id="rId2" Type="http://schemas.openxmlformats.org/officeDocument/2006/relationships/notesSlide" Target="../notesSlides/notesSlide11.xml"/><Relationship Id="rId16" Type="http://schemas.openxmlformats.org/officeDocument/2006/relationships/image" Target="../media/image24.png"/><Relationship Id="rId1" Type="http://schemas.openxmlformats.org/officeDocument/2006/relationships/slideLayout" Target="../slideLayouts/slideLayout7.xml"/><Relationship Id="rId6" Type="http://schemas.openxmlformats.org/officeDocument/2006/relationships/image" Target="../media/image78.png"/><Relationship Id="rId11" Type="http://schemas.openxmlformats.org/officeDocument/2006/relationships/image" Target="../media/image19.svg"/><Relationship Id="rId5" Type="http://schemas.openxmlformats.org/officeDocument/2006/relationships/image" Target="../media/image90.png"/><Relationship Id="rId15" Type="http://schemas.openxmlformats.org/officeDocument/2006/relationships/image" Target="../media/image23.svg"/><Relationship Id="rId10" Type="http://schemas.openxmlformats.org/officeDocument/2006/relationships/image" Target="../media/image18.png"/><Relationship Id="rId19" Type="http://schemas.openxmlformats.org/officeDocument/2006/relationships/image" Target="../media/image92.svg"/><Relationship Id="rId4" Type="http://schemas.openxmlformats.org/officeDocument/2006/relationships/image" Target="../media/image89.png"/><Relationship Id="rId9" Type="http://schemas.openxmlformats.org/officeDocument/2006/relationships/image" Target="../media/image17.svg"/><Relationship Id="rId14" Type="http://schemas.openxmlformats.org/officeDocument/2006/relationships/image" Target="../media/image22.png"/></Relationships>
</file>

<file path=ppt/slides/_rels/slide1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2.xml"/><Relationship Id="rId1" Type="http://schemas.openxmlformats.org/officeDocument/2006/relationships/slideLayout" Target="../slideLayouts/slideLayout6.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3.xml.rels><?xml version="1.0" encoding="UTF-8" standalone="yes"?>
<Relationships xmlns="http://schemas.openxmlformats.org/package/2006/relationships"><Relationship Id="rId8" Type="http://schemas.openxmlformats.org/officeDocument/2006/relationships/image" Target="../media/image78.png"/><Relationship Id="rId13" Type="http://schemas.openxmlformats.org/officeDocument/2006/relationships/image" Target="../media/image19.svg"/><Relationship Id="rId18" Type="http://schemas.openxmlformats.org/officeDocument/2006/relationships/image" Target="../media/image24.png"/><Relationship Id="rId3" Type="http://schemas.openxmlformats.org/officeDocument/2006/relationships/image" Target="../media/image93.png"/><Relationship Id="rId7" Type="http://schemas.openxmlformats.org/officeDocument/2006/relationships/image" Target="../media/image97.png"/><Relationship Id="rId12" Type="http://schemas.openxmlformats.org/officeDocument/2006/relationships/image" Target="../media/image18.png"/><Relationship Id="rId17" Type="http://schemas.openxmlformats.org/officeDocument/2006/relationships/image" Target="../media/image23.svg"/><Relationship Id="rId2" Type="http://schemas.openxmlformats.org/officeDocument/2006/relationships/notesSlide" Target="../notesSlides/notesSlide13.xml"/><Relationship Id="rId16" Type="http://schemas.openxmlformats.org/officeDocument/2006/relationships/image" Target="../media/image22.png"/><Relationship Id="rId1" Type="http://schemas.openxmlformats.org/officeDocument/2006/relationships/slideLayout" Target="../slideLayouts/slideLayout7.xml"/><Relationship Id="rId6" Type="http://schemas.openxmlformats.org/officeDocument/2006/relationships/image" Target="../media/image96.png"/><Relationship Id="rId11" Type="http://schemas.openxmlformats.org/officeDocument/2006/relationships/image" Target="../media/image99.svg"/><Relationship Id="rId5" Type="http://schemas.openxmlformats.org/officeDocument/2006/relationships/image" Target="../media/image95.png"/><Relationship Id="rId15" Type="http://schemas.openxmlformats.org/officeDocument/2006/relationships/image" Target="../media/image21.svg"/><Relationship Id="rId10" Type="http://schemas.openxmlformats.org/officeDocument/2006/relationships/image" Target="../media/image98.png"/><Relationship Id="rId19" Type="http://schemas.openxmlformats.org/officeDocument/2006/relationships/image" Target="../media/image25.svg"/><Relationship Id="rId4" Type="http://schemas.openxmlformats.org/officeDocument/2006/relationships/image" Target="../media/image94.png"/><Relationship Id="rId9" Type="http://schemas.openxmlformats.org/officeDocument/2006/relationships/image" Target="../media/image79.svg"/><Relationship Id="rId14" Type="http://schemas.openxmlformats.org/officeDocument/2006/relationships/image" Target="../media/image20.png"/></Relationships>
</file>

<file path=ppt/slides/_rels/slide14.xml.rels><?xml version="1.0" encoding="UTF-8" standalone="yes"?>
<Relationships xmlns="http://schemas.openxmlformats.org/package/2006/relationships"><Relationship Id="rId8" Type="http://schemas.openxmlformats.org/officeDocument/2006/relationships/image" Target="../media/image19.svg"/><Relationship Id="rId13" Type="http://schemas.openxmlformats.org/officeDocument/2006/relationships/image" Target="../media/image24.png"/><Relationship Id="rId3" Type="http://schemas.openxmlformats.org/officeDocument/2006/relationships/image" Target="../media/image78.png"/><Relationship Id="rId7" Type="http://schemas.openxmlformats.org/officeDocument/2006/relationships/image" Target="../media/image18.png"/><Relationship Id="rId12" Type="http://schemas.openxmlformats.org/officeDocument/2006/relationships/image" Target="../media/image23.svg"/><Relationship Id="rId2" Type="http://schemas.openxmlformats.org/officeDocument/2006/relationships/notesSlide" Target="../notesSlides/notesSlide14.xml"/><Relationship Id="rId1" Type="http://schemas.openxmlformats.org/officeDocument/2006/relationships/slideLayout" Target="../slideLayouts/slideLayout6.xml"/><Relationship Id="rId6" Type="http://schemas.openxmlformats.org/officeDocument/2006/relationships/image" Target="../media/image99.svg"/><Relationship Id="rId11" Type="http://schemas.openxmlformats.org/officeDocument/2006/relationships/image" Target="../media/image22.png"/><Relationship Id="rId5" Type="http://schemas.openxmlformats.org/officeDocument/2006/relationships/image" Target="../media/image98.png"/><Relationship Id="rId10" Type="http://schemas.openxmlformats.org/officeDocument/2006/relationships/image" Target="../media/image21.svg"/><Relationship Id="rId4" Type="http://schemas.openxmlformats.org/officeDocument/2006/relationships/image" Target="../media/image79.svg"/><Relationship Id="rId9" Type="http://schemas.openxmlformats.org/officeDocument/2006/relationships/image" Target="../media/image20.png"/><Relationship Id="rId14" Type="http://schemas.openxmlformats.org/officeDocument/2006/relationships/image" Target="../media/image25.svg"/></Relationships>
</file>

<file path=ppt/slides/_rels/slide15.xml.rels><?xml version="1.0" encoding="UTF-8" standalone="yes"?>
<Relationships xmlns="http://schemas.openxmlformats.org/package/2006/relationships"><Relationship Id="rId8" Type="http://schemas.openxmlformats.org/officeDocument/2006/relationships/image" Target="../media/image19.svg"/><Relationship Id="rId13" Type="http://schemas.openxmlformats.org/officeDocument/2006/relationships/image" Target="../media/image24.png"/><Relationship Id="rId3" Type="http://schemas.openxmlformats.org/officeDocument/2006/relationships/image" Target="../media/image78.png"/><Relationship Id="rId7" Type="http://schemas.openxmlformats.org/officeDocument/2006/relationships/image" Target="../media/image18.png"/><Relationship Id="rId12" Type="http://schemas.openxmlformats.org/officeDocument/2006/relationships/image" Target="../media/image23.svg"/><Relationship Id="rId2" Type="http://schemas.openxmlformats.org/officeDocument/2006/relationships/notesSlide" Target="../notesSlides/notesSlide15.xml"/><Relationship Id="rId1" Type="http://schemas.openxmlformats.org/officeDocument/2006/relationships/slideLayout" Target="../slideLayouts/slideLayout8.xml"/><Relationship Id="rId6" Type="http://schemas.openxmlformats.org/officeDocument/2006/relationships/image" Target="../media/image99.svg"/><Relationship Id="rId11" Type="http://schemas.openxmlformats.org/officeDocument/2006/relationships/image" Target="../media/image22.png"/><Relationship Id="rId5" Type="http://schemas.openxmlformats.org/officeDocument/2006/relationships/image" Target="../media/image98.png"/><Relationship Id="rId10" Type="http://schemas.openxmlformats.org/officeDocument/2006/relationships/image" Target="../media/image21.svg"/><Relationship Id="rId4" Type="http://schemas.openxmlformats.org/officeDocument/2006/relationships/image" Target="../media/image79.svg"/><Relationship Id="rId9" Type="http://schemas.openxmlformats.org/officeDocument/2006/relationships/image" Target="../media/image20.png"/><Relationship Id="rId14" Type="http://schemas.openxmlformats.org/officeDocument/2006/relationships/image" Target="../media/image25.svg"/></Relationships>
</file>

<file path=ppt/slides/_rels/slide16.xml.rels><?xml version="1.0" encoding="UTF-8" standalone="yes"?>
<Relationships xmlns="http://schemas.openxmlformats.org/package/2006/relationships"><Relationship Id="rId8" Type="http://schemas.openxmlformats.org/officeDocument/2006/relationships/image" Target="../media/image58.png"/><Relationship Id="rId3" Type="http://schemas.openxmlformats.org/officeDocument/2006/relationships/image" Target="../media/image95.png"/><Relationship Id="rId7" Type="http://schemas.openxmlformats.org/officeDocument/2006/relationships/image" Target="../media/image94.png"/><Relationship Id="rId2" Type="http://schemas.openxmlformats.org/officeDocument/2006/relationships/notesSlide" Target="../notesSlides/notesSlide16.xml"/><Relationship Id="rId1" Type="http://schemas.openxmlformats.org/officeDocument/2006/relationships/slideLayout" Target="../slideLayouts/slideLayout6.xml"/><Relationship Id="rId6" Type="http://schemas.openxmlformats.org/officeDocument/2006/relationships/image" Target="../media/image97.png"/><Relationship Id="rId11" Type="http://schemas.openxmlformats.org/officeDocument/2006/relationships/image" Target="../media/image19.svg"/><Relationship Id="rId5" Type="http://schemas.openxmlformats.org/officeDocument/2006/relationships/image" Target="../media/image93.png"/><Relationship Id="rId10" Type="http://schemas.openxmlformats.org/officeDocument/2006/relationships/image" Target="../media/image18.png"/><Relationship Id="rId4" Type="http://schemas.openxmlformats.org/officeDocument/2006/relationships/image" Target="../media/image96.png"/><Relationship Id="rId9" Type="http://schemas.openxmlformats.org/officeDocument/2006/relationships/image" Target="../media/image55.png"/></Relationships>
</file>

<file path=ppt/slides/_rels/slide17.xml.rels><?xml version="1.0" encoding="UTF-8" standalone="yes"?>
<Relationships xmlns="http://schemas.openxmlformats.org/package/2006/relationships"><Relationship Id="rId8" Type="http://schemas.openxmlformats.org/officeDocument/2006/relationships/image" Target="../media/image101.svg"/><Relationship Id="rId13" Type="http://schemas.openxmlformats.org/officeDocument/2006/relationships/image" Target="../media/image24.png"/><Relationship Id="rId3" Type="http://schemas.openxmlformats.org/officeDocument/2006/relationships/image" Target="../media/image78.png"/><Relationship Id="rId7" Type="http://schemas.openxmlformats.org/officeDocument/2006/relationships/image" Target="../media/image100.png"/><Relationship Id="rId12" Type="http://schemas.openxmlformats.org/officeDocument/2006/relationships/image" Target="../media/image23.svg"/><Relationship Id="rId2" Type="http://schemas.openxmlformats.org/officeDocument/2006/relationships/notesSlide" Target="../notesSlides/notesSlide17.xml"/><Relationship Id="rId1" Type="http://schemas.openxmlformats.org/officeDocument/2006/relationships/slideLayout" Target="../slideLayouts/slideLayout6.xml"/><Relationship Id="rId6" Type="http://schemas.openxmlformats.org/officeDocument/2006/relationships/image" Target="../media/image99.svg"/><Relationship Id="rId11" Type="http://schemas.openxmlformats.org/officeDocument/2006/relationships/image" Target="../media/image22.png"/><Relationship Id="rId5" Type="http://schemas.openxmlformats.org/officeDocument/2006/relationships/image" Target="../media/image98.png"/><Relationship Id="rId10" Type="http://schemas.openxmlformats.org/officeDocument/2006/relationships/image" Target="../media/image21.svg"/><Relationship Id="rId4" Type="http://schemas.openxmlformats.org/officeDocument/2006/relationships/image" Target="../media/image79.svg"/><Relationship Id="rId9" Type="http://schemas.openxmlformats.org/officeDocument/2006/relationships/image" Target="../media/image20.png"/><Relationship Id="rId14" Type="http://schemas.openxmlformats.org/officeDocument/2006/relationships/image" Target="../media/image25.svg"/></Relationships>
</file>

<file path=ppt/slides/_rels/slide18.xml.rels><?xml version="1.0" encoding="UTF-8" standalone="yes"?>
<Relationships xmlns="http://schemas.openxmlformats.org/package/2006/relationships"><Relationship Id="rId8" Type="http://schemas.openxmlformats.org/officeDocument/2006/relationships/image" Target="../media/image101.svg"/><Relationship Id="rId13" Type="http://schemas.openxmlformats.org/officeDocument/2006/relationships/image" Target="../media/image24.png"/><Relationship Id="rId3" Type="http://schemas.openxmlformats.org/officeDocument/2006/relationships/image" Target="../media/image78.png"/><Relationship Id="rId7" Type="http://schemas.openxmlformats.org/officeDocument/2006/relationships/image" Target="../media/image100.png"/><Relationship Id="rId12" Type="http://schemas.openxmlformats.org/officeDocument/2006/relationships/image" Target="../media/image23.svg"/><Relationship Id="rId2" Type="http://schemas.openxmlformats.org/officeDocument/2006/relationships/notesSlide" Target="../notesSlides/notesSlide18.xml"/><Relationship Id="rId1" Type="http://schemas.openxmlformats.org/officeDocument/2006/relationships/slideLayout" Target="../slideLayouts/slideLayout6.xml"/><Relationship Id="rId6" Type="http://schemas.openxmlformats.org/officeDocument/2006/relationships/image" Target="../media/image99.svg"/><Relationship Id="rId11" Type="http://schemas.openxmlformats.org/officeDocument/2006/relationships/image" Target="../media/image22.png"/><Relationship Id="rId5" Type="http://schemas.openxmlformats.org/officeDocument/2006/relationships/image" Target="../media/image98.png"/><Relationship Id="rId15" Type="http://schemas.openxmlformats.org/officeDocument/2006/relationships/image" Target="../media/image102.png"/><Relationship Id="rId10" Type="http://schemas.openxmlformats.org/officeDocument/2006/relationships/image" Target="../media/image21.svg"/><Relationship Id="rId4" Type="http://schemas.openxmlformats.org/officeDocument/2006/relationships/image" Target="../media/image79.svg"/><Relationship Id="rId9" Type="http://schemas.openxmlformats.org/officeDocument/2006/relationships/image" Target="../media/image20.png"/><Relationship Id="rId14" Type="http://schemas.openxmlformats.org/officeDocument/2006/relationships/image" Target="../media/image25.svg"/></Relationships>
</file>

<file path=ppt/slides/_rels/slide19.xml.rels><?xml version="1.0" encoding="UTF-8" standalone="yes"?>
<Relationships xmlns="http://schemas.openxmlformats.org/package/2006/relationships"><Relationship Id="rId8" Type="http://schemas.openxmlformats.org/officeDocument/2006/relationships/image" Target="../media/image54.svg"/><Relationship Id="rId13" Type="http://schemas.openxmlformats.org/officeDocument/2006/relationships/image" Target="../media/image41.png"/><Relationship Id="rId18" Type="http://schemas.openxmlformats.org/officeDocument/2006/relationships/image" Target="../media/image109.svg"/><Relationship Id="rId26" Type="http://schemas.openxmlformats.org/officeDocument/2006/relationships/image" Target="../media/image79.svg"/><Relationship Id="rId3" Type="http://schemas.openxmlformats.org/officeDocument/2006/relationships/image" Target="../media/image103.png"/><Relationship Id="rId21" Type="http://schemas.openxmlformats.org/officeDocument/2006/relationships/image" Target="../media/image112.png"/><Relationship Id="rId34" Type="http://schemas.openxmlformats.org/officeDocument/2006/relationships/image" Target="../media/image23.svg"/><Relationship Id="rId7" Type="http://schemas.openxmlformats.org/officeDocument/2006/relationships/image" Target="../media/image53.png"/><Relationship Id="rId12" Type="http://schemas.openxmlformats.org/officeDocument/2006/relationships/image" Target="../media/image106.svg"/><Relationship Id="rId17" Type="http://schemas.openxmlformats.org/officeDocument/2006/relationships/image" Target="../media/image108.png"/><Relationship Id="rId25" Type="http://schemas.openxmlformats.org/officeDocument/2006/relationships/image" Target="../media/image78.png"/><Relationship Id="rId33" Type="http://schemas.openxmlformats.org/officeDocument/2006/relationships/image" Target="../media/image22.png"/><Relationship Id="rId2" Type="http://schemas.openxmlformats.org/officeDocument/2006/relationships/notesSlide" Target="../notesSlides/notesSlide19.xml"/><Relationship Id="rId16" Type="http://schemas.openxmlformats.org/officeDocument/2006/relationships/image" Target="../media/image57.svg"/><Relationship Id="rId20" Type="http://schemas.openxmlformats.org/officeDocument/2006/relationships/image" Target="../media/image111.svg"/><Relationship Id="rId29" Type="http://schemas.openxmlformats.org/officeDocument/2006/relationships/image" Target="../media/image100.png"/><Relationship Id="rId1" Type="http://schemas.openxmlformats.org/officeDocument/2006/relationships/slideLayout" Target="../slideLayouts/slideLayout6.xml"/><Relationship Id="rId6" Type="http://schemas.openxmlformats.org/officeDocument/2006/relationships/image" Target="../media/image32.svg"/><Relationship Id="rId11" Type="http://schemas.openxmlformats.org/officeDocument/2006/relationships/image" Target="../media/image105.png"/><Relationship Id="rId24" Type="http://schemas.openxmlformats.org/officeDocument/2006/relationships/image" Target="../media/image115.svg"/><Relationship Id="rId32" Type="http://schemas.openxmlformats.org/officeDocument/2006/relationships/image" Target="../media/image117.svg"/><Relationship Id="rId5" Type="http://schemas.openxmlformats.org/officeDocument/2006/relationships/image" Target="../media/image31.png"/><Relationship Id="rId15" Type="http://schemas.openxmlformats.org/officeDocument/2006/relationships/image" Target="../media/image56.png"/><Relationship Id="rId23" Type="http://schemas.openxmlformats.org/officeDocument/2006/relationships/image" Target="../media/image114.png"/><Relationship Id="rId28" Type="http://schemas.openxmlformats.org/officeDocument/2006/relationships/image" Target="../media/image99.svg"/><Relationship Id="rId36" Type="http://schemas.openxmlformats.org/officeDocument/2006/relationships/image" Target="../media/image25.svg"/><Relationship Id="rId10" Type="http://schemas.openxmlformats.org/officeDocument/2006/relationships/image" Target="../media/image52.svg"/><Relationship Id="rId19" Type="http://schemas.openxmlformats.org/officeDocument/2006/relationships/image" Target="../media/image110.png"/><Relationship Id="rId31" Type="http://schemas.openxmlformats.org/officeDocument/2006/relationships/image" Target="../media/image116.png"/><Relationship Id="rId4" Type="http://schemas.openxmlformats.org/officeDocument/2006/relationships/image" Target="../media/image104.svg"/><Relationship Id="rId9" Type="http://schemas.openxmlformats.org/officeDocument/2006/relationships/image" Target="../media/image51.png"/><Relationship Id="rId14" Type="http://schemas.openxmlformats.org/officeDocument/2006/relationships/image" Target="../media/image107.svg"/><Relationship Id="rId22" Type="http://schemas.openxmlformats.org/officeDocument/2006/relationships/image" Target="../media/image113.svg"/><Relationship Id="rId27" Type="http://schemas.openxmlformats.org/officeDocument/2006/relationships/image" Target="../media/image98.png"/><Relationship Id="rId30" Type="http://schemas.openxmlformats.org/officeDocument/2006/relationships/image" Target="../media/image101.svg"/><Relationship Id="rId35" Type="http://schemas.openxmlformats.org/officeDocument/2006/relationships/image" Target="../media/image24.png"/></Relationships>
</file>

<file path=ppt/slides/_rels/slide20.xml.rels><?xml version="1.0" encoding="UTF-8" standalone="yes"?>
<Relationships xmlns="http://schemas.openxmlformats.org/package/2006/relationships"><Relationship Id="rId8" Type="http://schemas.openxmlformats.org/officeDocument/2006/relationships/image" Target="../media/image101.svg"/><Relationship Id="rId13" Type="http://schemas.openxmlformats.org/officeDocument/2006/relationships/image" Target="../media/image24.png"/><Relationship Id="rId3" Type="http://schemas.openxmlformats.org/officeDocument/2006/relationships/image" Target="../media/image78.png"/><Relationship Id="rId7" Type="http://schemas.openxmlformats.org/officeDocument/2006/relationships/image" Target="../media/image100.png"/><Relationship Id="rId12" Type="http://schemas.openxmlformats.org/officeDocument/2006/relationships/image" Target="../media/image23.svg"/><Relationship Id="rId2" Type="http://schemas.openxmlformats.org/officeDocument/2006/relationships/notesSlide" Target="../notesSlides/notesSlide20.xml"/><Relationship Id="rId1" Type="http://schemas.openxmlformats.org/officeDocument/2006/relationships/slideLayout" Target="../slideLayouts/slideLayout8.xml"/><Relationship Id="rId6" Type="http://schemas.openxmlformats.org/officeDocument/2006/relationships/image" Target="../media/image99.svg"/><Relationship Id="rId11" Type="http://schemas.openxmlformats.org/officeDocument/2006/relationships/image" Target="../media/image22.png"/><Relationship Id="rId5" Type="http://schemas.openxmlformats.org/officeDocument/2006/relationships/image" Target="../media/image98.png"/><Relationship Id="rId10" Type="http://schemas.openxmlformats.org/officeDocument/2006/relationships/image" Target="../media/image117.svg"/><Relationship Id="rId4" Type="http://schemas.openxmlformats.org/officeDocument/2006/relationships/image" Target="../media/image79.svg"/><Relationship Id="rId9" Type="http://schemas.openxmlformats.org/officeDocument/2006/relationships/image" Target="../media/image116.png"/><Relationship Id="rId14" Type="http://schemas.openxmlformats.org/officeDocument/2006/relationships/image" Target="../media/image25.svg"/></Relationships>
</file>

<file path=ppt/slides/_rels/slide21.xml.rels><?xml version="1.0" encoding="UTF-8" standalone="yes"?>
<Relationships xmlns="http://schemas.openxmlformats.org/package/2006/relationships"><Relationship Id="rId8" Type="http://schemas.openxmlformats.org/officeDocument/2006/relationships/image" Target="../media/image79.svg"/><Relationship Id="rId13" Type="http://schemas.openxmlformats.org/officeDocument/2006/relationships/image" Target="../media/image116.png"/><Relationship Id="rId18" Type="http://schemas.openxmlformats.org/officeDocument/2006/relationships/image" Target="../media/image25.svg"/><Relationship Id="rId3" Type="http://schemas.openxmlformats.org/officeDocument/2006/relationships/image" Target="../media/image118.png"/><Relationship Id="rId7" Type="http://schemas.openxmlformats.org/officeDocument/2006/relationships/image" Target="../media/image78.png"/><Relationship Id="rId12" Type="http://schemas.openxmlformats.org/officeDocument/2006/relationships/image" Target="../media/image101.svg"/><Relationship Id="rId17" Type="http://schemas.openxmlformats.org/officeDocument/2006/relationships/image" Target="../media/image24.png"/><Relationship Id="rId2" Type="http://schemas.openxmlformats.org/officeDocument/2006/relationships/notesSlide" Target="../notesSlides/notesSlide21.xml"/><Relationship Id="rId16" Type="http://schemas.openxmlformats.org/officeDocument/2006/relationships/image" Target="../media/image23.svg"/><Relationship Id="rId1" Type="http://schemas.openxmlformats.org/officeDocument/2006/relationships/slideLayout" Target="../slideLayouts/slideLayout7.xml"/><Relationship Id="rId6" Type="http://schemas.openxmlformats.org/officeDocument/2006/relationships/customXml" Target="../ink/ink2.xml"/><Relationship Id="rId11" Type="http://schemas.openxmlformats.org/officeDocument/2006/relationships/image" Target="../media/image100.png"/><Relationship Id="rId5" Type="http://schemas.openxmlformats.org/officeDocument/2006/relationships/image" Target="../media/image720.png"/><Relationship Id="rId15" Type="http://schemas.openxmlformats.org/officeDocument/2006/relationships/image" Target="../media/image22.png"/><Relationship Id="rId10" Type="http://schemas.openxmlformats.org/officeDocument/2006/relationships/image" Target="../media/image99.svg"/><Relationship Id="rId4" Type="http://schemas.openxmlformats.org/officeDocument/2006/relationships/customXml" Target="../ink/ink1.xml"/><Relationship Id="rId9" Type="http://schemas.openxmlformats.org/officeDocument/2006/relationships/image" Target="../media/image98.png"/><Relationship Id="rId14" Type="http://schemas.openxmlformats.org/officeDocument/2006/relationships/image" Target="../media/image117.svg"/></Relationships>
</file>

<file path=ppt/slides/_rels/slide22.xml.rels><?xml version="1.0" encoding="UTF-8" standalone="yes"?>
<Relationships xmlns="http://schemas.openxmlformats.org/package/2006/relationships"><Relationship Id="rId8" Type="http://schemas.openxmlformats.org/officeDocument/2006/relationships/image" Target="../media/image100.png"/><Relationship Id="rId13" Type="http://schemas.openxmlformats.org/officeDocument/2006/relationships/image" Target="../media/image23.svg"/><Relationship Id="rId3" Type="http://schemas.openxmlformats.org/officeDocument/2006/relationships/image" Target="../media/image119.png"/><Relationship Id="rId7" Type="http://schemas.openxmlformats.org/officeDocument/2006/relationships/image" Target="../media/image99.svg"/><Relationship Id="rId12" Type="http://schemas.openxmlformats.org/officeDocument/2006/relationships/image" Target="../media/image22.png"/><Relationship Id="rId2" Type="http://schemas.openxmlformats.org/officeDocument/2006/relationships/notesSlide" Target="../notesSlides/notesSlide22.xml"/><Relationship Id="rId1" Type="http://schemas.openxmlformats.org/officeDocument/2006/relationships/slideLayout" Target="../slideLayouts/slideLayout7.xml"/><Relationship Id="rId6" Type="http://schemas.openxmlformats.org/officeDocument/2006/relationships/image" Target="../media/image98.png"/><Relationship Id="rId11" Type="http://schemas.openxmlformats.org/officeDocument/2006/relationships/image" Target="../media/image117.svg"/><Relationship Id="rId5" Type="http://schemas.openxmlformats.org/officeDocument/2006/relationships/image" Target="../media/image79.svg"/><Relationship Id="rId15" Type="http://schemas.openxmlformats.org/officeDocument/2006/relationships/image" Target="../media/image25.svg"/><Relationship Id="rId10" Type="http://schemas.openxmlformats.org/officeDocument/2006/relationships/image" Target="../media/image116.png"/><Relationship Id="rId4" Type="http://schemas.openxmlformats.org/officeDocument/2006/relationships/image" Target="../media/image78.png"/><Relationship Id="rId9" Type="http://schemas.openxmlformats.org/officeDocument/2006/relationships/image" Target="../media/image101.svg"/><Relationship Id="rId14" Type="http://schemas.openxmlformats.org/officeDocument/2006/relationships/image" Target="../media/image24.png"/></Relationships>
</file>

<file path=ppt/slides/_rels/slide23.xml.rels><?xml version="1.0" encoding="UTF-8" standalone="yes"?>
<Relationships xmlns="http://schemas.openxmlformats.org/package/2006/relationships"><Relationship Id="rId8" Type="http://schemas.openxmlformats.org/officeDocument/2006/relationships/image" Target="../media/image101.svg"/><Relationship Id="rId13" Type="http://schemas.openxmlformats.org/officeDocument/2006/relationships/image" Target="../media/image24.png"/><Relationship Id="rId3" Type="http://schemas.openxmlformats.org/officeDocument/2006/relationships/image" Target="../media/image78.png"/><Relationship Id="rId7" Type="http://schemas.openxmlformats.org/officeDocument/2006/relationships/image" Target="../media/image100.png"/><Relationship Id="rId12" Type="http://schemas.openxmlformats.org/officeDocument/2006/relationships/image" Target="../media/image23.svg"/><Relationship Id="rId2" Type="http://schemas.openxmlformats.org/officeDocument/2006/relationships/notesSlide" Target="../notesSlides/notesSlide23.xml"/><Relationship Id="rId1" Type="http://schemas.openxmlformats.org/officeDocument/2006/relationships/slideLayout" Target="../slideLayouts/slideLayout7.xml"/><Relationship Id="rId6" Type="http://schemas.openxmlformats.org/officeDocument/2006/relationships/image" Target="../media/image99.svg"/><Relationship Id="rId11" Type="http://schemas.openxmlformats.org/officeDocument/2006/relationships/image" Target="../media/image22.png"/><Relationship Id="rId5" Type="http://schemas.openxmlformats.org/officeDocument/2006/relationships/image" Target="../media/image98.png"/><Relationship Id="rId10" Type="http://schemas.openxmlformats.org/officeDocument/2006/relationships/image" Target="../media/image117.svg"/><Relationship Id="rId4" Type="http://schemas.openxmlformats.org/officeDocument/2006/relationships/image" Target="../media/image79.svg"/><Relationship Id="rId9" Type="http://schemas.openxmlformats.org/officeDocument/2006/relationships/image" Target="../media/image116.png"/><Relationship Id="rId14" Type="http://schemas.openxmlformats.org/officeDocument/2006/relationships/image" Target="../media/image25.svg"/></Relationships>
</file>

<file path=ppt/slides/_rels/slide24.xml.rels><?xml version="1.0" encoding="UTF-8" standalone="yes"?>
<Relationships xmlns="http://schemas.openxmlformats.org/package/2006/relationships"><Relationship Id="rId8" Type="http://schemas.openxmlformats.org/officeDocument/2006/relationships/image" Target="../media/image100.png"/><Relationship Id="rId13" Type="http://schemas.openxmlformats.org/officeDocument/2006/relationships/image" Target="../media/image23.svg"/><Relationship Id="rId3" Type="http://schemas.openxmlformats.org/officeDocument/2006/relationships/image" Target="../media/image120.png"/><Relationship Id="rId7" Type="http://schemas.openxmlformats.org/officeDocument/2006/relationships/image" Target="../media/image99.svg"/><Relationship Id="rId12" Type="http://schemas.openxmlformats.org/officeDocument/2006/relationships/image" Target="../media/image22.png"/><Relationship Id="rId2" Type="http://schemas.openxmlformats.org/officeDocument/2006/relationships/notesSlide" Target="../notesSlides/notesSlide24.xml"/><Relationship Id="rId1" Type="http://schemas.openxmlformats.org/officeDocument/2006/relationships/slideLayout" Target="../slideLayouts/slideLayout6.xml"/><Relationship Id="rId6" Type="http://schemas.openxmlformats.org/officeDocument/2006/relationships/image" Target="../media/image98.png"/><Relationship Id="rId11" Type="http://schemas.openxmlformats.org/officeDocument/2006/relationships/image" Target="../media/image117.svg"/><Relationship Id="rId5" Type="http://schemas.openxmlformats.org/officeDocument/2006/relationships/image" Target="../media/image79.svg"/><Relationship Id="rId15" Type="http://schemas.openxmlformats.org/officeDocument/2006/relationships/image" Target="../media/image25.svg"/><Relationship Id="rId10" Type="http://schemas.openxmlformats.org/officeDocument/2006/relationships/image" Target="../media/image116.png"/><Relationship Id="rId4" Type="http://schemas.openxmlformats.org/officeDocument/2006/relationships/image" Target="../media/image78.png"/><Relationship Id="rId9" Type="http://schemas.openxmlformats.org/officeDocument/2006/relationships/image" Target="../media/image101.svg"/><Relationship Id="rId14" Type="http://schemas.openxmlformats.org/officeDocument/2006/relationships/image" Target="../media/image24.png"/></Relationships>
</file>

<file path=ppt/slides/_rels/slide25.xml.rels><?xml version="1.0" encoding="UTF-8" standalone="yes"?>
<Relationships xmlns="http://schemas.openxmlformats.org/package/2006/relationships"><Relationship Id="rId8" Type="http://schemas.openxmlformats.org/officeDocument/2006/relationships/image" Target="../media/image79.svg"/><Relationship Id="rId13" Type="http://schemas.openxmlformats.org/officeDocument/2006/relationships/image" Target="../media/image116.png"/><Relationship Id="rId18" Type="http://schemas.openxmlformats.org/officeDocument/2006/relationships/image" Target="../media/image25.svg"/><Relationship Id="rId3" Type="http://schemas.openxmlformats.org/officeDocument/2006/relationships/image" Target="../media/image121.png"/><Relationship Id="rId7" Type="http://schemas.openxmlformats.org/officeDocument/2006/relationships/image" Target="../media/image78.png"/><Relationship Id="rId12" Type="http://schemas.openxmlformats.org/officeDocument/2006/relationships/image" Target="../media/image101.svg"/><Relationship Id="rId17" Type="http://schemas.openxmlformats.org/officeDocument/2006/relationships/image" Target="../media/image24.png"/><Relationship Id="rId2" Type="http://schemas.openxmlformats.org/officeDocument/2006/relationships/notesSlide" Target="../notesSlides/notesSlide25.xml"/><Relationship Id="rId16" Type="http://schemas.openxmlformats.org/officeDocument/2006/relationships/image" Target="../media/image23.svg"/><Relationship Id="rId1" Type="http://schemas.openxmlformats.org/officeDocument/2006/relationships/slideLayout" Target="../slideLayouts/slideLayout6.xml"/><Relationship Id="rId6" Type="http://schemas.openxmlformats.org/officeDocument/2006/relationships/image" Target="../media/image124.png"/><Relationship Id="rId11" Type="http://schemas.openxmlformats.org/officeDocument/2006/relationships/image" Target="../media/image100.png"/><Relationship Id="rId5" Type="http://schemas.openxmlformats.org/officeDocument/2006/relationships/image" Target="../media/image123.png"/><Relationship Id="rId15" Type="http://schemas.openxmlformats.org/officeDocument/2006/relationships/image" Target="../media/image22.png"/><Relationship Id="rId10" Type="http://schemas.openxmlformats.org/officeDocument/2006/relationships/image" Target="../media/image99.svg"/><Relationship Id="rId4" Type="http://schemas.openxmlformats.org/officeDocument/2006/relationships/image" Target="../media/image122.png"/><Relationship Id="rId9" Type="http://schemas.openxmlformats.org/officeDocument/2006/relationships/image" Target="../media/image98.png"/><Relationship Id="rId14" Type="http://schemas.openxmlformats.org/officeDocument/2006/relationships/image" Target="../media/image117.svg"/></Relationships>
</file>

<file path=ppt/slides/_rels/slide26.xml.rels><?xml version="1.0" encoding="UTF-8" standalone="yes"?>
<Relationships xmlns="http://schemas.openxmlformats.org/package/2006/relationships"><Relationship Id="rId8" Type="http://schemas.openxmlformats.org/officeDocument/2006/relationships/image" Target="../media/image101.svg"/><Relationship Id="rId13" Type="http://schemas.openxmlformats.org/officeDocument/2006/relationships/image" Target="../media/image24.png"/><Relationship Id="rId3" Type="http://schemas.openxmlformats.org/officeDocument/2006/relationships/image" Target="../media/image78.png"/><Relationship Id="rId7" Type="http://schemas.openxmlformats.org/officeDocument/2006/relationships/image" Target="../media/image100.png"/><Relationship Id="rId12" Type="http://schemas.openxmlformats.org/officeDocument/2006/relationships/image" Target="../media/image23.svg"/><Relationship Id="rId2" Type="http://schemas.openxmlformats.org/officeDocument/2006/relationships/notesSlide" Target="../notesSlides/notesSlide26.xml"/><Relationship Id="rId1" Type="http://schemas.openxmlformats.org/officeDocument/2006/relationships/slideLayout" Target="../slideLayouts/slideLayout6.xml"/><Relationship Id="rId6" Type="http://schemas.openxmlformats.org/officeDocument/2006/relationships/image" Target="../media/image99.svg"/><Relationship Id="rId11" Type="http://schemas.openxmlformats.org/officeDocument/2006/relationships/image" Target="../media/image22.png"/><Relationship Id="rId5" Type="http://schemas.openxmlformats.org/officeDocument/2006/relationships/image" Target="../media/image98.png"/><Relationship Id="rId10" Type="http://schemas.openxmlformats.org/officeDocument/2006/relationships/image" Target="../media/image117.svg"/><Relationship Id="rId4" Type="http://schemas.openxmlformats.org/officeDocument/2006/relationships/image" Target="../media/image79.svg"/><Relationship Id="rId9" Type="http://schemas.openxmlformats.org/officeDocument/2006/relationships/image" Target="../media/image116.png"/><Relationship Id="rId14" Type="http://schemas.openxmlformats.org/officeDocument/2006/relationships/image" Target="../media/image25.svg"/></Relationships>
</file>

<file path=ppt/slides/_rels/slide27.xml.rels><?xml version="1.0" encoding="UTF-8" standalone="yes"?>
<Relationships xmlns="http://schemas.openxmlformats.org/package/2006/relationships"><Relationship Id="rId8" Type="http://schemas.openxmlformats.org/officeDocument/2006/relationships/image" Target="../media/image101.svg"/><Relationship Id="rId13" Type="http://schemas.openxmlformats.org/officeDocument/2006/relationships/image" Target="../media/image24.png"/><Relationship Id="rId3" Type="http://schemas.openxmlformats.org/officeDocument/2006/relationships/image" Target="../media/image78.png"/><Relationship Id="rId7" Type="http://schemas.openxmlformats.org/officeDocument/2006/relationships/image" Target="../media/image100.png"/><Relationship Id="rId12" Type="http://schemas.openxmlformats.org/officeDocument/2006/relationships/image" Target="../media/image23.svg"/><Relationship Id="rId2" Type="http://schemas.openxmlformats.org/officeDocument/2006/relationships/image" Target="../media/image125.png"/><Relationship Id="rId1" Type="http://schemas.openxmlformats.org/officeDocument/2006/relationships/slideLayout" Target="../slideLayouts/slideLayout6.xml"/><Relationship Id="rId6" Type="http://schemas.openxmlformats.org/officeDocument/2006/relationships/image" Target="../media/image99.svg"/><Relationship Id="rId11" Type="http://schemas.openxmlformats.org/officeDocument/2006/relationships/image" Target="../media/image22.png"/><Relationship Id="rId5" Type="http://schemas.openxmlformats.org/officeDocument/2006/relationships/image" Target="../media/image98.png"/><Relationship Id="rId10" Type="http://schemas.openxmlformats.org/officeDocument/2006/relationships/image" Target="../media/image117.svg"/><Relationship Id="rId4" Type="http://schemas.openxmlformats.org/officeDocument/2006/relationships/image" Target="../media/image79.svg"/><Relationship Id="rId9" Type="http://schemas.openxmlformats.org/officeDocument/2006/relationships/image" Target="../media/image116.png"/><Relationship Id="rId14" Type="http://schemas.openxmlformats.org/officeDocument/2006/relationships/image" Target="../media/image25.svg"/></Relationships>
</file>

<file path=ppt/slides/_rels/slide28.xml.rels><?xml version="1.0" encoding="UTF-8" standalone="yes"?>
<Relationships xmlns="http://schemas.openxmlformats.org/package/2006/relationships"><Relationship Id="rId8" Type="http://schemas.openxmlformats.org/officeDocument/2006/relationships/image" Target="../media/image101.svg"/><Relationship Id="rId13" Type="http://schemas.openxmlformats.org/officeDocument/2006/relationships/image" Target="../media/image24.png"/><Relationship Id="rId3" Type="http://schemas.openxmlformats.org/officeDocument/2006/relationships/image" Target="../media/image78.png"/><Relationship Id="rId7" Type="http://schemas.openxmlformats.org/officeDocument/2006/relationships/image" Target="../media/image100.png"/><Relationship Id="rId12" Type="http://schemas.openxmlformats.org/officeDocument/2006/relationships/image" Target="../media/image23.svg"/><Relationship Id="rId2" Type="http://schemas.openxmlformats.org/officeDocument/2006/relationships/image" Target="../media/image125.png"/><Relationship Id="rId1" Type="http://schemas.openxmlformats.org/officeDocument/2006/relationships/slideLayout" Target="../slideLayouts/slideLayout6.xml"/><Relationship Id="rId6" Type="http://schemas.openxmlformats.org/officeDocument/2006/relationships/image" Target="../media/image99.svg"/><Relationship Id="rId11" Type="http://schemas.openxmlformats.org/officeDocument/2006/relationships/image" Target="../media/image22.png"/><Relationship Id="rId5" Type="http://schemas.openxmlformats.org/officeDocument/2006/relationships/image" Target="../media/image98.png"/><Relationship Id="rId10" Type="http://schemas.openxmlformats.org/officeDocument/2006/relationships/image" Target="../media/image117.svg"/><Relationship Id="rId4" Type="http://schemas.openxmlformats.org/officeDocument/2006/relationships/image" Target="../media/image79.svg"/><Relationship Id="rId9" Type="http://schemas.openxmlformats.org/officeDocument/2006/relationships/image" Target="../media/image116.png"/><Relationship Id="rId14" Type="http://schemas.openxmlformats.org/officeDocument/2006/relationships/image" Target="../media/image25.svg"/></Relationships>
</file>

<file path=ppt/slides/_rels/slide29.xml.rels><?xml version="1.0" encoding="UTF-8" standalone="yes"?>
<Relationships xmlns="http://schemas.openxmlformats.org/package/2006/relationships"><Relationship Id="rId8" Type="http://schemas.openxmlformats.org/officeDocument/2006/relationships/image" Target="../media/image100.png"/><Relationship Id="rId13" Type="http://schemas.openxmlformats.org/officeDocument/2006/relationships/image" Target="../media/image23.svg"/><Relationship Id="rId3" Type="http://schemas.openxmlformats.org/officeDocument/2006/relationships/image" Target="../media/image126.png"/><Relationship Id="rId7" Type="http://schemas.openxmlformats.org/officeDocument/2006/relationships/image" Target="../media/image99.svg"/><Relationship Id="rId12" Type="http://schemas.openxmlformats.org/officeDocument/2006/relationships/image" Target="../media/image22.png"/><Relationship Id="rId2" Type="http://schemas.openxmlformats.org/officeDocument/2006/relationships/notesSlide" Target="../notesSlides/notesSlide27.xml"/><Relationship Id="rId1" Type="http://schemas.openxmlformats.org/officeDocument/2006/relationships/slideLayout" Target="../slideLayouts/slideLayout7.xml"/><Relationship Id="rId6" Type="http://schemas.openxmlformats.org/officeDocument/2006/relationships/image" Target="../media/image98.png"/><Relationship Id="rId11" Type="http://schemas.openxmlformats.org/officeDocument/2006/relationships/image" Target="../media/image117.svg"/><Relationship Id="rId5" Type="http://schemas.openxmlformats.org/officeDocument/2006/relationships/image" Target="../media/image79.svg"/><Relationship Id="rId15" Type="http://schemas.openxmlformats.org/officeDocument/2006/relationships/image" Target="../media/image25.svg"/><Relationship Id="rId10" Type="http://schemas.openxmlformats.org/officeDocument/2006/relationships/image" Target="../media/image116.png"/><Relationship Id="rId4" Type="http://schemas.openxmlformats.org/officeDocument/2006/relationships/image" Target="../media/image78.png"/><Relationship Id="rId9" Type="http://schemas.openxmlformats.org/officeDocument/2006/relationships/image" Target="../media/image101.svg"/><Relationship Id="rId14" Type="http://schemas.openxmlformats.org/officeDocument/2006/relationships/image" Target="../media/image24.png"/></Relationships>
</file>

<file path=ppt/slides/_rels/slide30.xml.rels><?xml version="1.0" encoding="UTF-8" standalone="yes"?>
<Relationships xmlns="http://schemas.openxmlformats.org/package/2006/relationships"><Relationship Id="rId8" Type="http://schemas.openxmlformats.org/officeDocument/2006/relationships/image" Target="../media/image99.svg"/><Relationship Id="rId13" Type="http://schemas.openxmlformats.org/officeDocument/2006/relationships/image" Target="../media/image127.png"/><Relationship Id="rId3" Type="http://schemas.openxmlformats.org/officeDocument/2006/relationships/customXml" Target="../ink/ink3.xml"/><Relationship Id="rId7" Type="http://schemas.openxmlformats.org/officeDocument/2006/relationships/image" Target="../media/image98.png"/><Relationship Id="rId12" Type="http://schemas.openxmlformats.org/officeDocument/2006/relationships/image" Target="../media/image117.svg"/><Relationship Id="rId2" Type="http://schemas.openxmlformats.org/officeDocument/2006/relationships/notesSlide" Target="../notesSlides/notesSlide28.xml"/><Relationship Id="rId16" Type="http://schemas.openxmlformats.org/officeDocument/2006/relationships/image" Target="../media/image25.svg"/><Relationship Id="rId1" Type="http://schemas.openxmlformats.org/officeDocument/2006/relationships/slideLayout" Target="../slideLayouts/slideLayout6.xml"/><Relationship Id="rId6" Type="http://schemas.openxmlformats.org/officeDocument/2006/relationships/image" Target="../media/image79.svg"/><Relationship Id="rId11" Type="http://schemas.openxmlformats.org/officeDocument/2006/relationships/image" Target="../media/image116.png"/><Relationship Id="rId5" Type="http://schemas.openxmlformats.org/officeDocument/2006/relationships/image" Target="../media/image78.png"/><Relationship Id="rId15" Type="http://schemas.openxmlformats.org/officeDocument/2006/relationships/image" Target="../media/image24.png"/><Relationship Id="rId10" Type="http://schemas.openxmlformats.org/officeDocument/2006/relationships/image" Target="../media/image101.svg"/><Relationship Id="rId4" Type="http://schemas.openxmlformats.org/officeDocument/2006/relationships/image" Target="../media/image720.png"/><Relationship Id="rId9" Type="http://schemas.openxmlformats.org/officeDocument/2006/relationships/image" Target="../media/image100.png"/><Relationship Id="rId14" Type="http://schemas.openxmlformats.org/officeDocument/2006/relationships/image" Target="../media/image128.svg"/></Relationships>
</file>

<file path=ppt/slides/_rels/slide31.xml.rels><?xml version="1.0" encoding="UTF-8" standalone="yes"?>
<Relationships xmlns="http://schemas.openxmlformats.org/package/2006/relationships"><Relationship Id="rId8" Type="http://schemas.microsoft.com/office/2007/relationships/diagramDrawing" Target="../diagrams/drawing2.xml"/><Relationship Id="rId13" Type="http://schemas.openxmlformats.org/officeDocument/2006/relationships/image" Target="../media/image134.png"/><Relationship Id="rId3" Type="http://schemas.openxmlformats.org/officeDocument/2006/relationships/image" Target="../media/image129.JPG"/><Relationship Id="rId7" Type="http://schemas.openxmlformats.org/officeDocument/2006/relationships/diagramColors" Target="../diagrams/colors2.xml"/><Relationship Id="rId12" Type="http://schemas.openxmlformats.org/officeDocument/2006/relationships/image" Target="../media/image133.svg"/><Relationship Id="rId2" Type="http://schemas.openxmlformats.org/officeDocument/2006/relationships/notesSlide" Target="../notesSlides/notesSlide29.xml"/><Relationship Id="rId1" Type="http://schemas.openxmlformats.org/officeDocument/2006/relationships/slideLayout" Target="../slideLayouts/slideLayout13.xml"/><Relationship Id="rId6" Type="http://schemas.openxmlformats.org/officeDocument/2006/relationships/diagramQuickStyle" Target="../diagrams/quickStyle2.xml"/><Relationship Id="rId11" Type="http://schemas.openxmlformats.org/officeDocument/2006/relationships/image" Target="../media/image132.png"/><Relationship Id="rId5" Type="http://schemas.openxmlformats.org/officeDocument/2006/relationships/diagramLayout" Target="../diagrams/layout2.xml"/><Relationship Id="rId10" Type="http://schemas.openxmlformats.org/officeDocument/2006/relationships/image" Target="../media/image131.svg"/><Relationship Id="rId4" Type="http://schemas.openxmlformats.org/officeDocument/2006/relationships/diagramData" Target="../diagrams/data2.xml"/><Relationship Id="rId9" Type="http://schemas.openxmlformats.org/officeDocument/2006/relationships/image" Target="../media/image130.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2" Type="http://schemas.openxmlformats.org/officeDocument/2006/relationships/image" Target="../media/image135.emf"/><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2" Type="http://schemas.openxmlformats.org/officeDocument/2006/relationships/image" Target="../media/image136.png"/><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3" Type="http://schemas.openxmlformats.org/officeDocument/2006/relationships/image" Target="../media/image137.png"/><Relationship Id="rId2" Type="http://schemas.openxmlformats.org/officeDocument/2006/relationships/notesSlide" Target="../notesSlides/notesSlide30.xml"/><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8" Type="http://schemas.openxmlformats.org/officeDocument/2006/relationships/customXml" Target="../ink/ink7.xml"/><Relationship Id="rId3" Type="http://schemas.openxmlformats.org/officeDocument/2006/relationships/customXml" Target="../ink/ink4.xml"/><Relationship Id="rId7" Type="http://schemas.openxmlformats.org/officeDocument/2006/relationships/customXml" Target="../ink/ink6.xml"/><Relationship Id="rId2" Type="http://schemas.openxmlformats.org/officeDocument/2006/relationships/notesSlide" Target="../notesSlides/notesSlide31.xml"/><Relationship Id="rId1" Type="http://schemas.openxmlformats.org/officeDocument/2006/relationships/slideLayout" Target="../slideLayouts/slideLayout6.xml"/><Relationship Id="rId6" Type="http://schemas.openxmlformats.org/officeDocument/2006/relationships/customXml" Target="../ink/ink5.xml"/><Relationship Id="rId5" Type="http://schemas.openxmlformats.org/officeDocument/2006/relationships/image" Target="../media/image720.png"/></Relationships>
</file>

<file path=ppt/slides/_rels/slide37.xml.rels><?xml version="1.0" encoding="UTF-8" standalone="yes"?>
<Relationships xmlns="http://schemas.openxmlformats.org/package/2006/relationships"><Relationship Id="rId3" Type="http://schemas.openxmlformats.org/officeDocument/2006/relationships/image" Target="../media/image135.emf"/><Relationship Id="rId2" Type="http://schemas.openxmlformats.org/officeDocument/2006/relationships/notesSlide" Target="../notesSlides/notesSlide32.xml"/><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3" Type="http://schemas.openxmlformats.org/officeDocument/2006/relationships/image" Target="../media/image139.png"/><Relationship Id="rId2" Type="http://schemas.openxmlformats.org/officeDocument/2006/relationships/image" Target="../media/image138.png"/><Relationship Id="rId1" Type="http://schemas.openxmlformats.org/officeDocument/2006/relationships/slideLayout" Target="../slideLayouts/slideLayout7.xml"/><Relationship Id="rId5" Type="http://schemas.openxmlformats.org/officeDocument/2006/relationships/image" Target="../media/image141.png"/><Relationship Id="rId4" Type="http://schemas.openxmlformats.org/officeDocument/2006/relationships/image" Target="../media/image140.png"/></Relationships>
</file>

<file path=ppt/slides/_rels/slide39.xml.rels><?xml version="1.0" encoding="UTF-8" standalone="yes"?>
<Relationships xmlns="http://schemas.openxmlformats.org/package/2006/relationships"><Relationship Id="rId3" Type="http://schemas.openxmlformats.org/officeDocument/2006/relationships/image" Target="../media/image143.png"/><Relationship Id="rId2" Type="http://schemas.openxmlformats.org/officeDocument/2006/relationships/image" Target="../media/image142.png"/><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Untertitel 10">
            <a:extLst>
              <a:ext uri="{FF2B5EF4-FFF2-40B4-BE49-F238E27FC236}">
                <a16:creationId xmlns:a16="http://schemas.microsoft.com/office/drawing/2014/main" id="{A69DB3E9-C3AD-8440-B097-F965FB891237}"/>
              </a:ext>
            </a:extLst>
          </p:cNvPr>
          <p:cNvSpPr>
            <a:spLocks noGrp="1"/>
          </p:cNvSpPr>
          <p:nvPr>
            <p:ph type="subTitle" idx="1"/>
          </p:nvPr>
        </p:nvSpPr>
        <p:spPr>
          <a:xfrm>
            <a:off x="2883877" y="3283299"/>
            <a:ext cx="3755735" cy="622752"/>
          </a:xfrm>
        </p:spPr>
        <p:txBody>
          <a:bodyPr/>
          <a:lstStyle/>
          <a:p>
            <a:r>
              <a:rPr lang="de-DE" noProof="1">
                <a:latin typeface="+mn-lt"/>
              </a:rPr>
              <a:t>Isabel Feustel | Ulm University</a:t>
            </a:r>
          </a:p>
        </p:txBody>
      </p:sp>
      <p:sp>
        <p:nvSpPr>
          <p:cNvPr id="3" name="Titel 2">
            <a:extLst>
              <a:ext uri="{FF2B5EF4-FFF2-40B4-BE49-F238E27FC236}">
                <a16:creationId xmlns:a16="http://schemas.microsoft.com/office/drawing/2014/main" id="{72CE5C02-512E-5D4F-86CF-05EE2AF7EE59}"/>
              </a:ext>
            </a:extLst>
          </p:cNvPr>
          <p:cNvSpPr>
            <a:spLocks noGrp="1"/>
          </p:cNvSpPr>
          <p:nvPr>
            <p:ph type="ctrTitle"/>
          </p:nvPr>
        </p:nvSpPr>
        <p:spPr>
          <a:xfrm>
            <a:off x="2883877" y="1440680"/>
            <a:ext cx="5611153" cy="1556704"/>
          </a:xfrm>
        </p:spPr>
        <p:txBody>
          <a:bodyPr/>
          <a:lstStyle/>
          <a:p>
            <a:pPr>
              <a:lnSpc>
                <a:spcPct val="120000"/>
              </a:lnSpc>
              <a:spcBef>
                <a:spcPts val="0"/>
              </a:spcBef>
            </a:pPr>
            <a:r>
              <a:rPr lang="en-US" sz="3200" dirty="0">
                <a:latin typeface="+mn-lt"/>
              </a:rPr>
              <a:t>Enhancing model transparency: </a:t>
            </a:r>
            <a:br>
              <a:rPr lang="en-US" sz="3200" dirty="0">
                <a:latin typeface="+mn-lt"/>
              </a:rPr>
            </a:br>
            <a:r>
              <a:rPr lang="en-US" sz="3200" dirty="0">
                <a:latin typeface="+mn-lt"/>
              </a:rPr>
              <a:t>Effects of DK Integration for Conversational XAI</a:t>
            </a:r>
            <a:endParaRPr lang="de-DE" sz="3200" noProof="1">
              <a:latin typeface="+mn-lt"/>
            </a:endParaRPr>
          </a:p>
        </p:txBody>
      </p:sp>
      <p:pic>
        <p:nvPicPr>
          <p:cNvPr id="10" name="Bildplatzhalter 9">
            <a:extLst>
              <a:ext uri="{FF2B5EF4-FFF2-40B4-BE49-F238E27FC236}">
                <a16:creationId xmlns:a16="http://schemas.microsoft.com/office/drawing/2014/main" id="{123E777D-6632-4741-BC6C-7689AFC5D919}"/>
              </a:ext>
            </a:extLst>
          </p:cNvPr>
          <p:cNvPicPr>
            <a:picLocks noGrp="1" noChangeAspect="1"/>
          </p:cNvPicPr>
          <p:nvPr>
            <p:ph type="pic" sz="quarter" idx="13"/>
          </p:nvPr>
        </p:nvPicPr>
        <p:blipFill rotWithShape="1">
          <a:blip r:embed="rId3" cstate="hqprint">
            <a:extLst>
              <a:ext uri="{28A0092B-C50C-407E-A947-70E740481C1C}">
                <a14:useLocalDpi xmlns:a14="http://schemas.microsoft.com/office/drawing/2010/main"/>
              </a:ext>
            </a:extLst>
          </a:blip>
          <a:srcRect l="22755" r="20892"/>
          <a:stretch/>
        </p:blipFill>
        <p:spPr>
          <a:xfrm>
            <a:off x="395288" y="1138151"/>
            <a:ext cx="2314775" cy="3665624"/>
          </a:xfrm>
        </p:spPr>
      </p:pic>
      <p:sp>
        <p:nvSpPr>
          <p:cNvPr id="13" name="Vertikaler Textplatzhalter 12">
            <a:extLst>
              <a:ext uri="{FF2B5EF4-FFF2-40B4-BE49-F238E27FC236}">
                <a16:creationId xmlns:a16="http://schemas.microsoft.com/office/drawing/2014/main" id="{5B4E455B-5269-D242-941D-A452B2B5C408}"/>
              </a:ext>
            </a:extLst>
          </p:cNvPr>
          <p:cNvSpPr>
            <a:spLocks noGrp="1"/>
          </p:cNvSpPr>
          <p:nvPr>
            <p:ph type="body" orient="vert" sz="quarter" idx="15"/>
          </p:nvPr>
        </p:nvSpPr>
        <p:spPr/>
        <p:txBody>
          <a:bodyPr/>
          <a:lstStyle/>
          <a:p>
            <a:endParaRPr lang="de-DE" noProof="1"/>
          </a:p>
        </p:txBody>
      </p:sp>
      <p:sp>
        <p:nvSpPr>
          <p:cNvPr id="6" name="Datumsplatzhalter 5">
            <a:extLst>
              <a:ext uri="{FF2B5EF4-FFF2-40B4-BE49-F238E27FC236}">
                <a16:creationId xmlns:a16="http://schemas.microsoft.com/office/drawing/2014/main" id="{B8C51877-6490-EC44-8D20-BF511E0880E0}"/>
              </a:ext>
            </a:extLst>
          </p:cNvPr>
          <p:cNvSpPr>
            <a:spLocks noGrp="1"/>
          </p:cNvSpPr>
          <p:nvPr>
            <p:ph type="dt" sz="half" idx="10"/>
          </p:nvPr>
        </p:nvSpPr>
        <p:spPr/>
        <p:txBody>
          <a:bodyPr/>
          <a:lstStyle/>
          <a:p>
            <a:r>
              <a:rPr lang="en-US" noProof="1"/>
              <a:t>18.08.2025</a:t>
            </a:r>
            <a:endParaRPr lang="de-DE" noProof="1"/>
          </a:p>
        </p:txBody>
      </p:sp>
      <p:sp>
        <p:nvSpPr>
          <p:cNvPr id="7" name="Fußzeilenplatzhalter 6">
            <a:extLst>
              <a:ext uri="{FF2B5EF4-FFF2-40B4-BE49-F238E27FC236}">
                <a16:creationId xmlns:a16="http://schemas.microsoft.com/office/drawing/2014/main" id="{C11023E3-1475-9346-BF90-2918EDBB2293}"/>
              </a:ext>
            </a:extLst>
          </p:cNvPr>
          <p:cNvSpPr>
            <a:spLocks noGrp="1"/>
          </p:cNvSpPr>
          <p:nvPr>
            <p:ph type="ftr" sz="quarter" idx="11"/>
          </p:nvPr>
        </p:nvSpPr>
        <p:spPr/>
        <p:txBody>
          <a:bodyPr/>
          <a:lstStyle/>
          <a:p>
            <a:r>
              <a:rPr lang="en-US" noProof="1"/>
              <a:t>Enhancing model transparency: Effects of DK Integration for Conversational XAI | Feustel</a:t>
            </a:r>
            <a:endParaRPr lang="de-DE" noProof="1"/>
          </a:p>
        </p:txBody>
      </p:sp>
      <p:sp>
        <p:nvSpPr>
          <p:cNvPr id="8" name="Foliennummernplatzhalter 7">
            <a:extLst>
              <a:ext uri="{FF2B5EF4-FFF2-40B4-BE49-F238E27FC236}">
                <a16:creationId xmlns:a16="http://schemas.microsoft.com/office/drawing/2014/main" id="{E8020AB8-63ED-2D47-A466-AACF45A61110}"/>
              </a:ext>
            </a:extLst>
          </p:cNvPr>
          <p:cNvSpPr>
            <a:spLocks noGrp="1"/>
          </p:cNvSpPr>
          <p:nvPr>
            <p:ph type="sldNum" sz="quarter" idx="12"/>
          </p:nvPr>
        </p:nvSpPr>
        <p:spPr/>
        <p:txBody>
          <a:bodyPr/>
          <a:lstStyle/>
          <a:p>
            <a:r>
              <a:rPr lang="de-DE" noProof="1"/>
              <a:t> </a:t>
            </a:r>
            <a:fld id="{FE120BDC-5456-EC41-8BB6-7A3B726EA19B}" type="slidenum">
              <a:rPr lang="de-DE" noProof="1" smtClean="0"/>
              <a:pPr/>
              <a:t>1</a:t>
            </a:fld>
            <a:endParaRPr lang="de-DE" noProof="1"/>
          </a:p>
        </p:txBody>
      </p:sp>
      <p:pic>
        <p:nvPicPr>
          <p:cNvPr id="15" name="Grafik 1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97835" y="334832"/>
            <a:ext cx="1776880" cy="502974"/>
          </a:xfrm>
          <a:prstGeom prst="rect">
            <a:avLst/>
          </a:prstGeom>
        </p:spPr>
      </p:pic>
      <p:pic>
        <p:nvPicPr>
          <p:cNvPr id="4" name="Grafik 3">
            <a:extLst>
              <a:ext uri="{FF2B5EF4-FFF2-40B4-BE49-F238E27FC236}">
                <a16:creationId xmlns:a16="http://schemas.microsoft.com/office/drawing/2014/main" id="{A1283BF1-3096-45E8-8528-EED77FFD2426}"/>
              </a:ext>
            </a:extLst>
          </p:cNvPr>
          <p:cNvPicPr>
            <a:picLocks noChangeAspect="1"/>
          </p:cNvPicPr>
          <p:nvPr/>
        </p:nvPicPr>
        <p:blipFill>
          <a:blip r:embed="rId5"/>
          <a:stretch>
            <a:fillRect/>
          </a:stretch>
        </p:blipFill>
        <p:spPr>
          <a:xfrm>
            <a:off x="2944821" y="150709"/>
            <a:ext cx="837032" cy="837032"/>
          </a:xfrm>
          <a:prstGeom prst="rect">
            <a:avLst/>
          </a:prstGeom>
        </p:spPr>
      </p:pic>
      <p:pic>
        <p:nvPicPr>
          <p:cNvPr id="9" name="Grafik 8"/>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823867" y="-197849"/>
            <a:ext cx="1556703" cy="1556703"/>
          </a:xfrm>
          <a:prstGeom prst="rect">
            <a:avLst/>
          </a:prstGeom>
        </p:spPr>
      </p:pic>
      <p:pic>
        <p:nvPicPr>
          <p:cNvPr id="12" name="Grafik 11" descr="Ein Bild, das Text, Schrift, Screenshot, Logo enthält.&#10;&#10;KI-generierte Inhalte können fehlerhaft sein.">
            <a:extLst>
              <a:ext uri="{FF2B5EF4-FFF2-40B4-BE49-F238E27FC236}">
                <a16:creationId xmlns:a16="http://schemas.microsoft.com/office/drawing/2014/main" id="{DCB2641D-16C3-113B-0585-78D1717A5482}"/>
              </a:ext>
            </a:extLst>
          </p:cNvPr>
          <p:cNvPicPr>
            <a:picLocks noChangeAspect="1"/>
          </p:cNvPicPr>
          <p:nvPr/>
        </p:nvPicPr>
        <p:blipFill>
          <a:blip r:embed="rId7"/>
          <a:stretch>
            <a:fillRect/>
          </a:stretch>
        </p:blipFill>
        <p:spPr>
          <a:xfrm>
            <a:off x="423865" y="3910128"/>
            <a:ext cx="2263430" cy="718024"/>
          </a:xfrm>
          <a:prstGeom prst="rect">
            <a:avLst/>
          </a:prstGeom>
          <a:ln cap="rnd" cmpd="sng">
            <a:solidFill>
              <a:schemeClr val="bg1"/>
            </a:solidFill>
            <a:extLst>
              <a:ext uri="{C807C97D-BFC1-408E-A445-0C87EB9F89A2}">
                <ask:lineSketchStyleProps xmlns:ask="http://schemas.microsoft.com/office/drawing/2018/sketchyshapes" sd="1219033472">
                  <a:custGeom>
                    <a:avLst/>
                    <a:gdLst>
                      <a:gd name="connsiteX0" fmla="*/ 0 w 2263430"/>
                      <a:gd name="connsiteY0" fmla="*/ 0 h 718024"/>
                      <a:gd name="connsiteX1" fmla="*/ 2263430 w 2263430"/>
                      <a:gd name="connsiteY1" fmla="*/ 0 h 718024"/>
                      <a:gd name="connsiteX2" fmla="*/ 2263430 w 2263430"/>
                      <a:gd name="connsiteY2" fmla="*/ 718024 h 718024"/>
                      <a:gd name="connsiteX3" fmla="*/ 0 w 2263430"/>
                      <a:gd name="connsiteY3" fmla="*/ 718024 h 718024"/>
                      <a:gd name="connsiteX4" fmla="*/ 0 w 2263430"/>
                      <a:gd name="connsiteY4" fmla="*/ 0 h 7180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63430" h="718024" fill="none" extrusionOk="0">
                        <a:moveTo>
                          <a:pt x="0" y="0"/>
                        </a:moveTo>
                        <a:cubicBezTo>
                          <a:pt x="416565" y="-49533"/>
                          <a:pt x="1928115" y="-14809"/>
                          <a:pt x="2263430" y="0"/>
                        </a:cubicBezTo>
                        <a:cubicBezTo>
                          <a:pt x="2273850" y="143366"/>
                          <a:pt x="2255062" y="542744"/>
                          <a:pt x="2263430" y="718024"/>
                        </a:cubicBezTo>
                        <a:cubicBezTo>
                          <a:pt x="1479008" y="669793"/>
                          <a:pt x="1001861" y="802479"/>
                          <a:pt x="0" y="718024"/>
                        </a:cubicBezTo>
                        <a:cubicBezTo>
                          <a:pt x="64514" y="473588"/>
                          <a:pt x="-16545" y="177618"/>
                          <a:pt x="0" y="0"/>
                        </a:cubicBezTo>
                        <a:close/>
                      </a:path>
                      <a:path w="2263430" h="718024" stroke="0" extrusionOk="0">
                        <a:moveTo>
                          <a:pt x="0" y="0"/>
                        </a:moveTo>
                        <a:cubicBezTo>
                          <a:pt x="318268" y="118645"/>
                          <a:pt x="1526793" y="116012"/>
                          <a:pt x="2263430" y="0"/>
                        </a:cubicBezTo>
                        <a:cubicBezTo>
                          <a:pt x="2237439" y="194888"/>
                          <a:pt x="2321538" y="547629"/>
                          <a:pt x="2263430" y="718024"/>
                        </a:cubicBezTo>
                        <a:cubicBezTo>
                          <a:pt x="1261039" y="852624"/>
                          <a:pt x="414671" y="560828"/>
                          <a:pt x="0" y="718024"/>
                        </a:cubicBezTo>
                        <a:cubicBezTo>
                          <a:pt x="27157" y="441799"/>
                          <a:pt x="24281" y="125114"/>
                          <a:pt x="0" y="0"/>
                        </a:cubicBezTo>
                        <a:close/>
                      </a:path>
                    </a:pathLst>
                  </a:custGeom>
                  <ask:type>
                    <ask:lineSketchNone/>
                  </ask:type>
                </ask:lineSketchStyleProps>
              </a:ext>
            </a:extLst>
          </a:ln>
          <a:effectLst>
            <a:softEdge rad="0"/>
          </a:effectLst>
        </p:spPr>
      </p:pic>
    </p:spTree>
    <p:extLst>
      <p:ext uri="{BB962C8B-B14F-4D97-AF65-F5344CB8AC3E}">
        <p14:creationId xmlns:p14="http://schemas.microsoft.com/office/powerpoint/2010/main" val="2975469386"/>
      </p:ext>
    </p:extLst>
  </p:cSld>
  <p:clrMapOvr>
    <a:masterClrMapping/>
  </p:clrMapOvr>
  <p:transition spd="slow">
    <p:push dir="u"/>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B52D34-C9E0-E51A-BC79-FA47933E17CB}"/>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02AE6F46-C44F-F9C8-8D83-5A26CAE4DDCD}"/>
              </a:ext>
            </a:extLst>
          </p:cNvPr>
          <p:cNvSpPr>
            <a:spLocks noGrp="1"/>
          </p:cNvSpPr>
          <p:nvPr>
            <p:ph type="ctrTitle"/>
          </p:nvPr>
        </p:nvSpPr>
        <p:spPr/>
        <p:txBody>
          <a:bodyPr/>
          <a:lstStyle/>
          <a:p>
            <a:r>
              <a:rPr lang="de-DE" dirty="0">
                <a:latin typeface="+mn-lt"/>
              </a:rPr>
              <a:t>About </a:t>
            </a:r>
            <a:r>
              <a:rPr lang="de-DE" dirty="0" err="1">
                <a:latin typeface="+mn-lt"/>
              </a:rPr>
              <a:t>me</a:t>
            </a:r>
            <a:endParaRPr lang="en-US" dirty="0">
              <a:latin typeface="+mn-lt"/>
            </a:endParaRPr>
          </a:p>
        </p:txBody>
      </p:sp>
      <p:sp>
        <p:nvSpPr>
          <p:cNvPr id="4" name="Datumsplatzhalter 3">
            <a:extLst>
              <a:ext uri="{FF2B5EF4-FFF2-40B4-BE49-F238E27FC236}">
                <a16:creationId xmlns:a16="http://schemas.microsoft.com/office/drawing/2014/main" id="{567ECE17-8A98-9505-6B2F-752C874734BF}"/>
              </a:ext>
            </a:extLst>
          </p:cNvPr>
          <p:cNvSpPr>
            <a:spLocks noGrp="1"/>
          </p:cNvSpPr>
          <p:nvPr>
            <p:ph type="dt" sz="half" idx="10"/>
          </p:nvPr>
        </p:nvSpPr>
        <p:spPr/>
        <p:txBody>
          <a:bodyPr/>
          <a:lstStyle/>
          <a:p>
            <a:r>
              <a:rPr lang="en-US"/>
              <a:t>18.08.2025</a:t>
            </a:r>
            <a:endParaRPr lang="de-DE" dirty="0"/>
          </a:p>
        </p:txBody>
      </p:sp>
      <p:sp>
        <p:nvSpPr>
          <p:cNvPr id="5" name="Fußzeilenplatzhalter 4">
            <a:extLst>
              <a:ext uri="{FF2B5EF4-FFF2-40B4-BE49-F238E27FC236}">
                <a16:creationId xmlns:a16="http://schemas.microsoft.com/office/drawing/2014/main" id="{9D794216-8F7F-CB8D-30C8-D8BA3DCBBFF4}"/>
              </a:ext>
            </a:extLst>
          </p:cNvPr>
          <p:cNvSpPr>
            <a:spLocks noGrp="1"/>
          </p:cNvSpPr>
          <p:nvPr>
            <p:ph type="ftr" sz="quarter" idx="11"/>
          </p:nvPr>
        </p:nvSpPr>
        <p:spPr/>
        <p:txBody>
          <a:bodyPr/>
          <a:lstStyle/>
          <a:p>
            <a:r>
              <a:rPr lang="en-US"/>
              <a:t>Enhancing model transparency: Effects of DK Integration for Conversational XAI | Feustel</a:t>
            </a:r>
            <a:endParaRPr lang="de-DE" dirty="0"/>
          </a:p>
        </p:txBody>
      </p:sp>
      <p:sp>
        <p:nvSpPr>
          <p:cNvPr id="6" name="Foliennummernplatzhalter 5">
            <a:extLst>
              <a:ext uri="{FF2B5EF4-FFF2-40B4-BE49-F238E27FC236}">
                <a16:creationId xmlns:a16="http://schemas.microsoft.com/office/drawing/2014/main" id="{9BCFC51D-3F57-1ED7-59C6-D10D2C04CEA7}"/>
              </a:ext>
            </a:extLst>
          </p:cNvPr>
          <p:cNvSpPr>
            <a:spLocks noGrp="1"/>
          </p:cNvSpPr>
          <p:nvPr>
            <p:ph type="sldNum" sz="quarter" idx="12"/>
          </p:nvPr>
        </p:nvSpPr>
        <p:spPr/>
        <p:txBody>
          <a:bodyPr/>
          <a:lstStyle/>
          <a:p>
            <a:r>
              <a:rPr lang="de-DE"/>
              <a:t> </a:t>
            </a:r>
            <a:fld id="{FE120BDC-5456-EC41-8BB6-7A3B726EA19B}" type="slidenum">
              <a:rPr lang="de-DE" smtClean="0"/>
              <a:pPr/>
              <a:t>2</a:t>
            </a:fld>
            <a:endParaRPr lang="de-DE" dirty="0"/>
          </a:p>
        </p:txBody>
      </p:sp>
      <p:sp>
        <p:nvSpPr>
          <p:cNvPr id="7" name="Rechteck 6" descr="Bücher">
            <a:extLst>
              <a:ext uri="{FF2B5EF4-FFF2-40B4-BE49-F238E27FC236}">
                <a16:creationId xmlns:a16="http://schemas.microsoft.com/office/drawing/2014/main" id="{B65B18C2-5067-A091-F4A7-04868430F347}"/>
              </a:ext>
            </a:extLst>
          </p:cNvPr>
          <p:cNvSpPr/>
          <p:nvPr/>
        </p:nvSpPr>
        <p:spPr>
          <a:xfrm>
            <a:off x="1206070" y="1604346"/>
            <a:ext cx="872648" cy="872648"/>
          </a:xfrm>
          <a:prstGeom prst="rect">
            <a:avLst/>
          </a:prstGeom>
          <a: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a:lstStyle/>
          <a:p>
            <a:endParaRPr lang="en-US"/>
          </a:p>
        </p:txBody>
      </p:sp>
      <p:sp>
        <p:nvSpPr>
          <p:cNvPr id="8" name="Freihandform: Form 7">
            <a:extLst>
              <a:ext uri="{FF2B5EF4-FFF2-40B4-BE49-F238E27FC236}">
                <a16:creationId xmlns:a16="http://schemas.microsoft.com/office/drawing/2014/main" id="{BCC15DF2-83E1-AE9E-7C28-4AA8392254A4}"/>
              </a:ext>
            </a:extLst>
          </p:cNvPr>
          <p:cNvSpPr/>
          <p:nvPr/>
        </p:nvSpPr>
        <p:spPr>
          <a:xfrm>
            <a:off x="395754" y="2591207"/>
            <a:ext cx="2493281" cy="373992"/>
          </a:xfrm>
          <a:custGeom>
            <a:avLst/>
            <a:gdLst>
              <a:gd name="connsiteX0" fmla="*/ 0 w 2493281"/>
              <a:gd name="connsiteY0" fmla="*/ 0 h 373992"/>
              <a:gd name="connsiteX1" fmla="*/ 2493281 w 2493281"/>
              <a:gd name="connsiteY1" fmla="*/ 0 h 373992"/>
              <a:gd name="connsiteX2" fmla="*/ 2493281 w 2493281"/>
              <a:gd name="connsiteY2" fmla="*/ 373992 h 373992"/>
              <a:gd name="connsiteX3" fmla="*/ 0 w 2493281"/>
              <a:gd name="connsiteY3" fmla="*/ 373992 h 373992"/>
              <a:gd name="connsiteX4" fmla="*/ 0 w 2493281"/>
              <a:gd name="connsiteY4" fmla="*/ 0 h 3739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93281" h="373992">
                <a:moveTo>
                  <a:pt x="0" y="0"/>
                </a:moveTo>
                <a:lnTo>
                  <a:pt x="2493281" y="0"/>
                </a:lnTo>
                <a:lnTo>
                  <a:pt x="2493281" y="373992"/>
                </a:lnTo>
                <a:lnTo>
                  <a:pt x="0" y="373992"/>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0" tIns="0" rIns="0" bIns="0" numCol="1" spcCol="1270" anchor="t" anchorCtr="0">
            <a:noAutofit/>
          </a:bodyPr>
          <a:lstStyle/>
          <a:p>
            <a:pPr marL="0" lvl="0" indent="0" algn="ctr" defTabSz="1066800">
              <a:lnSpc>
                <a:spcPct val="100000"/>
              </a:lnSpc>
              <a:spcBef>
                <a:spcPct val="0"/>
              </a:spcBef>
              <a:spcAft>
                <a:spcPct val="35000"/>
              </a:spcAft>
              <a:buNone/>
              <a:defRPr b="1"/>
            </a:pPr>
            <a:r>
              <a:rPr lang="de-DE" sz="2400" kern="1200" dirty="0"/>
              <a:t>Education</a:t>
            </a:r>
            <a:endParaRPr lang="en-US" sz="2400" kern="1200" dirty="0"/>
          </a:p>
        </p:txBody>
      </p:sp>
      <p:sp>
        <p:nvSpPr>
          <p:cNvPr id="9" name="Freihandform: Form 8">
            <a:extLst>
              <a:ext uri="{FF2B5EF4-FFF2-40B4-BE49-F238E27FC236}">
                <a16:creationId xmlns:a16="http://schemas.microsoft.com/office/drawing/2014/main" id="{3356894D-038B-E9B0-06FC-E4CD9B49EE33}"/>
              </a:ext>
            </a:extLst>
          </p:cNvPr>
          <p:cNvSpPr/>
          <p:nvPr/>
        </p:nvSpPr>
        <p:spPr>
          <a:xfrm>
            <a:off x="395754" y="3018322"/>
            <a:ext cx="2493281" cy="1242141"/>
          </a:xfrm>
          <a:custGeom>
            <a:avLst/>
            <a:gdLst>
              <a:gd name="connsiteX0" fmla="*/ 0 w 2493281"/>
              <a:gd name="connsiteY0" fmla="*/ 0 h 1242141"/>
              <a:gd name="connsiteX1" fmla="*/ 2493281 w 2493281"/>
              <a:gd name="connsiteY1" fmla="*/ 0 h 1242141"/>
              <a:gd name="connsiteX2" fmla="*/ 2493281 w 2493281"/>
              <a:gd name="connsiteY2" fmla="*/ 1242141 h 1242141"/>
              <a:gd name="connsiteX3" fmla="*/ 0 w 2493281"/>
              <a:gd name="connsiteY3" fmla="*/ 1242141 h 1242141"/>
              <a:gd name="connsiteX4" fmla="*/ 0 w 2493281"/>
              <a:gd name="connsiteY4" fmla="*/ 0 h 124214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93281" h="1242141">
                <a:moveTo>
                  <a:pt x="0" y="0"/>
                </a:moveTo>
                <a:lnTo>
                  <a:pt x="2493281" y="0"/>
                </a:lnTo>
                <a:lnTo>
                  <a:pt x="2493281" y="1242141"/>
                </a:lnTo>
                <a:lnTo>
                  <a:pt x="0" y="1242141"/>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0" tIns="0" rIns="0" bIns="0" numCol="1" spcCol="1270" anchor="t" anchorCtr="0">
            <a:noAutofit/>
          </a:bodyPr>
          <a:lstStyle/>
          <a:p>
            <a:pPr marL="0" lvl="0" indent="0" algn="ctr" defTabSz="755650">
              <a:lnSpc>
                <a:spcPct val="100000"/>
              </a:lnSpc>
              <a:spcBef>
                <a:spcPct val="0"/>
              </a:spcBef>
              <a:spcAft>
                <a:spcPct val="35000"/>
              </a:spcAft>
              <a:buNone/>
            </a:pPr>
            <a:r>
              <a:rPr lang="de-DE" sz="1700" kern="1200" dirty="0"/>
              <a:t>M. Sc. Media </a:t>
            </a:r>
            <a:r>
              <a:rPr lang="de-DE" sz="1700" kern="1200" dirty="0" err="1"/>
              <a:t>Informatics</a:t>
            </a:r>
            <a:endParaRPr lang="en-US" sz="1700" kern="1200" dirty="0"/>
          </a:p>
          <a:p>
            <a:pPr marL="0" lvl="0" indent="0" algn="ctr" defTabSz="755650">
              <a:lnSpc>
                <a:spcPct val="100000"/>
              </a:lnSpc>
              <a:spcBef>
                <a:spcPct val="0"/>
              </a:spcBef>
              <a:spcAft>
                <a:spcPct val="35000"/>
              </a:spcAft>
              <a:buNone/>
            </a:pPr>
            <a:r>
              <a:rPr lang="de-DE" sz="1700" kern="1200" dirty="0"/>
              <a:t>PhD Student at Ulm University</a:t>
            </a:r>
            <a:endParaRPr lang="en-US" sz="1700" kern="1200" dirty="0"/>
          </a:p>
        </p:txBody>
      </p:sp>
      <p:sp>
        <p:nvSpPr>
          <p:cNvPr id="10" name="Rechteck 9" descr="Marke Herz mit einfarbiger Füllung">
            <a:extLst>
              <a:ext uri="{FF2B5EF4-FFF2-40B4-BE49-F238E27FC236}">
                <a16:creationId xmlns:a16="http://schemas.microsoft.com/office/drawing/2014/main" id="{CFA623B0-4F2F-46EE-2D27-2DA7B81ED25F}"/>
              </a:ext>
            </a:extLst>
          </p:cNvPr>
          <p:cNvSpPr/>
          <p:nvPr/>
        </p:nvSpPr>
        <p:spPr>
          <a:xfrm>
            <a:off x="4135676" y="1604346"/>
            <a:ext cx="872648" cy="872648"/>
          </a:xfrm>
          <a:prstGeom prst="rect">
            <a:avLst/>
          </a:prstGeom>
          <a:blipFill>
            <a:blip r:embed="rId5">
              <a:extLst>
                <a:ext uri="{96DAC541-7B7A-43D3-8B79-37D633B846F1}">
                  <asvg:svgBlip xmlns:asvg="http://schemas.microsoft.com/office/drawing/2016/SVG/main" r:embed="rId6"/>
                </a:ext>
              </a:extLst>
            </a:blip>
            <a:srcRect/>
            <a:stretch>
              <a:fillRect/>
            </a:stretch>
          </a:blip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a:lstStyle/>
          <a:p>
            <a:endParaRPr lang="en-US"/>
          </a:p>
        </p:txBody>
      </p:sp>
      <p:sp>
        <p:nvSpPr>
          <p:cNvPr id="11" name="Freihandform: Form 10">
            <a:extLst>
              <a:ext uri="{FF2B5EF4-FFF2-40B4-BE49-F238E27FC236}">
                <a16:creationId xmlns:a16="http://schemas.microsoft.com/office/drawing/2014/main" id="{CA33ECCE-C79A-3E37-321E-C442366F9487}"/>
              </a:ext>
            </a:extLst>
          </p:cNvPr>
          <p:cNvSpPr/>
          <p:nvPr/>
        </p:nvSpPr>
        <p:spPr>
          <a:xfrm>
            <a:off x="3325359" y="2591207"/>
            <a:ext cx="2493281" cy="373992"/>
          </a:xfrm>
          <a:custGeom>
            <a:avLst/>
            <a:gdLst>
              <a:gd name="connsiteX0" fmla="*/ 0 w 2493281"/>
              <a:gd name="connsiteY0" fmla="*/ 0 h 373992"/>
              <a:gd name="connsiteX1" fmla="*/ 2493281 w 2493281"/>
              <a:gd name="connsiteY1" fmla="*/ 0 h 373992"/>
              <a:gd name="connsiteX2" fmla="*/ 2493281 w 2493281"/>
              <a:gd name="connsiteY2" fmla="*/ 373992 h 373992"/>
              <a:gd name="connsiteX3" fmla="*/ 0 w 2493281"/>
              <a:gd name="connsiteY3" fmla="*/ 373992 h 373992"/>
              <a:gd name="connsiteX4" fmla="*/ 0 w 2493281"/>
              <a:gd name="connsiteY4" fmla="*/ 0 h 3739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93281" h="373992">
                <a:moveTo>
                  <a:pt x="0" y="0"/>
                </a:moveTo>
                <a:lnTo>
                  <a:pt x="2493281" y="0"/>
                </a:lnTo>
                <a:lnTo>
                  <a:pt x="2493281" y="373992"/>
                </a:lnTo>
                <a:lnTo>
                  <a:pt x="0" y="373992"/>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0" tIns="0" rIns="0" bIns="0" numCol="1" spcCol="1270" anchor="t" anchorCtr="0">
            <a:noAutofit/>
          </a:bodyPr>
          <a:lstStyle/>
          <a:p>
            <a:pPr marL="0" lvl="0" indent="0" algn="ctr" defTabSz="1066800">
              <a:lnSpc>
                <a:spcPct val="100000"/>
              </a:lnSpc>
              <a:spcBef>
                <a:spcPct val="0"/>
              </a:spcBef>
              <a:spcAft>
                <a:spcPct val="35000"/>
              </a:spcAft>
              <a:buNone/>
              <a:defRPr b="1"/>
            </a:pPr>
            <a:r>
              <a:rPr lang="de-DE" sz="2400" kern="1200"/>
              <a:t>Research </a:t>
            </a:r>
            <a:r>
              <a:rPr lang="de-DE" sz="2400" kern="1200" err="1"/>
              <a:t>Interersts</a:t>
            </a:r>
            <a:endParaRPr lang="en-US" sz="2400" kern="1200"/>
          </a:p>
        </p:txBody>
      </p:sp>
      <p:sp>
        <p:nvSpPr>
          <p:cNvPr id="12" name="Freihandform: Form 11">
            <a:extLst>
              <a:ext uri="{FF2B5EF4-FFF2-40B4-BE49-F238E27FC236}">
                <a16:creationId xmlns:a16="http://schemas.microsoft.com/office/drawing/2014/main" id="{AFF3D0B4-374B-9B4B-A95D-3D5553DEBEAB}"/>
              </a:ext>
            </a:extLst>
          </p:cNvPr>
          <p:cNvSpPr/>
          <p:nvPr/>
        </p:nvSpPr>
        <p:spPr>
          <a:xfrm>
            <a:off x="3325359" y="3018322"/>
            <a:ext cx="2493281" cy="1242141"/>
          </a:xfrm>
          <a:custGeom>
            <a:avLst/>
            <a:gdLst>
              <a:gd name="connsiteX0" fmla="*/ 0 w 2493281"/>
              <a:gd name="connsiteY0" fmla="*/ 0 h 1242141"/>
              <a:gd name="connsiteX1" fmla="*/ 2493281 w 2493281"/>
              <a:gd name="connsiteY1" fmla="*/ 0 h 1242141"/>
              <a:gd name="connsiteX2" fmla="*/ 2493281 w 2493281"/>
              <a:gd name="connsiteY2" fmla="*/ 1242141 h 1242141"/>
              <a:gd name="connsiteX3" fmla="*/ 0 w 2493281"/>
              <a:gd name="connsiteY3" fmla="*/ 1242141 h 1242141"/>
              <a:gd name="connsiteX4" fmla="*/ 0 w 2493281"/>
              <a:gd name="connsiteY4" fmla="*/ 0 h 124214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93281" h="1242141">
                <a:moveTo>
                  <a:pt x="0" y="0"/>
                </a:moveTo>
                <a:lnTo>
                  <a:pt x="2493281" y="0"/>
                </a:lnTo>
                <a:lnTo>
                  <a:pt x="2493281" y="1242141"/>
                </a:lnTo>
                <a:lnTo>
                  <a:pt x="0" y="1242141"/>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0" tIns="0" rIns="0" bIns="0" numCol="1" spcCol="1270" anchor="t" anchorCtr="0">
            <a:noAutofit/>
          </a:bodyPr>
          <a:lstStyle/>
          <a:p>
            <a:pPr marL="0" lvl="0" indent="0" algn="ctr" defTabSz="755650">
              <a:lnSpc>
                <a:spcPct val="100000"/>
              </a:lnSpc>
              <a:spcBef>
                <a:spcPct val="0"/>
              </a:spcBef>
              <a:spcAft>
                <a:spcPct val="35000"/>
              </a:spcAft>
              <a:buNone/>
            </a:pPr>
            <a:r>
              <a:rPr lang="de-DE" sz="1700" kern="1200" err="1"/>
              <a:t>Dialogue</a:t>
            </a:r>
            <a:r>
              <a:rPr lang="de-DE" sz="1700" kern="1200"/>
              <a:t> Systems</a:t>
            </a:r>
            <a:endParaRPr lang="en-US" sz="1700" kern="1200"/>
          </a:p>
          <a:p>
            <a:pPr marL="0" lvl="0" indent="0" algn="ctr" defTabSz="755650">
              <a:lnSpc>
                <a:spcPct val="100000"/>
              </a:lnSpc>
              <a:spcBef>
                <a:spcPct val="0"/>
              </a:spcBef>
              <a:spcAft>
                <a:spcPct val="35000"/>
              </a:spcAft>
              <a:buNone/>
            </a:pPr>
            <a:r>
              <a:rPr lang="de-DE" sz="1700" kern="1200"/>
              <a:t>Explainable AI</a:t>
            </a:r>
            <a:endParaRPr lang="en-US" sz="1700" kern="1200"/>
          </a:p>
          <a:p>
            <a:pPr marL="0" lvl="0" indent="0" algn="ctr" defTabSz="755650">
              <a:lnSpc>
                <a:spcPct val="100000"/>
              </a:lnSpc>
              <a:spcBef>
                <a:spcPct val="0"/>
              </a:spcBef>
              <a:spcAft>
                <a:spcPct val="35000"/>
              </a:spcAft>
              <a:buNone/>
            </a:pPr>
            <a:r>
              <a:rPr lang="de-DE" sz="1700" kern="1200"/>
              <a:t>Human Computer Interaction</a:t>
            </a:r>
            <a:endParaRPr lang="en-US" sz="1700" kern="1200"/>
          </a:p>
        </p:txBody>
      </p:sp>
      <p:sp>
        <p:nvSpPr>
          <p:cNvPr id="14" name="Rechteck 13" descr="Rat">
            <a:extLst>
              <a:ext uri="{FF2B5EF4-FFF2-40B4-BE49-F238E27FC236}">
                <a16:creationId xmlns:a16="http://schemas.microsoft.com/office/drawing/2014/main" id="{0828F86F-66B2-7EB0-8631-4F27620998CB}"/>
              </a:ext>
            </a:extLst>
          </p:cNvPr>
          <p:cNvSpPr/>
          <p:nvPr/>
        </p:nvSpPr>
        <p:spPr>
          <a:xfrm>
            <a:off x="7065281" y="1604346"/>
            <a:ext cx="872648" cy="872648"/>
          </a:xfrm>
          <a:prstGeom prst="rect">
            <a:avLst/>
          </a:prstGeom>
          <a: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a:lstStyle/>
          <a:p>
            <a:endParaRPr lang="en-US"/>
          </a:p>
        </p:txBody>
      </p:sp>
      <p:sp>
        <p:nvSpPr>
          <p:cNvPr id="15" name="Freihandform: Form 14">
            <a:extLst>
              <a:ext uri="{FF2B5EF4-FFF2-40B4-BE49-F238E27FC236}">
                <a16:creationId xmlns:a16="http://schemas.microsoft.com/office/drawing/2014/main" id="{EC14CC98-7CF2-A75D-80D4-A6968479902A}"/>
              </a:ext>
            </a:extLst>
          </p:cNvPr>
          <p:cNvSpPr/>
          <p:nvPr/>
        </p:nvSpPr>
        <p:spPr>
          <a:xfrm>
            <a:off x="6254965" y="2591207"/>
            <a:ext cx="2493281" cy="373992"/>
          </a:xfrm>
          <a:custGeom>
            <a:avLst/>
            <a:gdLst>
              <a:gd name="connsiteX0" fmla="*/ 0 w 2493281"/>
              <a:gd name="connsiteY0" fmla="*/ 0 h 373992"/>
              <a:gd name="connsiteX1" fmla="*/ 2493281 w 2493281"/>
              <a:gd name="connsiteY1" fmla="*/ 0 h 373992"/>
              <a:gd name="connsiteX2" fmla="*/ 2493281 w 2493281"/>
              <a:gd name="connsiteY2" fmla="*/ 373992 h 373992"/>
              <a:gd name="connsiteX3" fmla="*/ 0 w 2493281"/>
              <a:gd name="connsiteY3" fmla="*/ 373992 h 373992"/>
              <a:gd name="connsiteX4" fmla="*/ 0 w 2493281"/>
              <a:gd name="connsiteY4" fmla="*/ 0 h 3739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93281" h="373992">
                <a:moveTo>
                  <a:pt x="0" y="0"/>
                </a:moveTo>
                <a:lnTo>
                  <a:pt x="2493281" y="0"/>
                </a:lnTo>
                <a:lnTo>
                  <a:pt x="2493281" y="373992"/>
                </a:lnTo>
                <a:lnTo>
                  <a:pt x="0" y="373992"/>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0" tIns="0" rIns="0" bIns="0" numCol="1" spcCol="1270" anchor="t" anchorCtr="0">
            <a:noAutofit/>
          </a:bodyPr>
          <a:lstStyle/>
          <a:p>
            <a:pPr marL="0" lvl="0" indent="0" algn="ctr" defTabSz="1066800">
              <a:lnSpc>
                <a:spcPct val="100000"/>
              </a:lnSpc>
              <a:spcBef>
                <a:spcPct val="0"/>
              </a:spcBef>
              <a:spcAft>
                <a:spcPct val="35000"/>
              </a:spcAft>
              <a:buNone/>
              <a:defRPr b="1"/>
            </a:pPr>
            <a:r>
              <a:rPr lang="de-DE" sz="2400" kern="1200"/>
              <a:t>Side </a:t>
            </a:r>
            <a:r>
              <a:rPr lang="de-DE" sz="2400" kern="1200" err="1"/>
              <a:t>facts</a:t>
            </a:r>
            <a:endParaRPr lang="en-US" sz="2400" kern="1200"/>
          </a:p>
        </p:txBody>
      </p:sp>
      <p:sp>
        <p:nvSpPr>
          <p:cNvPr id="16" name="Freihandform: Form 15">
            <a:extLst>
              <a:ext uri="{FF2B5EF4-FFF2-40B4-BE49-F238E27FC236}">
                <a16:creationId xmlns:a16="http://schemas.microsoft.com/office/drawing/2014/main" id="{F475B570-BCAF-975F-C025-796ECEA8C047}"/>
              </a:ext>
            </a:extLst>
          </p:cNvPr>
          <p:cNvSpPr/>
          <p:nvPr/>
        </p:nvSpPr>
        <p:spPr>
          <a:xfrm>
            <a:off x="6254965" y="3018322"/>
            <a:ext cx="2493281" cy="1242141"/>
          </a:xfrm>
          <a:custGeom>
            <a:avLst/>
            <a:gdLst>
              <a:gd name="connsiteX0" fmla="*/ 0 w 2493281"/>
              <a:gd name="connsiteY0" fmla="*/ 0 h 1242141"/>
              <a:gd name="connsiteX1" fmla="*/ 2493281 w 2493281"/>
              <a:gd name="connsiteY1" fmla="*/ 0 h 1242141"/>
              <a:gd name="connsiteX2" fmla="*/ 2493281 w 2493281"/>
              <a:gd name="connsiteY2" fmla="*/ 1242141 h 1242141"/>
              <a:gd name="connsiteX3" fmla="*/ 0 w 2493281"/>
              <a:gd name="connsiteY3" fmla="*/ 1242141 h 1242141"/>
              <a:gd name="connsiteX4" fmla="*/ 0 w 2493281"/>
              <a:gd name="connsiteY4" fmla="*/ 0 h 124214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93281" h="1242141">
                <a:moveTo>
                  <a:pt x="0" y="0"/>
                </a:moveTo>
                <a:lnTo>
                  <a:pt x="2493281" y="0"/>
                </a:lnTo>
                <a:lnTo>
                  <a:pt x="2493281" y="1242141"/>
                </a:lnTo>
                <a:lnTo>
                  <a:pt x="0" y="1242141"/>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0" tIns="0" rIns="0" bIns="0" numCol="1" spcCol="1270" anchor="t" anchorCtr="0">
            <a:noAutofit/>
          </a:bodyPr>
          <a:lstStyle/>
          <a:p>
            <a:pPr marL="0" lvl="0" indent="0" algn="ctr" defTabSz="755650">
              <a:lnSpc>
                <a:spcPct val="100000"/>
              </a:lnSpc>
              <a:spcBef>
                <a:spcPct val="0"/>
              </a:spcBef>
              <a:spcAft>
                <a:spcPct val="35000"/>
              </a:spcAft>
              <a:buNone/>
            </a:pPr>
            <a:r>
              <a:rPr lang="de-DE" sz="1700" kern="1200"/>
              <a:t>I </a:t>
            </a:r>
            <a:r>
              <a:rPr lang="de-DE" sz="1700" kern="1200" err="1"/>
              <a:t>love</a:t>
            </a:r>
            <a:r>
              <a:rPr lang="de-DE" sz="1700" kern="1200"/>
              <a:t> </a:t>
            </a:r>
            <a:r>
              <a:rPr lang="de-DE" sz="1700" kern="1200" err="1"/>
              <a:t>music</a:t>
            </a:r>
            <a:endParaRPr lang="en-US" sz="1700" kern="1200"/>
          </a:p>
          <a:p>
            <a:pPr marL="0" lvl="0" indent="0" algn="ctr" defTabSz="755650">
              <a:lnSpc>
                <a:spcPct val="100000"/>
              </a:lnSpc>
              <a:spcBef>
                <a:spcPct val="0"/>
              </a:spcBef>
              <a:spcAft>
                <a:spcPct val="35000"/>
              </a:spcAft>
              <a:buNone/>
            </a:pPr>
            <a:r>
              <a:rPr lang="de-DE" sz="1700" kern="1200" err="1"/>
              <a:t>I‘m</a:t>
            </a:r>
            <a:r>
              <a:rPr lang="de-DE" sz="1700" kern="1200"/>
              <a:t> </a:t>
            </a:r>
            <a:r>
              <a:rPr lang="de-DE" sz="1700" kern="1200" err="1"/>
              <a:t>addicted</a:t>
            </a:r>
            <a:r>
              <a:rPr lang="de-DE" sz="1700" kern="1200"/>
              <a:t> </a:t>
            </a:r>
            <a:r>
              <a:rPr lang="de-DE" sz="1700" kern="1200" err="1"/>
              <a:t>to</a:t>
            </a:r>
            <a:r>
              <a:rPr lang="de-DE" sz="1700" kern="1200"/>
              <a:t> </a:t>
            </a:r>
            <a:r>
              <a:rPr lang="de-DE" sz="1700" kern="1200" err="1"/>
              <a:t>video</a:t>
            </a:r>
            <a:r>
              <a:rPr lang="de-DE" sz="1700" kern="1200"/>
              <a:t> </a:t>
            </a:r>
            <a:r>
              <a:rPr lang="de-DE" sz="1700" kern="1200" err="1"/>
              <a:t>games</a:t>
            </a:r>
            <a:endParaRPr lang="de-DE" sz="1700" kern="1200"/>
          </a:p>
          <a:p>
            <a:pPr marL="0" lvl="0" indent="0" algn="ctr" defTabSz="755650">
              <a:lnSpc>
                <a:spcPct val="100000"/>
              </a:lnSpc>
              <a:spcBef>
                <a:spcPct val="0"/>
              </a:spcBef>
              <a:spcAft>
                <a:spcPct val="35000"/>
              </a:spcAft>
              <a:buNone/>
            </a:pPr>
            <a:r>
              <a:rPr lang="de-DE" sz="1700" kern="1200"/>
              <a:t>I </a:t>
            </a:r>
            <a:r>
              <a:rPr lang="de-DE" sz="1700" kern="1200" err="1"/>
              <a:t>owned</a:t>
            </a:r>
            <a:r>
              <a:rPr lang="de-DE" sz="1700" kern="1200"/>
              <a:t> </a:t>
            </a:r>
            <a:r>
              <a:rPr lang="de-DE" sz="1700" kern="1200" err="1"/>
              <a:t>pet</a:t>
            </a:r>
            <a:r>
              <a:rPr lang="de-DE" sz="1700" kern="1200"/>
              <a:t> </a:t>
            </a:r>
            <a:r>
              <a:rPr lang="de-DE" sz="1700" kern="1200" err="1"/>
              <a:t>rats</a:t>
            </a:r>
            <a:endParaRPr lang="en-US" sz="1700" kern="1200"/>
          </a:p>
        </p:txBody>
      </p:sp>
    </p:spTree>
    <p:extLst>
      <p:ext uri="{BB962C8B-B14F-4D97-AF65-F5344CB8AC3E}">
        <p14:creationId xmlns:p14="http://schemas.microsoft.com/office/powerpoint/2010/main" val="32464825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 calcmode="lin" valueType="num">
                                      <p:cBhvr additive="base">
                                        <p:cTn id="11" dur="500" fill="hold"/>
                                        <p:tgtEl>
                                          <p:spTgt spid="8"/>
                                        </p:tgtEl>
                                        <p:attrNameLst>
                                          <p:attrName>ppt_x</p:attrName>
                                        </p:attrNameLst>
                                      </p:cBhvr>
                                      <p:tavLst>
                                        <p:tav tm="0">
                                          <p:val>
                                            <p:strVal val="#ppt_x"/>
                                          </p:val>
                                        </p:tav>
                                        <p:tav tm="100000">
                                          <p:val>
                                            <p:strVal val="#ppt_x"/>
                                          </p:val>
                                        </p:tav>
                                      </p:tavLst>
                                    </p:anim>
                                    <p:anim calcmode="lin" valueType="num">
                                      <p:cBhvr additive="base">
                                        <p:cTn id="12" dur="500" fill="hold"/>
                                        <p:tgtEl>
                                          <p:spTgt spid="8"/>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9"/>
                                        </p:tgtEl>
                                        <p:attrNameLst>
                                          <p:attrName>style.visibility</p:attrName>
                                        </p:attrNameLst>
                                      </p:cBhvr>
                                      <p:to>
                                        <p:strVal val="visible"/>
                                      </p:to>
                                    </p:set>
                                    <p:anim calcmode="lin" valueType="num">
                                      <p:cBhvr additive="base">
                                        <p:cTn id="15" dur="500" fill="hold"/>
                                        <p:tgtEl>
                                          <p:spTgt spid="9"/>
                                        </p:tgtEl>
                                        <p:attrNameLst>
                                          <p:attrName>ppt_x</p:attrName>
                                        </p:attrNameLst>
                                      </p:cBhvr>
                                      <p:tavLst>
                                        <p:tav tm="0">
                                          <p:val>
                                            <p:strVal val="#ppt_x"/>
                                          </p:val>
                                        </p:tav>
                                        <p:tav tm="100000">
                                          <p:val>
                                            <p:strVal val="#ppt_x"/>
                                          </p:val>
                                        </p:tav>
                                      </p:tavLst>
                                    </p:anim>
                                    <p:anim calcmode="lin" valueType="num">
                                      <p:cBhvr additive="base">
                                        <p:cTn id="16"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grpId="0" nodeType="clickEffect">
                                  <p:stCondLst>
                                    <p:cond delay="0"/>
                                  </p:stCondLst>
                                  <p:childTnLst>
                                    <p:set>
                                      <p:cBhvr>
                                        <p:cTn id="20" dur="1" fill="hold">
                                          <p:stCondLst>
                                            <p:cond delay="0"/>
                                          </p:stCondLst>
                                        </p:cTn>
                                        <p:tgtEl>
                                          <p:spTgt spid="10"/>
                                        </p:tgtEl>
                                        <p:attrNameLst>
                                          <p:attrName>style.visibility</p:attrName>
                                        </p:attrNameLst>
                                      </p:cBhvr>
                                      <p:to>
                                        <p:strVal val="visible"/>
                                      </p:to>
                                    </p:set>
                                    <p:anim calcmode="lin" valueType="num">
                                      <p:cBhvr additive="base">
                                        <p:cTn id="21" dur="500" fill="hold"/>
                                        <p:tgtEl>
                                          <p:spTgt spid="10"/>
                                        </p:tgtEl>
                                        <p:attrNameLst>
                                          <p:attrName>ppt_x</p:attrName>
                                        </p:attrNameLst>
                                      </p:cBhvr>
                                      <p:tavLst>
                                        <p:tav tm="0">
                                          <p:val>
                                            <p:strVal val="#ppt_x"/>
                                          </p:val>
                                        </p:tav>
                                        <p:tav tm="100000">
                                          <p:val>
                                            <p:strVal val="#ppt_x"/>
                                          </p:val>
                                        </p:tav>
                                      </p:tavLst>
                                    </p:anim>
                                    <p:anim calcmode="lin" valueType="num">
                                      <p:cBhvr additive="base">
                                        <p:cTn id="22" dur="500" fill="hold"/>
                                        <p:tgtEl>
                                          <p:spTgt spid="10"/>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11"/>
                                        </p:tgtEl>
                                        <p:attrNameLst>
                                          <p:attrName>style.visibility</p:attrName>
                                        </p:attrNameLst>
                                      </p:cBhvr>
                                      <p:to>
                                        <p:strVal val="visible"/>
                                      </p:to>
                                    </p:set>
                                    <p:anim calcmode="lin" valueType="num">
                                      <p:cBhvr additive="base">
                                        <p:cTn id="25" dur="500" fill="hold"/>
                                        <p:tgtEl>
                                          <p:spTgt spid="11"/>
                                        </p:tgtEl>
                                        <p:attrNameLst>
                                          <p:attrName>ppt_x</p:attrName>
                                        </p:attrNameLst>
                                      </p:cBhvr>
                                      <p:tavLst>
                                        <p:tav tm="0">
                                          <p:val>
                                            <p:strVal val="#ppt_x"/>
                                          </p:val>
                                        </p:tav>
                                        <p:tav tm="100000">
                                          <p:val>
                                            <p:strVal val="#ppt_x"/>
                                          </p:val>
                                        </p:tav>
                                      </p:tavLst>
                                    </p:anim>
                                    <p:anim calcmode="lin" valueType="num">
                                      <p:cBhvr additive="base">
                                        <p:cTn id="26" dur="500" fill="hold"/>
                                        <p:tgtEl>
                                          <p:spTgt spid="11"/>
                                        </p:tgtEl>
                                        <p:attrNameLst>
                                          <p:attrName>ppt_y</p:attrName>
                                        </p:attrNameLst>
                                      </p:cBhvr>
                                      <p:tavLst>
                                        <p:tav tm="0">
                                          <p:val>
                                            <p:strVal val="1+#ppt_h/2"/>
                                          </p:val>
                                        </p:tav>
                                        <p:tav tm="100000">
                                          <p:val>
                                            <p:strVal val="#ppt_y"/>
                                          </p:val>
                                        </p:tav>
                                      </p:tavLst>
                                    </p:anim>
                                  </p:childTnLst>
                                </p:cTn>
                              </p:par>
                              <p:par>
                                <p:cTn id="27" presetID="2" presetClass="entr" presetSubtype="4" fill="hold" grpId="0" nodeType="withEffect">
                                  <p:stCondLst>
                                    <p:cond delay="0"/>
                                  </p:stCondLst>
                                  <p:childTnLst>
                                    <p:set>
                                      <p:cBhvr>
                                        <p:cTn id="28" dur="1" fill="hold">
                                          <p:stCondLst>
                                            <p:cond delay="0"/>
                                          </p:stCondLst>
                                        </p:cTn>
                                        <p:tgtEl>
                                          <p:spTgt spid="12"/>
                                        </p:tgtEl>
                                        <p:attrNameLst>
                                          <p:attrName>style.visibility</p:attrName>
                                        </p:attrNameLst>
                                      </p:cBhvr>
                                      <p:to>
                                        <p:strVal val="visible"/>
                                      </p:to>
                                    </p:set>
                                    <p:anim calcmode="lin" valueType="num">
                                      <p:cBhvr additive="base">
                                        <p:cTn id="29" dur="500" fill="hold"/>
                                        <p:tgtEl>
                                          <p:spTgt spid="12"/>
                                        </p:tgtEl>
                                        <p:attrNameLst>
                                          <p:attrName>ppt_x</p:attrName>
                                        </p:attrNameLst>
                                      </p:cBhvr>
                                      <p:tavLst>
                                        <p:tav tm="0">
                                          <p:val>
                                            <p:strVal val="#ppt_x"/>
                                          </p:val>
                                        </p:tav>
                                        <p:tav tm="100000">
                                          <p:val>
                                            <p:strVal val="#ppt_x"/>
                                          </p:val>
                                        </p:tav>
                                      </p:tavLst>
                                    </p:anim>
                                    <p:anim calcmode="lin" valueType="num">
                                      <p:cBhvr additive="base">
                                        <p:cTn id="30"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grpId="0" nodeType="clickEffect">
                                  <p:stCondLst>
                                    <p:cond delay="0"/>
                                  </p:stCondLst>
                                  <p:childTnLst>
                                    <p:set>
                                      <p:cBhvr>
                                        <p:cTn id="34" dur="1" fill="hold">
                                          <p:stCondLst>
                                            <p:cond delay="0"/>
                                          </p:stCondLst>
                                        </p:cTn>
                                        <p:tgtEl>
                                          <p:spTgt spid="14"/>
                                        </p:tgtEl>
                                        <p:attrNameLst>
                                          <p:attrName>style.visibility</p:attrName>
                                        </p:attrNameLst>
                                      </p:cBhvr>
                                      <p:to>
                                        <p:strVal val="visible"/>
                                      </p:to>
                                    </p:set>
                                    <p:anim calcmode="lin" valueType="num">
                                      <p:cBhvr additive="base">
                                        <p:cTn id="35" dur="500" fill="hold"/>
                                        <p:tgtEl>
                                          <p:spTgt spid="14"/>
                                        </p:tgtEl>
                                        <p:attrNameLst>
                                          <p:attrName>ppt_x</p:attrName>
                                        </p:attrNameLst>
                                      </p:cBhvr>
                                      <p:tavLst>
                                        <p:tav tm="0">
                                          <p:val>
                                            <p:strVal val="#ppt_x"/>
                                          </p:val>
                                        </p:tav>
                                        <p:tav tm="100000">
                                          <p:val>
                                            <p:strVal val="#ppt_x"/>
                                          </p:val>
                                        </p:tav>
                                      </p:tavLst>
                                    </p:anim>
                                    <p:anim calcmode="lin" valueType="num">
                                      <p:cBhvr additive="base">
                                        <p:cTn id="36" dur="500" fill="hold"/>
                                        <p:tgtEl>
                                          <p:spTgt spid="14"/>
                                        </p:tgtEl>
                                        <p:attrNameLst>
                                          <p:attrName>ppt_y</p:attrName>
                                        </p:attrNameLst>
                                      </p:cBhvr>
                                      <p:tavLst>
                                        <p:tav tm="0">
                                          <p:val>
                                            <p:strVal val="1+#ppt_h/2"/>
                                          </p:val>
                                        </p:tav>
                                        <p:tav tm="100000">
                                          <p:val>
                                            <p:strVal val="#ppt_y"/>
                                          </p:val>
                                        </p:tav>
                                      </p:tavLst>
                                    </p:anim>
                                  </p:childTnLst>
                                </p:cTn>
                              </p:par>
                              <p:par>
                                <p:cTn id="37" presetID="2" presetClass="entr" presetSubtype="4" fill="hold" grpId="0" nodeType="withEffect">
                                  <p:stCondLst>
                                    <p:cond delay="0"/>
                                  </p:stCondLst>
                                  <p:childTnLst>
                                    <p:set>
                                      <p:cBhvr>
                                        <p:cTn id="38" dur="1" fill="hold">
                                          <p:stCondLst>
                                            <p:cond delay="0"/>
                                          </p:stCondLst>
                                        </p:cTn>
                                        <p:tgtEl>
                                          <p:spTgt spid="16"/>
                                        </p:tgtEl>
                                        <p:attrNameLst>
                                          <p:attrName>style.visibility</p:attrName>
                                        </p:attrNameLst>
                                      </p:cBhvr>
                                      <p:to>
                                        <p:strVal val="visible"/>
                                      </p:to>
                                    </p:set>
                                    <p:anim calcmode="lin" valueType="num">
                                      <p:cBhvr additive="base">
                                        <p:cTn id="39" dur="500" fill="hold"/>
                                        <p:tgtEl>
                                          <p:spTgt spid="16"/>
                                        </p:tgtEl>
                                        <p:attrNameLst>
                                          <p:attrName>ppt_x</p:attrName>
                                        </p:attrNameLst>
                                      </p:cBhvr>
                                      <p:tavLst>
                                        <p:tav tm="0">
                                          <p:val>
                                            <p:strVal val="#ppt_x"/>
                                          </p:val>
                                        </p:tav>
                                        <p:tav tm="100000">
                                          <p:val>
                                            <p:strVal val="#ppt_x"/>
                                          </p:val>
                                        </p:tav>
                                      </p:tavLst>
                                    </p:anim>
                                    <p:anim calcmode="lin" valueType="num">
                                      <p:cBhvr additive="base">
                                        <p:cTn id="40" dur="500" fill="hold"/>
                                        <p:tgtEl>
                                          <p:spTgt spid="16"/>
                                        </p:tgtEl>
                                        <p:attrNameLst>
                                          <p:attrName>ppt_y</p:attrName>
                                        </p:attrNameLst>
                                      </p:cBhvr>
                                      <p:tavLst>
                                        <p:tav tm="0">
                                          <p:val>
                                            <p:strVal val="1+#ppt_h/2"/>
                                          </p:val>
                                        </p:tav>
                                        <p:tav tm="100000">
                                          <p:val>
                                            <p:strVal val="#ppt_y"/>
                                          </p:val>
                                        </p:tav>
                                      </p:tavLst>
                                    </p:anim>
                                  </p:childTnLst>
                                </p:cTn>
                              </p:par>
                              <p:par>
                                <p:cTn id="41" presetID="2" presetClass="entr" presetSubtype="4" fill="hold" grpId="0" nodeType="withEffect">
                                  <p:stCondLst>
                                    <p:cond delay="0"/>
                                  </p:stCondLst>
                                  <p:childTnLst>
                                    <p:set>
                                      <p:cBhvr>
                                        <p:cTn id="42" dur="1" fill="hold">
                                          <p:stCondLst>
                                            <p:cond delay="0"/>
                                          </p:stCondLst>
                                        </p:cTn>
                                        <p:tgtEl>
                                          <p:spTgt spid="15"/>
                                        </p:tgtEl>
                                        <p:attrNameLst>
                                          <p:attrName>style.visibility</p:attrName>
                                        </p:attrNameLst>
                                      </p:cBhvr>
                                      <p:to>
                                        <p:strVal val="visible"/>
                                      </p:to>
                                    </p:set>
                                    <p:anim calcmode="lin" valueType="num">
                                      <p:cBhvr additive="base">
                                        <p:cTn id="43" dur="500" fill="hold"/>
                                        <p:tgtEl>
                                          <p:spTgt spid="15"/>
                                        </p:tgtEl>
                                        <p:attrNameLst>
                                          <p:attrName>ppt_x</p:attrName>
                                        </p:attrNameLst>
                                      </p:cBhvr>
                                      <p:tavLst>
                                        <p:tav tm="0">
                                          <p:val>
                                            <p:strVal val="#ppt_x"/>
                                          </p:val>
                                        </p:tav>
                                        <p:tav tm="100000">
                                          <p:val>
                                            <p:strVal val="#ppt_x"/>
                                          </p:val>
                                        </p:tav>
                                      </p:tavLst>
                                    </p:anim>
                                    <p:anim calcmode="lin" valueType="num">
                                      <p:cBhvr additive="base">
                                        <p:cTn id="44"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p:bldP spid="9" grpId="0"/>
      <p:bldP spid="10" grpId="0" animBg="1"/>
      <p:bldP spid="11" grpId="0"/>
      <p:bldP spid="12" grpId="0"/>
      <p:bldP spid="14" grpId="0" animBg="1"/>
      <p:bldP spid="15" grpId="0"/>
      <p:bldP spid="16"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5CD9496-4101-16E4-C73F-EBE8B8DA53DF}"/>
              </a:ext>
            </a:extLst>
          </p:cNvPr>
          <p:cNvSpPr>
            <a:spLocks noGrp="1"/>
          </p:cNvSpPr>
          <p:nvPr>
            <p:ph type="ctrTitle"/>
          </p:nvPr>
        </p:nvSpPr>
        <p:spPr/>
        <p:txBody>
          <a:bodyPr/>
          <a:lstStyle/>
          <a:p>
            <a:r>
              <a:rPr lang="de-DE" dirty="0">
                <a:latin typeface="+mn-lt"/>
              </a:rPr>
              <a:t>Outline</a:t>
            </a:r>
            <a:endParaRPr lang="en-US" dirty="0">
              <a:latin typeface="+mn-lt"/>
            </a:endParaRPr>
          </a:p>
        </p:txBody>
      </p:sp>
      <p:sp>
        <p:nvSpPr>
          <p:cNvPr id="3" name="Inhaltsplatzhalter 2">
            <a:extLst>
              <a:ext uri="{FF2B5EF4-FFF2-40B4-BE49-F238E27FC236}">
                <a16:creationId xmlns:a16="http://schemas.microsoft.com/office/drawing/2014/main" id="{8D45D322-FF48-987E-E507-0BF06C9F21E2}"/>
              </a:ext>
            </a:extLst>
          </p:cNvPr>
          <p:cNvSpPr>
            <a:spLocks noGrp="1"/>
          </p:cNvSpPr>
          <p:nvPr>
            <p:ph sz="quarter" idx="13"/>
          </p:nvPr>
        </p:nvSpPr>
        <p:spPr/>
        <p:txBody>
          <a:bodyPr/>
          <a:lstStyle/>
          <a:p>
            <a:endParaRPr lang="en-US" dirty="0"/>
          </a:p>
        </p:txBody>
      </p:sp>
      <p:sp>
        <p:nvSpPr>
          <p:cNvPr id="4" name="Datumsplatzhalter 3">
            <a:extLst>
              <a:ext uri="{FF2B5EF4-FFF2-40B4-BE49-F238E27FC236}">
                <a16:creationId xmlns:a16="http://schemas.microsoft.com/office/drawing/2014/main" id="{1F343289-40C8-598E-8852-FBC15E02FC79}"/>
              </a:ext>
            </a:extLst>
          </p:cNvPr>
          <p:cNvSpPr>
            <a:spLocks noGrp="1"/>
          </p:cNvSpPr>
          <p:nvPr>
            <p:ph type="dt" sz="half" idx="10"/>
          </p:nvPr>
        </p:nvSpPr>
        <p:spPr/>
        <p:txBody>
          <a:bodyPr/>
          <a:lstStyle/>
          <a:p>
            <a:r>
              <a:rPr lang="en-US"/>
              <a:t>18.08.2025</a:t>
            </a:r>
            <a:endParaRPr lang="de-DE" dirty="0"/>
          </a:p>
        </p:txBody>
      </p:sp>
      <p:sp>
        <p:nvSpPr>
          <p:cNvPr id="5" name="Fußzeilenplatzhalter 4">
            <a:extLst>
              <a:ext uri="{FF2B5EF4-FFF2-40B4-BE49-F238E27FC236}">
                <a16:creationId xmlns:a16="http://schemas.microsoft.com/office/drawing/2014/main" id="{A05DEAB8-F284-831D-CD16-CA9A7A751562}"/>
              </a:ext>
            </a:extLst>
          </p:cNvPr>
          <p:cNvSpPr>
            <a:spLocks noGrp="1"/>
          </p:cNvSpPr>
          <p:nvPr>
            <p:ph type="ftr" sz="quarter" idx="11"/>
          </p:nvPr>
        </p:nvSpPr>
        <p:spPr/>
        <p:txBody>
          <a:bodyPr/>
          <a:lstStyle/>
          <a:p>
            <a:r>
              <a:rPr lang="en-US"/>
              <a:t>Enhancing model transparency: Effects of DK Integration for Conversational XAI | Feustel</a:t>
            </a:r>
            <a:endParaRPr lang="de-DE" dirty="0"/>
          </a:p>
        </p:txBody>
      </p:sp>
      <p:sp>
        <p:nvSpPr>
          <p:cNvPr id="6" name="Foliennummernplatzhalter 5">
            <a:extLst>
              <a:ext uri="{FF2B5EF4-FFF2-40B4-BE49-F238E27FC236}">
                <a16:creationId xmlns:a16="http://schemas.microsoft.com/office/drawing/2014/main" id="{3EA23CA8-56D9-90B5-0912-7FE56BEE9491}"/>
              </a:ext>
            </a:extLst>
          </p:cNvPr>
          <p:cNvSpPr>
            <a:spLocks noGrp="1"/>
          </p:cNvSpPr>
          <p:nvPr>
            <p:ph type="sldNum" sz="quarter" idx="12"/>
          </p:nvPr>
        </p:nvSpPr>
        <p:spPr/>
        <p:txBody>
          <a:bodyPr/>
          <a:lstStyle/>
          <a:p>
            <a:r>
              <a:rPr lang="de-DE"/>
              <a:t> </a:t>
            </a:r>
            <a:fld id="{FE120BDC-5456-EC41-8BB6-7A3B726EA19B}" type="slidenum">
              <a:rPr lang="de-DE" smtClean="0"/>
              <a:pPr/>
              <a:t>3</a:t>
            </a:fld>
            <a:endParaRPr lang="de-DE" dirty="0"/>
          </a:p>
        </p:txBody>
      </p:sp>
      <p:grpSp>
        <p:nvGrpSpPr>
          <p:cNvPr id="27" name="Gruppieren 26">
            <a:extLst>
              <a:ext uri="{FF2B5EF4-FFF2-40B4-BE49-F238E27FC236}">
                <a16:creationId xmlns:a16="http://schemas.microsoft.com/office/drawing/2014/main" id="{93519A1B-AAD7-205D-7CA6-BEB0518063A0}"/>
              </a:ext>
            </a:extLst>
          </p:cNvPr>
          <p:cNvGrpSpPr/>
          <p:nvPr/>
        </p:nvGrpSpPr>
        <p:grpSpPr>
          <a:xfrm>
            <a:off x="395287" y="1133074"/>
            <a:ext cx="8312397" cy="505399"/>
            <a:chOff x="395287" y="1133074"/>
            <a:chExt cx="8312397" cy="505399"/>
          </a:xfrm>
        </p:grpSpPr>
        <p:sp>
          <p:nvSpPr>
            <p:cNvPr id="9" name="Rechteck: abgerundete Ecken 8">
              <a:extLst>
                <a:ext uri="{FF2B5EF4-FFF2-40B4-BE49-F238E27FC236}">
                  <a16:creationId xmlns:a16="http://schemas.microsoft.com/office/drawing/2014/main" id="{16E7D312-F86E-22F2-4372-33B1F7289B88}"/>
                </a:ext>
              </a:extLst>
            </p:cNvPr>
            <p:cNvSpPr/>
            <p:nvPr/>
          </p:nvSpPr>
          <p:spPr>
            <a:xfrm>
              <a:off x="395287" y="1133074"/>
              <a:ext cx="8312397" cy="505399"/>
            </a:xfrm>
            <a:prstGeom prst="roundRect">
              <a:avLst>
                <a:gd name="adj" fmla="val 10000"/>
              </a:avLst>
            </a:prstGeom>
          </p:spPr>
          <p:style>
            <a:lnRef idx="0">
              <a:schemeClr val="dk1">
                <a:hueOff val="0"/>
                <a:satOff val="0"/>
                <a:lumOff val="0"/>
                <a:alphaOff val="0"/>
              </a:schemeClr>
            </a:lnRef>
            <a:fillRef idx="1">
              <a:schemeClr val="bg1">
                <a:lumMod val="95000"/>
                <a:hueOff val="0"/>
                <a:satOff val="0"/>
                <a:lumOff val="0"/>
                <a:alphaOff val="0"/>
              </a:schemeClr>
            </a:fillRef>
            <a:effectRef idx="0">
              <a:schemeClr val="bg1">
                <a:lumMod val="95000"/>
                <a:hueOff val="0"/>
                <a:satOff val="0"/>
                <a:lumOff val="0"/>
                <a:alphaOff val="0"/>
              </a:schemeClr>
            </a:effectRef>
            <a:fontRef idx="minor">
              <a:schemeClr val="dk1">
                <a:hueOff val="0"/>
                <a:satOff val="0"/>
                <a:lumOff val="0"/>
                <a:alphaOff val="0"/>
              </a:schemeClr>
            </a:fontRef>
          </p:style>
          <p:txBody>
            <a:bodyPr/>
            <a:lstStyle/>
            <a:p>
              <a:endParaRPr lang="en-US"/>
            </a:p>
          </p:txBody>
        </p:sp>
        <p:sp>
          <p:nvSpPr>
            <p:cNvPr id="10" name="Rechteck 9" descr="Lichter an mit einfarbiger Füllung">
              <a:extLst>
                <a:ext uri="{FF2B5EF4-FFF2-40B4-BE49-F238E27FC236}">
                  <a16:creationId xmlns:a16="http://schemas.microsoft.com/office/drawing/2014/main" id="{FE1228F6-D8F5-E65F-736A-CA64559A189D}"/>
                </a:ext>
              </a:extLst>
            </p:cNvPr>
            <p:cNvSpPr/>
            <p:nvPr/>
          </p:nvSpPr>
          <p:spPr>
            <a:xfrm>
              <a:off x="548170" y="1246789"/>
              <a:ext cx="277969" cy="277969"/>
            </a:xfrm>
            <a:prstGeom prst="rect">
              <a:avLst/>
            </a:prstGeom>
            <a:blipFill>
              <a:blip r:embed="rId3">
                <a:extLst>
                  <a:ext uri="{96DAC541-7B7A-43D3-8B79-37D633B846F1}">
                    <asvg:svgBlip xmlns:asvg="http://schemas.microsoft.com/office/drawing/2016/SVG/main" r:embed="rId4"/>
                  </a:ext>
                </a:extLst>
              </a:blip>
              <a:srcRect/>
              <a:stretch>
                <a:fillRect/>
              </a:stretch>
            </a:blipFill>
            <a:ln>
              <a:noFill/>
            </a:ln>
          </p:spPr>
          <p:style>
            <a:lnRef idx="2">
              <a:scrgbClr r="0" g="0" b="0"/>
            </a:lnRef>
            <a:fillRef idx="1">
              <a:scrgbClr r="0" g="0" b="0"/>
            </a:fillRef>
            <a:effectRef idx="0">
              <a:schemeClr val="accent2">
                <a:hueOff val="0"/>
                <a:satOff val="0"/>
                <a:lumOff val="0"/>
                <a:alphaOff val="0"/>
              </a:schemeClr>
            </a:effectRef>
            <a:fontRef idx="minor">
              <a:schemeClr val="lt1"/>
            </a:fontRef>
          </p:style>
          <p:txBody>
            <a:bodyPr/>
            <a:lstStyle/>
            <a:p>
              <a:endParaRPr lang="en-US"/>
            </a:p>
          </p:txBody>
        </p:sp>
        <p:sp>
          <p:nvSpPr>
            <p:cNvPr id="11" name="Freihandform: Form 10">
              <a:extLst>
                <a:ext uri="{FF2B5EF4-FFF2-40B4-BE49-F238E27FC236}">
                  <a16:creationId xmlns:a16="http://schemas.microsoft.com/office/drawing/2014/main" id="{BAA3203E-7E0A-8340-0B91-79E379D9587F}"/>
                </a:ext>
              </a:extLst>
            </p:cNvPr>
            <p:cNvSpPr/>
            <p:nvPr/>
          </p:nvSpPr>
          <p:spPr>
            <a:xfrm>
              <a:off x="979023" y="1133074"/>
              <a:ext cx="7728660" cy="505399"/>
            </a:xfrm>
            <a:custGeom>
              <a:avLst/>
              <a:gdLst>
                <a:gd name="connsiteX0" fmla="*/ 0 w 7728660"/>
                <a:gd name="connsiteY0" fmla="*/ 0 h 505399"/>
                <a:gd name="connsiteX1" fmla="*/ 7728660 w 7728660"/>
                <a:gd name="connsiteY1" fmla="*/ 0 h 505399"/>
                <a:gd name="connsiteX2" fmla="*/ 7728660 w 7728660"/>
                <a:gd name="connsiteY2" fmla="*/ 505399 h 505399"/>
                <a:gd name="connsiteX3" fmla="*/ 0 w 7728660"/>
                <a:gd name="connsiteY3" fmla="*/ 505399 h 505399"/>
                <a:gd name="connsiteX4" fmla="*/ 0 w 7728660"/>
                <a:gd name="connsiteY4" fmla="*/ 0 h 5053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28660" h="505399">
                  <a:moveTo>
                    <a:pt x="0" y="0"/>
                  </a:moveTo>
                  <a:lnTo>
                    <a:pt x="7728660" y="0"/>
                  </a:lnTo>
                  <a:lnTo>
                    <a:pt x="7728660" y="505399"/>
                  </a:lnTo>
                  <a:lnTo>
                    <a:pt x="0" y="505399"/>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53488" tIns="53488" rIns="53488" bIns="53488" numCol="1" spcCol="1270" anchor="ctr" anchorCtr="0">
              <a:noAutofit/>
            </a:bodyPr>
            <a:lstStyle/>
            <a:p>
              <a:pPr marL="0" lvl="0" indent="0" algn="l" defTabSz="844550">
                <a:lnSpc>
                  <a:spcPct val="90000"/>
                </a:lnSpc>
                <a:spcBef>
                  <a:spcPct val="0"/>
                </a:spcBef>
                <a:spcAft>
                  <a:spcPct val="35000"/>
                </a:spcAft>
                <a:buNone/>
              </a:pPr>
              <a:r>
                <a:rPr lang="de-DE" sz="1900" kern="1200" dirty="0"/>
                <a:t>Motivation</a:t>
              </a:r>
              <a:endParaRPr lang="en-US" sz="1900" kern="1200" dirty="0"/>
            </a:p>
          </p:txBody>
        </p:sp>
      </p:grpSp>
      <p:grpSp>
        <p:nvGrpSpPr>
          <p:cNvPr id="28" name="Gruppieren 27">
            <a:extLst>
              <a:ext uri="{FF2B5EF4-FFF2-40B4-BE49-F238E27FC236}">
                <a16:creationId xmlns:a16="http://schemas.microsoft.com/office/drawing/2014/main" id="{5467C212-B02F-1172-F20D-601D0E56F31D}"/>
              </a:ext>
            </a:extLst>
          </p:cNvPr>
          <p:cNvGrpSpPr/>
          <p:nvPr/>
        </p:nvGrpSpPr>
        <p:grpSpPr>
          <a:xfrm>
            <a:off x="395287" y="1764823"/>
            <a:ext cx="8312397" cy="505399"/>
            <a:chOff x="395287" y="1764823"/>
            <a:chExt cx="8312397" cy="505399"/>
          </a:xfrm>
        </p:grpSpPr>
        <p:sp>
          <p:nvSpPr>
            <p:cNvPr id="12" name="Rechteck: abgerundete Ecken 11">
              <a:extLst>
                <a:ext uri="{FF2B5EF4-FFF2-40B4-BE49-F238E27FC236}">
                  <a16:creationId xmlns:a16="http://schemas.microsoft.com/office/drawing/2014/main" id="{C986AD0F-49BA-741E-8FA6-6C287B92B6DE}"/>
                </a:ext>
              </a:extLst>
            </p:cNvPr>
            <p:cNvSpPr/>
            <p:nvPr/>
          </p:nvSpPr>
          <p:spPr>
            <a:xfrm>
              <a:off x="395287" y="1764823"/>
              <a:ext cx="8312397" cy="505399"/>
            </a:xfrm>
            <a:prstGeom prst="roundRect">
              <a:avLst>
                <a:gd name="adj" fmla="val 10000"/>
              </a:avLst>
            </a:prstGeom>
          </p:spPr>
          <p:style>
            <a:lnRef idx="0">
              <a:schemeClr val="dk1">
                <a:hueOff val="0"/>
                <a:satOff val="0"/>
                <a:lumOff val="0"/>
                <a:alphaOff val="0"/>
              </a:schemeClr>
            </a:lnRef>
            <a:fillRef idx="1">
              <a:schemeClr val="bg1">
                <a:lumMod val="95000"/>
                <a:hueOff val="0"/>
                <a:satOff val="0"/>
                <a:lumOff val="0"/>
                <a:alphaOff val="0"/>
              </a:schemeClr>
            </a:fillRef>
            <a:effectRef idx="0">
              <a:schemeClr val="bg1">
                <a:lumMod val="95000"/>
                <a:hueOff val="0"/>
                <a:satOff val="0"/>
                <a:lumOff val="0"/>
                <a:alphaOff val="0"/>
              </a:schemeClr>
            </a:effectRef>
            <a:fontRef idx="minor">
              <a:schemeClr val="dk1">
                <a:hueOff val="0"/>
                <a:satOff val="0"/>
                <a:lumOff val="0"/>
                <a:alphaOff val="0"/>
              </a:schemeClr>
            </a:fontRef>
          </p:style>
          <p:txBody>
            <a:bodyPr/>
            <a:lstStyle/>
            <a:p>
              <a:endParaRPr lang="en-US"/>
            </a:p>
          </p:txBody>
        </p:sp>
        <p:sp>
          <p:nvSpPr>
            <p:cNvPr id="13" name="Rechteck 12" descr="Geschlossenes Buch mit einfarbiger Füllung">
              <a:extLst>
                <a:ext uri="{FF2B5EF4-FFF2-40B4-BE49-F238E27FC236}">
                  <a16:creationId xmlns:a16="http://schemas.microsoft.com/office/drawing/2014/main" id="{489EDB03-0858-6050-1A3E-1CC17CC0CC7E}"/>
                </a:ext>
              </a:extLst>
            </p:cNvPr>
            <p:cNvSpPr/>
            <p:nvPr/>
          </p:nvSpPr>
          <p:spPr>
            <a:xfrm>
              <a:off x="548170" y="1878538"/>
              <a:ext cx="277969" cy="277969"/>
            </a:xfrm>
            <a:prstGeom prst="rect">
              <a:avLst/>
            </a:prstGeom>
            <a:blipFill>
              <a:blip r:embed="rId5">
                <a:extLst>
                  <a:ext uri="{96DAC541-7B7A-43D3-8B79-37D633B846F1}">
                    <asvg:svgBlip xmlns:asvg="http://schemas.microsoft.com/office/drawing/2016/SVG/main" r:embed="rId6"/>
                  </a:ext>
                </a:extLst>
              </a:blip>
              <a:srcRect/>
              <a:stretch>
                <a:fillRect/>
              </a:stretch>
            </a:blipFill>
            <a:ln>
              <a:noFill/>
            </a:ln>
          </p:spPr>
          <p:style>
            <a:lnRef idx="2">
              <a:scrgbClr r="0" g="0" b="0"/>
            </a:lnRef>
            <a:fillRef idx="1">
              <a:scrgbClr r="0" g="0" b="0"/>
            </a:fillRef>
            <a:effectRef idx="0">
              <a:schemeClr val="accent3">
                <a:hueOff val="0"/>
                <a:satOff val="0"/>
                <a:lumOff val="0"/>
                <a:alphaOff val="0"/>
              </a:schemeClr>
            </a:effectRef>
            <a:fontRef idx="minor">
              <a:schemeClr val="lt1"/>
            </a:fontRef>
          </p:style>
          <p:txBody>
            <a:bodyPr/>
            <a:lstStyle/>
            <a:p>
              <a:endParaRPr lang="en-US"/>
            </a:p>
          </p:txBody>
        </p:sp>
        <p:sp>
          <p:nvSpPr>
            <p:cNvPr id="14" name="Freihandform: Form 13">
              <a:extLst>
                <a:ext uri="{FF2B5EF4-FFF2-40B4-BE49-F238E27FC236}">
                  <a16:creationId xmlns:a16="http://schemas.microsoft.com/office/drawing/2014/main" id="{5E62A23F-CD58-5178-06A2-EC43951E5EEB}"/>
                </a:ext>
              </a:extLst>
            </p:cNvPr>
            <p:cNvSpPr/>
            <p:nvPr/>
          </p:nvSpPr>
          <p:spPr>
            <a:xfrm>
              <a:off x="979023" y="1764823"/>
              <a:ext cx="7728660" cy="505399"/>
            </a:xfrm>
            <a:custGeom>
              <a:avLst/>
              <a:gdLst>
                <a:gd name="connsiteX0" fmla="*/ 0 w 7728660"/>
                <a:gd name="connsiteY0" fmla="*/ 0 h 505399"/>
                <a:gd name="connsiteX1" fmla="*/ 7728660 w 7728660"/>
                <a:gd name="connsiteY1" fmla="*/ 0 h 505399"/>
                <a:gd name="connsiteX2" fmla="*/ 7728660 w 7728660"/>
                <a:gd name="connsiteY2" fmla="*/ 505399 h 505399"/>
                <a:gd name="connsiteX3" fmla="*/ 0 w 7728660"/>
                <a:gd name="connsiteY3" fmla="*/ 505399 h 505399"/>
                <a:gd name="connsiteX4" fmla="*/ 0 w 7728660"/>
                <a:gd name="connsiteY4" fmla="*/ 0 h 5053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28660" h="505399">
                  <a:moveTo>
                    <a:pt x="0" y="0"/>
                  </a:moveTo>
                  <a:lnTo>
                    <a:pt x="7728660" y="0"/>
                  </a:lnTo>
                  <a:lnTo>
                    <a:pt x="7728660" y="505399"/>
                  </a:lnTo>
                  <a:lnTo>
                    <a:pt x="0" y="505399"/>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53488" tIns="53488" rIns="53488" bIns="53488" numCol="1" spcCol="1270" anchor="ctr" anchorCtr="0">
              <a:noAutofit/>
            </a:bodyPr>
            <a:lstStyle/>
            <a:p>
              <a:pPr marL="0" lvl="0" indent="0" algn="l" defTabSz="844550">
                <a:lnSpc>
                  <a:spcPct val="90000"/>
                </a:lnSpc>
                <a:spcBef>
                  <a:spcPct val="0"/>
                </a:spcBef>
                <a:spcAft>
                  <a:spcPct val="35000"/>
                </a:spcAft>
                <a:buNone/>
              </a:pPr>
              <a:r>
                <a:rPr lang="de-DE" sz="1900" kern="1200" dirty="0"/>
                <a:t>Foundations </a:t>
              </a:r>
              <a:r>
                <a:rPr lang="de-DE" sz="1900" kern="1200" dirty="0" err="1"/>
                <a:t>of</a:t>
              </a:r>
              <a:r>
                <a:rPr lang="de-DE" sz="1900" kern="1200" dirty="0"/>
                <a:t> XAI</a:t>
              </a:r>
              <a:endParaRPr lang="en-US" sz="1900" kern="1200" dirty="0"/>
            </a:p>
          </p:txBody>
        </p:sp>
      </p:grpSp>
      <p:grpSp>
        <p:nvGrpSpPr>
          <p:cNvPr id="29" name="Gruppieren 28">
            <a:extLst>
              <a:ext uri="{FF2B5EF4-FFF2-40B4-BE49-F238E27FC236}">
                <a16:creationId xmlns:a16="http://schemas.microsoft.com/office/drawing/2014/main" id="{EF76D7AB-8B6A-CA2C-F448-D82EC8BEFC2A}"/>
              </a:ext>
            </a:extLst>
          </p:cNvPr>
          <p:cNvGrpSpPr/>
          <p:nvPr/>
        </p:nvGrpSpPr>
        <p:grpSpPr>
          <a:xfrm>
            <a:off x="395287" y="2396573"/>
            <a:ext cx="8312397" cy="505399"/>
            <a:chOff x="395287" y="2396573"/>
            <a:chExt cx="8312397" cy="505399"/>
          </a:xfrm>
        </p:grpSpPr>
        <p:sp>
          <p:nvSpPr>
            <p:cNvPr id="15" name="Rechteck: abgerundete Ecken 14">
              <a:extLst>
                <a:ext uri="{FF2B5EF4-FFF2-40B4-BE49-F238E27FC236}">
                  <a16:creationId xmlns:a16="http://schemas.microsoft.com/office/drawing/2014/main" id="{D58C97B0-BAAF-D4EA-FD30-9B644E6653E5}"/>
                </a:ext>
              </a:extLst>
            </p:cNvPr>
            <p:cNvSpPr/>
            <p:nvPr/>
          </p:nvSpPr>
          <p:spPr>
            <a:xfrm>
              <a:off x="395287" y="2396573"/>
              <a:ext cx="8312397" cy="505399"/>
            </a:xfrm>
            <a:prstGeom prst="roundRect">
              <a:avLst>
                <a:gd name="adj" fmla="val 10000"/>
              </a:avLst>
            </a:prstGeom>
          </p:spPr>
          <p:style>
            <a:lnRef idx="0">
              <a:schemeClr val="dk1">
                <a:hueOff val="0"/>
                <a:satOff val="0"/>
                <a:lumOff val="0"/>
                <a:alphaOff val="0"/>
              </a:schemeClr>
            </a:lnRef>
            <a:fillRef idx="1">
              <a:schemeClr val="bg1">
                <a:lumMod val="95000"/>
                <a:hueOff val="0"/>
                <a:satOff val="0"/>
                <a:lumOff val="0"/>
                <a:alphaOff val="0"/>
              </a:schemeClr>
            </a:fillRef>
            <a:effectRef idx="0">
              <a:schemeClr val="bg1">
                <a:lumMod val="95000"/>
                <a:hueOff val="0"/>
                <a:satOff val="0"/>
                <a:lumOff val="0"/>
                <a:alphaOff val="0"/>
              </a:schemeClr>
            </a:effectRef>
            <a:fontRef idx="minor">
              <a:schemeClr val="dk1">
                <a:hueOff val="0"/>
                <a:satOff val="0"/>
                <a:lumOff val="0"/>
                <a:alphaOff val="0"/>
              </a:schemeClr>
            </a:fontRef>
          </p:style>
          <p:txBody>
            <a:bodyPr/>
            <a:lstStyle/>
            <a:p>
              <a:endParaRPr lang="en-US"/>
            </a:p>
          </p:txBody>
        </p:sp>
        <p:sp>
          <p:nvSpPr>
            <p:cNvPr id="16" name="Rechteck 15" descr="Netzwerk">
              <a:extLst>
                <a:ext uri="{FF2B5EF4-FFF2-40B4-BE49-F238E27FC236}">
                  <a16:creationId xmlns:a16="http://schemas.microsoft.com/office/drawing/2014/main" id="{5EFD24C8-19FC-AC28-685A-9A43810BD3A4}"/>
                </a:ext>
              </a:extLst>
            </p:cNvPr>
            <p:cNvSpPr/>
            <p:nvPr/>
          </p:nvSpPr>
          <p:spPr>
            <a:xfrm>
              <a:off x="548170" y="2510288"/>
              <a:ext cx="277969" cy="277969"/>
            </a:xfrm>
            <a:prstGeom prst="rect">
              <a:avLst/>
            </a:prstGeom>
            <a: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p:spPr>
          <p:style>
            <a:lnRef idx="2">
              <a:scrgbClr r="0" g="0" b="0"/>
            </a:lnRef>
            <a:fillRef idx="1">
              <a:scrgbClr r="0" g="0" b="0"/>
            </a:fillRef>
            <a:effectRef idx="0">
              <a:schemeClr val="accent4">
                <a:hueOff val="0"/>
                <a:satOff val="0"/>
                <a:lumOff val="0"/>
                <a:alphaOff val="0"/>
              </a:schemeClr>
            </a:effectRef>
            <a:fontRef idx="minor">
              <a:schemeClr val="lt1"/>
            </a:fontRef>
          </p:style>
          <p:txBody>
            <a:bodyPr/>
            <a:lstStyle/>
            <a:p>
              <a:endParaRPr lang="en-US"/>
            </a:p>
          </p:txBody>
        </p:sp>
        <p:sp>
          <p:nvSpPr>
            <p:cNvPr id="17" name="Freihandform: Form 16">
              <a:extLst>
                <a:ext uri="{FF2B5EF4-FFF2-40B4-BE49-F238E27FC236}">
                  <a16:creationId xmlns:a16="http://schemas.microsoft.com/office/drawing/2014/main" id="{DF627D92-1877-2E24-C3F3-62F41F47BD70}"/>
                </a:ext>
              </a:extLst>
            </p:cNvPr>
            <p:cNvSpPr/>
            <p:nvPr/>
          </p:nvSpPr>
          <p:spPr>
            <a:xfrm>
              <a:off x="979023" y="2396573"/>
              <a:ext cx="7728660" cy="505399"/>
            </a:xfrm>
            <a:custGeom>
              <a:avLst/>
              <a:gdLst>
                <a:gd name="connsiteX0" fmla="*/ 0 w 7728660"/>
                <a:gd name="connsiteY0" fmla="*/ 0 h 505399"/>
                <a:gd name="connsiteX1" fmla="*/ 7728660 w 7728660"/>
                <a:gd name="connsiteY1" fmla="*/ 0 h 505399"/>
                <a:gd name="connsiteX2" fmla="*/ 7728660 w 7728660"/>
                <a:gd name="connsiteY2" fmla="*/ 505399 h 505399"/>
                <a:gd name="connsiteX3" fmla="*/ 0 w 7728660"/>
                <a:gd name="connsiteY3" fmla="*/ 505399 h 505399"/>
                <a:gd name="connsiteX4" fmla="*/ 0 w 7728660"/>
                <a:gd name="connsiteY4" fmla="*/ 0 h 5053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28660" h="505399">
                  <a:moveTo>
                    <a:pt x="0" y="0"/>
                  </a:moveTo>
                  <a:lnTo>
                    <a:pt x="7728660" y="0"/>
                  </a:lnTo>
                  <a:lnTo>
                    <a:pt x="7728660" y="505399"/>
                  </a:lnTo>
                  <a:lnTo>
                    <a:pt x="0" y="505399"/>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53488" tIns="53488" rIns="53488" bIns="53488" numCol="1" spcCol="1270" anchor="ctr" anchorCtr="0">
              <a:noAutofit/>
            </a:bodyPr>
            <a:lstStyle/>
            <a:p>
              <a:pPr marL="0" lvl="0" indent="0" algn="l" defTabSz="844550">
                <a:lnSpc>
                  <a:spcPct val="90000"/>
                </a:lnSpc>
                <a:spcBef>
                  <a:spcPct val="0"/>
                </a:spcBef>
                <a:spcAft>
                  <a:spcPct val="35000"/>
                </a:spcAft>
                <a:buNone/>
              </a:pPr>
              <a:r>
                <a:rPr lang="de-DE" sz="1900" kern="1200" dirty="0"/>
                <a:t>Concept </a:t>
              </a:r>
              <a:r>
                <a:rPr lang="de-DE" sz="1900" kern="1200" dirty="0" err="1"/>
                <a:t>for</a:t>
              </a:r>
              <a:r>
                <a:rPr lang="de-DE" sz="1900" kern="1200" dirty="0"/>
                <a:t> Domain Knowledge Integration</a:t>
              </a:r>
              <a:endParaRPr lang="en-US" sz="1900" kern="1200" dirty="0"/>
            </a:p>
          </p:txBody>
        </p:sp>
      </p:grpSp>
      <p:grpSp>
        <p:nvGrpSpPr>
          <p:cNvPr id="33" name="Gruppieren 32">
            <a:extLst>
              <a:ext uri="{FF2B5EF4-FFF2-40B4-BE49-F238E27FC236}">
                <a16:creationId xmlns:a16="http://schemas.microsoft.com/office/drawing/2014/main" id="{E90C3CB1-7560-BC11-A725-B5B982212E7E}"/>
              </a:ext>
            </a:extLst>
          </p:cNvPr>
          <p:cNvGrpSpPr/>
          <p:nvPr/>
        </p:nvGrpSpPr>
        <p:grpSpPr>
          <a:xfrm>
            <a:off x="395287" y="3028322"/>
            <a:ext cx="8312397" cy="505399"/>
            <a:chOff x="395287" y="3028322"/>
            <a:chExt cx="8312397" cy="505399"/>
          </a:xfrm>
        </p:grpSpPr>
        <p:sp>
          <p:nvSpPr>
            <p:cNvPr id="18" name="Rechteck: abgerundete Ecken 17">
              <a:extLst>
                <a:ext uri="{FF2B5EF4-FFF2-40B4-BE49-F238E27FC236}">
                  <a16:creationId xmlns:a16="http://schemas.microsoft.com/office/drawing/2014/main" id="{166D8234-A5D3-CB15-94D6-A7BA1DBC1836}"/>
                </a:ext>
              </a:extLst>
            </p:cNvPr>
            <p:cNvSpPr/>
            <p:nvPr/>
          </p:nvSpPr>
          <p:spPr>
            <a:xfrm>
              <a:off x="395287" y="3028322"/>
              <a:ext cx="8312397" cy="505399"/>
            </a:xfrm>
            <a:prstGeom prst="roundRect">
              <a:avLst>
                <a:gd name="adj" fmla="val 10000"/>
              </a:avLst>
            </a:prstGeom>
          </p:spPr>
          <p:style>
            <a:lnRef idx="0">
              <a:schemeClr val="dk1">
                <a:hueOff val="0"/>
                <a:satOff val="0"/>
                <a:lumOff val="0"/>
                <a:alphaOff val="0"/>
              </a:schemeClr>
            </a:lnRef>
            <a:fillRef idx="1">
              <a:schemeClr val="bg1">
                <a:lumMod val="95000"/>
                <a:hueOff val="0"/>
                <a:satOff val="0"/>
                <a:lumOff val="0"/>
                <a:alphaOff val="0"/>
              </a:schemeClr>
            </a:fillRef>
            <a:effectRef idx="0">
              <a:schemeClr val="bg1">
                <a:lumMod val="95000"/>
                <a:hueOff val="0"/>
                <a:satOff val="0"/>
                <a:lumOff val="0"/>
                <a:alphaOff val="0"/>
              </a:schemeClr>
            </a:effectRef>
            <a:fontRef idx="minor">
              <a:schemeClr val="dk1">
                <a:hueOff val="0"/>
                <a:satOff val="0"/>
                <a:lumOff val="0"/>
                <a:alphaOff val="0"/>
              </a:schemeClr>
            </a:fontRef>
          </p:style>
          <p:txBody>
            <a:bodyPr/>
            <a:lstStyle/>
            <a:p>
              <a:endParaRPr lang="en-US"/>
            </a:p>
          </p:txBody>
        </p:sp>
        <p:sp>
          <p:nvSpPr>
            <p:cNvPr id="19" name="Rechteck 18" descr="Kreise mit Pfeilen mit einfarbiger Füllung">
              <a:extLst>
                <a:ext uri="{FF2B5EF4-FFF2-40B4-BE49-F238E27FC236}">
                  <a16:creationId xmlns:a16="http://schemas.microsoft.com/office/drawing/2014/main" id="{F220C0D4-A4B9-98F5-C1B3-729DBBDCBA30}"/>
                </a:ext>
              </a:extLst>
            </p:cNvPr>
            <p:cNvSpPr/>
            <p:nvPr/>
          </p:nvSpPr>
          <p:spPr>
            <a:xfrm>
              <a:off x="548170" y="3142037"/>
              <a:ext cx="277969" cy="277969"/>
            </a:xfrm>
            <a:prstGeom prst="rect">
              <a:avLst/>
            </a:prstGeom>
            <a:blipFill>
              <a:blip r:embed="rId9">
                <a:extLst>
                  <a:ext uri="{96DAC541-7B7A-43D3-8B79-37D633B846F1}">
                    <asvg:svgBlip xmlns:asvg="http://schemas.microsoft.com/office/drawing/2016/SVG/main" r:embed="rId10"/>
                  </a:ext>
                </a:extLst>
              </a:blip>
              <a:srcRect/>
              <a:stretch>
                <a:fillRect/>
              </a:stretch>
            </a:blipFill>
            <a:ln>
              <a:noFill/>
            </a:ln>
          </p:spPr>
          <p:style>
            <a:lnRef idx="2">
              <a:scrgbClr r="0" g="0" b="0"/>
            </a:lnRef>
            <a:fillRef idx="1">
              <a:scrgbClr r="0" g="0" b="0"/>
            </a:fillRef>
            <a:effectRef idx="0">
              <a:schemeClr val="accent5">
                <a:hueOff val="0"/>
                <a:satOff val="0"/>
                <a:lumOff val="0"/>
                <a:alphaOff val="0"/>
              </a:schemeClr>
            </a:effectRef>
            <a:fontRef idx="minor">
              <a:schemeClr val="lt1"/>
            </a:fontRef>
          </p:style>
          <p:txBody>
            <a:bodyPr/>
            <a:lstStyle/>
            <a:p>
              <a:endParaRPr lang="en-US"/>
            </a:p>
          </p:txBody>
        </p:sp>
        <p:sp>
          <p:nvSpPr>
            <p:cNvPr id="20" name="Freihandform: Form 19">
              <a:extLst>
                <a:ext uri="{FF2B5EF4-FFF2-40B4-BE49-F238E27FC236}">
                  <a16:creationId xmlns:a16="http://schemas.microsoft.com/office/drawing/2014/main" id="{CA196948-AF6B-FD4E-9312-E76488F0B53D}"/>
                </a:ext>
              </a:extLst>
            </p:cNvPr>
            <p:cNvSpPr/>
            <p:nvPr/>
          </p:nvSpPr>
          <p:spPr>
            <a:xfrm>
              <a:off x="979023" y="3028322"/>
              <a:ext cx="7728660" cy="505399"/>
            </a:xfrm>
            <a:custGeom>
              <a:avLst/>
              <a:gdLst>
                <a:gd name="connsiteX0" fmla="*/ 0 w 7728660"/>
                <a:gd name="connsiteY0" fmla="*/ 0 h 505399"/>
                <a:gd name="connsiteX1" fmla="*/ 7728660 w 7728660"/>
                <a:gd name="connsiteY1" fmla="*/ 0 h 505399"/>
                <a:gd name="connsiteX2" fmla="*/ 7728660 w 7728660"/>
                <a:gd name="connsiteY2" fmla="*/ 505399 h 505399"/>
                <a:gd name="connsiteX3" fmla="*/ 0 w 7728660"/>
                <a:gd name="connsiteY3" fmla="*/ 505399 h 505399"/>
                <a:gd name="connsiteX4" fmla="*/ 0 w 7728660"/>
                <a:gd name="connsiteY4" fmla="*/ 0 h 5053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28660" h="505399">
                  <a:moveTo>
                    <a:pt x="0" y="0"/>
                  </a:moveTo>
                  <a:lnTo>
                    <a:pt x="7728660" y="0"/>
                  </a:lnTo>
                  <a:lnTo>
                    <a:pt x="7728660" y="505399"/>
                  </a:lnTo>
                  <a:lnTo>
                    <a:pt x="0" y="505399"/>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53488" tIns="53488" rIns="53488" bIns="53488" numCol="1" spcCol="1270" anchor="ctr" anchorCtr="0">
              <a:noAutofit/>
            </a:bodyPr>
            <a:lstStyle/>
            <a:p>
              <a:pPr marL="0" lvl="0" indent="0" algn="l" defTabSz="844550">
                <a:lnSpc>
                  <a:spcPct val="90000"/>
                </a:lnSpc>
                <a:spcBef>
                  <a:spcPct val="0"/>
                </a:spcBef>
                <a:spcAft>
                  <a:spcPct val="35000"/>
                </a:spcAft>
                <a:buNone/>
              </a:pPr>
              <a:r>
                <a:rPr lang="de-DE" sz="1900" kern="1200" dirty="0" err="1"/>
                <a:t>Automatic</a:t>
              </a:r>
              <a:r>
                <a:rPr lang="de-DE" sz="1900" kern="1200" dirty="0"/>
                <a:t> Generation </a:t>
              </a:r>
              <a:r>
                <a:rPr lang="de-DE" sz="1900" kern="1200" dirty="0" err="1"/>
                <a:t>of</a:t>
              </a:r>
              <a:r>
                <a:rPr lang="de-DE" sz="1900" kern="1200" dirty="0"/>
                <a:t> Structured Knowledge</a:t>
              </a:r>
              <a:endParaRPr lang="en-US" sz="1900" kern="1200" dirty="0"/>
            </a:p>
          </p:txBody>
        </p:sp>
      </p:grpSp>
      <p:grpSp>
        <p:nvGrpSpPr>
          <p:cNvPr id="32" name="Gruppieren 31">
            <a:extLst>
              <a:ext uri="{FF2B5EF4-FFF2-40B4-BE49-F238E27FC236}">
                <a16:creationId xmlns:a16="http://schemas.microsoft.com/office/drawing/2014/main" id="{8233B866-C77B-1167-4C97-9099C2F04229}"/>
              </a:ext>
            </a:extLst>
          </p:cNvPr>
          <p:cNvGrpSpPr/>
          <p:nvPr/>
        </p:nvGrpSpPr>
        <p:grpSpPr>
          <a:xfrm>
            <a:off x="395287" y="3660072"/>
            <a:ext cx="8312397" cy="505399"/>
            <a:chOff x="395287" y="3660072"/>
            <a:chExt cx="8312397" cy="505399"/>
          </a:xfrm>
        </p:grpSpPr>
        <p:sp>
          <p:nvSpPr>
            <p:cNvPr id="21" name="Rechteck: abgerundete Ecken 20">
              <a:extLst>
                <a:ext uri="{FF2B5EF4-FFF2-40B4-BE49-F238E27FC236}">
                  <a16:creationId xmlns:a16="http://schemas.microsoft.com/office/drawing/2014/main" id="{F0CE69A1-1981-9CA1-1A5E-59EB92236182}"/>
                </a:ext>
              </a:extLst>
            </p:cNvPr>
            <p:cNvSpPr/>
            <p:nvPr/>
          </p:nvSpPr>
          <p:spPr>
            <a:xfrm>
              <a:off x="395287" y="3660072"/>
              <a:ext cx="8312397" cy="505399"/>
            </a:xfrm>
            <a:prstGeom prst="roundRect">
              <a:avLst>
                <a:gd name="adj" fmla="val 10000"/>
              </a:avLst>
            </a:prstGeom>
          </p:spPr>
          <p:style>
            <a:lnRef idx="0">
              <a:schemeClr val="dk1">
                <a:hueOff val="0"/>
                <a:satOff val="0"/>
                <a:lumOff val="0"/>
                <a:alphaOff val="0"/>
              </a:schemeClr>
            </a:lnRef>
            <a:fillRef idx="1">
              <a:schemeClr val="bg1">
                <a:lumMod val="95000"/>
                <a:hueOff val="0"/>
                <a:satOff val="0"/>
                <a:lumOff val="0"/>
                <a:alphaOff val="0"/>
              </a:schemeClr>
            </a:fillRef>
            <a:effectRef idx="0">
              <a:schemeClr val="bg1">
                <a:lumMod val="95000"/>
                <a:hueOff val="0"/>
                <a:satOff val="0"/>
                <a:lumOff val="0"/>
                <a:alphaOff val="0"/>
              </a:schemeClr>
            </a:effectRef>
            <a:fontRef idx="minor">
              <a:schemeClr val="dk1">
                <a:hueOff val="0"/>
                <a:satOff val="0"/>
                <a:lumOff val="0"/>
                <a:alphaOff val="0"/>
              </a:schemeClr>
            </a:fontRef>
          </p:style>
          <p:txBody>
            <a:bodyPr/>
            <a:lstStyle/>
            <a:p>
              <a:endParaRPr lang="en-US"/>
            </a:p>
          </p:txBody>
        </p:sp>
        <p:sp>
          <p:nvSpPr>
            <p:cNvPr id="22" name="Rechteck 21" descr="Prüfliste">
              <a:extLst>
                <a:ext uri="{FF2B5EF4-FFF2-40B4-BE49-F238E27FC236}">
                  <a16:creationId xmlns:a16="http://schemas.microsoft.com/office/drawing/2014/main" id="{C6B1B4FA-B5F1-0758-24D7-3A29FFE212A1}"/>
                </a:ext>
              </a:extLst>
            </p:cNvPr>
            <p:cNvSpPr/>
            <p:nvPr/>
          </p:nvSpPr>
          <p:spPr>
            <a:xfrm>
              <a:off x="548170" y="3773787"/>
              <a:ext cx="277969" cy="277969"/>
            </a:xfrm>
            <a:prstGeom prst="rect">
              <a:avLst/>
            </a:prstGeom>
            <a: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a:noFill/>
            </a:ln>
          </p:spPr>
          <p:style>
            <a:lnRef idx="2">
              <a:scrgbClr r="0" g="0" b="0"/>
            </a:lnRef>
            <a:fillRef idx="1">
              <a:scrgbClr r="0" g="0" b="0"/>
            </a:fillRef>
            <a:effectRef idx="0">
              <a:schemeClr val="accent6">
                <a:hueOff val="0"/>
                <a:satOff val="0"/>
                <a:lumOff val="0"/>
                <a:alphaOff val="0"/>
              </a:schemeClr>
            </a:effectRef>
            <a:fontRef idx="minor">
              <a:schemeClr val="lt1"/>
            </a:fontRef>
          </p:style>
          <p:txBody>
            <a:bodyPr/>
            <a:lstStyle/>
            <a:p>
              <a:endParaRPr lang="en-US"/>
            </a:p>
          </p:txBody>
        </p:sp>
        <p:sp>
          <p:nvSpPr>
            <p:cNvPr id="23" name="Freihandform: Form 22">
              <a:extLst>
                <a:ext uri="{FF2B5EF4-FFF2-40B4-BE49-F238E27FC236}">
                  <a16:creationId xmlns:a16="http://schemas.microsoft.com/office/drawing/2014/main" id="{AC1EFD4D-BBF2-C47D-AF1A-BB14E449BA1C}"/>
                </a:ext>
              </a:extLst>
            </p:cNvPr>
            <p:cNvSpPr/>
            <p:nvPr/>
          </p:nvSpPr>
          <p:spPr>
            <a:xfrm>
              <a:off x="979023" y="3660072"/>
              <a:ext cx="7728660" cy="505399"/>
            </a:xfrm>
            <a:custGeom>
              <a:avLst/>
              <a:gdLst>
                <a:gd name="connsiteX0" fmla="*/ 0 w 7728660"/>
                <a:gd name="connsiteY0" fmla="*/ 0 h 505399"/>
                <a:gd name="connsiteX1" fmla="*/ 7728660 w 7728660"/>
                <a:gd name="connsiteY1" fmla="*/ 0 h 505399"/>
                <a:gd name="connsiteX2" fmla="*/ 7728660 w 7728660"/>
                <a:gd name="connsiteY2" fmla="*/ 505399 h 505399"/>
                <a:gd name="connsiteX3" fmla="*/ 0 w 7728660"/>
                <a:gd name="connsiteY3" fmla="*/ 505399 h 505399"/>
                <a:gd name="connsiteX4" fmla="*/ 0 w 7728660"/>
                <a:gd name="connsiteY4" fmla="*/ 0 h 5053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28660" h="505399">
                  <a:moveTo>
                    <a:pt x="0" y="0"/>
                  </a:moveTo>
                  <a:lnTo>
                    <a:pt x="7728660" y="0"/>
                  </a:lnTo>
                  <a:lnTo>
                    <a:pt x="7728660" y="505399"/>
                  </a:lnTo>
                  <a:lnTo>
                    <a:pt x="0" y="505399"/>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53488" tIns="53488" rIns="53488" bIns="53488" numCol="1" spcCol="1270" anchor="ctr" anchorCtr="0">
              <a:noAutofit/>
            </a:bodyPr>
            <a:lstStyle/>
            <a:p>
              <a:pPr marL="0" lvl="0" indent="0" algn="l" defTabSz="844550">
                <a:lnSpc>
                  <a:spcPct val="90000"/>
                </a:lnSpc>
                <a:spcBef>
                  <a:spcPct val="0"/>
                </a:spcBef>
                <a:spcAft>
                  <a:spcPct val="35000"/>
                </a:spcAft>
                <a:buNone/>
              </a:pPr>
              <a:r>
                <a:rPr lang="de-DE" sz="1900" kern="1200" dirty="0"/>
                <a:t>Evaluation</a:t>
              </a:r>
              <a:endParaRPr lang="en-US" sz="1900" kern="1200" dirty="0"/>
            </a:p>
          </p:txBody>
        </p:sp>
      </p:grpSp>
      <p:grpSp>
        <p:nvGrpSpPr>
          <p:cNvPr id="30" name="Gruppieren 29">
            <a:extLst>
              <a:ext uri="{FF2B5EF4-FFF2-40B4-BE49-F238E27FC236}">
                <a16:creationId xmlns:a16="http://schemas.microsoft.com/office/drawing/2014/main" id="{113A09AB-8034-F7FA-5D28-8959DFA85CBC}"/>
              </a:ext>
            </a:extLst>
          </p:cNvPr>
          <p:cNvGrpSpPr/>
          <p:nvPr/>
        </p:nvGrpSpPr>
        <p:grpSpPr>
          <a:xfrm>
            <a:off x="395287" y="4291822"/>
            <a:ext cx="8312397" cy="505399"/>
            <a:chOff x="395287" y="4291822"/>
            <a:chExt cx="8312397" cy="505399"/>
          </a:xfrm>
        </p:grpSpPr>
        <p:sp>
          <p:nvSpPr>
            <p:cNvPr id="24" name="Rechteck: abgerundete Ecken 23">
              <a:extLst>
                <a:ext uri="{FF2B5EF4-FFF2-40B4-BE49-F238E27FC236}">
                  <a16:creationId xmlns:a16="http://schemas.microsoft.com/office/drawing/2014/main" id="{A1C2A9B7-195C-409E-893B-C8EFCCCA8E50}"/>
                </a:ext>
              </a:extLst>
            </p:cNvPr>
            <p:cNvSpPr/>
            <p:nvPr/>
          </p:nvSpPr>
          <p:spPr>
            <a:xfrm>
              <a:off x="395287" y="4291822"/>
              <a:ext cx="8312397" cy="505399"/>
            </a:xfrm>
            <a:prstGeom prst="roundRect">
              <a:avLst>
                <a:gd name="adj" fmla="val 10000"/>
              </a:avLst>
            </a:prstGeom>
          </p:spPr>
          <p:style>
            <a:lnRef idx="0">
              <a:schemeClr val="dk1">
                <a:hueOff val="0"/>
                <a:satOff val="0"/>
                <a:lumOff val="0"/>
                <a:alphaOff val="0"/>
              </a:schemeClr>
            </a:lnRef>
            <a:fillRef idx="1">
              <a:schemeClr val="bg1">
                <a:lumMod val="95000"/>
                <a:hueOff val="0"/>
                <a:satOff val="0"/>
                <a:lumOff val="0"/>
                <a:alphaOff val="0"/>
              </a:schemeClr>
            </a:fillRef>
            <a:effectRef idx="0">
              <a:schemeClr val="bg1">
                <a:lumMod val="95000"/>
                <a:hueOff val="0"/>
                <a:satOff val="0"/>
                <a:lumOff val="0"/>
                <a:alphaOff val="0"/>
              </a:schemeClr>
            </a:effectRef>
            <a:fontRef idx="minor">
              <a:schemeClr val="dk1">
                <a:hueOff val="0"/>
                <a:satOff val="0"/>
                <a:lumOff val="0"/>
                <a:alphaOff val="0"/>
              </a:schemeClr>
            </a:fontRef>
          </p:style>
          <p:txBody>
            <a:bodyPr/>
            <a:lstStyle/>
            <a:p>
              <a:endParaRPr lang="en-US"/>
            </a:p>
          </p:txBody>
        </p:sp>
        <p:sp>
          <p:nvSpPr>
            <p:cNvPr id="25" name="Rechteck 24" descr="Auktionshammer">
              <a:extLst>
                <a:ext uri="{FF2B5EF4-FFF2-40B4-BE49-F238E27FC236}">
                  <a16:creationId xmlns:a16="http://schemas.microsoft.com/office/drawing/2014/main" id="{B1F2D4FE-6ECA-98C5-4EF8-9A39BCD5DF96}"/>
                </a:ext>
              </a:extLst>
            </p:cNvPr>
            <p:cNvSpPr/>
            <p:nvPr/>
          </p:nvSpPr>
          <p:spPr>
            <a:xfrm>
              <a:off x="548170" y="4405537"/>
              <a:ext cx="277969" cy="277969"/>
            </a:xfrm>
            <a:prstGeom prst="rect">
              <a:avLst/>
            </a:prstGeom>
            <a: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a:blipFill>
            <a:ln>
              <a:noFill/>
            </a:ln>
          </p:spPr>
          <p:style>
            <a:lnRef idx="2">
              <a:scrgbClr r="0" g="0" b="0"/>
            </a:lnRef>
            <a:fillRef idx="1">
              <a:scrgbClr r="0" g="0" b="0"/>
            </a:fillRef>
            <a:effectRef idx="0">
              <a:schemeClr val="accent2">
                <a:hueOff val="0"/>
                <a:satOff val="0"/>
                <a:lumOff val="0"/>
                <a:alphaOff val="0"/>
              </a:schemeClr>
            </a:effectRef>
            <a:fontRef idx="minor">
              <a:schemeClr val="lt1"/>
            </a:fontRef>
          </p:style>
          <p:txBody>
            <a:bodyPr/>
            <a:lstStyle/>
            <a:p>
              <a:endParaRPr lang="en-US"/>
            </a:p>
          </p:txBody>
        </p:sp>
        <p:sp>
          <p:nvSpPr>
            <p:cNvPr id="26" name="Freihandform: Form 25">
              <a:extLst>
                <a:ext uri="{FF2B5EF4-FFF2-40B4-BE49-F238E27FC236}">
                  <a16:creationId xmlns:a16="http://schemas.microsoft.com/office/drawing/2014/main" id="{2261E8FE-BC35-E239-5769-E69D131A7381}"/>
                </a:ext>
              </a:extLst>
            </p:cNvPr>
            <p:cNvSpPr/>
            <p:nvPr/>
          </p:nvSpPr>
          <p:spPr>
            <a:xfrm>
              <a:off x="979023" y="4291822"/>
              <a:ext cx="7728660" cy="505399"/>
            </a:xfrm>
            <a:custGeom>
              <a:avLst/>
              <a:gdLst>
                <a:gd name="connsiteX0" fmla="*/ 0 w 7728660"/>
                <a:gd name="connsiteY0" fmla="*/ 0 h 505399"/>
                <a:gd name="connsiteX1" fmla="*/ 7728660 w 7728660"/>
                <a:gd name="connsiteY1" fmla="*/ 0 h 505399"/>
                <a:gd name="connsiteX2" fmla="*/ 7728660 w 7728660"/>
                <a:gd name="connsiteY2" fmla="*/ 505399 h 505399"/>
                <a:gd name="connsiteX3" fmla="*/ 0 w 7728660"/>
                <a:gd name="connsiteY3" fmla="*/ 505399 h 505399"/>
                <a:gd name="connsiteX4" fmla="*/ 0 w 7728660"/>
                <a:gd name="connsiteY4" fmla="*/ 0 h 5053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28660" h="505399">
                  <a:moveTo>
                    <a:pt x="0" y="0"/>
                  </a:moveTo>
                  <a:lnTo>
                    <a:pt x="7728660" y="0"/>
                  </a:lnTo>
                  <a:lnTo>
                    <a:pt x="7728660" y="505399"/>
                  </a:lnTo>
                  <a:lnTo>
                    <a:pt x="0" y="505399"/>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53488" tIns="53488" rIns="53488" bIns="53488" numCol="1" spcCol="1270" anchor="ctr" anchorCtr="0">
              <a:noAutofit/>
            </a:bodyPr>
            <a:lstStyle/>
            <a:p>
              <a:pPr marL="0" lvl="0" indent="0" algn="l" defTabSz="844550">
                <a:lnSpc>
                  <a:spcPct val="90000"/>
                </a:lnSpc>
                <a:spcBef>
                  <a:spcPct val="0"/>
                </a:spcBef>
                <a:spcAft>
                  <a:spcPct val="35000"/>
                </a:spcAft>
                <a:buNone/>
              </a:pPr>
              <a:r>
                <a:rPr lang="de-DE" sz="1900" kern="1200" dirty="0" err="1"/>
                <a:t>Conclusion</a:t>
              </a:r>
              <a:endParaRPr lang="en-US" sz="1900" kern="1200" dirty="0"/>
            </a:p>
          </p:txBody>
        </p:sp>
      </p:grpSp>
    </p:spTree>
    <p:extLst>
      <p:ext uri="{BB962C8B-B14F-4D97-AF65-F5344CB8AC3E}">
        <p14:creationId xmlns:p14="http://schemas.microsoft.com/office/powerpoint/2010/main" val="13628602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nodeType="clickEffect">
                                  <p:stCondLst>
                                    <p:cond delay="0"/>
                                  </p:stCondLst>
                                  <p:childTnLst>
                                    <p:animEffect transition="out" filter="fade">
                                      <p:cBhvr>
                                        <p:cTn id="6" dur="500" tmFilter="0, 0; .2, .5; .8, .5; 1, 0"/>
                                        <p:tgtEl>
                                          <p:spTgt spid="27"/>
                                        </p:tgtEl>
                                      </p:cBhvr>
                                    </p:animEffect>
                                    <p:animScale>
                                      <p:cBhvr>
                                        <p:cTn id="7" dur="250" autoRev="1" fill="hold"/>
                                        <p:tgtEl>
                                          <p:spTgt spid="27"/>
                                        </p:tgtEl>
                                      </p:cBhvr>
                                      <p:by x="105000" y="105000"/>
                                    </p:animScale>
                                  </p:childTnLst>
                                </p:cTn>
                              </p:par>
                            </p:childTnLst>
                          </p:cTn>
                        </p:par>
                      </p:childTnLst>
                    </p:cTn>
                  </p:par>
                  <p:par>
                    <p:cTn id="8" fill="hold">
                      <p:stCondLst>
                        <p:cond delay="indefinite"/>
                      </p:stCondLst>
                      <p:childTnLst>
                        <p:par>
                          <p:cTn id="9" fill="hold">
                            <p:stCondLst>
                              <p:cond delay="0"/>
                            </p:stCondLst>
                            <p:childTnLst>
                              <p:par>
                                <p:cTn id="10" presetID="26" presetClass="emph" presetSubtype="0" fill="hold" nodeType="clickEffect">
                                  <p:stCondLst>
                                    <p:cond delay="0"/>
                                  </p:stCondLst>
                                  <p:childTnLst>
                                    <p:animEffect transition="out" filter="fade">
                                      <p:cBhvr>
                                        <p:cTn id="11" dur="500" tmFilter="0, 0; .2, .5; .8, .5; 1, 0"/>
                                        <p:tgtEl>
                                          <p:spTgt spid="28"/>
                                        </p:tgtEl>
                                      </p:cBhvr>
                                    </p:animEffect>
                                    <p:animScale>
                                      <p:cBhvr>
                                        <p:cTn id="12" dur="250" autoRev="1" fill="hold"/>
                                        <p:tgtEl>
                                          <p:spTgt spid="28"/>
                                        </p:tgtEl>
                                      </p:cBhvr>
                                      <p:by x="105000" y="105000"/>
                                    </p:animScale>
                                  </p:childTnLst>
                                </p:cTn>
                              </p:par>
                            </p:childTnLst>
                          </p:cTn>
                        </p:par>
                      </p:childTnLst>
                    </p:cTn>
                  </p:par>
                  <p:par>
                    <p:cTn id="13" fill="hold">
                      <p:stCondLst>
                        <p:cond delay="indefinite"/>
                      </p:stCondLst>
                      <p:childTnLst>
                        <p:par>
                          <p:cTn id="14" fill="hold">
                            <p:stCondLst>
                              <p:cond delay="0"/>
                            </p:stCondLst>
                            <p:childTnLst>
                              <p:par>
                                <p:cTn id="15" presetID="26" presetClass="emph" presetSubtype="0" fill="hold" nodeType="clickEffect">
                                  <p:stCondLst>
                                    <p:cond delay="0"/>
                                  </p:stCondLst>
                                  <p:childTnLst>
                                    <p:animEffect transition="out" filter="fade">
                                      <p:cBhvr>
                                        <p:cTn id="16" dur="500" tmFilter="0, 0; .2, .5; .8, .5; 1, 0"/>
                                        <p:tgtEl>
                                          <p:spTgt spid="29"/>
                                        </p:tgtEl>
                                      </p:cBhvr>
                                    </p:animEffect>
                                    <p:animScale>
                                      <p:cBhvr>
                                        <p:cTn id="17" dur="250" autoRev="1" fill="hold"/>
                                        <p:tgtEl>
                                          <p:spTgt spid="29"/>
                                        </p:tgtEl>
                                      </p:cBhvr>
                                      <p:by x="105000" y="105000"/>
                                    </p:animScale>
                                  </p:childTnLst>
                                </p:cTn>
                              </p:par>
                            </p:childTnLst>
                          </p:cTn>
                        </p:par>
                      </p:childTnLst>
                    </p:cTn>
                  </p:par>
                  <p:par>
                    <p:cTn id="18" fill="hold">
                      <p:stCondLst>
                        <p:cond delay="indefinite"/>
                      </p:stCondLst>
                      <p:childTnLst>
                        <p:par>
                          <p:cTn id="19" fill="hold">
                            <p:stCondLst>
                              <p:cond delay="0"/>
                            </p:stCondLst>
                            <p:childTnLst>
                              <p:par>
                                <p:cTn id="20" presetID="26" presetClass="emph" presetSubtype="0" fill="hold" nodeType="clickEffect">
                                  <p:stCondLst>
                                    <p:cond delay="0"/>
                                  </p:stCondLst>
                                  <p:childTnLst>
                                    <p:animEffect transition="out" filter="fade">
                                      <p:cBhvr>
                                        <p:cTn id="21" dur="500" tmFilter="0, 0; .2, .5; .8, .5; 1, 0"/>
                                        <p:tgtEl>
                                          <p:spTgt spid="33"/>
                                        </p:tgtEl>
                                      </p:cBhvr>
                                    </p:animEffect>
                                    <p:animScale>
                                      <p:cBhvr>
                                        <p:cTn id="22" dur="250" autoRev="1" fill="hold"/>
                                        <p:tgtEl>
                                          <p:spTgt spid="33"/>
                                        </p:tgtEl>
                                      </p:cBhvr>
                                      <p:by x="105000" y="105000"/>
                                    </p:animScale>
                                  </p:childTnLst>
                                </p:cTn>
                              </p:par>
                            </p:childTnLst>
                          </p:cTn>
                        </p:par>
                      </p:childTnLst>
                    </p:cTn>
                  </p:par>
                  <p:par>
                    <p:cTn id="23" fill="hold">
                      <p:stCondLst>
                        <p:cond delay="indefinite"/>
                      </p:stCondLst>
                      <p:childTnLst>
                        <p:par>
                          <p:cTn id="24" fill="hold">
                            <p:stCondLst>
                              <p:cond delay="0"/>
                            </p:stCondLst>
                            <p:childTnLst>
                              <p:par>
                                <p:cTn id="25" presetID="26" presetClass="emph" presetSubtype="0" fill="hold" nodeType="clickEffect">
                                  <p:stCondLst>
                                    <p:cond delay="0"/>
                                  </p:stCondLst>
                                  <p:childTnLst>
                                    <p:animEffect transition="out" filter="fade">
                                      <p:cBhvr>
                                        <p:cTn id="26" dur="500" tmFilter="0, 0; .2, .5; .8, .5; 1, 0"/>
                                        <p:tgtEl>
                                          <p:spTgt spid="32"/>
                                        </p:tgtEl>
                                      </p:cBhvr>
                                    </p:animEffect>
                                    <p:animScale>
                                      <p:cBhvr>
                                        <p:cTn id="27" dur="250" autoRev="1" fill="hold"/>
                                        <p:tgtEl>
                                          <p:spTgt spid="32"/>
                                        </p:tgtEl>
                                      </p:cBhvr>
                                      <p:by x="105000" y="105000"/>
                                    </p:animScale>
                                  </p:childTnLst>
                                </p:cTn>
                              </p:par>
                            </p:childTnLst>
                          </p:cTn>
                        </p:par>
                      </p:childTnLst>
                    </p:cTn>
                  </p:par>
                  <p:par>
                    <p:cTn id="28" fill="hold">
                      <p:stCondLst>
                        <p:cond delay="indefinite"/>
                      </p:stCondLst>
                      <p:childTnLst>
                        <p:par>
                          <p:cTn id="29" fill="hold">
                            <p:stCondLst>
                              <p:cond delay="0"/>
                            </p:stCondLst>
                            <p:childTnLst>
                              <p:par>
                                <p:cTn id="30" presetID="26" presetClass="emph" presetSubtype="0" fill="hold" nodeType="clickEffect">
                                  <p:stCondLst>
                                    <p:cond delay="0"/>
                                  </p:stCondLst>
                                  <p:childTnLst>
                                    <p:animEffect transition="out" filter="fade">
                                      <p:cBhvr>
                                        <p:cTn id="31" dur="500" tmFilter="0, 0; .2, .5; .8, .5; 1, 0"/>
                                        <p:tgtEl>
                                          <p:spTgt spid="30"/>
                                        </p:tgtEl>
                                      </p:cBhvr>
                                    </p:animEffect>
                                    <p:animScale>
                                      <p:cBhvr>
                                        <p:cTn id="32" dur="250" autoRev="1" fill="hold"/>
                                        <p:tgtEl>
                                          <p:spTgt spid="30"/>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0C11D4-9689-1E2C-01AB-5028DDFD7644}"/>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47DDA1EC-AC97-DDE9-121B-76DA10A5260D}"/>
              </a:ext>
            </a:extLst>
          </p:cNvPr>
          <p:cNvSpPr>
            <a:spLocks noGrp="1"/>
          </p:cNvSpPr>
          <p:nvPr>
            <p:ph type="ctrTitle"/>
          </p:nvPr>
        </p:nvSpPr>
        <p:spPr/>
        <p:txBody>
          <a:bodyPr/>
          <a:lstStyle/>
          <a:p>
            <a:r>
              <a:rPr lang="de-DE" noProof="1">
                <a:latin typeface="+mn-lt"/>
              </a:rPr>
              <a:t>A Conversation with AI: Understanding Model Decisions</a:t>
            </a:r>
          </a:p>
        </p:txBody>
      </p:sp>
      <p:sp>
        <p:nvSpPr>
          <p:cNvPr id="3" name="Inhaltsplatzhalter 2">
            <a:extLst>
              <a:ext uri="{FF2B5EF4-FFF2-40B4-BE49-F238E27FC236}">
                <a16:creationId xmlns:a16="http://schemas.microsoft.com/office/drawing/2014/main" id="{2459B50D-E389-FB49-49D1-B07B563BA14B}"/>
              </a:ext>
            </a:extLst>
          </p:cNvPr>
          <p:cNvSpPr>
            <a:spLocks noGrp="1"/>
          </p:cNvSpPr>
          <p:nvPr>
            <p:ph sz="quarter" idx="15"/>
          </p:nvPr>
        </p:nvSpPr>
        <p:spPr>
          <a:xfrm>
            <a:off x="5461163" y="1965682"/>
            <a:ext cx="3117812" cy="485898"/>
          </a:xfrm>
        </p:spPr>
        <p:txBody>
          <a:bodyPr vert="horz" lIns="0" tIns="0" rIns="0" bIns="0" rtlCol="0" anchor="ctr">
            <a:noAutofit/>
          </a:bodyPr>
          <a:lstStyle/>
          <a:p>
            <a:pPr marL="0" indent="0">
              <a:buNone/>
            </a:pPr>
            <a:r>
              <a:rPr lang="de-DE" sz="1800" noProof="1">
                <a:latin typeface="+mn-lt"/>
                <a:cs typeface="Arial"/>
              </a:rPr>
              <a:t>Help users understanding </a:t>
            </a:r>
            <a:br>
              <a:rPr lang="de-DE" sz="1800" noProof="1">
                <a:latin typeface="+mn-lt"/>
                <a:cs typeface="Arial"/>
              </a:rPr>
            </a:br>
            <a:r>
              <a:rPr lang="de-DE" sz="1800" noProof="1">
                <a:latin typeface="+mn-lt"/>
                <a:cs typeface="Arial"/>
              </a:rPr>
              <a:t>AI behavior</a:t>
            </a:r>
            <a:endParaRPr lang="de-DE" sz="1800" noProof="1">
              <a:latin typeface="+mn-lt"/>
            </a:endParaRPr>
          </a:p>
        </p:txBody>
      </p:sp>
      <p:sp>
        <p:nvSpPr>
          <p:cNvPr id="6" name="Datumsplatzhalter 5">
            <a:extLst>
              <a:ext uri="{FF2B5EF4-FFF2-40B4-BE49-F238E27FC236}">
                <a16:creationId xmlns:a16="http://schemas.microsoft.com/office/drawing/2014/main" id="{58BB5EE6-ADC9-BA14-1FCD-BA27BB160F6B}"/>
              </a:ext>
            </a:extLst>
          </p:cNvPr>
          <p:cNvSpPr>
            <a:spLocks noGrp="1"/>
          </p:cNvSpPr>
          <p:nvPr>
            <p:ph type="dt" sz="half" idx="10"/>
          </p:nvPr>
        </p:nvSpPr>
        <p:spPr/>
        <p:txBody>
          <a:bodyPr/>
          <a:lstStyle/>
          <a:p>
            <a:r>
              <a:rPr lang="en-US" noProof="1"/>
              <a:t>18.08.2025</a:t>
            </a:r>
            <a:endParaRPr lang="de-DE" noProof="1"/>
          </a:p>
        </p:txBody>
      </p:sp>
      <p:sp>
        <p:nvSpPr>
          <p:cNvPr id="7" name="Fußzeilenplatzhalter 6">
            <a:extLst>
              <a:ext uri="{FF2B5EF4-FFF2-40B4-BE49-F238E27FC236}">
                <a16:creationId xmlns:a16="http://schemas.microsoft.com/office/drawing/2014/main" id="{285E7CE3-7D4C-328D-5542-D86C3132AF9D}"/>
              </a:ext>
            </a:extLst>
          </p:cNvPr>
          <p:cNvSpPr>
            <a:spLocks noGrp="1"/>
          </p:cNvSpPr>
          <p:nvPr>
            <p:ph type="ftr" sz="quarter" idx="11"/>
          </p:nvPr>
        </p:nvSpPr>
        <p:spPr>
          <a:xfrm>
            <a:off x="395288" y="4990183"/>
            <a:ext cx="7246916" cy="120158"/>
          </a:xfrm>
        </p:spPr>
        <p:txBody>
          <a:bodyPr/>
          <a:lstStyle/>
          <a:p>
            <a:r>
              <a:rPr lang="en-US" noProof="1"/>
              <a:t>Enhancing model transparency: Effects of DK Integration for Conversational XAI | Feustel</a:t>
            </a:r>
            <a:endParaRPr lang="de-DE" noProof="1"/>
          </a:p>
        </p:txBody>
      </p:sp>
      <p:sp>
        <p:nvSpPr>
          <p:cNvPr id="8" name="Foliennummernplatzhalter 7">
            <a:extLst>
              <a:ext uri="{FF2B5EF4-FFF2-40B4-BE49-F238E27FC236}">
                <a16:creationId xmlns:a16="http://schemas.microsoft.com/office/drawing/2014/main" id="{0E91B403-D5DF-EDB4-2AF7-A6D96BA7B902}"/>
              </a:ext>
            </a:extLst>
          </p:cNvPr>
          <p:cNvSpPr>
            <a:spLocks noGrp="1"/>
          </p:cNvSpPr>
          <p:nvPr>
            <p:ph type="sldNum" sz="quarter" idx="12"/>
          </p:nvPr>
        </p:nvSpPr>
        <p:spPr/>
        <p:txBody>
          <a:bodyPr/>
          <a:lstStyle/>
          <a:p>
            <a:r>
              <a:rPr lang="de-DE" noProof="1"/>
              <a:t> </a:t>
            </a:r>
            <a:fld id="{FE120BDC-5456-EC41-8BB6-7A3B726EA19B}" type="slidenum">
              <a:rPr lang="de-DE" noProof="1" smtClean="0"/>
              <a:pPr/>
              <a:t>4</a:t>
            </a:fld>
            <a:endParaRPr lang="de-DE" noProof="1"/>
          </a:p>
        </p:txBody>
      </p:sp>
      <p:pic>
        <p:nvPicPr>
          <p:cNvPr id="4" name="Picture 2" descr="EU Artificial Intelligence Act">
            <a:extLst>
              <a:ext uri="{FF2B5EF4-FFF2-40B4-BE49-F238E27FC236}">
                <a16:creationId xmlns:a16="http://schemas.microsoft.com/office/drawing/2014/main" id="{AD26428E-D7B7-1E8C-FABB-D527743A9983}"/>
              </a:ext>
            </a:extLst>
          </p:cNvPr>
          <p:cNvPicPr>
            <a:picLocks noChangeAspect="1" noChangeArrowheads="1"/>
          </p:cNvPicPr>
          <p:nvPr/>
        </p:nvPicPr>
        <p:blipFill rotWithShape="1">
          <a:blip r:embed="rId3">
            <a:duotone>
              <a:schemeClr val="accent1">
                <a:shade val="45000"/>
                <a:satMod val="135000"/>
              </a:schemeClr>
              <a:prstClr val="white"/>
            </a:duotone>
            <a:extLst>
              <a:ext uri="{28A0092B-C50C-407E-A947-70E740481C1C}">
                <a14:useLocalDpi xmlns:a14="http://schemas.microsoft.com/office/drawing/2010/main" val="0"/>
              </a:ext>
            </a:extLst>
          </a:blip>
          <a:srcRect r="72765"/>
          <a:stretch/>
        </p:blipFill>
        <p:spPr bwMode="auto">
          <a:xfrm>
            <a:off x="4753075" y="939908"/>
            <a:ext cx="576199" cy="537674"/>
          </a:xfrm>
          <a:prstGeom prst="rect">
            <a:avLst/>
          </a:prstGeom>
          <a:noFill/>
          <a:ln>
            <a:noFill/>
          </a:ln>
          <a:extLst>
            <a:ext uri="{909E8E84-426E-40DD-AFC4-6F175D3DCCD1}">
              <a14:hiddenFill xmlns:a14="http://schemas.microsoft.com/office/drawing/2010/main">
                <a:solidFill>
                  <a:srgbClr val="FFFFFF"/>
                </a:solidFill>
              </a14:hiddenFill>
            </a:ext>
          </a:extLst>
        </p:spPr>
      </p:pic>
      <p:pic>
        <p:nvPicPr>
          <p:cNvPr id="10" name="Grafik 9"/>
          <p:cNvPicPr>
            <a:picLocks noChangeAspect="1"/>
          </p:cNvPicPr>
          <p:nvPr/>
        </p:nvPicPr>
        <p:blipFill>
          <a:blip r:embed="rId4">
            <a:duotone>
              <a:schemeClr val="accent1">
                <a:shade val="45000"/>
                <a:satMod val="135000"/>
              </a:schemeClr>
              <a:prstClr val="white"/>
            </a:duotone>
          </a:blip>
          <a:stretch>
            <a:fillRect/>
          </a:stretch>
        </p:blipFill>
        <p:spPr>
          <a:xfrm flipH="1">
            <a:off x="4838284" y="1936741"/>
            <a:ext cx="485898" cy="485898"/>
          </a:xfrm>
          <a:prstGeom prst="rect">
            <a:avLst/>
          </a:prstGeom>
          <a:ln>
            <a:noFill/>
          </a:ln>
        </p:spPr>
      </p:pic>
      <p:pic>
        <p:nvPicPr>
          <p:cNvPr id="12" name="Grafik 11"/>
          <p:cNvPicPr>
            <a:picLocks noChangeAspect="1"/>
          </p:cNvPicPr>
          <p:nvPr/>
        </p:nvPicPr>
        <p:blipFill>
          <a:blip r:embed="rId5">
            <a:duotone>
              <a:schemeClr val="accent1">
                <a:shade val="45000"/>
                <a:satMod val="135000"/>
              </a:schemeClr>
              <a:prstClr val="white"/>
            </a:duotone>
          </a:blip>
          <a:stretch>
            <a:fillRect/>
          </a:stretch>
        </p:blipFill>
        <p:spPr>
          <a:xfrm flipH="1">
            <a:off x="4805914" y="3967471"/>
            <a:ext cx="454775" cy="485470"/>
          </a:xfrm>
          <a:prstGeom prst="rect">
            <a:avLst/>
          </a:prstGeom>
          <a:ln>
            <a:noFill/>
          </a:ln>
        </p:spPr>
      </p:pic>
      <p:sp>
        <p:nvSpPr>
          <p:cNvPr id="13" name="Inhaltsplatzhalter 2">
            <a:extLst>
              <a:ext uri="{FF2B5EF4-FFF2-40B4-BE49-F238E27FC236}">
                <a16:creationId xmlns:a16="http://schemas.microsoft.com/office/drawing/2014/main" id="{DAA4B630-5B04-55E0-68AC-873163271ECE}"/>
              </a:ext>
            </a:extLst>
          </p:cNvPr>
          <p:cNvSpPr txBox="1">
            <a:spLocks/>
          </p:cNvSpPr>
          <p:nvPr/>
        </p:nvSpPr>
        <p:spPr>
          <a:xfrm>
            <a:off x="5456705" y="4033078"/>
            <a:ext cx="3325084" cy="485898"/>
          </a:xfrm>
          <a:prstGeom prst="rect">
            <a:avLst/>
          </a:prstGeom>
        </p:spPr>
        <p:txBody>
          <a:bodyPr vert="horz" lIns="0" tIns="0" rIns="0" bIns="0" rtlCol="0" anchor="ctr">
            <a:noAutofit/>
          </a:bodyPr>
          <a:lstStyle>
            <a:lvl1pPr marL="171450" indent="-171450" algn="l" defTabSz="685800" rtl="0" eaLnBrk="1" latinLnBrk="0" hangingPunct="1">
              <a:lnSpc>
                <a:spcPct val="100000"/>
              </a:lnSpc>
              <a:spcBef>
                <a:spcPts val="750"/>
              </a:spcBef>
              <a:buClr>
                <a:srgbClr val="A32638"/>
              </a:buClr>
              <a:buFont typeface="Wingdings" pitchFamily="2" charset="2"/>
              <a:buChar char="§"/>
              <a:defRPr sz="1400" b="0" i="0" kern="1200" baseline="0">
                <a:solidFill>
                  <a:schemeClr val="tx1"/>
                </a:solidFill>
                <a:latin typeface="Arial" panose="020B0604020202020204" pitchFamily="34" charset="0"/>
                <a:ea typeface="+mn-ea"/>
                <a:cs typeface="Arial" panose="020B0604020202020204" pitchFamily="34" charset="0"/>
              </a:defRPr>
            </a:lvl1pPr>
            <a:lvl2pPr marL="514350" indent="-171450" algn="l" defTabSz="685800" rtl="0" eaLnBrk="1" latinLnBrk="0" hangingPunct="1">
              <a:lnSpc>
                <a:spcPct val="100000"/>
              </a:lnSpc>
              <a:spcBef>
                <a:spcPts val="375"/>
              </a:spcBef>
              <a:buFont typeface="Arial" panose="020B0604020202020204" pitchFamily="34" charset="0"/>
              <a:buChar char="•"/>
              <a:defRPr sz="1400" b="0" i="0" kern="1200" baseline="0">
                <a:solidFill>
                  <a:schemeClr val="tx1"/>
                </a:solidFill>
                <a:latin typeface="Arial" panose="020B0604020202020204" pitchFamily="34" charset="0"/>
                <a:ea typeface="+mn-ea"/>
                <a:cs typeface="Arial" panose="020B0604020202020204" pitchFamily="34" charset="0"/>
              </a:defRPr>
            </a:lvl2pPr>
            <a:lvl3pPr marL="857250" indent="-171450" algn="l" defTabSz="685800" rtl="0" eaLnBrk="1" latinLnBrk="0" hangingPunct="1">
              <a:lnSpc>
                <a:spcPct val="100000"/>
              </a:lnSpc>
              <a:spcBef>
                <a:spcPts val="375"/>
              </a:spcBef>
              <a:buFont typeface="Arial" panose="020B0604020202020204" pitchFamily="34" charset="0"/>
              <a:buChar char="•"/>
              <a:defRPr sz="1400" b="0" i="0" kern="1200" baseline="0">
                <a:solidFill>
                  <a:schemeClr val="tx1"/>
                </a:solidFill>
                <a:latin typeface="Arial" panose="020B0604020202020204" pitchFamily="34" charset="0"/>
                <a:ea typeface="+mn-ea"/>
                <a:cs typeface="Arial" panose="020B0604020202020204" pitchFamily="34" charset="0"/>
              </a:defRPr>
            </a:lvl3pPr>
            <a:lvl4pPr marL="1200150" indent="-171450" algn="l" defTabSz="685800" rtl="0" eaLnBrk="1" latinLnBrk="0" hangingPunct="1">
              <a:lnSpc>
                <a:spcPct val="100000"/>
              </a:lnSpc>
              <a:spcBef>
                <a:spcPts val="375"/>
              </a:spcBef>
              <a:buFont typeface="Arial" panose="020B0604020202020204" pitchFamily="34" charset="0"/>
              <a:buChar char="•"/>
              <a:defRPr sz="1400" b="0" i="0" kern="1200" baseline="0">
                <a:solidFill>
                  <a:schemeClr val="tx1"/>
                </a:solidFill>
                <a:latin typeface="Arial" panose="020B0604020202020204" pitchFamily="34" charset="0"/>
                <a:ea typeface="+mn-ea"/>
                <a:cs typeface="Arial" panose="020B0604020202020204" pitchFamily="34" charset="0"/>
              </a:defRPr>
            </a:lvl4pPr>
            <a:lvl5pPr marL="1543050" indent="-171450" algn="l" defTabSz="685800" rtl="0" eaLnBrk="1" latinLnBrk="0" hangingPunct="1">
              <a:lnSpc>
                <a:spcPct val="100000"/>
              </a:lnSpc>
              <a:spcBef>
                <a:spcPts val="375"/>
              </a:spcBef>
              <a:buFont typeface="Arial" panose="020B0604020202020204" pitchFamily="34" charset="0"/>
              <a:buChar char="•"/>
              <a:defRPr sz="1400" b="0" i="0" kern="1200" baseline="0">
                <a:solidFill>
                  <a:schemeClr val="tx1"/>
                </a:solidFill>
                <a:latin typeface="Arial" panose="020B0604020202020204" pitchFamily="34" charset="0"/>
                <a:ea typeface="+mn-ea"/>
                <a:cs typeface="Arial" panose="020B0604020202020204" pitchFamily="34"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buNone/>
            </a:pPr>
            <a:r>
              <a:rPr lang="de-DE" sz="1800" noProof="1">
                <a:latin typeface="+mn-lt"/>
                <a:cs typeface="Arial"/>
              </a:rPr>
              <a:t>Gain trust in AI systems</a:t>
            </a:r>
            <a:endParaRPr lang="de-DE" sz="1800" noProof="1">
              <a:latin typeface="+mn-lt"/>
            </a:endParaRPr>
          </a:p>
        </p:txBody>
      </p:sp>
      <p:sp>
        <p:nvSpPr>
          <p:cNvPr id="9" name="Inhaltsplatzhalter 2">
            <a:extLst>
              <a:ext uri="{FF2B5EF4-FFF2-40B4-BE49-F238E27FC236}">
                <a16:creationId xmlns:a16="http://schemas.microsoft.com/office/drawing/2014/main" id="{368948B8-A2EA-86D9-6DEE-9CC527F0994E}"/>
              </a:ext>
            </a:extLst>
          </p:cNvPr>
          <p:cNvSpPr txBox="1">
            <a:spLocks/>
          </p:cNvSpPr>
          <p:nvPr/>
        </p:nvSpPr>
        <p:spPr>
          <a:xfrm>
            <a:off x="5456705" y="991684"/>
            <a:ext cx="3117812" cy="393923"/>
          </a:xfrm>
          <a:prstGeom prst="rect">
            <a:avLst/>
          </a:prstGeom>
        </p:spPr>
        <p:txBody>
          <a:bodyPr vert="horz" lIns="0" tIns="0" rIns="0" bIns="0" rtlCol="0" anchor="ctr">
            <a:noAutofit/>
          </a:bodyPr>
          <a:lstStyle>
            <a:lvl1pPr marL="171450" indent="-171450" algn="l" defTabSz="685800" rtl="0" eaLnBrk="1" latinLnBrk="0" hangingPunct="1">
              <a:lnSpc>
                <a:spcPct val="100000"/>
              </a:lnSpc>
              <a:spcBef>
                <a:spcPts val="750"/>
              </a:spcBef>
              <a:buClr>
                <a:srgbClr val="A32638"/>
              </a:buClr>
              <a:buFont typeface="Wingdings" pitchFamily="2" charset="2"/>
              <a:buChar char="§"/>
              <a:defRPr sz="1400" b="0" i="0" kern="1200" baseline="0">
                <a:solidFill>
                  <a:schemeClr val="tx1"/>
                </a:solidFill>
                <a:latin typeface="Arial" panose="020B0604020202020204" pitchFamily="34" charset="0"/>
                <a:ea typeface="+mn-ea"/>
                <a:cs typeface="Arial" panose="020B0604020202020204" pitchFamily="34" charset="0"/>
              </a:defRPr>
            </a:lvl1pPr>
            <a:lvl2pPr marL="514350" indent="-171450" algn="l" defTabSz="685800" rtl="0" eaLnBrk="1" latinLnBrk="0" hangingPunct="1">
              <a:lnSpc>
                <a:spcPct val="100000"/>
              </a:lnSpc>
              <a:spcBef>
                <a:spcPts val="375"/>
              </a:spcBef>
              <a:buFont typeface="Arial" panose="020B0604020202020204" pitchFamily="34" charset="0"/>
              <a:buChar char="•"/>
              <a:defRPr sz="1400" b="0" i="0" kern="1200" baseline="0">
                <a:solidFill>
                  <a:schemeClr val="tx1"/>
                </a:solidFill>
                <a:latin typeface="Arial" panose="020B0604020202020204" pitchFamily="34" charset="0"/>
                <a:ea typeface="+mn-ea"/>
                <a:cs typeface="Arial" panose="020B0604020202020204" pitchFamily="34" charset="0"/>
              </a:defRPr>
            </a:lvl2pPr>
            <a:lvl3pPr marL="857250" indent="-171450" algn="l" defTabSz="685800" rtl="0" eaLnBrk="1" latinLnBrk="0" hangingPunct="1">
              <a:lnSpc>
                <a:spcPct val="100000"/>
              </a:lnSpc>
              <a:spcBef>
                <a:spcPts val="375"/>
              </a:spcBef>
              <a:buFont typeface="Arial" panose="020B0604020202020204" pitchFamily="34" charset="0"/>
              <a:buChar char="•"/>
              <a:defRPr sz="1400" b="0" i="0" kern="1200" baseline="0">
                <a:solidFill>
                  <a:schemeClr val="tx1"/>
                </a:solidFill>
                <a:latin typeface="Arial" panose="020B0604020202020204" pitchFamily="34" charset="0"/>
                <a:ea typeface="+mn-ea"/>
                <a:cs typeface="Arial" panose="020B0604020202020204" pitchFamily="34" charset="0"/>
              </a:defRPr>
            </a:lvl3pPr>
            <a:lvl4pPr marL="1200150" indent="-171450" algn="l" defTabSz="685800" rtl="0" eaLnBrk="1" latinLnBrk="0" hangingPunct="1">
              <a:lnSpc>
                <a:spcPct val="100000"/>
              </a:lnSpc>
              <a:spcBef>
                <a:spcPts val="375"/>
              </a:spcBef>
              <a:buFont typeface="Arial" panose="020B0604020202020204" pitchFamily="34" charset="0"/>
              <a:buChar char="•"/>
              <a:defRPr sz="1400" b="0" i="0" kern="1200" baseline="0">
                <a:solidFill>
                  <a:schemeClr val="tx1"/>
                </a:solidFill>
                <a:latin typeface="Arial" panose="020B0604020202020204" pitchFamily="34" charset="0"/>
                <a:ea typeface="+mn-ea"/>
                <a:cs typeface="Arial" panose="020B0604020202020204" pitchFamily="34" charset="0"/>
              </a:defRPr>
            </a:lvl4pPr>
            <a:lvl5pPr marL="1543050" indent="-171450" algn="l" defTabSz="685800" rtl="0" eaLnBrk="1" latinLnBrk="0" hangingPunct="1">
              <a:lnSpc>
                <a:spcPct val="100000"/>
              </a:lnSpc>
              <a:spcBef>
                <a:spcPts val="375"/>
              </a:spcBef>
              <a:buFont typeface="Arial" panose="020B0604020202020204" pitchFamily="34" charset="0"/>
              <a:buChar char="•"/>
              <a:defRPr sz="1400" b="0" i="0" kern="1200" baseline="0">
                <a:solidFill>
                  <a:schemeClr val="tx1"/>
                </a:solidFill>
                <a:latin typeface="Arial" panose="020B0604020202020204" pitchFamily="34" charset="0"/>
                <a:ea typeface="+mn-ea"/>
                <a:cs typeface="Arial" panose="020B0604020202020204" pitchFamily="34"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buNone/>
            </a:pPr>
            <a:r>
              <a:rPr lang="de-DE" sz="1800" noProof="1">
                <a:latin typeface="+mn-lt"/>
                <a:cs typeface="Arial"/>
              </a:rPr>
              <a:t>Regulations for transparent AI</a:t>
            </a:r>
          </a:p>
          <a:p>
            <a:pPr marL="0" indent="0">
              <a:buFont typeface="Wingdings" pitchFamily="2" charset="2"/>
              <a:buNone/>
            </a:pPr>
            <a:r>
              <a:rPr lang="de-DE" sz="1800" noProof="1">
                <a:latin typeface="+mn-lt"/>
                <a:cs typeface="Arial"/>
              </a:rPr>
              <a:t>EU AI Intelligence Act</a:t>
            </a:r>
            <a:endParaRPr lang="de-DE" sz="1800" noProof="1">
              <a:latin typeface="+mn-lt"/>
            </a:endParaRPr>
          </a:p>
        </p:txBody>
      </p:sp>
      <p:pic>
        <p:nvPicPr>
          <p:cNvPr id="17" name="Grafik 16" descr="Frau in schwarzem Rock">
            <a:extLst>
              <a:ext uri="{FF2B5EF4-FFF2-40B4-BE49-F238E27FC236}">
                <a16:creationId xmlns:a16="http://schemas.microsoft.com/office/drawing/2014/main" id="{B03484E0-027E-CDC2-0290-8C646BCDF5A7}"/>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390722" y="2141589"/>
            <a:ext cx="1233457" cy="2769348"/>
          </a:xfrm>
          <a:prstGeom prst="rect">
            <a:avLst/>
          </a:prstGeom>
        </p:spPr>
      </p:pic>
      <p:pic>
        <p:nvPicPr>
          <p:cNvPr id="21" name="Grafik 20" descr="Eine Wolken-Gedankenblase">
            <a:extLst>
              <a:ext uri="{FF2B5EF4-FFF2-40B4-BE49-F238E27FC236}">
                <a16:creationId xmlns:a16="http://schemas.microsoft.com/office/drawing/2014/main" id="{37265DA2-DAB3-F21F-C2F7-CD014DEA4D1D}"/>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1172495" y="862668"/>
            <a:ext cx="1609725" cy="1428750"/>
          </a:xfrm>
          <a:prstGeom prst="rect">
            <a:avLst/>
          </a:prstGeom>
        </p:spPr>
      </p:pic>
      <p:pic>
        <p:nvPicPr>
          <p:cNvPr id="23" name="Grafik 22" descr="Kurzhaarige Frau">
            <a:extLst>
              <a:ext uri="{FF2B5EF4-FFF2-40B4-BE49-F238E27FC236}">
                <a16:creationId xmlns:a16="http://schemas.microsoft.com/office/drawing/2014/main" id="{7E1886D2-C59C-4200-0D05-EB3ED6EDFFCD}"/>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615577" y="2179690"/>
            <a:ext cx="495738" cy="435146"/>
          </a:xfrm>
          <a:prstGeom prst="rect">
            <a:avLst/>
          </a:prstGeom>
        </p:spPr>
      </p:pic>
      <p:pic>
        <p:nvPicPr>
          <p:cNvPr id="25" name="Grafik 24" descr="Gesicht mit Herzaugen">
            <a:extLst>
              <a:ext uri="{FF2B5EF4-FFF2-40B4-BE49-F238E27FC236}">
                <a16:creationId xmlns:a16="http://schemas.microsoft.com/office/drawing/2014/main" id="{DBCF2A2F-6073-1DAD-5B36-C2D82628CCD1}"/>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851972" y="2346039"/>
            <a:ext cx="184977" cy="195547"/>
          </a:xfrm>
          <a:prstGeom prst="rect">
            <a:avLst/>
          </a:prstGeom>
        </p:spPr>
      </p:pic>
      <p:pic>
        <p:nvPicPr>
          <p:cNvPr id="27" name="Grafik 26" descr="Ein deprimiertes Gesicht">
            <a:extLst>
              <a:ext uri="{FF2B5EF4-FFF2-40B4-BE49-F238E27FC236}">
                <a16:creationId xmlns:a16="http://schemas.microsoft.com/office/drawing/2014/main" id="{234BD4E6-FA31-8669-394C-66F2A8ECA60B}"/>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835828" y="2354067"/>
            <a:ext cx="201121" cy="195027"/>
          </a:xfrm>
          <a:prstGeom prst="rect">
            <a:avLst/>
          </a:prstGeom>
        </p:spPr>
      </p:pic>
      <p:pic>
        <p:nvPicPr>
          <p:cNvPr id="29" name="Grafik 28" descr="Ein verwirrtes Gesicht">
            <a:extLst>
              <a:ext uri="{FF2B5EF4-FFF2-40B4-BE49-F238E27FC236}">
                <a16:creationId xmlns:a16="http://schemas.microsoft.com/office/drawing/2014/main" id="{D9677CE9-22BA-9314-CE43-4BBC3626E2D3}"/>
              </a:ext>
            </a:extLst>
          </p:cNvPr>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849244" y="2333564"/>
            <a:ext cx="165924" cy="207406"/>
          </a:xfrm>
          <a:prstGeom prst="rect">
            <a:avLst/>
          </a:prstGeom>
        </p:spPr>
      </p:pic>
      <p:grpSp>
        <p:nvGrpSpPr>
          <p:cNvPr id="16" name="Gruppieren 15"/>
          <p:cNvGrpSpPr/>
          <p:nvPr/>
        </p:nvGrpSpPr>
        <p:grpSpPr>
          <a:xfrm>
            <a:off x="2672566" y="2247481"/>
            <a:ext cx="1302360" cy="802402"/>
            <a:chOff x="2479407" y="2541586"/>
            <a:chExt cx="1302360" cy="802402"/>
          </a:xfrm>
        </p:grpSpPr>
        <p:pic>
          <p:nvPicPr>
            <p:cNvPr id="19" name="Grafik 18" descr="Ein offener Laptop">
              <a:extLst>
                <a:ext uri="{FF2B5EF4-FFF2-40B4-BE49-F238E27FC236}">
                  <a16:creationId xmlns:a16="http://schemas.microsoft.com/office/drawing/2014/main" id="{FE86B19E-89D4-1371-C27E-FFF6E2066CC4}"/>
                </a:ext>
              </a:extLst>
            </p:cNvPr>
            <p:cNvPicPr>
              <a:picLocks noChangeAspect="1"/>
            </p:cNvPicPr>
            <p:nvPr/>
          </p:nvPicPr>
          <p:blipFill>
            <a:blip r:embed="rId18">
              <a:extLst>
                <a:ext uri="{96DAC541-7B7A-43D3-8B79-37D633B846F1}">
                  <asvg:svgBlip xmlns:asvg="http://schemas.microsoft.com/office/drawing/2016/SVG/main" r:embed="rId19"/>
                </a:ext>
              </a:extLst>
            </a:blip>
            <a:stretch>
              <a:fillRect/>
            </a:stretch>
          </p:blipFill>
          <p:spPr>
            <a:xfrm>
              <a:off x="2479407" y="2541586"/>
              <a:ext cx="1302360" cy="802402"/>
            </a:xfrm>
            <a:prstGeom prst="rect">
              <a:avLst/>
            </a:prstGeom>
          </p:spPr>
        </p:pic>
        <p:pic>
          <p:nvPicPr>
            <p:cNvPr id="33" name="Grafik 32" descr="Euro mit einfarbiger Füllung">
              <a:extLst>
                <a:ext uri="{FF2B5EF4-FFF2-40B4-BE49-F238E27FC236}">
                  <a16:creationId xmlns:a16="http://schemas.microsoft.com/office/drawing/2014/main" id="{875A7131-2757-8908-BD16-E692388D9646}"/>
                </a:ext>
              </a:extLst>
            </p:cNvPr>
            <p:cNvPicPr>
              <a:picLocks noChangeAspect="1"/>
            </p:cNvPicPr>
            <p:nvPr/>
          </p:nvPicPr>
          <p:blipFill>
            <a:blip r:embed="rId20">
              <a:extLst>
                <a:ext uri="{96DAC541-7B7A-43D3-8B79-37D633B846F1}">
                  <asvg:svgBlip xmlns:asvg="http://schemas.microsoft.com/office/drawing/2016/SVG/main" r:embed="rId21"/>
                </a:ext>
              </a:extLst>
            </a:blip>
            <a:stretch>
              <a:fillRect/>
            </a:stretch>
          </p:blipFill>
          <p:spPr>
            <a:xfrm>
              <a:off x="3377116" y="2689222"/>
              <a:ext cx="297314" cy="297314"/>
            </a:xfrm>
            <a:prstGeom prst="rect">
              <a:avLst/>
            </a:prstGeom>
          </p:spPr>
        </p:pic>
        <p:pic>
          <p:nvPicPr>
            <p:cNvPr id="35" name="Grafik 34" descr="Vertrag Silhouette">
              <a:extLst>
                <a:ext uri="{FF2B5EF4-FFF2-40B4-BE49-F238E27FC236}">
                  <a16:creationId xmlns:a16="http://schemas.microsoft.com/office/drawing/2014/main" id="{C294B410-13BA-0BC4-2904-EC93D1AEF31C}"/>
                </a:ext>
              </a:extLst>
            </p:cNvPr>
            <p:cNvPicPr>
              <a:picLocks noChangeAspect="1"/>
            </p:cNvPicPr>
            <p:nvPr/>
          </p:nvPicPr>
          <p:blipFill>
            <a:blip r:embed="rId22">
              <a:extLst>
                <a:ext uri="{96DAC541-7B7A-43D3-8B79-37D633B846F1}">
                  <asvg:svgBlip xmlns:asvg="http://schemas.microsoft.com/office/drawing/2016/SVG/main" r:embed="rId23"/>
                </a:ext>
              </a:extLst>
            </a:blip>
            <a:stretch>
              <a:fillRect/>
            </a:stretch>
          </p:blipFill>
          <p:spPr>
            <a:xfrm>
              <a:off x="3122182" y="2737146"/>
              <a:ext cx="370940" cy="370940"/>
            </a:xfrm>
            <a:prstGeom prst="rect">
              <a:avLst/>
            </a:prstGeom>
          </p:spPr>
        </p:pic>
      </p:grpSp>
      <p:pic>
        <p:nvPicPr>
          <p:cNvPr id="37" name="Grafik 36" descr="Cabriolet mit einfarbiger Füllung">
            <a:extLst>
              <a:ext uri="{FF2B5EF4-FFF2-40B4-BE49-F238E27FC236}">
                <a16:creationId xmlns:a16="http://schemas.microsoft.com/office/drawing/2014/main" id="{1178286F-46B1-7A40-0C9F-ED77EC92D637}"/>
              </a:ext>
            </a:extLst>
          </p:cNvPr>
          <p:cNvPicPr>
            <a:picLocks noChangeAspect="1"/>
          </p:cNvPicPr>
          <p:nvPr/>
        </p:nvPicPr>
        <p:blipFill>
          <a:blip r:embed="rId24">
            <a:extLst>
              <a:ext uri="{96DAC541-7B7A-43D3-8B79-37D633B846F1}">
                <asvg:svgBlip xmlns:asvg="http://schemas.microsoft.com/office/drawing/2016/SVG/main" r:embed="rId25"/>
              </a:ext>
            </a:extLst>
          </a:blip>
          <a:stretch>
            <a:fillRect/>
          </a:stretch>
        </p:blipFill>
        <p:spPr>
          <a:xfrm>
            <a:off x="1586777" y="1023503"/>
            <a:ext cx="914400" cy="914400"/>
          </a:xfrm>
          <a:prstGeom prst="rect">
            <a:avLst/>
          </a:prstGeom>
        </p:spPr>
      </p:pic>
      <p:pic>
        <p:nvPicPr>
          <p:cNvPr id="39" name="Grafik 38" descr="Ein lächelndes Gesicht">
            <a:extLst>
              <a:ext uri="{FF2B5EF4-FFF2-40B4-BE49-F238E27FC236}">
                <a16:creationId xmlns:a16="http://schemas.microsoft.com/office/drawing/2014/main" id="{03A1EA17-241F-E0AA-0388-E5369EA828F1}"/>
              </a:ext>
            </a:extLst>
          </p:cNvPr>
          <p:cNvPicPr>
            <a:picLocks noChangeAspect="1"/>
          </p:cNvPicPr>
          <p:nvPr/>
        </p:nvPicPr>
        <p:blipFill>
          <a:blip r:embed="rId26">
            <a:extLst>
              <a:ext uri="{96DAC541-7B7A-43D3-8B79-37D633B846F1}">
                <asvg:svgBlip xmlns:asvg="http://schemas.microsoft.com/office/drawing/2016/SVG/main" r:embed="rId27"/>
              </a:ext>
            </a:extLst>
          </a:blip>
          <a:stretch>
            <a:fillRect/>
          </a:stretch>
        </p:blipFill>
        <p:spPr>
          <a:xfrm>
            <a:off x="840222" y="2333564"/>
            <a:ext cx="201122" cy="207407"/>
          </a:xfrm>
          <a:prstGeom prst="rect">
            <a:avLst/>
          </a:prstGeom>
        </p:spPr>
      </p:pic>
      <p:pic>
        <p:nvPicPr>
          <p:cNvPr id="41" name="Grafik 40" descr="Glühbirne und Zahnrad mit einfarbiger Füllung">
            <a:extLst>
              <a:ext uri="{FF2B5EF4-FFF2-40B4-BE49-F238E27FC236}">
                <a16:creationId xmlns:a16="http://schemas.microsoft.com/office/drawing/2014/main" id="{F590C223-190B-790C-B2FC-BCB3996CCEC9}"/>
              </a:ext>
            </a:extLst>
          </p:cNvPr>
          <p:cNvPicPr>
            <a:picLocks noChangeAspect="1"/>
          </p:cNvPicPr>
          <p:nvPr/>
        </p:nvPicPr>
        <p:blipFill>
          <a:blip r:embed="rId28">
            <a:extLst>
              <a:ext uri="{96DAC541-7B7A-43D3-8B79-37D633B846F1}">
                <asvg:svgBlip xmlns:asvg="http://schemas.microsoft.com/office/drawing/2016/SVG/main" r:embed="rId29"/>
              </a:ext>
            </a:extLst>
          </a:blip>
          <a:stretch>
            <a:fillRect/>
          </a:stretch>
        </p:blipFill>
        <p:spPr>
          <a:xfrm>
            <a:off x="1598134" y="1067218"/>
            <a:ext cx="768556" cy="768556"/>
          </a:xfrm>
          <a:prstGeom prst="rect">
            <a:avLst/>
          </a:prstGeom>
        </p:spPr>
      </p:pic>
      <p:pic>
        <p:nvPicPr>
          <p:cNvPr id="43" name="Grafik 42" descr="Fragezeichen mit einfarbiger Füllung">
            <a:extLst>
              <a:ext uri="{FF2B5EF4-FFF2-40B4-BE49-F238E27FC236}">
                <a16:creationId xmlns:a16="http://schemas.microsoft.com/office/drawing/2014/main" id="{65CA2BD8-F463-4514-B4AC-5928E1EC9866}"/>
              </a:ext>
            </a:extLst>
          </p:cNvPr>
          <p:cNvPicPr>
            <a:picLocks noChangeAspect="1"/>
          </p:cNvPicPr>
          <p:nvPr/>
        </p:nvPicPr>
        <p:blipFill>
          <a:blip r:embed="rId30">
            <a:extLst>
              <a:ext uri="{96DAC541-7B7A-43D3-8B79-37D633B846F1}">
                <asvg:svgBlip xmlns:asvg="http://schemas.microsoft.com/office/drawing/2016/SVG/main" r:embed="rId31"/>
              </a:ext>
            </a:extLst>
          </a:blip>
          <a:stretch>
            <a:fillRect/>
          </a:stretch>
        </p:blipFill>
        <p:spPr>
          <a:xfrm>
            <a:off x="1598134" y="1086490"/>
            <a:ext cx="758446" cy="758446"/>
          </a:xfrm>
          <a:prstGeom prst="rect">
            <a:avLst/>
          </a:prstGeom>
        </p:spPr>
      </p:pic>
      <p:pic>
        <p:nvPicPr>
          <p:cNvPr id="32" name="Grafik 31">
            <a:extLst>
              <a:ext uri="{FF2B5EF4-FFF2-40B4-BE49-F238E27FC236}">
                <a16:creationId xmlns:a16="http://schemas.microsoft.com/office/drawing/2014/main" id="{CAFF27E3-FEAF-FFBB-A1D0-F48363C9BDC6}"/>
              </a:ext>
            </a:extLst>
          </p:cNvPr>
          <p:cNvPicPr>
            <a:picLocks noChangeAspect="1"/>
          </p:cNvPicPr>
          <p:nvPr/>
        </p:nvPicPr>
        <p:blipFill>
          <a:blip r:embed="rId32"/>
          <a:stretch>
            <a:fillRect/>
          </a:stretch>
        </p:blipFill>
        <p:spPr>
          <a:xfrm>
            <a:off x="3322142" y="2366318"/>
            <a:ext cx="528007" cy="528007"/>
          </a:xfrm>
          <a:prstGeom prst="rect">
            <a:avLst/>
          </a:prstGeom>
        </p:spPr>
      </p:pic>
      <p:pic>
        <p:nvPicPr>
          <p:cNvPr id="34" name="Grafik 33" descr="Bank Silhouette">
            <a:extLst>
              <a:ext uri="{FF2B5EF4-FFF2-40B4-BE49-F238E27FC236}">
                <a16:creationId xmlns:a16="http://schemas.microsoft.com/office/drawing/2014/main" id="{46B911B4-D4C8-0BD0-3DDC-E2B8C2AC6126}"/>
              </a:ext>
            </a:extLst>
          </p:cNvPr>
          <p:cNvPicPr>
            <a:picLocks noChangeAspect="1"/>
          </p:cNvPicPr>
          <p:nvPr/>
        </p:nvPicPr>
        <p:blipFill>
          <a:blip r:embed="rId33">
            <a:extLst>
              <a:ext uri="{96DAC541-7B7A-43D3-8B79-37D633B846F1}">
                <asvg:svgBlip xmlns:asvg="http://schemas.microsoft.com/office/drawing/2016/SVG/main" r:embed="rId34"/>
              </a:ext>
            </a:extLst>
          </a:blip>
          <a:stretch>
            <a:fillRect/>
          </a:stretch>
        </p:blipFill>
        <p:spPr>
          <a:xfrm>
            <a:off x="1633086" y="1023504"/>
            <a:ext cx="785048" cy="785048"/>
          </a:xfrm>
          <a:prstGeom prst="rect">
            <a:avLst/>
          </a:prstGeom>
        </p:spPr>
      </p:pic>
      <p:pic>
        <p:nvPicPr>
          <p:cNvPr id="38" name="Grafik 37">
            <a:extLst>
              <a:ext uri="{FF2B5EF4-FFF2-40B4-BE49-F238E27FC236}">
                <a16:creationId xmlns:a16="http://schemas.microsoft.com/office/drawing/2014/main" id="{4146E0D5-43F3-99DF-8E70-ABDF63755740}"/>
              </a:ext>
            </a:extLst>
          </p:cNvPr>
          <p:cNvPicPr>
            <a:picLocks noChangeAspect="1"/>
          </p:cNvPicPr>
          <p:nvPr/>
        </p:nvPicPr>
        <p:blipFill>
          <a:blip r:embed="rId35"/>
          <a:stretch>
            <a:fillRect/>
          </a:stretch>
        </p:blipFill>
        <p:spPr>
          <a:xfrm>
            <a:off x="3351244" y="2411290"/>
            <a:ext cx="438062" cy="438062"/>
          </a:xfrm>
          <a:prstGeom prst="rect">
            <a:avLst/>
          </a:prstGeom>
        </p:spPr>
      </p:pic>
      <p:pic>
        <p:nvPicPr>
          <p:cNvPr id="18" name="Grafik 17"/>
          <p:cNvPicPr>
            <a:picLocks noChangeAspect="1"/>
          </p:cNvPicPr>
          <p:nvPr/>
        </p:nvPicPr>
        <p:blipFill>
          <a:blip r:embed="rId36"/>
          <a:stretch>
            <a:fillRect/>
          </a:stretch>
        </p:blipFill>
        <p:spPr>
          <a:xfrm>
            <a:off x="2984804" y="3772371"/>
            <a:ext cx="820802" cy="820802"/>
          </a:xfrm>
          <a:prstGeom prst="rect">
            <a:avLst/>
          </a:prstGeom>
        </p:spPr>
      </p:pic>
      <p:sp>
        <p:nvSpPr>
          <p:cNvPr id="49" name="Inhaltsplatzhalter 2">
            <a:extLst>
              <a:ext uri="{FF2B5EF4-FFF2-40B4-BE49-F238E27FC236}">
                <a16:creationId xmlns:a16="http://schemas.microsoft.com/office/drawing/2014/main" id="{2459B50D-E389-FB49-49D1-B07B563BA14B}"/>
              </a:ext>
            </a:extLst>
          </p:cNvPr>
          <p:cNvSpPr txBox="1">
            <a:spLocks/>
          </p:cNvSpPr>
          <p:nvPr/>
        </p:nvSpPr>
        <p:spPr>
          <a:xfrm>
            <a:off x="5456705" y="2903651"/>
            <a:ext cx="3117812" cy="485898"/>
          </a:xfrm>
          <a:prstGeom prst="rect">
            <a:avLst/>
          </a:prstGeom>
        </p:spPr>
        <p:txBody>
          <a:bodyPr vert="horz" lIns="0" tIns="0" rIns="0" bIns="0" rtlCol="0" anchor="ctr">
            <a:noAutofit/>
          </a:bodyPr>
          <a:lstStyle>
            <a:lvl1pPr marL="171450" indent="-171450" algn="l" defTabSz="685800" rtl="0" eaLnBrk="1" latinLnBrk="0" hangingPunct="1">
              <a:lnSpc>
                <a:spcPct val="100000"/>
              </a:lnSpc>
              <a:spcBef>
                <a:spcPts val="750"/>
              </a:spcBef>
              <a:buClr>
                <a:srgbClr val="A32638"/>
              </a:buClr>
              <a:buFont typeface="Wingdings" pitchFamily="2" charset="2"/>
              <a:buChar char="§"/>
              <a:defRPr sz="1400" b="0" i="0" kern="1200" baseline="0">
                <a:solidFill>
                  <a:schemeClr val="tx1"/>
                </a:solidFill>
                <a:latin typeface="Arial" panose="020B0604020202020204" pitchFamily="34" charset="0"/>
                <a:ea typeface="+mn-ea"/>
                <a:cs typeface="Arial" panose="020B0604020202020204" pitchFamily="34" charset="0"/>
              </a:defRPr>
            </a:lvl1pPr>
            <a:lvl2pPr marL="514350" indent="-171450" algn="l" defTabSz="685800" rtl="0" eaLnBrk="1" latinLnBrk="0" hangingPunct="1">
              <a:lnSpc>
                <a:spcPct val="100000"/>
              </a:lnSpc>
              <a:spcBef>
                <a:spcPts val="375"/>
              </a:spcBef>
              <a:buFont typeface="Arial" panose="020B0604020202020204" pitchFamily="34" charset="0"/>
              <a:buChar char="•"/>
              <a:defRPr sz="1400" b="0" i="0" kern="1200" baseline="0">
                <a:solidFill>
                  <a:schemeClr val="tx1"/>
                </a:solidFill>
                <a:latin typeface="Arial" panose="020B0604020202020204" pitchFamily="34" charset="0"/>
                <a:ea typeface="+mn-ea"/>
                <a:cs typeface="Arial" panose="020B0604020202020204" pitchFamily="34" charset="0"/>
              </a:defRPr>
            </a:lvl2pPr>
            <a:lvl3pPr marL="857250" indent="-171450" algn="l" defTabSz="685800" rtl="0" eaLnBrk="1" latinLnBrk="0" hangingPunct="1">
              <a:lnSpc>
                <a:spcPct val="100000"/>
              </a:lnSpc>
              <a:spcBef>
                <a:spcPts val="375"/>
              </a:spcBef>
              <a:buFont typeface="Arial" panose="020B0604020202020204" pitchFamily="34" charset="0"/>
              <a:buChar char="•"/>
              <a:defRPr sz="1400" b="0" i="0" kern="1200" baseline="0">
                <a:solidFill>
                  <a:schemeClr val="tx1"/>
                </a:solidFill>
                <a:latin typeface="Arial" panose="020B0604020202020204" pitchFamily="34" charset="0"/>
                <a:ea typeface="+mn-ea"/>
                <a:cs typeface="Arial" panose="020B0604020202020204" pitchFamily="34" charset="0"/>
              </a:defRPr>
            </a:lvl3pPr>
            <a:lvl4pPr marL="1200150" indent="-171450" algn="l" defTabSz="685800" rtl="0" eaLnBrk="1" latinLnBrk="0" hangingPunct="1">
              <a:lnSpc>
                <a:spcPct val="100000"/>
              </a:lnSpc>
              <a:spcBef>
                <a:spcPts val="375"/>
              </a:spcBef>
              <a:buFont typeface="Arial" panose="020B0604020202020204" pitchFamily="34" charset="0"/>
              <a:buChar char="•"/>
              <a:defRPr sz="1400" b="0" i="0" kern="1200" baseline="0">
                <a:solidFill>
                  <a:schemeClr val="tx1"/>
                </a:solidFill>
                <a:latin typeface="Arial" panose="020B0604020202020204" pitchFamily="34" charset="0"/>
                <a:ea typeface="+mn-ea"/>
                <a:cs typeface="Arial" panose="020B0604020202020204" pitchFamily="34" charset="0"/>
              </a:defRPr>
            </a:lvl4pPr>
            <a:lvl5pPr marL="1543050" indent="-171450" algn="l" defTabSz="685800" rtl="0" eaLnBrk="1" latinLnBrk="0" hangingPunct="1">
              <a:lnSpc>
                <a:spcPct val="100000"/>
              </a:lnSpc>
              <a:spcBef>
                <a:spcPts val="375"/>
              </a:spcBef>
              <a:buFont typeface="Arial" panose="020B0604020202020204" pitchFamily="34" charset="0"/>
              <a:buChar char="•"/>
              <a:defRPr sz="1400" b="0" i="0" kern="1200" baseline="0">
                <a:solidFill>
                  <a:schemeClr val="tx1"/>
                </a:solidFill>
                <a:latin typeface="Arial" panose="020B0604020202020204" pitchFamily="34" charset="0"/>
                <a:ea typeface="+mn-ea"/>
                <a:cs typeface="Arial" panose="020B0604020202020204" pitchFamily="34"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buNone/>
            </a:pPr>
            <a:r>
              <a:rPr lang="de-DE" sz="1800" noProof="1">
                <a:latin typeface="+mn-lt"/>
                <a:cs typeface="Arial"/>
              </a:rPr>
              <a:t>Empowerment through understanding</a:t>
            </a:r>
            <a:endParaRPr lang="de-DE" sz="1800" noProof="1">
              <a:latin typeface="+mn-lt"/>
            </a:endParaRPr>
          </a:p>
        </p:txBody>
      </p:sp>
      <p:pic>
        <p:nvPicPr>
          <p:cNvPr id="20" name="Grafik 19"/>
          <p:cNvPicPr>
            <a:picLocks noChangeAspect="1"/>
          </p:cNvPicPr>
          <p:nvPr/>
        </p:nvPicPr>
        <p:blipFill>
          <a:blip r:embed="rId37">
            <a:duotone>
              <a:schemeClr val="accent1">
                <a:shade val="45000"/>
                <a:satMod val="135000"/>
              </a:schemeClr>
              <a:prstClr val="white"/>
            </a:duotone>
          </a:blip>
          <a:stretch>
            <a:fillRect/>
          </a:stretch>
        </p:blipFill>
        <p:spPr>
          <a:xfrm>
            <a:off x="4805914" y="2858808"/>
            <a:ext cx="567260" cy="567260"/>
          </a:xfrm>
          <a:prstGeom prst="rect">
            <a:avLst/>
          </a:prstGeom>
          <a:ln>
            <a:noFill/>
          </a:ln>
        </p:spPr>
      </p:pic>
      <p:pic>
        <p:nvPicPr>
          <p:cNvPr id="24" name="Grafik 23"/>
          <p:cNvPicPr>
            <a:picLocks noChangeAspect="1"/>
          </p:cNvPicPr>
          <p:nvPr/>
        </p:nvPicPr>
        <p:blipFill>
          <a:blip r:embed="rId38"/>
          <a:stretch>
            <a:fillRect/>
          </a:stretch>
        </p:blipFill>
        <p:spPr>
          <a:xfrm>
            <a:off x="3120723" y="3123285"/>
            <a:ext cx="575684" cy="575684"/>
          </a:xfrm>
          <a:prstGeom prst="rect">
            <a:avLst/>
          </a:prstGeom>
        </p:spPr>
      </p:pic>
      <p:pic>
        <p:nvPicPr>
          <p:cNvPr id="14" name="Grafik 13" descr="Sparschwein mit einfarbiger Füllung">
            <a:extLst>
              <a:ext uri="{FF2B5EF4-FFF2-40B4-BE49-F238E27FC236}">
                <a16:creationId xmlns:a16="http://schemas.microsoft.com/office/drawing/2014/main" id="{704C17EA-2B08-D53E-05C8-DB2265B41FE2}"/>
              </a:ext>
            </a:extLst>
          </p:cNvPr>
          <p:cNvPicPr>
            <a:picLocks noChangeAspect="1"/>
          </p:cNvPicPr>
          <p:nvPr/>
        </p:nvPicPr>
        <p:blipFill>
          <a:blip r:embed="rId39">
            <a:extLst>
              <a:ext uri="{96DAC541-7B7A-43D3-8B79-37D633B846F1}">
                <asvg:svgBlip xmlns:asvg="http://schemas.microsoft.com/office/drawing/2016/SVG/main" r:embed="rId40"/>
              </a:ext>
            </a:extLst>
          </a:blip>
          <a:stretch>
            <a:fillRect/>
          </a:stretch>
        </p:blipFill>
        <p:spPr>
          <a:xfrm>
            <a:off x="1502225" y="3898475"/>
            <a:ext cx="631133" cy="631133"/>
          </a:xfrm>
          <a:prstGeom prst="rect">
            <a:avLst/>
          </a:prstGeom>
        </p:spPr>
      </p:pic>
      <p:pic>
        <p:nvPicPr>
          <p:cNvPr id="28" name="Grafik 27" descr="Münzen Silhouette">
            <a:extLst>
              <a:ext uri="{FF2B5EF4-FFF2-40B4-BE49-F238E27FC236}">
                <a16:creationId xmlns:a16="http://schemas.microsoft.com/office/drawing/2014/main" id="{6C1EBDB9-FAB7-4FF8-3316-A0D77F620687}"/>
              </a:ext>
            </a:extLst>
          </p:cNvPr>
          <p:cNvPicPr>
            <a:picLocks noChangeAspect="1"/>
          </p:cNvPicPr>
          <p:nvPr/>
        </p:nvPicPr>
        <p:blipFill>
          <a:blip r:embed="rId41">
            <a:extLst>
              <a:ext uri="{96DAC541-7B7A-43D3-8B79-37D633B846F1}">
                <asvg:svgBlip xmlns:asvg="http://schemas.microsoft.com/office/drawing/2016/SVG/main" r:embed="rId42"/>
              </a:ext>
            </a:extLst>
          </a:blip>
          <a:stretch>
            <a:fillRect/>
          </a:stretch>
        </p:blipFill>
        <p:spPr>
          <a:xfrm>
            <a:off x="1455367" y="2734316"/>
            <a:ext cx="631133" cy="631133"/>
          </a:xfrm>
          <a:prstGeom prst="rect">
            <a:avLst/>
          </a:prstGeom>
        </p:spPr>
      </p:pic>
      <p:sp>
        <p:nvSpPr>
          <p:cNvPr id="26" name="Rechteck 25" descr="Lichter an mit einfarbiger Füllung">
            <a:extLst>
              <a:ext uri="{FF2B5EF4-FFF2-40B4-BE49-F238E27FC236}">
                <a16:creationId xmlns:a16="http://schemas.microsoft.com/office/drawing/2014/main" id="{B0C8482C-B9C3-EA81-2716-F476B0F3DECD}"/>
              </a:ext>
            </a:extLst>
          </p:cNvPr>
          <p:cNvSpPr/>
          <p:nvPr/>
        </p:nvSpPr>
        <p:spPr>
          <a:xfrm>
            <a:off x="8804352" y="664349"/>
            <a:ext cx="277969" cy="277969"/>
          </a:xfrm>
          <a:prstGeom prst="rect">
            <a:avLst/>
          </a:prstGeom>
          <a:blipFill>
            <a:blip r:embed="rId43">
              <a:extLst>
                <a:ext uri="{96DAC541-7B7A-43D3-8B79-37D633B846F1}">
                  <asvg:svgBlip xmlns:asvg="http://schemas.microsoft.com/office/drawing/2016/SVG/main" r:embed="rId44"/>
                </a:ext>
              </a:extLst>
            </a:blip>
            <a:srcRect/>
            <a:stretch>
              <a:fillRect/>
            </a:stretch>
          </a:blipFill>
          <a:ln>
            <a:noFill/>
          </a:ln>
        </p:spPr>
        <p:style>
          <a:lnRef idx="2">
            <a:scrgbClr r="0" g="0" b="0"/>
          </a:lnRef>
          <a:fillRef idx="1">
            <a:scrgbClr r="0" g="0" b="0"/>
          </a:fillRef>
          <a:effectRef idx="0">
            <a:schemeClr val="accent2">
              <a:hueOff val="0"/>
              <a:satOff val="0"/>
              <a:lumOff val="0"/>
              <a:alphaOff val="0"/>
            </a:schemeClr>
          </a:effectRef>
          <a:fontRef idx="minor">
            <a:schemeClr val="lt1"/>
          </a:fontRef>
        </p:style>
        <p:txBody>
          <a:bodyPr/>
          <a:lstStyle/>
          <a:p>
            <a:endParaRPr lang="en-US"/>
          </a:p>
        </p:txBody>
      </p:sp>
      <p:sp>
        <p:nvSpPr>
          <p:cNvPr id="30" name="Rechteck 29" descr="Geschlossenes Buch mit einfarbiger Füllung">
            <a:extLst>
              <a:ext uri="{FF2B5EF4-FFF2-40B4-BE49-F238E27FC236}">
                <a16:creationId xmlns:a16="http://schemas.microsoft.com/office/drawing/2014/main" id="{621B1EAC-06AC-8F9F-1B04-DAAB53FA2E85}"/>
              </a:ext>
            </a:extLst>
          </p:cNvPr>
          <p:cNvSpPr/>
          <p:nvPr/>
        </p:nvSpPr>
        <p:spPr>
          <a:xfrm>
            <a:off x="8804352" y="1043547"/>
            <a:ext cx="277969" cy="277969"/>
          </a:xfrm>
          <a:prstGeom prst="rect">
            <a:avLst/>
          </a:prstGeom>
          <a:blipFill>
            <a:blip r:embed="rId45">
              <a:extLst>
                <a:ext uri="{96DAC541-7B7A-43D3-8B79-37D633B846F1}">
                  <asvg:svgBlip xmlns:asvg="http://schemas.microsoft.com/office/drawing/2016/SVG/main" r:embed="rId46"/>
                </a:ext>
              </a:extLst>
            </a:blip>
            <a:srcRect/>
            <a:stretch>
              <a:fillRect/>
            </a:stretch>
          </a:blipFill>
          <a:ln>
            <a:noFill/>
          </a:ln>
        </p:spPr>
        <p:style>
          <a:lnRef idx="2">
            <a:scrgbClr r="0" g="0" b="0"/>
          </a:lnRef>
          <a:fillRef idx="1">
            <a:scrgbClr r="0" g="0" b="0"/>
          </a:fillRef>
          <a:effectRef idx="0">
            <a:schemeClr val="accent3">
              <a:hueOff val="0"/>
              <a:satOff val="0"/>
              <a:lumOff val="0"/>
              <a:alphaOff val="0"/>
            </a:schemeClr>
          </a:effectRef>
          <a:fontRef idx="minor">
            <a:schemeClr val="lt1"/>
          </a:fontRef>
        </p:style>
        <p:txBody>
          <a:bodyPr/>
          <a:lstStyle/>
          <a:p>
            <a:endParaRPr lang="en-US"/>
          </a:p>
        </p:txBody>
      </p:sp>
      <p:sp>
        <p:nvSpPr>
          <p:cNvPr id="31" name="Rechteck 30" descr="Netzwerk">
            <a:extLst>
              <a:ext uri="{FF2B5EF4-FFF2-40B4-BE49-F238E27FC236}">
                <a16:creationId xmlns:a16="http://schemas.microsoft.com/office/drawing/2014/main" id="{6ACD6B82-A28F-795D-1E0B-229BB3D18B70}"/>
              </a:ext>
            </a:extLst>
          </p:cNvPr>
          <p:cNvSpPr/>
          <p:nvPr/>
        </p:nvSpPr>
        <p:spPr>
          <a:xfrm>
            <a:off x="8804352" y="1379208"/>
            <a:ext cx="277969" cy="277969"/>
          </a:xfrm>
          <a:prstGeom prst="rect">
            <a:avLst/>
          </a:prstGeom>
          <a:blipFill>
            <a:blip r:embed="rId47">
              <a:extLst>
                <a:ext uri="{28A0092B-C50C-407E-A947-70E740481C1C}">
                  <a14:useLocalDpi xmlns:a14="http://schemas.microsoft.com/office/drawing/2010/main" val="0"/>
                </a:ext>
                <a:ext uri="{96DAC541-7B7A-43D3-8B79-37D633B846F1}">
                  <asvg:svgBlip xmlns:asvg="http://schemas.microsoft.com/office/drawing/2016/SVG/main" r:embed="rId48"/>
                </a:ext>
              </a:extLst>
            </a:blip>
            <a:stretch>
              <a:fillRect/>
            </a:stretch>
          </a:blipFill>
          <a:ln>
            <a:noFill/>
          </a:ln>
        </p:spPr>
        <p:style>
          <a:lnRef idx="2">
            <a:scrgbClr r="0" g="0" b="0"/>
          </a:lnRef>
          <a:fillRef idx="1">
            <a:scrgbClr r="0" g="0" b="0"/>
          </a:fillRef>
          <a:effectRef idx="0">
            <a:schemeClr val="accent4">
              <a:hueOff val="0"/>
              <a:satOff val="0"/>
              <a:lumOff val="0"/>
              <a:alphaOff val="0"/>
            </a:schemeClr>
          </a:effectRef>
          <a:fontRef idx="minor">
            <a:schemeClr val="lt1"/>
          </a:fontRef>
        </p:style>
        <p:txBody>
          <a:bodyPr/>
          <a:lstStyle/>
          <a:p>
            <a:endParaRPr lang="en-US"/>
          </a:p>
        </p:txBody>
      </p:sp>
      <p:sp>
        <p:nvSpPr>
          <p:cNvPr id="36" name="Rechteck 35" descr="Kreise mit Pfeilen mit einfarbiger Füllung">
            <a:extLst>
              <a:ext uri="{FF2B5EF4-FFF2-40B4-BE49-F238E27FC236}">
                <a16:creationId xmlns:a16="http://schemas.microsoft.com/office/drawing/2014/main" id="{FBBD5F6A-DE1A-1A30-1D3D-B6490F03B260}"/>
              </a:ext>
            </a:extLst>
          </p:cNvPr>
          <p:cNvSpPr/>
          <p:nvPr/>
        </p:nvSpPr>
        <p:spPr>
          <a:xfrm>
            <a:off x="8804352" y="1688740"/>
            <a:ext cx="277969" cy="277969"/>
          </a:xfrm>
          <a:prstGeom prst="rect">
            <a:avLst/>
          </a:prstGeom>
          <a:blipFill>
            <a:blip r:embed="rId49">
              <a:extLst>
                <a:ext uri="{96DAC541-7B7A-43D3-8B79-37D633B846F1}">
                  <asvg:svgBlip xmlns:asvg="http://schemas.microsoft.com/office/drawing/2016/SVG/main" r:embed="rId50"/>
                </a:ext>
              </a:extLst>
            </a:blip>
            <a:srcRect/>
            <a:stretch>
              <a:fillRect/>
            </a:stretch>
          </a:blipFill>
          <a:ln>
            <a:noFill/>
          </a:ln>
        </p:spPr>
        <p:style>
          <a:lnRef idx="2">
            <a:scrgbClr r="0" g="0" b="0"/>
          </a:lnRef>
          <a:fillRef idx="1">
            <a:scrgbClr r="0" g="0" b="0"/>
          </a:fillRef>
          <a:effectRef idx="0">
            <a:schemeClr val="accent5">
              <a:hueOff val="0"/>
              <a:satOff val="0"/>
              <a:lumOff val="0"/>
              <a:alphaOff val="0"/>
            </a:schemeClr>
          </a:effectRef>
          <a:fontRef idx="minor">
            <a:schemeClr val="lt1"/>
          </a:fontRef>
        </p:style>
        <p:txBody>
          <a:bodyPr/>
          <a:lstStyle/>
          <a:p>
            <a:endParaRPr lang="en-US"/>
          </a:p>
        </p:txBody>
      </p:sp>
      <p:sp>
        <p:nvSpPr>
          <p:cNvPr id="40" name="Rechteck 39" descr="Prüfliste">
            <a:extLst>
              <a:ext uri="{FF2B5EF4-FFF2-40B4-BE49-F238E27FC236}">
                <a16:creationId xmlns:a16="http://schemas.microsoft.com/office/drawing/2014/main" id="{37D01A24-F834-53DB-E834-708F59B70BDB}"/>
              </a:ext>
            </a:extLst>
          </p:cNvPr>
          <p:cNvSpPr/>
          <p:nvPr/>
        </p:nvSpPr>
        <p:spPr>
          <a:xfrm>
            <a:off x="8804352" y="2006980"/>
            <a:ext cx="277969" cy="277969"/>
          </a:xfrm>
          <a:prstGeom prst="rect">
            <a:avLst/>
          </a:prstGeom>
          <a:blipFill>
            <a:blip r:embed="rId51">
              <a:extLst>
                <a:ext uri="{28A0092B-C50C-407E-A947-70E740481C1C}">
                  <a14:useLocalDpi xmlns:a14="http://schemas.microsoft.com/office/drawing/2010/main" val="0"/>
                </a:ext>
                <a:ext uri="{96DAC541-7B7A-43D3-8B79-37D633B846F1}">
                  <asvg:svgBlip xmlns:asvg="http://schemas.microsoft.com/office/drawing/2016/SVG/main" r:embed="rId52"/>
                </a:ext>
              </a:extLst>
            </a:blip>
            <a:stretch>
              <a:fillRect/>
            </a:stretch>
          </a:blipFill>
          <a:ln>
            <a:noFill/>
          </a:ln>
        </p:spPr>
        <p:style>
          <a:lnRef idx="2">
            <a:scrgbClr r="0" g="0" b="0"/>
          </a:lnRef>
          <a:fillRef idx="1">
            <a:scrgbClr r="0" g="0" b="0"/>
          </a:fillRef>
          <a:effectRef idx="0">
            <a:schemeClr val="accent6">
              <a:hueOff val="0"/>
              <a:satOff val="0"/>
              <a:lumOff val="0"/>
              <a:alphaOff val="0"/>
            </a:schemeClr>
          </a:effectRef>
          <a:fontRef idx="minor">
            <a:schemeClr val="lt1"/>
          </a:fontRef>
        </p:style>
        <p:txBody>
          <a:bodyPr/>
          <a:lstStyle/>
          <a:p>
            <a:endParaRPr lang="en-US"/>
          </a:p>
        </p:txBody>
      </p:sp>
      <p:sp>
        <p:nvSpPr>
          <p:cNvPr id="42" name="Rechteck 41" descr="Auktionshammer">
            <a:extLst>
              <a:ext uri="{FF2B5EF4-FFF2-40B4-BE49-F238E27FC236}">
                <a16:creationId xmlns:a16="http://schemas.microsoft.com/office/drawing/2014/main" id="{51E1037A-485A-5442-BF23-DB4204DDD5A8}"/>
              </a:ext>
            </a:extLst>
          </p:cNvPr>
          <p:cNvSpPr/>
          <p:nvPr/>
        </p:nvSpPr>
        <p:spPr>
          <a:xfrm>
            <a:off x="8804352" y="2316507"/>
            <a:ext cx="277969" cy="277969"/>
          </a:xfrm>
          <a:prstGeom prst="rect">
            <a:avLst/>
          </a:prstGeom>
          <a:blipFill>
            <a:blip r:embed="rId53">
              <a:extLst>
                <a:ext uri="{28A0092B-C50C-407E-A947-70E740481C1C}">
                  <a14:useLocalDpi xmlns:a14="http://schemas.microsoft.com/office/drawing/2010/main" val="0"/>
                </a:ext>
                <a:ext uri="{96DAC541-7B7A-43D3-8B79-37D633B846F1}">
                  <asvg:svgBlip xmlns:asvg="http://schemas.microsoft.com/office/drawing/2016/SVG/main" r:embed="rId54"/>
                </a:ext>
              </a:extLst>
            </a:blip>
            <a:stretch>
              <a:fillRect/>
            </a:stretch>
          </a:blipFill>
          <a:ln>
            <a:noFill/>
          </a:ln>
        </p:spPr>
        <p:style>
          <a:lnRef idx="2">
            <a:scrgbClr r="0" g="0" b="0"/>
          </a:lnRef>
          <a:fillRef idx="1">
            <a:scrgbClr r="0" g="0" b="0"/>
          </a:fillRef>
          <a:effectRef idx="0">
            <a:schemeClr val="accent2">
              <a:hueOff val="0"/>
              <a:satOff val="0"/>
              <a:lumOff val="0"/>
              <a:alphaOff val="0"/>
            </a:schemeClr>
          </a:effectRef>
          <a:fontRef idx="minor">
            <a:schemeClr val="lt1"/>
          </a:fontRef>
        </p:style>
        <p:txBody>
          <a:bodyPr/>
          <a:lstStyle/>
          <a:p>
            <a:endParaRPr lang="en-US"/>
          </a:p>
        </p:txBody>
      </p:sp>
      <p:sp>
        <p:nvSpPr>
          <p:cNvPr id="44" name="Textfeld 43">
            <a:extLst>
              <a:ext uri="{FF2B5EF4-FFF2-40B4-BE49-F238E27FC236}">
                <a16:creationId xmlns:a16="http://schemas.microsoft.com/office/drawing/2014/main" id="{184434B7-0C5A-2B0A-C28A-0E1F8AB67FBF}"/>
              </a:ext>
            </a:extLst>
          </p:cNvPr>
          <p:cNvSpPr txBox="1"/>
          <p:nvPr/>
        </p:nvSpPr>
        <p:spPr>
          <a:xfrm>
            <a:off x="7860603" y="134610"/>
            <a:ext cx="871905" cy="276999"/>
          </a:xfrm>
          <a:prstGeom prst="rect">
            <a:avLst/>
          </a:prstGeom>
          <a:noFill/>
        </p:spPr>
        <p:txBody>
          <a:bodyPr wrap="none" rtlCol="0">
            <a:spAutoFit/>
          </a:bodyPr>
          <a:lstStyle/>
          <a:p>
            <a:r>
              <a:rPr lang="de-DE" sz="1200" dirty="0"/>
              <a:t>Motivation</a:t>
            </a:r>
            <a:endParaRPr lang="en-US" sz="1200" dirty="0"/>
          </a:p>
        </p:txBody>
      </p:sp>
      <p:sp>
        <p:nvSpPr>
          <p:cNvPr id="45" name="Rechteck 44" descr="Lichter an mit einfarbiger Füllung">
            <a:extLst>
              <a:ext uri="{FF2B5EF4-FFF2-40B4-BE49-F238E27FC236}">
                <a16:creationId xmlns:a16="http://schemas.microsoft.com/office/drawing/2014/main" id="{044F64CF-5EB6-677F-DB83-8D6FD122DE49}"/>
              </a:ext>
            </a:extLst>
          </p:cNvPr>
          <p:cNvSpPr/>
          <p:nvPr/>
        </p:nvSpPr>
        <p:spPr>
          <a:xfrm>
            <a:off x="7600498" y="133639"/>
            <a:ext cx="277969" cy="277969"/>
          </a:xfrm>
          <a:prstGeom prst="rect">
            <a:avLst/>
          </a:prstGeom>
          <a:blipFill>
            <a:blip r:embed="rId43">
              <a:extLst>
                <a:ext uri="{96DAC541-7B7A-43D3-8B79-37D633B846F1}">
                  <asvg:svgBlip xmlns:asvg="http://schemas.microsoft.com/office/drawing/2016/SVG/main" r:embed="rId44"/>
                </a:ext>
              </a:extLst>
            </a:blip>
            <a:srcRect/>
            <a:stretch>
              <a:fillRect/>
            </a:stretch>
          </a:blipFill>
          <a:ln>
            <a:noFill/>
          </a:ln>
        </p:spPr>
        <p:style>
          <a:lnRef idx="2">
            <a:scrgbClr r="0" g="0" b="0"/>
          </a:lnRef>
          <a:fillRef idx="1">
            <a:scrgbClr r="0" g="0" b="0"/>
          </a:fillRef>
          <a:effectRef idx="0">
            <a:schemeClr val="accent2">
              <a:hueOff val="0"/>
              <a:satOff val="0"/>
              <a:lumOff val="0"/>
              <a:alphaOff val="0"/>
            </a:schemeClr>
          </a:effectRef>
          <a:fontRef idx="minor">
            <a:schemeClr val="lt1"/>
          </a:fontRef>
        </p:style>
        <p:txBody>
          <a:bodyPr/>
          <a:lstStyle/>
          <a:p>
            <a:endParaRPr lang="en-US"/>
          </a:p>
        </p:txBody>
      </p:sp>
      <p:pic>
        <p:nvPicPr>
          <p:cNvPr id="5" name="Grafik 4" descr="Sparschwein mit einfarbiger Füllung">
            <a:extLst>
              <a:ext uri="{FF2B5EF4-FFF2-40B4-BE49-F238E27FC236}">
                <a16:creationId xmlns:a16="http://schemas.microsoft.com/office/drawing/2014/main" id="{DD1F45E0-5FBF-A8D4-8F7D-D0B603003EB8}"/>
              </a:ext>
            </a:extLst>
          </p:cNvPr>
          <p:cNvPicPr>
            <a:picLocks noChangeAspect="1"/>
          </p:cNvPicPr>
          <p:nvPr/>
        </p:nvPicPr>
        <p:blipFill>
          <a:blip r:embed="rId55">
            <a:extLst>
              <a:ext uri="{96DAC541-7B7A-43D3-8B79-37D633B846F1}">
                <asvg:svgBlip xmlns:asvg="http://schemas.microsoft.com/office/drawing/2016/SVG/main" r:embed="rId56"/>
              </a:ext>
            </a:extLst>
          </a:blip>
          <a:stretch>
            <a:fillRect/>
          </a:stretch>
        </p:blipFill>
        <p:spPr>
          <a:xfrm>
            <a:off x="3275278" y="4334950"/>
            <a:ext cx="631133" cy="631133"/>
          </a:xfrm>
          <a:prstGeom prst="rect">
            <a:avLst/>
          </a:prstGeom>
        </p:spPr>
      </p:pic>
      <p:pic>
        <p:nvPicPr>
          <p:cNvPr id="11" name="Grafik 10" descr="Sparschwein mit einfarbiger Füllung">
            <a:extLst>
              <a:ext uri="{FF2B5EF4-FFF2-40B4-BE49-F238E27FC236}">
                <a16:creationId xmlns:a16="http://schemas.microsoft.com/office/drawing/2014/main" id="{CF6D4361-FB33-855E-F605-8C4386F55C3F}"/>
              </a:ext>
            </a:extLst>
          </p:cNvPr>
          <p:cNvPicPr>
            <a:picLocks noChangeAspect="1"/>
          </p:cNvPicPr>
          <p:nvPr/>
        </p:nvPicPr>
        <p:blipFill>
          <a:blip r:embed="rId57">
            <a:extLst>
              <a:ext uri="{96DAC541-7B7A-43D3-8B79-37D633B846F1}">
                <asvg:svgBlip xmlns:asvg="http://schemas.microsoft.com/office/drawing/2016/SVG/main" r:embed="rId58"/>
              </a:ext>
            </a:extLst>
          </a:blip>
          <a:stretch>
            <a:fillRect/>
          </a:stretch>
        </p:blipFill>
        <p:spPr>
          <a:xfrm>
            <a:off x="3275278" y="4334949"/>
            <a:ext cx="631133" cy="631133"/>
          </a:xfrm>
          <a:prstGeom prst="rect">
            <a:avLst/>
          </a:prstGeom>
        </p:spPr>
      </p:pic>
    </p:spTree>
    <p:extLst>
      <p:ext uri="{BB962C8B-B14F-4D97-AF65-F5344CB8AC3E}">
        <p14:creationId xmlns:p14="http://schemas.microsoft.com/office/powerpoint/2010/main" val="1405571372"/>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fade">
                                      <p:cBhvr>
                                        <p:cTn id="7" dur="500"/>
                                        <p:tgtEl>
                                          <p:spTgt spid="25"/>
                                        </p:tgtEl>
                                      </p:cBhvr>
                                    </p:animEffect>
                                  </p:childTnLst>
                                </p:cTn>
                              </p:par>
                              <p:par>
                                <p:cTn id="8" presetID="10" presetClass="exit" presetSubtype="0" fill="hold" nodeType="withEffect">
                                  <p:stCondLst>
                                    <p:cond delay="0"/>
                                  </p:stCondLst>
                                  <p:childTnLst>
                                    <p:animEffect transition="out" filter="fade">
                                      <p:cBhvr>
                                        <p:cTn id="9" dur="500"/>
                                        <p:tgtEl>
                                          <p:spTgt spid="39"/>
                                        </p:tgtEl>
                                      </p:cBhvr>
                                    </p:animEffect>
                                    <p:set>
                                      <p:cBhvr>
                                        <p:cTn id="10" dur="1" fill="hold">
                                          <p:stCondLst>
                                            <p:cond delay="499"/>
                                          </p:stCondLst>
                                        </p:cTn>
                                        <p:tgtEl>
                                          <p:spTgt spid="39"/>
                                        </p:tgtEl>
                                        <p:attrNameLst>
                                          <p:attrName>style.visibility</p:attrName>
                                        </p:attrNameLst>
                                      </p:cBhvr>
                                      <p:to>
                                        <p:strVal val="hidden"/>
                                      </p:to>
                                    </p:set>
                                  </p:childTnLst>
                                </p:cTn>
                              </p:par>
                              <p:par>
                                <p:cTn id="11" presetID="10" presetClass="entr" presetSubtype="0" fill="hold" nodeType="withEffect">
                                  <p:stCondLst>
                                    <p:cond delay="0"/>
                                  </p:stCondLst>
                                  <p:childTnLst>
                                    <p:set>
                                      <p:cBhvr>
                                        <p:cTn id="12" dur="1" fill="hold">
                                          <p:stCondLst>
                                            <p:cond delay="0"/>
                                          </p:stCondLst>
                                        </p:cTn>
                                        <p:tgtEl>
                                          <p:spTgt spid="21"/>
                                        </p:tgtEl>
                                        <p:attrNameLst>
                                          <p:attrName>style.visibility</p:attrName>
                                        </p:attrNameLst>
                                      </p:cBhvr>
                                      <p:to>
                                        <p:strVal val="visible"/>
                                      </p:to>
                                    </p:set>
                                    <p:animEffect transition="in" filter="fade">
                                      <p:cBhvr>
                                        <p:cTn id="13" dur="500"/>
                                        <p:tgtEl>
                                          <p:spTgt spid="21"/>
                                        </p:tgtEl>
                                      </p:cBhvr>
                                    </p:animEffect>
                                  </p:childTnLst>
                                </p:cTn>
                              </p:par>
                              <p:par>
                                <p:cTn id="14" presetID="10" presetClass="entr" presetSubtype="0" fill="hold" nodeType="withEffect">
                                  <p:stCondLst>
                                    <p:cond delay="0"/>
                                  </p:stCondLst>
                                  <p:childTnLst>
                                    <p:set>
                                      <p:cBhvr>
                                        <p:cTn id="15" dur="1" fill="hold">
                                          <p:stCondLst>
                                            <p:cond delay="0"/>
                                          </p:stCondLst>
                                        </p:cTn>
                                        <p:tgtEl>
                                          <p:spTgt spid="37"/>
                                        </p:tgtEl>
                                        <p:attrNameLst>
                                          <p:attrName>style.visibility</p:attrName>
                                        </p:attrNameLst>
                                      </p:cBhvr>
                                      <p:to>
                                        <p:strVal val="visible"/>
                                      </p:to>
                                    </p:set>
                                    <p:animEffect transition="in" filter="fade">
                                      <p:cBhvr>
                                        <p:cTn id="16" dur="500"/>
                                        <p:tgtEl>
                                          <p:spTgt spid="37"/>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500"/>
                                        <p:tgtEl>
                                          <p:spTgt spid="14"/>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39"/>
                                        </p:tgtEl>
                                        <p:attrNameLst>
                                          <p:attrName>style.visibility</p:attrName>
                                        </p:attrNameLst>
                                      </p:cBhvr>
                                      <p:to>
                                        <p:strVal val="visible"/>
                                      </p:to>
                                    </p:set>
                                    <p:animEffect transition="in" filter="fade">
                                      <p:cBhvr>
                                        <p:cTn id="26" dur="500"/>
                                        <p:tgtEl>
                                          <p:spTgt spid="39"/>
                                        </p:tgtEl>
                                      </p:cBhvr>
                                    </p:animEffect>
                                  </p:childTnLst>
                                </p:cTn>
                              </p:par>
                              <p:par>
                                <p:cTn id="27" presetID="10" presetClass="exit" presetSubtype="0" fill="hold" nodeType="withEffect">
                                  <p:stCondLst>
                                    <p:cond delay="0"/>
                                  </p:stCondLst>
                                  <p:childTnLst>
                                    <p:animEffect transition="out" filter="fade">
                                      <p:cBhvr>
                                        <p:cTn id="28" dur="500"/>
                                        <p:tgtEl>
                                          <p:spTgt spid="25"/>
                                        </p:tgtEl>
                                      </p:cBhvr>
                                    </p:animEffect>
                                    <p:set>
                                      <p:cBhvr>
                                        <p:cTn id="29" dur="1" fill="hold">
                                          <p:stCondLst>
                                            <p:cond delay="499"/>
                                          </p:stCondLst>
                                        </p:cTn>
                                        <p:tgtEl>
                                          <p:spTgt spid="25"/>
                                        </p:tgtEl>
                                        <p:attrNameLst>
                                          <p:attrName>style.visibility</p:attrName>
                                        </p:attrNameLst>
                                      </p:cBhvr>
                                      <p:to>
                                        <p:strVal val="hidden"/>
                                      </p:to>
                                    </p:set>
                                  </p:childTnLst>
                                </p:cTn>
                              </p:par>
                              <p:par>
                                <p:cTn id="30" presetID="10" presetClass="exit" presetSubtype="0" fill="hold" nodeType="withEffect">
                                  <p:stCondLst>
                                    <p:cond delay="0"/>
                                  </p:stCondLst>
                                  <p:childTnLst>
                                    <p:animEffect transition="out" filter="fade">
                                      <p:cBhvr>
                                        <p:cTn id="31" dur="500"/>
                                        <p:tgtEl>
                                          <p:spTgt spid="37"/>
                                        </p:tgtEl>
                                      </p:cBhvr>
                                    </p:animEffect>
                                    <p:set>
                                      <p:cBhvr>
                                        <p:cTn id="32" dur="1" fill="hold">
                                          <p:stCondLst>
                                            <p:cond delay="499"/>
                                          </p:stCondLst>
                                        </p:cTn>
                                        <p:tgtEl>
                                          <p:spTgt spid="37"/>
                                        </p:tgtEl>
                                        <p:attrNameLst>
                                          <p:attrName>style.visibility</p:attrName>
                                        </p:attrNameLst>
                                      </p:cBhvr>
                                      <p:to>
                                        <p:strVal val="hidden"/>
                                      </p:to>
                                    </p:set>
                                  </p:childTnLst>
                                </p:cTn>
                              </p:par>
                              <p:par>
                                <p:cTn id="33" presetID="10" presetClass="entr" presetSubtype="0" fill="hold" nodeType="withEffect">
                                  <p:stCondLst>
                                    <p:cond delay="0"/>
                                  </p:stCondLst>
                                  <p:childTnLst>
                                    <p:set>
                                      <p:cBhvr>
                                        <p:cTn id="34" dur="1" fill="hold">
                                          <p:stCondLst>
                                            <p:cond delay="0"/>
                                          </p:stCondLst>
                                        </p:cTn>
                                        <p:tgtEl>
                                          <p:spTgt spid="34"/>
                                        </p:tgtEl>
                                        <p:attrNameLst>
                                          <p:attrName>style.visibility</p:attrName>
                                        </p:attrNameLst>
                                      </p:cBhvr>
                                      <p:to>
                                        <p:strVal val="visible"/>
                                      </p:to>
                                    </p:set>
                                    <p:animEffect transition="in" filter="fade">
                                      <p:cBhvr>
                                        <p:cTn id="35" dur="500"/>
                                        <p:tgtEl>
                                          <p:spTgt spid="34"/>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16"/>
                                        </p:tgtEl>
                                        <p:attrNameLst>
                                          <p:attrName>style.visibility</p:attrName>
                                        </p:attrNameLst>
                                      </p:cBhvr>
                                      <p:to>
                                        <p:strVal val="visible"/>
                                      </p:to>
                                    </p:set>
                                    <p:animEffect transition="in" filter="fade">
                                      <p:cBhvr>
                                        <p:cTn id="40" dur="500"/>
                                        <p:tgtEl>
                                          <p:spTgt spid="16"/>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29"/>
                                        </p:tgtEl>
                                        <p:attrNameLst>
                                          <p:attrName>style.visibility</p:attrName>
                                        </p:attrNameLst>
                                      </p:cBhvr>
                                      <p:to>
                                        <p:strVal val="visible"/>
                                      </p:to>
                                    </p:set>
                                    <p:animEffect transition="in" filter="fade">
                                      <p:cBhvr>
                                        <p:cTn id="45" dur="500"/>
                                        <p:tgtEl>
                                          <p:spTgt spid="29"/>
                                        </p:tgtEl>
                                      </p:cBhvr>
                                    </p:animEffect>
                                  </p:childTnLst>
                                </p:cTn>
                              </p:par>
                              <p:par>
                                <p:cTn id="46" presetID="10" presetClass="exit" presetSubtype="0" fill="hold" nodeType="withEffect">
                                  <p:stCondLst>
                                    <p:cond delay="0"/>
                                  </p:stCondLst>
                                  <p:childTnLst>
                                    <p:animEffect transition="out" filter="fade">
                                      <p:cBhvr>
                                        <p:cTn id="47" dur="500"/>
                                        <p:tgtEl>
                                          <p:spTgt spid="39"/>
                                        </p:tgtEl>
                                      </p:cBhvr>
                                    </p:animEffect>
                                    <p:set>
                                      <p:cBhvr>
                                        <p:cTn id="48" dur="1" fill="hold">
                                          <p:stCondLst>
                                            <p:cond delay="499"/>
                                          </p:stCondLst>
                                        </p:cTn>
                                        <p:tgtEl>
                                          <p:spTgt spid="39"/>
                                        </p:tgtEl>
                                        <p:attrNameLst>
                                          <p:attrName>style.visibility</p:attrName>
                                        </p:attrNameLst>
                                      </p:cBhvr>
                                      <p:to>
                                        <p:strVal val="hidden"/>
                                      </p:to>
                                    </p:set>
                                  </p:childTnLst>
                                </p:cTn>
                              </p:par>
                              <p:par>
                                <p:cTn id="49" presetID="10" presetClass="entr" presetSubtype="0" fill="hold" nodeType="withEffect">
                                  <p:stCondLst>
                                    <p:cond delay="0"/>
                                  </p:stCondLst>
                                  <p:childTnLst>
                                    <p:set>
                                      <p:cBhvr>
                                        <p:cTn id="50" dur="1" fill="hold">
                                          <p:stCondLst>
                                            <p:cond delay="0"/>
                                          </p:stCondLst>
                                        </p:cTn>
                                        <p:tgtEl>
                                          <p:spTgt spid="32"/>
                                        </p:tgtEl>
                                        <p:attrNameLst>
                                          <p:attrName>style.visibility</p:attrName>
                                        </p:attrNameLst>
                                      </p:cBhvr>
                                      <p:to>
                                        <p:strVal val="visible"/>
                                      </p:to>
                                    </p:set>
                                    <p:animEffect transition="in" filter="fade">
                                      <p:cBhvr>
                                        <p:cTn id="51" dur="500"/>
                                        <p:tgtEl>
                                          <p:spTgt spid="32"/>
                                        </p:tgtEl>
                                      </p:cBhvr>
                                    </p:animEffect>
                                  </p:childTnLst>
                                </p:cTn>
                              </p:par>
                            </p:childTnLst>
                          </p:cTn>
                        </p:par>
                      </p:childTnLst>
                    </p:cTn>
                  </p:par>
                  <p:par>
                    <p:cTn id="52" fill="hold">
                      <p:stCondLst>
                        <p:cond delay="indefinite"/>
                      </p:stCondLst>
                      <p:childTnLst>
                        <p:par>
                          <p:cTn id="53" fill="hold">
                            <p:stCondLst>
                              <p:cond delay="0"/>
                            </p:stCondLst>
                            <p:childTnLst>
                              <p:par>
                                <p:cTn id="54" presetID="10" presetClass="entr" presetSubtype="0" fill="hold" nodeType="clickEffect">
                                  <p:stCondLst>
                                    <p:cond delay="0"/>
                                  </p:stCondLst>
                                  <p:childTnLst>
                                    <p:set>
                                      <p:cBhvr>
                                        <p:cTn id="55" dur="1" fill="hold">
                                          <p:stCondLst>
                                            <p:cond delay="0"/>
                                          </p:stCondLst>
                                        </p:cTn>
                                        <p:tgtEl>
                                          <p:spTgt spid="27"/>
                                        </p:tgtEl>
                                        <p:attrNameLst>
                                          <p:attrName>style.visibility</p:attrName>
                                        </p:attrNameLst>
                                      </p:cBhvr>
                                      <p:to>
                                        <p:strVal val="visible"/>
                                      </p:to>
                                    </p:set>
                                    <p:animEffect transition="in" filter="fade">
                                      <p:cBhvr>
                                        <p:cTn id="56" dur="500"/>
                                        <p:tgtEl>
                                          <p:spTgt spid="27"/>
                                        </p:tgtEl>
                                      </p:cBhvr>
                                    </p:animEffect>
                                  </p:childTnLst>
                                </p:cTn>
                              </p:par>
                              <p:par>
                                <p:cTn id="57" presetID="10" presetClass="entr" presetSubtype="0" fill="hold" nodeType="withEffect">
                                  <p:stCondLst>
                                    <p:cond delay="0"/>
                                  </p:stCondLst>
                                  <p:childTnLst>
                                    <p:set>
                                      <p:cBhvr>
                                        <p:cTn id="58" dur="1" fill="hold">
                                          <p:stCondLst>
                                            <p:cond delay="0"/>
                                          </p:stCondLst>
                                        </p:cTn>
                                        <p:tgtEl>
                                          <p:spTgt spid="43"/>
                                        </p:tgtEl>
                                        <p:attrNameLst>
                                          <p:attrName>style.visibility</p:attrName>
                                        </p:attrNameLst>
                                      </p:cBhvr>
                                      <p:to>
                                        <p:strVal val="visible"/>
                                      </p:to>
                                    </p:set>
                                    <p:animEffect transition="in" filter="fade">
                                      <p:cBhvr>
                                        <p:cTn id="59" dur="500"/>
                                        <p:tgtEl>
                                          <p:spTgt spid="43"/>
                                        </p:tgtEl>
                                      </p:cBhvr>
                                    </p:animEffect>
                                  </p:childTnLst>
                                </p:cTn>
                              </p:par>
                              <p:par>
                                <p:cTn id="60" presetID="10" presetClass="exit" presetSubtype="0" fill="hold" nodeType="withEffect">
                                  <p:stCondLst>
                                    <p:cond delay="0"/>
                                  </p:stCondLst>
                                  <p:childTnLst>
                                    <p:animEffect transition="out" filter="fade">
                                      <p:cBhvr>
                                        <p:cTn id="61" dur="500"/>
                                        <p:tgtEl>
                                          <p:spTgt spid="29"/>
                                        </p:tgtEl>
                                      </p:cBhvr>
                                    </p:animEffect>
                                    <p:set>
                                      <p:cBhvr>
                                        <p:cTn id="62" dur="1" fill="hold">
                                          <p:stCondLst>
                                            <p:cond delay="499"/>
                                          </p:stCondLst>
                                        </p:cTn>
                                        <p:tgtEl>
                                          <p:spTgt spid="29"/>
                                        </p:tgtEl>
                                        <p:attrNameLst>
                                          <p:attrName>style.visibility</p:attrName>
                                        </p:attrNameLst>
                                      </p:cBhvr>
                                      <p:to>
                                        <p:strVal val="hidden"/>
                                      </p:to>
                                    </p:set>
                                  </p:childTnLst>
                                </p:cTn>
                              </p:par>
                              <p:par>
                                <p:cTn id="63" presetID="10" presetClass="exit" presetSubtype="0" fill="hold" nodeType="withEffect">
                                  <p:stCondLst>
                                    <p:cond delay="0"/>
                                  </p:stCondLst>
                                  <p:childTnLst>
                                    <p:animEffect transition="out" filter="fade">
                                      <p:cBhvr>
                                        <p:cTn id="64" dur="500"/>
                                        <p:tgtEl>
                                          <p:spTgt spid="34"/>
                                        </p:tgtEl>
                                      </p:cBhvr>
                                    </p:animEffect>
                                    <p:set>
                                      <p:cBhvr>
                                        <p:cTn id="65" dur="1" fill="hold">
                                          <p:stCondLst>
                                            <p:cond delay="499"/>
                                          </p:stCondLst>
                                        </p:cTn>
                                        <p:tgtEl>
                                          <p:spTgt spid="34"/>
                                        </p:tgtEl>
                                        <p:attrNameLst>
                                          <p:attrName>style.visibility</p:attrName>
                                        </p:attrNameLst>
                                      </p:cBhvr>
                                      <p:to>
                                        <p:strVal val="hidden"/>
                                      </p:to>
                                    </p:set>
                                  </p:childTnLst>
                                </p:cTn>
                              </p:par>
                            </p:childTnLst>
                          </p:cTn>
                        </p:par>
                      </p:childTnLst>
                    </p:cTn>
                  </p:par>
                  <p:par>
                    <p:cTn id="66" fill="hold">
                      <p:stCondLst>
                        <p:cond delay="indefinite"/>
                      </p:stCondLst>
                      <p:childTnLst>
                        <p:par>
                          <p:cTn id="67" fill="hold">
                            <p:stCondLst>
                              <p:cond delay="0"/>
                            </p:stCondLst>
                            <p:childTnLst>
                              <p:par>
                                <p:cTn id="68" presetID="10" presetClass="entr" presetSubtype="0" fill="hold" nodeType="clickEffect">
                                  <p:stCondLst>
                                    <p:cond delay="0"/>
                                  </p:stCondLst>
                                  <p:childTnLst>
                                    <p:set>
                                      <p:cBhvr>
                                        <p:cTn id="69" dur="1" fill="hold">
                                          <p:stCondLst>
                                            <p:cond delay="0"/>
                                          </p:stCondLst>
                                        </p:cTn>
                                        <p:tgtEl>
                                          <p:spTgt spid="4"/>
                                        </p:tgtEl>
                                        <p:attrNameLst>
                                          <p:attrName>style.visibility</p:attrName>
                                        </p:attrNameLst>
                                      </p:cBhvr>
                                      <p:to>
                                        <p:strVal val="visible"/>
                                      </p:to>
                                    </p:set>
                                    <p:animEffect transition="in" filter="fade">
                                      <p:cBhvr>
                                        <p:cTn id="70" dur="500"/>
                                        <p:tgtEl>
                                          <p:spTgt spid="4"/>
                                        </p:tgtEl>
                                      </p:cBhvr>
                                    </p:animEffect>
                                  </p:childTnLst>
                                </p:cTn>
                              </p:par>
                              <p:par>
                                <p:cTn id="71" presetID="10" presetClass="entr" presetSubtype="0" fill="hold" grpId="0" nodeType="withEffect">
                                  <p:stCondLst>
                                    <p:cond delay="0"/>
                                  </p:stCondLst>
                                  <p:childTnLst>
                                    <p:set>
                                      <p:cBhvr>
                                        <p:cTn id="72" dur="1" fill="hold">
                                          <p:stCondLst>
                                            <p:cond delay="0"/>
                                          </p:stCondLst>
                                        </p:cTn>
                                        <p:tgtEl>
                                          <p:spTgt spid="9">
                                            <p:txEl>
                                              <p:pRg st="0" end="0"/>
                                            </p:txEl>
                                          </p:spTgt>
                                        </p:tgtEl>
                                        <p:attrNameLst>
                                          <p:attrName>style.visibility</p:attrName>
                                        </p:attrNameLst>
                                      </p:cBhvr>
                                      <p:to>
                                        <p:strVal val="visible"/>
                                      </p:to>
                                    </p:set>
                                    <p:animEffect transition="in" filter="fade">
                                      <p:cBhvr>
                                        <p:cTn id="73" dur="500"/>
                                        <p:tgtEl>
                                          <p:spTgt spid="9">
                                            <p:txEl>
                                              <p:pRg st="0" end="0"/>
                                            </p:txEl>
                                          </p:spTgt>
                                        </p:tgtEl>
                                      </p:cBhvr>
                                    </p:animEffect>
                                  </p:childTnLst>
                                </p:cTn>
                              </p:par>
                              <p:par>
                                <p:cTn id="74" presetID="10" presetClass="entr" presetSubtype="0" fill="hold" grpId="0" nodeType="withEffect">
                                  <p:stCondLst>
                                    <p:cond delay="0"/>
                                  </p:stCondLst>
                                  <p:childTnLst>
                                    <p:set>
                                      <p:cBhvr>
                                        <p:cTn id="75" dur="1" fill="hold">
                                          <p:stCondLst>
                                            <p:cond delay="0"/>
                                          </p:stCondLst>
                                        </p:cTn>
                                        <p:tgtEl>
                                          <p:spTgt spid="9">
                                            <p:txEl>
                                              <p:pRg st="1" end="1"/>
                                            </p:txEl>
                                          </p:spTgt>
                                        </p:tgtEl>
                                        <p:attrNameLst>
                                          <p:attrName>style.visibility</p:attrName>
                                        </p:attrNameLst>
                                      </p:cBhvr>
                                      <p:to>
                                        <p:strVal val="visible"/>
                                      </p:to>
                                    </p:set>
                                    <p:animEffect transition="in" filter="fade">
                                      <p:cBhvr>
                                        <p:cTn id="76" dur="500"/>
                                        <p:tgtEl>
                                          <p:spTgt spid="9">
                                            <p:txEl>
                                              <p:pRg st="1" end="1"/>
                                            </p:txEl>
                                          </p:spTgt>
                                        </p:tgtEl>
                                      </p:cBhvr>
                                    </p:animEffect>
                                  </p:childTnLst>
                                </p:cTn>
                              </p:par>
                            </p:childTnLst>
                          </p:cTn>
                        </p:par>
                      </p:childTnLst>
                    </p:cTn>
                  </p:par>
                  <p:par>
                    <p:cTn id="77" fill="hold">
                      <p:stCondLst>
                        <p:cond delay="indefinite"/>
                      </p:stCondLst>
                      <p:childTnLst>
                        <p:par>
                          <p:cTn id="78" fill="hold">
                            <p:stCondLst>
                              <p:cond delay="0"/>
                            </p:stCondLst>
                            <p:childTnLst>
                              <p:par>
                                <p:cTn id="79" presetID="10" presetClass="entr" presetSubtype="0" fill="hold" nodeType="clickEffect">
                                  <p:stCondLst>
                                    <p:cond delay="0"/>
                                  </p:stCondLst>
                                  <p:childTnLst>
                                    <p:set>
                                      <p:cBhvr>
                                        <p:cTn id="80" dur="1" fill="hold">
                                          <p:stCondLst>
                                            <p:cond delay="0"/>
                                          </p:stCondLst>
                                        </p:cTn>
                                        <p:tgtEl>
                                          <p:spTgt spid="10"/>
                                        </p:tgtEl>
                                        <p:attrNameLst>
                                          <p:attrName>style.visibility</p:attrName>
                                        </p:attrNameLst>
                                      </p:cBhvr>
                                      <p:to>
                                        <p:strVal val="visible"/>
                                      </p:to>
                                    </p:set>
                                    <p:animEffect transition="in" filter="fade">
                                      <p:cBhvr>
                                        <p:cTn id="81" dur="500"/>
                                        <p:tgtEl>
                                          <p:spTgt spid="10"/>
                                        </p:tgtEl>
                                      </p:cBhvr>
                                    </p:animEffect>
                                  </p:childTnLst>
                                </p:cTn>
                              </p:par>
                              <p:par>
                                <p:cTn id="82" presetID="10" presetClass="entr" presetSubtype="0" fill="hold" grpId="0" nodeType="withEffect">
                                  <p:stCondLst>
                                    <p:cond delay="0"/>
                                  </p:stCondLst>
                                  <p:childTnLst>
                                    <p:set>
                                      <p:cBhvr>
                                        <p:cTn id="83" dur="1" fill="hold">
                                          <p:stCondLst>
                                            <p:cond delay="0"/>
                                          </p:stCondLst>
                                        </p:cTn>
                                        <p:tgtEl>
                                          <p:spTgt spid="3">
                                            <p:txEl>
                                              <p:pRg st="0" end="0"/>
                                            </p:txEl>
                                          </p:spTgt>
                                        </p:tgtEl>
                                        <p:attrNameLst>
                                          <p:attrName>style.visibility</p:attrName>
                                        </p:attrNameLst>
                                      </p:cBhvr>
                                      <p:to>
                                        <p:strVal val="visible"/>
                                      </p:to>
                                    </p:set>
                                    <p:animEffect transition="in" filter="fade">
                                      <p:cBhvr>
                                        <p:cTn id="84" dur="500"/>
                                        <p:tgtEl>
                                          <p:spTgt spid="3">
                                            <p:txEl>
                                              <p:pRg st="0" end="0"/>
                                            </p:txEl>
                                          </p:spTgt>
                                        </p:tgtEl>
                                      </p:cBhvr>
                                    </p:animEffect>
                                  </p:childTnLst>
                                </p:cTn>
                              </p:par>
                            </p:childTnLst>
                          </p:cTn>
                        </p:par>
                      </p:childTnLst>
                    </p:cTn>
                  </p:par>
                  <p:par>
                    <p:cTn id="85" fill="hold">
                      <p:stCondLst>
                        <p:cond delay="indefinite"/>
                      </p:stCondLst>
                      <p:childTnLst>
                        <p:par>
                          <p:cTn id="86" fill="hold">
                            <p:stCondLst>
                              <p:cond delay="0"/>
                            </p:stCondLst>
                            <p:childTnLst>
                              <p:par>
                                <p:cTn id="87" presetID="10" presetClass="entr" presetSubtype="0" fill="hold" nodeType="clickEffect">
                                  <p:stCondLst>
                                    <p:cond delay="0"/>
                                  </p:stCondLst>
                                  <p:childTnLst>
                                    <p:set>
                                      <p:cBhvr>
                                        <p:cTn id="88" dur="1" fill="hold">
                                          <p:stCondLst>
                                            <p:cond delay="0"/>
                                          </p:stCondLst>
                                        </p:cTn>
                                        <p:tgtEl>
                                          <p:spTgt spid="24"/>
                                        </p:tgtEl>
                                        <p:attrNameLst>
                                          <p:attrName>style.visibility</p:attrName>
                                        </p:attrNameLst>
                                      </p:cBhvr>
                                      <p:to>
                                        <p:strVal val="visible"/>
                                      </p:to>
                                    </p:set>
                                    <p:animEffect transition="in" filter="fade">
                                      <p:cBhvr>
                                        <p:cTn id="89" dur="500"/>
                                        <p:tgtEl>
                                          <p:spTgt spid="24"/>
                                        </p:tgtEl>
                                      </p:cBhvr>
                                    </p:animEffect>
                                  </p:childTnLst>
                                </p:cTn>
                              </p:par>
                              <p:par>
                                <p:cTn id="90" presetID="10" presetClass="exit" presetSubtype="0" fill="hold" nodeType="withEffect">
                                  <p:stCondLst>
                                    <p:cond delay="0"/>
                                  </p:stCondLst>
                                  <p:childTnLst>
                                    <p:animEffect transition="out" filter="fade">
                                      <p:cBhvr>
                                        <p:cTn id="91" dur="500"/>
                                        <p:tgtEl>
                                          <p:spTgt spid="27"/>
                                        </p:tgtEl>
                                      </p:cBhvr>
                                    </p:animEffect>
                                    <p:set>
                                      <p:cBhvr>
                                        <p:cTn id="92" dur="1" fill="hold">
                                          <p:stCondLst>
                                            <p:cond delay="499"/>
                                          </p:stCondLst>
                                        </p:cTn>
                                        <p:tgtEl>
                                          <p:spTgt spid="27"/>
                                        </p:tgtEl>
                                        <p:attrNameLst>
                                          <p:attrName>style.visibility</p:attrName>
                                        </p:attrNameLst>
                                      </p:cBhvr>
                                      <p:to>
                                        <p:strVal val="hidden"/>
                                      </p:to>
                                    </p:set>
                                  </p:childTnLst>
                                </p:cTn>
                              </p:par>
                              <p:par>
                                <p:cTn id="93" presetID="10" presetClass="entr" presetSubtype="0" fill="hold" nodeType="withEffect">
                                  <p:stCondLst>
                                    <p:cond delay="0"/>
                                  </p:stCondLst>
                                  <p:childTnLst>
                                    <p:set>
                                      <p:cBhvr>
                                        <p:cTn id="94" dur="1" fill="hold">
                                          <p:stCondLst>
                                            <p:cond delay="0"/>
                                          </p:stCondLst>
                                        </p:cTn>
                                        <p:tgtEl>
                                          <p:spTgt spid="29"/>
                                        </p:tgtEl>
                                        <p:attrNameLst>
                                          <p:attrName>style.visibility</p:attrName>
                                        </p:attrNameLst>
                                      </p:cBhvr>
                                      <p:to>
                                        <p:strVal val="visible"/>
                                      </p:to>
                                    </p:set>
                                    <p:animEffect transition="in" filter="fade">
                                      <p:cBhvr>
                                        <p:cTn id="95" dur="500"/>
                                        <p:tgtEl>
                                          <p:spTgt spid="29"/>
                                        </p:tgtEl>
                                      </p:cBhvr>
                                    </p:animEffect>
                                  </p:childTnLst>
                                </p:cTn>
                              </p:par>
                              <p:par>
                                <p:cTn id="96" presetID="10" presetClass="entr" presetSubtype="0" fill="hold" nodeType="withEffect">
                                  <p:stCondLst>
                                    <p:cond delay="0"/>
                                  </p:stCondLst>
                                  <p:childTnLst>
                                    <p:set>
                                      <p:cBhvr>
                                        <p:cTn id="97" dur="1" fill="hold">
                                          <p:stCondLst>
                                            <p:cond delay="0"/>
                                          </p:stCondLst>
                                        </p:cTn>
                                        <p:tgtEl>
                                          <p:spTgt spid="18"/>
                                        </p:tgtEl>
                                        <p:attrNameLst>
                                          <p:attrName>style.visibility</p:attrName>
                                        </p:attrNameLst>
                                      </p:cBhvr>
                                      <p:to>
                                        <p:strVal val="visible"/>
                                      </p:to>
                                    </p:set>
                                    <p:animEffect transition="in" filter="fade">
                                      <p:cBhvr>
                                        <p:cTn id="98" dur="500"/>
                                        <p:tgtEl>
                                          <p:spTgt spid="18"/>
                                        </p:tgtEl>
                                      </p:cBhvr>
                                    </p:animEffect>
                                  </p:childTnLst>
                                </p:cTn>
                              </p:par>
                            </p:childTnLst>
                          </p:cTn>
                        </p:par>
                        <p:par>
                          <p:cTn id="99" fill="hold">
                            <p:stCondLst>
                              <p:cond delay="500"/>
                            </p:stCondLst>
                            <p:childTnLst>
                              <p:par>
                                <p:cTn id="100" presetID="10" presetClass="entr" presetSubtype="0" fill="hold" nodeType="afterEffect">
                                  <p:stCondLst>
                                    <p:cond delay="0"/>
                                  </p:stCondLst>
                                  <p:childTnLst>
                                    <p:set>
                                      <p:cBhvr>
                                        <p:cTn id="101" dur="1" fill="hold">
                                          <p:stCondLst>
                                            <p:cond delay="0"/>
                                          </p:stCondLst>
                                        </p:cTn>
                                        <p:tgtEl>
                                          <p:spTgt spid="5"/>
                                        </p:tgtEl>
                                        <p:attrNameLst>
                                          <p:attrName>style.visibility</p:attrName>
                                        </p:attrNameLst>
                                      </p:cBhvr>
                                      <p:to>
                                        <p:strVal val="visible"/>
                                      </p:to>
                                    </p:set>
                                    <p:animEffect transition="in" filter="fade">
                                      <p:cBhvr>
                                        <p:cTn id="102" dur="500"/>
                                        <p:tgtEl>
                                          <p:spTgt spid="5"/>
                                        </p:tgtEl>
                                      </p:cBhvr>
                                    </p:animEffect>
                                  </p:childTnLst>
                                </p:cTn>
                              </p:par>
                            </p:childTnLst>
                          </p:cTn>
                        </p:par>
                      </p:childTnLst>
                    </p:cTn>
                  </p:par>
                  <p:par>
                    <p:cTn id="103" fill="hold">
                      <p:stCondLst>
                        <p:cond delay="indefinite"/>
                      </p:stCondLst>
                      <p:childTnLst>
                        <p:par>
                          <p:cTn id="104" fill="hold">
                            <p:stCondLst>
                              <p:cond delay="0"/>
                            </p:stCondLst>
                            <p:childTnLst>
                              <p:par>
                                <p:cTn id="105" presetID="10" presetClass="entr" presetSubtype="0" fill="hold" nodeType="clickEffect">
                                  <p:stCondLst>
                                    <p:cond delay="0"/>
                                  </p:stCondLst>
                                  <p:childTnLst>
                                    <p:set>
                                      <p:cBhvr>
                                        <p:cTn id="106" dur="1" fill="hold">
                                          <p:stCondLst>
                                            <p:cond delay="0"/>
                                          </p:stCondLst>
                                        </p:cTn>
                                        <p:tgtEl>
                                          <p:spTgt spid="39"/>
                                        </p:tgtEl>
                                        <p:attrNameLst>
                                          <p:attrName>style.visibility</p:attrName>
                                        </p:attrNameLst>
                                      </p:cBhvr>
                                      <p:to>
                                        <p:strVal val="visible"/>
                                      </p:to>
                                    </p:set>
                                    <p:animEffect transition="in" filter="fade">
                                      <p:cBhvr>
                                        <p:cTn id="107" dur="500"/>
                                        <p:tgtEl>
                                          <p:spTgt spid="39"/>
                                        </p:tgtEl>
                                      </p:cBhvr>
                                    </p:animEffect>
                                  </p:childTnLst>
                                </p:cTn>
                              </p:par>
                              <p:par>
                                <p:cTn id="108" presetID="10" presetClass="entr" presetSubtype="0" fill="hold" nodeType="withEffect">
                                  <p:stCondLst>
                                    <p:cond delay="0"/>
                                  </p:stCondLst>
                                  <p:childTnLst>
                                    <p:set>
                                      <p:cBhvr>
                                        <p:cTn id="109" dur="1" fill="hold">
                                          <p:stCondLst>
                                            <p:cond delay="0"/>
                                          </p:stCondLst>
                                        </p:cTn>
                                        <p:tgtEl>
                                          <p:spTgt spid="41"/>
                                        </p:tgtEl>
                                        <p:attrNameLst>
                                          <p:attrName>style.visibility</p:attrName>
                                        </p:attrNameLst>
                                      </p:cBhvr>
                                      <p:to>
                                        <p:strVal val="visible"/>
                                      </p:to>
                                    </p:set>
                                    <p:animEffect transition="in" filter="fade">
                                      <p:cBhvr>
                                        <p:cTn id="110" dur="500"/>
                                        <p:tgtEl>
                                          <p:spTgt spid="41"/>
                                        </p:tgtEl>
                                      </p:cBhvr>
                                    </p:animEffect>
                                  </p:childTnLst>
                                </p:cTn>
                              </p:par>
                              <p:par>
                                <p:cTn id="111" presetID="10" presetClass="exit" presetSubtype="0" fill="hold" nodeType="withEffect">
                                  <p:stCondLst>
                                    <p:cond delay="0"/>
                                  </p:stCondLst>
                                  <p:childTnLst>
                                    <p:animEffect transition="out" filter="fade">
                                      <p:cBhvr>
                                        <p:cTn id="112" dur="500"/>
                                        <p:tgtEl>
                                          <p:spTgt spid="43"/>
                                        </p:tgtEl>
                                      </p:cBhvr>
                                    </p:animEffect>
                                    <p:set>
                                      <p:cBhvr>
                                        <p:cTn id="113" dur="1" fill="hold">
                                          <p:stCondLst>
                                            <p:cond delay="499"/>
                                          </p:stCondLst>
                                        </p:cTn>
                                        <p:tgtEl>
                                          <p:spTgt spid="43"/>
                                        </p:tgtEl>
                                        <p:attrNameLst>
                                          <p:attrName>style.visibility</p:attrName>
                                        </p:attrNameLst>
                                      </p:cBhvr>
                                      <p:to>
                                        <p:strVal val="hidden"/>
                                      </p:to>
                                    </p:set>
                                  </p:childTnLst>
                                </p:cTn>
                              </p:par>
                              <p:par>
                                <p:cTn id="114" presetID="10" presetClass="exit" presetSubtype="0" fill="hold" nodeType="withEffect">
                                  <p:stCondLst>
                                    <p:cond delay="0"/>
                                  </p:stCondLst>
                                  <p:childTnLst>
                                    <p:animEffect transition="out" filter="fade">
                                      <p:cBhvr>
                                        <p:cTn id="115" dur="500"/>
                                        <p:tgtEl>
                                          <p:spTgt spid="29"/>
                                        </p:tgtEl>
                                      </p:cBhvr>
                                    </p:animEffect>
                                    <p:set>
                                      <p:cBhvr>
                                        <p:cTn id="116" dur="1" fill="hold">
                                          <p:stCondLst>
                                            <p:cond delay="499"/>
                                          </p:stCondLst>
                                        </p:cTn>
                                        <p:tgtEl>
                                          <p:spTgt spid="29"/>
                                        </p:tgtEl>
                                        <p:attrNameLst>
                                          <p:attrName>style.visibility</p:attrName>
                                        </p:attrNameLst>
                                      </p:cBhvr>
                                      <p:to>
                                        <p:strVal val="hidden"/>
                                      </p:to>
                                    </p:set>
                                  </p:childTnLst>
                                </p:cTn>
                              </p:par>
                            </p:childTnLst>
                          </p:cTn>
                        </p:par>
                      </p:childTnLst>
                    </p:cTn>
                  </p:par>
                  <p:par>
                    <p:cTn id="117" fill="hold">
                      <p:stCondLst>
                        <p:cond delay="indefinite"/>
                      </p:stCondLst>
                      <p:childTnLst>
                        <p:par>
                          <p:cTn id="118" fill="hold">
                            <p:stCondLst>
                              <p:cond delay="0"/>
                            </p:stCondLst>
                            <p:childTnLst>
                              <p:par>
                                <p:cTn id="119" presetID="10" presetClass="entr" presetSubtype="0" fill="hold" nodeType="clickEffect">
                                  <p:stCondLst>
                                    <p:cond delay="0"/>
                                  </p:stCondLst>
                                  <p:childTnLst>
                                    <p:set>
                                      <p:cBhvr>
                                        <p:cTn id="120" dur="1" fill="hold">
                                          <p:stCondLst>
                                            <p:cond delay="0"/>
                                          </p:stCondLst>
                                        </p:cTn>
                                        <p:tgtEl>
                                          <p:spTgt spid="20"/>
                                        </p:tgtEl>
                                        <p:attrNameLst>
                                          <p:attrName>style.visibility</p:attrName>
                                        </p:attrNameLst>
                                      </p:cBhvr>
                                      <p:to>
                                        <p:strVal val="visible"/>
                                      </p:to>
                                    </p:set>
                                    <p:animEffect transition="in" filter="fade">
                                      <p:cBhvr>
                                        <p:cTn id="121" dur="500"/>
                                        <p:tgtEl>
                                          <p:spTgt spid="20"/>
                                        </p:tgtEl>
                                      </p:cBhvr>
                                    </p:animEffect>
                                  </p:childTnLst>
                                </p:cTn>
                              </p:par>
                              <p:par>
                                <p:cTn id="122" presetID="10" presetClass="entr" presetSubtype="0" fill="hold" grpId="0" nodeType="withEffect">
                                  <p:stCondLst>
                                    <p:cond delay="0"/>
                                  </p:stCondLst>
                                  <p:childTnLst>
                                    <p:set>
                                      <p:cBhvr>
                                        <p:cTn id="123" dur="1" fill="hold">
                                          <p:stCondLst>
                                            <p:cond delay="0"/>
                                          </p:stCondLst>
                                        </p:cTn>
                                        <p:tgtEl>
                                          <p:spTgt spid="49">
                                            <p:txEl>
                                              <p:pRg st="0" end="0"/>
                                            </p:txEl>
                                          </p:spTgt>
                                        </p:tgtEl>
                                        <p:attrNameLst>
                                          <p:attrName>style.visibility</p:attrName>
                                        </p:attrNameLst>
                                      </p:cBhvr>
                                      <p:to>
                                        <p:strVal val="visible"/>
                                      </p:to>
                                    </p:set>
                                    <p:animEffect transition="in" filter="fade">
                                      <p:cBhvr>
                                        <p:cTn id="124" dur="500"/>
                                        <p:tgtEl>
                                          <p:spTgt spid="49">
                                            <p:txEl>
                                              <p:pRg st="0" end="0"/>
                                            </p:txEl>
                                          </p:spTgt>
                                        </p:tgtEl>
                                      </p:cBhvr>
                                    </p:animEffect>
                                  </p:childTnLst>
                                </p:cTn>
                              </p:par>
                            </p:childTnLst>
                          </p:cTn>
                        </p:par>
                      </p:childTnLst>
                    </p:cTn>
                  </p:par>
                  <p:par>
                    <p:cTn id="125" fill="hold">
                      <p:stCondLst>
                        <p:cond delay="indefinite"/>
                      </p:stCondLst>
                      <p:childTnLst>
                        <p:par>
                          <p:cTn id="126" fill="hold">
                            <p:stCondLst>
                              <p:cond delay="0"/>
                            </p:stCondLst>
                            <p:childTnLst>
                              <p:par>
                                <p:cTn id="127" presetID="10" presetClass="entr" presetSubtype="0" fill="hold" nodeType="clickEffect">
                                  <p:stCondLst>
                                    <p:cond delay="0"/>
                                  </p:stCondLst>
                                  <p:childTnLst>
                                    <p:set>
                                      <p:cBhvr>
                                        <p:cTn id="128" dur="1" fill="hold">
                                          <p:stCondLst>
                                            <p:cond delay="0"/>
                                          </p:stCondLst>
                                        </p:cTn>
                                        <p:tgtEl>
                                          <p:spTgt spid="28"/>
                                        </p:tgtEl>
                                        <p:attrNameLst>
                                          <p:attrName>style.visibility</p:attrName>
                                        </p:attrNameLst>
                                      </p:cBhvr>
                                      <p:to>
                                        <p:strVal val="visible"/>
                                      </p:to>
                                    </p:set>
                                    <p:animEffect transition="in" filter="fade">
                                      <p:cBhvr>
                                        <p:cTn id="129" dur="500"/>
                                        <p:tgtEl>
                                          <p:spTgt spid="28"/>
                                        </p:tgtEl>
                                      </p:cBhvr>
                                    </p:animEffect>
                                  </p:childTnLst>
                                </p:cTn>
                              </p:par>
                              <p:par>
                                <p:cTn id="130" presetID="42" presetClass="path" presetSubtype="0" accel="50000" decel="50000" fill="hold" nodeType="withEffect">
                                  <p:stCondLst>
                                    <p:cond delay="0"/>
                                  </p:stCondLst>
                                  <p:childTnLst>
                                    <p:animMotion origin="layout" path="M 3.61111E-6 -1.23457E-6 L -0.00035 0.20803 " pathEditMode="relative" rAng="0" ptsTypes="AA">
                                      <p:cBhvr>
                                        <p:cTn id="131" dur="1000" fill="hold"/>
                                        <p:tgtEl>
                                          <p:spTgt spid="28"/>
                                        </p:tgtEl>
                                        <p:attrNameLst>
                                          <p:attrName>ppt_x</p:attrName>
                                          <p:attrName>ppt_y</p:attrName>
                                        </p:attrNameLst>
                                      </p:cBhvr>
                                      <p:rCtr x="-17" y="10401"/>
                                    </p:animMotion>
                                  </p:childTnLst>
                                </p:cTn>
                              </p:par>
                              <p:par>
                                <p:cTn id="132" presetID="10" presetClass="exit" presetSubtype="0" fill="hold" nodeType="withEffect">
                                  <p:stCondLst>
                                    <p:cond delay="500"/>
                                  </p:stCondLst>
                                  <p:childTnLst>
                                    <p:animEffect transition="out" filter="fade">
                                      <p:cBhvr>
                                        <p:cTn id="133" dur="500"/>
                                        <p:tgtEl>
                                          <p:spTgt spid="28"/>
                                        </p:tgtEl>
                                      </p:cBhvr>
                                    </p:animEffect>
                                    <p:set>
                                      <p:cBhvr>
                                        <p:cTn id="134" dur="1" fill="hold">
                                          <p:stCondLst>
                                            <p:cond delay="499"/>
                                          </p:stCondLst>
                                        </p:cTn>
                                        <p:tgtEl>
                                          <p:spTgt spid="28"/>
                                        </p:tgtEl>
                                        <p:attrNameLst>
                                          <p:attrName>style.visibility</p:attrName>
                                        </p:attrNameLst>
                                      </p:cBhvr>
                                      <p:to>
                                        <p:strVal val="hidden"/>
                                      </p:to>
                                    </p:set>
                                  </p:childTnLst>
                                </p:cTn>
                              </p:par>
                              <p:par>
                                <p:cTn id="135" presetID="6" presetClass="emph" presetSubtype="0" fill="hold" nodeType="withEffect">
                                  <p:stCondLst>
                                    <p:cond delay="500"/>
                                  </p:stCondLst>
                                  <p:childTnLst>
                                    <p:animScale>
                                      <p:cBhvr>
                                        <p:cTn id="136" dur="500" fill="hold"/>
                                        <p:tgtEl>
                                          <p:spTgt spid="14"/>
                                        </p:tgtEl>
                                      </p:cBhvr>
                                      <p:by x="150000" y="150000"/>
                                    </p:animScale>
                                  </p:childTnLst>
                                </p:cTn>
                              </p:par>
                            </p:childTnLst>
                          </p:cTn>
                        </p:par>
                      </p:childTnLst>
                    </p:cTn>
                  </p:par>
                  <p:par>
                    <p:cTn id="137" fill="hold">
                      <p:stCondLst>
                        <p:cond delay="indefinite"/>
                      </p:stCondLst>
                      <p:childTnLst>
                        <p:par>
                          <p:cTn id="138" fill="hold">
                            <p:stCondLst>
                              <p:cond delay="0"/>
                            </p:stCondLst>
                            <p:childTnLst>
                              <p:par>
                                <p:cTn id="139" presetID="10" presetClass="entr" presetSubtype="0" fill="hold" nodeType="clickEffect">
                                  <p:stCondLst>
                                    <p:cond delay="0"/>
                                  </p:stCondLst>
                                  <p:childTnLst>
                                    <p:set>
                                      <p:cBhvr>
                                        <p:cTn id="140" dur="1" fill="hold">
                                          <p:stCondLst>
                                            <p:cond delay="0"/>
                                          </p:stCondLst>
                                        </p:cTn>
                                        <p:tgtEl>
                                          <p:spTgt spid="38"/>
                                        </p:tgtEl>
                                        <p:attrNameLst>
                                          <p:attrName>style.visibility</p:attrName>
                                        </p:attrNameLst>
                                      </p:cBhvr>
                                      <p:to>
                                        <p:strVal val="visible"/>
                                      </p:to>
                                    </p:set>
                                    <p:animEffect transition="in" filter="fade">
                                      <p:cBhvr>
                                        <p:cTn id="141" dur="500"/>
                                        <p:tgtEl>
                                          <p:spTgt spid="38"/>
                                        </p:tgtEl>
                                      </p:cBhvr>
                                    </p:animEffect>
                                  </p:childTnLst>
                                </p:cTn>
                              </p:par>
                              <p:par>
                                <p:cTn id="142" presetID="10" presetClass="exit" presetSubtype="0" fill="hold" nodeType="withEffect">
                                  <p:stCondLst>
                                    <p:cond delay="0"/>
                                  </p:stCondLst>
                                  <p:childTnLst>
                                    <p:animEffect transition="out" filter="fade">
                                      <p:cBhvr>
                                        <p:cTn id="143" dur="500"/>
                                        <p:tgtEl>
                                          <p:spTgt spid="32"/>
                                        </p:tgtEl>
                                      </p:cBhvr>
                                    </p:animEffect>
                                    <p:set>
                                      <p:cBhvr>
                                        <p:cTn id="144" dur="1" fill="hold">
                                          <p:stCondLst>
                                            <p:cond delay="499"/>
                                          </p:stCondLst>
                                        </p:cTn>
                                        <p:tgtEl>
                                          <p:spTgt spid="32"/>
                                        </p:tgtEl>
                                        <p:attrNameLst>
                                          <p:attrName>style.visibility</p:attrName>
                                        </p:attrNameLst>
                                      </p:cBhvr>
                                      <p:to>
                                        <p:strVal val="hidden"/>
                                      </p:to>
                                    </p:set>
                                  </p:childTnLst>
                                </p:cTn>
                              </p:par>
                              <p:par>
                                <p:cTn id="145" presetID="10" presetClass="entr" presetSubtype="0" fill="hold" nodeType="withEffect">
                                  <p:stCondLst>
                                    <p:cond delay="0"/>
                                  </p:stCondLst>
                                  <p:childTnLst>
                                    <p:set>
                                      <p:cBhvr>
                                        <p:cTn id="146" dur="1" fill="hold">
                                          <p:stCondLst>
                                            <p:cond delay="0"/>
                                          </p:stCondLst>
                                        </p:cTn>
                                        <p:tgtEl>
                                          <p:spTgt spid="37"/>
                                        </p:tgtEl>
                                        <p:attrNameLst>
                                          <p:attrName>style.visibility</p:attrName>
                                        </p:attrNameLst>
                                      </p:cBhvr>
                                      <p:to>
                                        <p:strVal val="visible"/>
                                      </p:to>
                                    </p:set>
                                    <p:animEffect transition="in" filter="fade">
                                      <p:cBhvr>
                                        <p:cTn id="147" dur="500"/>
                                        <p:tgtEl>
                                          <p:spTgt spid="37"/>
                                        </p:tgtEl>
                                      </p:cBhvr>
                                    </p:animEffect>
                                  </p:childTnLst>
                                </p:cTn>
                              </p:par>
                              <p:par>
                                <p:cTn id="148" presetID="10" presetClass="exit" presetSubtype="0" fill="hold" nodeType="withEffect">
                                  <p:stCondLst>
                                    <p:cond delay="0"/>
                                  </p:stCondLst>
                                  <p:childTnLst>
                                    <p:animEffect transition="out" filter="fade">
                                      <p:cBhvr>
                                        <p:cTn id="149" dur="500"/>
                                        <p:tgtEl>
                                          <p:spTgt spid="41"/>
                                        </p:tgtEl>
                                      </p:cBhvr>
                                    </p:animEffect>
                                    <p:set>
                                      <p:cBhvr>
                                        <p:cTn id="150" dur="1" fill="hold">
                                          <p:stCondLst>
                                            <p:cond delay="499"/>
                                          </p:stCondLst>
                                        </p:cTn>
                                        <p:tgtEl>
                                          <p:spTgt spid="41"/>
                                        </p:tgtEl>
                                        <p:attrNameLst>
                                          <p:attrName>style.visibility</p:attrName>
                                        </p:attrNameLst>
                                      </p:cBhvr>
                                      <p:to>
                                        <p:strVal val="hidden"/>
                                      </p:to>
                                    </p:set>
                                  </p:childTnLst>
                                </p:cTn>
                              </p:par>
                              <p:par>
                                <p:cTn id="151" presetID="10" presetClass="entr" presetSubtype="0" fill="hold" nodeType="withEffect">
                                  <p:stCondLst>
                                    <p:cond delay="0"/>
                                  </p:stCondLst>
                                  <p:childTnLst>
                                    <p:set>
                                      <p:cBhvr>
                                        <p:cTn id="152" dur="1" fill="hold">
                                          <p:stCondLst>
                                            <p:cond delay="0"/>
                                          </p:stCondLst>
                                        </p:cTn>
                                        <p:tgtEl>
                                          <p:spTgt spid="11"/>
                                        </p:tgtEl>
                                        <p:attrNameLst>
                                          <p:attrName>style.visibility</p:attrName>
                                        </p:attrNameLst>
                                      </p:cBhvr>
                                      <p:to>
                                        <p:strVal val="visible"/>
                                      </p:to>
                                    </p:set>
                                    <p:animEffect transition="in" filter="fade">
                                      <p:cBhvr>
                                        <p:cTn id="153" dur="500"/>
                                        <p:tgtEl>
                                          <p:spTgt spid="11"/>
                                        </p:tgtEl>
                                      </p:cBhvr>
                                    </p:animEffect>
                                  </p:childTnLst>
                                </p:cTn>
                              </p:par>
                            </p:childTnLst>
                          </p:cTn>
                        </p:par>
                      </p:childTnLst>
                    </p:cTn>
                  </p:par>
                  <p:par>
                    <p:cTn id="154" fill="hold">
                      <p:stCondLst>
                        <p:cond delay="indefinite"/>
                      </p:stCondLst>
                      <p:childTnLst>
                        <p:par>
                          <p:cTn id="155" fill="hold">
                            <p:stCondLst>
                              <p:cond delay="0"/>
                            </p:stCondLst>
                            <p:childTnLst>
                              <p:par>
                                <p:cTn id="156" presetID="10" presetClass="entr" presetSubtype="0" fill="hold" nodeType="clickEffect">
                                  <p:stCondLst>
                                    <p:cond delay="0"/>
                                  </p:stCondLst>
                                  <p:childTnLst>
                                    <p:set>
                                      <p:cBhvr>
                                        <p:cTn id="157" dur="1" fill="hold">
                                          <p:stCondLst>
                                            <p:cond delay="0"/>
                                          </p:stCondLst>
                                        </p:cTn>
                                        <p:tgtEl>
                                          <p:spTgt spid="12"/>
                                        </p:tgtEl>
                                        <p:attrNameLst>
                                          <p:attrName>style.visibility</p:attrName>
                                        </p:attrNameLst>
                                      </p:cBhvr>
                                      <p:to>
                                        <p:strVal val="visible"/>
                                      </p:to>
                                    </p:set>
                                    <p:animEffect transition="in" filter="fade">
                                      <p:cBhvr>
                                        <p:cTn id="158" dur="500"/>
                                        <p:tgtEl>
                                          <p:spTgt spid="12"/>
                                        </p:tgtEl>
                                      </p:cBhvr>
                                    </p:animEffect>
                                  </p:childTnLst>
                                </p:cTn>
                              </p:par>
                              <p:par>
                                <p:cTn id="159" presetID="10" presetClass="entr" presetSubtype="0" fill="hold" grpId="0" nodeType="withEffect">
                                  <p:stCondLst>
                                    <p:cond delay="0"/>
                                  </p:stCondLst>
                                  <p:childTnLst>
                                    <p:set>
                                      <p:cBhvr>
                                        <p:cTn id="160" dur="1" fill="hold">
                                          <p:stCondLst>
                                            <p:cond delay="0"/>
                                          </p:stCondLst>
                                        </p:cTn>
                                        <p:tgtEl>
                                          <p:spTgt spid="13"/>
                                        </p:tgtEl>
                                        <p:attrNameLst>
                                          <p:attrName>style.visibility</p:attrName>
                                        </p:attrNameLst>
                                      </p:cBhvr>
                                      <p:to>
                                        <p:strVal val="visible"/>
                                      </p:to>
                                    </p:set>
                                    <p:animEffect transition="in" filter="fade">
                                      <p:cBhvr>
                                        <p:cTn id="161"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13" grpId="0"/>
      <p:bldP spid="9" grpId="0" uiExpand="1" build="p"/>
      <p:bldP spid="49"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657E1F2-8C28-9CC6-3BA5-DE15EEB194E8}"/>
              </a:ext>
            </a:extLst>
          </p:cNvPr>
          <p:cNvSpPr>
            <a:spLocks noGrp="1"/>
          </p:cNvSpPr>
          <p:nvPr>
            <p:ph type="ctrTitle"/>
          </p:nvPr>
        </p:nvSpPr>
        <p:spPr/>
        <p:txBody>
          <a:bodyPr/>
          <a:lstStyle/>
          <a:p>
            <a:r>
              <a:rPr lang="de-DE" noProof="1">
                <a:latin typeface="+mn-lt"/>
              </a:rPr>
              <a:t>Conversation as a basis</a:t>
            </a:r>
          </a:p>
        </p:txBody>
      </p:sp>
      <p:sp>
        <p:nvSpPr>
          <p:cNvPr id="5" name="Vertikaler Textplatzhalter 4">
            <a:extLst>
              <a:ext uri="{FF2B5EF4-FFF2-40B4-BE49-F238E27FC236}">
                <a16:creationId xmlns:a16="http://schemas.microsoft.com/office/drawing/2014/main" id="{51F61099-972B-9257-3897-476EA6922754}"/>
              </a:ext>
            </a:extLst>
          </p:cNvPr>
          <p:cNvSpPr>
            <a:spLocks noGrp="1"/>
          </p:cNvSpPr>
          <p:nvPr>
            <p:ph type="body" orient="vert" sz="quarter" idx="18"/>
          </p:nvPr>
        </p:nvSpPr>
        <p:spPr/>
        <p:txBody>
          <a:bodyPr/>
          <a:lstStyle/>
          <a:p>
            <a:endParaRPr lang="de-DE" noProof="1"/>
          </a:p>
        </p:txBody>
      </p:sp>
      <p:sp>
        <p:nvSpPr>
          <p:cNvPr id="6" name="Datumsplatzhalter 5">
            <a:extLst>
              <a:ext uri="{FF2B5EF4-FFF2-40B4-BE49-F238E27FC236}">
                <a16:creationId xmlns:a16="http://schemas.microsoft.com/office/drawing/2014/main" id="{66857F75-1AB5-4B2B-7494-4EA6F124A542}"/>
              </a:ext>
            </a:extLst>
          </p:cNvPr>
          <p:cNvSpPr>
            <a:spLocks noGrp="1"/>
          </p:cNvSpPr>
          <p:nvPr>
            <p:ph type="dt" sz="half" idx="10"/>
          </p:nvPr>
        </p:nvSpPr>
        <p:spPr/>
        <p:txBody>
          <a:bodyPr/>
          <a:lstStyle/>
          <a:p>
            <a:r>
              <a:rPr lang="en-US" noProof="1"/>
              <a:t>18.08.2025</a:t>
            </a:r>
            <a:endParaRPr lang="de-DE" noProof="1"/>
          </a:p>
        </p:txBody>
      </p:sp>
      <p:sp>
        <p:nvSpPr>
          <p:cNvPr id="7" name="Fußzeilenplatzhalter 6">
            <a:extLst>
              <a:ext uri="{FF2B5EF4-FFF2-40B4-BE49-F238E27FC236}">
                <a16:creationId xmlns:a16="http://schemas.microsoft.com/office/drawing/2014/main" id="{133FA721-1DB3-92C3-4321-12ED449F9D57}"/>
              </a:ext>
            </a:extLst>
          </p:cNvPr>
          <p:cNvSpPr>
            <a:spLocks noGrp="1"/>
          </p:cNvSpPr>
          <p:nvPr>
            <p:ph type="ftr" sz="quarter" idx="11"/>
          </p:nvPr>
        </p:nvSpPr>
        <p:spPr/>
        <p:txBody>
          <a:bodyPr/>
          <a:lstStyle/>
          <a:p>
            <a:r>
              <a:rPr lang="en-US" noProof="1"/>
              <a:t>Enhancing model transparency: Effects of DK Integration for Conversational XAI | Feustel</a:t>
            </a:r>
            <a:endParaRPr lang="de-DE" noProof="1"/>
          </a:p>
        </p:txBody>
      </p:sp>
      <p:sp>
        <p:nvSpPr>
          <p:cNvPr id="8" name="Foliennummernplatzhalter 7">
            <a:extLst>
              <a:ext uri="{FF2B5EF4-FFF2-40B4-BE49-F238E27FC236}">
                <a16:creationId xmlns:a16="http://schemas.microsoft.com/office/drawing/2014/main" id="{0F517CCC-138F-81D3-B03F-326E22C2FED1}"/>
              </a:ext>
            </a:extLst>
          </p:cNvPr>
          <p:cNvSpPr>
            <a:spLocks noGrp="1"/>
          </p:cNvSpPr>
          <p:nvPr>
            <p:ph type="sldNum" sz="quarter" idx="12"/>
          </p:nvPr>
        </p:nvSpPr>
        <p:spPr/>
        <p:txBody>
          <a:bodyPr/>
          <a:lstStyle/>
          <a:p>
            <a:r>
              <a:rPr lang="de-DE" noProof="1"/>
              <a:t> </a:t>
            </a:r>
            <a:fld id="{FE120BDC-5456-EC41-8BB6-7A3B726EA19B}" type="slidenum">
              <a:rPr lang="de-DE" noProof="1" smtClean="0"/>
              <a:pPr/>
              <a:t>5</a:t>
            </a:fld>
            <a:endParaRPr lang="de-DE" noProof="1"/>
          </a:p>
        </p:txBody>
      </p:sp>
      <p:pic>
        <p:nvPicPr>
          <p:cNvPr id="12" name="Grafik 11">
            <a:extLst>
              <a:ext uri="{FF2B5EF4-FFF2-40B4-BE49-F238E27FC236}">
                <a16:creationId xmlns:a16="http://schemas.microsoft.com/office/drawing/2014/main" id="{2E1E2C22-82EA-2E8F-3615-2E67004A0462}"/>
              </a:ext>
            </a:extLst>
          </p:cNvPr>
          <p:cNvPicPr>
            <a:picLocks noChangeAspect="1"/>
          </p:cNvPicPr>
          <p:nvPr/>
        </p:nvPicPr>
        <p:blipFill>
          <a:blip r:embed="rId3">
            <a:duotone>
              <a:schemeClr val="accent1">
                <a:shade val="45000"/>
                <a:satMod val="135000"/>
              </a:schemeClr>
              <a:prstClr val="white"/>
            </a:duotone>
          </a:blip>
          <a:stretch>
            <a:fillRect/>
          </a:stretch>
        </p:blipFill>
        <p:spPr>
          <a:xfrm>
            <a:off x="403380" y="2132768"/>
            <a:ext cx="570745" cy="570745"/>
          </a:xfrm>
          <a:prstGeom prst="rect">
            <a:avLst/>
          </a:prstGeom>
          <a:ln>
            <a:noFill/>
          </a:ln>
        </p:spPr>
      </p:pic>
      <p:pic>
        <p:nvPicPr>
          <p:cNvPr id="14" name="Grafik 13">
            <a:extLst>
              <a:ext uri="{FF2B5EF4-FFF2-40B4-BE49-F238E27FC236}">
                <a16:creationId xmlns:a16="http://schemas.microsoft.com/office/drawing/2014/main" id="{931B0142-5DFF-840B-9647-1449A8B15361}"/>
              </a:ext>
            </a:extLst>
          </p:cNvPr>
          <p:cNvPicPr>
            <a:picLocks noChangeAspect="1"/>
          </p:cNvPicPr>
          <p:nvPr/>
        </p:nvPicPr>
        <p:blipFill>
          <a:blip r:embed="rId4">
            <a:duotone>
              <a:schemeClr val="accent1">
                <a:shade val="45000"/>
                <a:satMod val="135000"/>
              </a:schemeClr>
              <a:prstClr val="white"/>
            </a:duotone>
          </a:blip>
          <a:stretch>
            <a:fillRect/>
          </a:stretch>
        </p:blipFill>
        <p:spPr>
          <a:xfrm>
            <a:off x="403379" y="3041021"/>
            <a:ext cx="570745" cy="570745"/>
          </a:xfrm>
          <a:prstGeom prst="rect">
            <a:avLst/>
          </a:prstGeom>
          <a:ln>
            <a:noFill/>
          </a:ln>
        </p:spPr>
      </p:pic>
      <p:pic>
        <p:nvPicPr>
          <p:cNvPr id="16" name="Grafik 15">
            <a:extLst>
              <a:ext uri="{FF2B5EF4-FFF2-40B4-BE49-F238E27FC236}">
                <a16:creationId xmlns:a16="http://schemas.microsoft.com/office/drawing/2014/main" id="{DCA837B2-F6AA-36A5-B609-572E56076BD6}"/>
              </a:ext>
            </a:extLst>
          </p:cNvPr>
          <p:cNvPicPr>
            <a:picLocks noChangeAspect="1"/>
          </p:cNvPicPr>
          <p:nvPr/>
        </p:nvPicPr>
        <p:blipFill>
          <a:blip r:embed="rId5">
            <a:duotone>
              <a:schemeClr val="accent1">
                <a:shade val="45000"/>
                <a:satMod val="135000"/>
              </a:schemeClr>
              <a:prstClr val="white"/>
            </a:duotone>
          </a:blip>
          <a:stretch>
            <a:fillRect/>
          </a:stretch>
        </p:blipFill>
        <p:spPr>
          <a:xfrm>
            <a:off x="403380" y="3932693"/>
            <a:ext cx="575996" cy="575996"/>
          </a:xfrm>
          <a:prstGeom prst="rect">
            <a:avLst/>
          </a:prstGeom>
          <a:ln>
            <a:noFill/>
          </a:ln>
        </p:spPr>
      </p:pic>
      <p:pic>
        <p:nvPicPr>
          <p:cNvPr id="15" name="Grafik 14">
            <a:extLst>
              <a:ext uri="{FF2B5EF4-FFF2-40B4-BE49-F238E27FC236}">
                <a16:creationId xmlns:a16="http://schemas.microsoft.com/office/drawing/2014/main" id="{7A2BF6AA-DF87-295B-6680-22E02BDB37C7}"/>
              </a:ext>
            </a:extLst>
          </p:cNvPr>
          <p:cNvPicPr>
            <a:picLocks noChangeAspect="1"/>
          </p:cNvPicPr>
          <p:nvPr/>
        </p:nvPicPr>
        <p:blipFill>
          <a:blip r:embed="rId6">
            <a:duotone>
              <a:schemeClr val="accent1">
                <a:shade val="45000"/>
                <a:satMod val="135000"/>
              </a:schemeClr>
              <a:prstClr val="white"/>
            </a:duotone>
          </a:blip>
          <a:stretch>
            <a:fillRect/>
          </a:stretch>
        </p:blipFill>
        <p:spPr>
          <a:xfrm>
            <a:off x="408631" y="1251908"/>
            <a:ext cx="570745" cy="570745"/>
          </a:xfrm>
          <a:prstGeom prst="rect">
            <a:avLst/>
          </a:prstGeom>
          <a:ln>
            <a:noFill/>
          </a:ln>
        </p:spPr>
      </p:pic>
      <p:sp>
        <p:nvSpPr>
          <p:cNvPr id="18" name="Inhaltsplatzhalter 2">
            <a:extLst>
              <a:ext uri="{FF2B5EF4-FFF2-40B4-BE49-F238E27FC236}">
                <a16:creationId xmlns:a16="http://schemas.microsoft.com/office/drawing/2014/main" id="{1CB15BE0-B106-4F0F-522F-FC2C3FB2C442}"/>
              </a:ext>
            </a:extLst>
          </p:cNvPr>
          <p:cNvSpPr txBox="1">
            <a:spLocks/>
          </p:cNvSpPr>
          <p:nvPr/>
        </p:nvSpPr>
        <p:spPr>
          <a:xfrm>
            <a:off x="1219106" y="2217796"/>
            <a:ext cx="5528795" cy="485898"/>
          </a:xfrm>
          <a:prstGeom prst="rect">
            <a:avLst/>
          </a:prstGeom>
        </p:spPr>
        <p:txBody>
          <a:bodyPr vert="horz" lIns="0" tIns="0" rIns="0" bIns="0" rtlCol="0" anchor="ctr">
            <a:noAutofit/>
          </a:bodyPr>
          <a:lstStyle>
            <a:lvl1pPr marL="171450" indent="-171450" algn="l" defTabSz="685800" rtl="0" eaLnBrk="1" latinLnBrk="0" hangingPunct="1">
              <a:lnSpc>
                <a:spcPct val="100000"/>
              </a:lnSpc>
              <a:spcBef>
                <a:spcPts val="750"/>
              </a:spcBef>
              <a:buClr>
                <a:srgbClr val="A32638"/>
              </a:buClr>
              <a:buFont typeface="Wingdings" pitchFamily="2" charset="2"/>
              <a:buChar char="§"/>
              <a:defRPr sz="1400" b="0" i="0" kern="1200" baseline="0">
                <a:solidFill>
                  <a:schemeClr val="tx1"/>
                </a:solidFill>
                <a:latin typeface="Arial" panose="020B0604020202020204" pitchFamily="34" charset="0"/>
                <a:ea typeface="+mn-ea"/>
                <a:cs typeface="Arial" panose="020B0604020202020204" pitchFamily="34" charset="0"/>
              </a:defRPr>
            </a:lvl1pPr>
            <a:lvl2pPr marL="514350" indent="-171450" algn="l" defTabSz="685800" rtl="0" eaLnBrk="1" latinLnBrk="0" hangingPunct="1">
              <a:lnSpc>
                <a:spcPct val="100000"/>
              </a:lnSpc>
              <a:spcBef>
                <a:spcPts val="375"/>
              </a:spcBef>
              <a:buFont typeface="Arial" panose="020B0604020202020204" pitchFamily="34" charset="0"/>
              <a:buChar char="•"/>
              <a:defRPr sz="1400" b="0" i="0" kern="1200" baseline="0">
                <a:solidFill>
                  <a:schemeClr val="tx1"/>
                </a:solidFill>
                <a:latin typeface="Arial" panose="020B0604020202020204" pitchFamily="34" charset="0"/>
                <a:ea typeface="+mn-ea"/>
                <a:cs typeface="Arial" panose="020B0604020202020204" pitchFamily="34" charset="0"/>
              </a:defRPr>
            </a:lvl2pPr>
            <a:lvl3pPr marL="857250" indent="-171450" algn="l" defTabSz="685800" rtl="0" eaLnBrk="1" latinLnBrk="0" hangingPunct="1">
              <a:lnSpc>
                <a:spcPct val="100000"/>
              </a:lnSpc>
              <a:spcBef>
                <a:spcPts val="375"/>
              </a:spcBef>
              <a:buFont typeface="Arial" panose="020B0604020202020204" pitchFamily="34" charset="0"/>
              <a:buChar char="•"/>
              <a:defRPr sz="1400" b="0" i="0" kern="1200" baseline="0">
                <a:solidFill>
                  <a:schemeClr val="tx1"/>
                </a:solidFill>
                <a:latin typeface="Arial" panose="020B0604020202020204" pitchFamily="34" charset="0"/>
                <a:ea typeface="+mn-ea"/>
                <a:cs typeface="Arial" panose="020B0604020202020204" pitchFamily="34" charset="0"/>
              </a:defRPr>
            </a:lvl3pPr>
            <a:lvl4pPr marL="1200150" indent="-171450" algn="l" defTabSz="685800" rtl="0" eaLnBrk="1" latinLnBrk="0" hangingPunct="1">
              <a:lnSpc>
                <a:spcPct val="100000"/>
              </a:lnSpc>
              <a:spcBef>
                <a:spcPts val="375"/>
              </a:spcBef>
              <a:buFont typeface="Arial" panose="020B0604020202020204" pitchFamily="34" charset="0"/>
              <a:buChar char="•"/>
              <a:defRPr sz="1400" b="0" i="0" kern="1200" baseline="0">
                <a:solidFill>
                  <a:schemeClr val="tx1"/>
                </a:solidFill>
                <a:latin typeface="Arial" panose="020B0604020202020204" pitchFamily="34" charset="0"/>
                <a:ea typeface="+mn-ea"/>
                <a:cs typeface="Arial" panose="020B0604020202020204" pitchFamily="34" charset="0"/>
              </a:defRPr>
            </a:lvl4pPr>
            <a:lvl5pPr marL="1543050" indent="-171450" algn="l" defTabSz="685800" rtl="0" eaLnBrk="1" latinLnBrk="0" hangingPunct="1">
              <a:lnSpc>
                <a:spcPct val="100000"/>
              </a:lnSpc>
              <a:spcBef>
                <a:spcPts val="375"/>
              </a:spcBef>
              <a:buFont typeface="Arial" panose="020B0604020202020204" pitchFamily="34" charset="0"/>
              <a:buChar char="•"/>
              <a:defRPr sz="1400" b="0" i="0" kern="1200" baseline="0">
                <a:solidFill>
                  <a:schemeClr val="tx1"/>
                </a:solidFill>
                <a:latin typeface="Arial" panose="020B0604020202020204" pitchFamily="34" charset="0"/>
                <a:ea typeface="+mn-ea"/>
                <a:cs typeface="Arial" panose="020B0604020202020204" pitchFamily="34"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buNone/>
            </a:pPr>
            <a:r>
              <a:rPr lang="de-DE" sz="1800" noProof="1">
                <a:latin typeface="+mn-lt"/>
                <a:cs typeface="Arial"/>
              </a:rPr>
              <a:t>Information can be splitted (No overload)</a:t>
            </a:r>
          </a:p>
        </p:txBody>
      </p:sp>
      <p:sp>
        <p:nvSpPr>
          <p:cNvPr id="19" name="Inhaltsplatzhalter 2">
            <a:extLst>
              <a:ext uri="{FF2B5EF4-FFF2-40B4-BE49-F238E27FC236}">
                <a16:creationId xmlns:a16="http://schemas.microsoft.com/office/drawing/2014/main" id="{D00AF547-D81C-74CB-7BCC-B33436F62C58}"/>
              </a:ext>
            </a:extLst>
          </p:cNvPr>
          <p:cNvSpPr txBox="1">
            <a:spLocks/>
          </p:cNvSpPr>
          <p:nvPr/>
        </p:nvSpPr>
        <p:spPr>
          <a:xfrm>
            <a:off x="1219106" y="1323149"/>
            <a:ext cx="3117812" cy="485898"/>
          </a:xfrm>
          <a:prstGeom prst="rect">
            <a:avLst/>
          </a:prstGeom>
        </p:spPr>
        <p:txBody>
          <a:bodyPr vert="horz" lIns="0" tIns="0" rIns="0" bIns="0" rtlCol="0" anchor="ctr">
            <a:noAutofit/>
          </a:bodyPr>
          <a:lstStyle>
            <a:lvl1pPr marL="171450" indent="-171450" algn="l" defTabSz="685800" rtl="0" eaLnBrk="1" latinLnBrk="0" hangingPunct="1">
              <a:lnSpc>
                <a:spcPct val="100000"/>
              </a:lnSpc>
              <a:spcBef>
                <a:spcPts val="750"/>
              </a:spcBef>
              <a:buClr>
                <a:srgbClr val="A32638"/>
              </a:buClr>
              <a:buFont typeface="Wingdings" pitchFamily="2" charset="2"/>
              <a:buChar char="§"/>
              <a:defRPr sz="1400" b="0" i="0" kern="1200" baseline="0">
                <a:solidFill>
                  <a:schemeClr val="tx1"/>
                </a:solidFill>
                <a:latin typeface="Arial" panose="020B0604020202020204" pitchFamily="34" charset="0"/>
                <a:ea typeface="+mn-ea"/>
                <a:cs typeface="Arial" panose="020B0604020202020204" pitchFamily="34" charset="0"/>
              </a:defRPr>
            </a:lvl1pPr>
            <a:lvl2pPr marL="514350" indent="-171450" algn="l" defTabSz="685800" rtl="0" eaLnBrk="1" latinLnBrk="0" hangingPunct="1">
              <a:lnSpc>
                <a:spcPct val="100000"/>
              </a:lnSpc>
              <a:spcBef>
                <a:spcPts val="375"/>
              </a:spcBef>
              <a:buFont typeface="Arial" panose="020B0604020202020204" pitchFamily="34" charset="0"/>
              <a:buChar char="•"/>
              <a:defRPr sz="1400" b="0" i="0" kern="1200" baseline="0">
                <a:solidFill>
                  <a:schemeClr val="tx1"/>
                </a:solidFill>
                <a:latin typeface="Arial" panose="020B0604020202020204" pitchFamily="34" charset="0"/>
                <a:ea typeface="+mn-ea"/>
                <a:cs typeface="Arial" panose="020B0604020202020204" pitchFamily="34" charset="0"/>
              </a:defRPr>
            </a:lvl2pPr>
            <a:lvl3pPr marL="857250" indent="-171450" algn="l" defTabSz="685800" rtl="0" eaLnBrk="1" latinLnBrk="0" hangingPunct="1">
              <a:lnSpc>
                <a:spcPct val="100000"/>
              </a:lnSpc>
              <a:spcBef>
                <a:spcPts val="375"/>
              </a:spcBef>
              <a:buFont typeface="Arial" panose="020B0604020202020204" pitchFamily="34" charset="0"/>
              <a:buChar char="•"/>
              <a:defRPr sz="1400" b="0" i="0" kern="1200" baseline="0">
                <a:solidFill>
                  <a:schemeClr val="tx1"/>
                </a:solidFill>
                <a:latin typeface="Arial" panose="020B0604020202020204" pitchFamily="34" charset="0"/>
                <a:ea typeface="+mn-ea"/>
                <a:cs typeface="Arial" panose="020B0604020202020204" pitchFamily="34" charset="0"/>
              </a:defRPr>
            </a:lvl3pPr>
            <a:lvl4pPr marL="1200150" indent="-171450" algn="l" defTabSz="685800" rtl="0" eaLnBrk="1" latinLnBrk="0" hangingPunct="1">
              <a:lnSpc>
                <a:spcPct val="100000"/>
              </a:lnSpc>
              <a:spcBef>
                <a:spcPts val="375"/>
              </a:spcBef>
              <a:buFont typeface="Arial" panose="020B0604020202020204" pitchFamily="34" charset="0"/>
              <a:buChar char="•"/>
              <a:defRPr sz="1400" b="0" i="0" kern="1200" baseline="0">
                <a:solidFill>
                  <a:schemeClr val="tx1"/>
                </a:solidFill>
                <a:latin typeface="Arial" panose="020B0604020202020204" pitchFamily="34" charset="0"/>
                <a:ea typeface="+mn-ea"/>
                <a:cs typeface="Arial" panose="020B0604020202020204" pitchFamily="34" charset="0"/>
              </a:defRPr>
            </a:lvl4pPr>
            <a:lvl5pPr marL="1543050" indent="-171450" algn="l" defTabSz="685800" rtl="0" eaLnBrk="1" latinLnBrk="0" hangingPunct="1">
              <a:lnSpc>
                <a:spcPct val="100000"/>
              </a:lnSpc>
              <a:spcBef>
                <a:spcPts val="375"/>
              </a:spcBef>
              <a:buFont typeface="Arial" panose="020B0604020202020204" pitchFamily="34" charset="0"/>
              <a:buChar char="•"/>
              <a:defRPr sz="1400" b="0" i="0" kern="1200" baseline="0">
                <a:solidFill>
                  <a:schemeClr val="tx1"/>
                </a:solidFill>
                <a:latin typeface="Arial" panose="020B0604020202020204" pitchFamily="34" charset="0"/>
                <a:ea typeface="+mn-ea"/>
                <a:cs typeface="Arial" panose="020B0604020202020204" pitchFamily="34"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buNone/>
            </a:pPr>
            <a:r>
              <a:rPr lang="de-DE" sz="1800" noProof="1">
                <a:latin typeface="+mn-lt"/>
                <a:cs typeface="Arial"/>
              </a:rPr>
              <a:t>Natural way of explanations</a:t>
            </a:r>
          </a:p>
        </p:txBody>
      </p:sp>
      <p:sp>
        <p:nvSpPr>
          <p:cNvPr id="21" name="Textfeld 20">
            <a:extLst>
              <a:ext uri="{FF2B5EF4-FFF2-40B4-BE49-F238E27FC236}">
                <a16:creationId xmlns:a16="http://schemas.microsoft.com/office/drawing/2014/main" id="{B3C7687A-3697-5D63-2464-A1DCA762FE51}"/>
              </a:ext>
            </a:extLst>
          </p:cNvPr>
          <p:cNvSpPr txBox="1"/>
          <p:nvPr/>
        </p:nvSpPr>
        <p:spPr>
          <a:xfrm>
            <a:off x="1176804" y="3168299"/>
            <a:ext cx="5613400" cy="369332"/>
          </a:xfrm>
          <a:prstGeom prst="rect">
            <a:avLst/>
          </a:prstGeom>
          <a:noFill/>
        </p:spPr>
        <p:txBody>
          <a:bodyPr wrap="square">
            <a:spAutoFit/>
          </a:bodyPr>
          <a:lstStyle/>
          <a:p>
            <a:pPr marL="0" indent="0">
              <a:buNone/>
            </a:pPr>
            <a:r>
              <a:rPr lang="de-DE" sz="1800" noProof="1">
                <a:cs typeface="Arial"/>
              </a:rPr>
              <a:t>User can ask questions for clarification</a:t>
            </a:r>
          </a:p>
        </p:txBody>
      </p:sp>
      <p:sp>
        <p:nvSpPr>
          <p:cNvPr id="22" name="Textfeld 21">
            <a:extLst>
              <a:ext uri="{FF2B5EF4-FFF2-40B4-BE49-F238E27FC236}">
                <a16:creationId xmlns:a16="http://schemas.microsoft.com/office/drawing/2014/main" id="{6FE1CEE9-F72C-0AFF-7CEE-6CAA0DA75E57}"/>
              </a:ext>
            </a:extLst>
          </p:cNvPr>
          <p:cNvSpPr txBox="1"/>
          <p:nvPr/>
        </p:nvSpPr>
        <p:spPr>
          <a:xfrm>
            <a:off x="1176805" y="4012970"/>
            <a:ext cx="3294062" cy="369332"/>
          </a:xfrm>
          <a:prstGeom prst="rect">
            <a:avLst/>
          </a:prstGeom>
          <a:noFill/>
        </p:spPr>
        <p:txBody>
          <a:bodyPr wrap="square">
            <a:spAutoFit/>
          </a:bodyPr>
          <a:lstStyle/>
          <a:p>
            <a:pPr marL="0" indent="0">
              <a:buNone/>
            </a:pPr>
            <a:r>
              <a:rPr lang="de-DE" sz="1800" noProof="1">
                <a:cs typeface="Arial"/>
              </a:rPr>
              <a:t>Personalized experience</a:t>
            </a:r>
          </a:p>
        </p:txBody>
      </p:sp>
      <p:sp>
        <p:nvSpPr>
          <p:cNvPr id="3" name="Textfeld 2">
            <a:extLst>
              <a:ext uri="{FF2B5EF4-FFF2-40B4-BE49-F238E27FC236}">
                <a16:creationId xmlns:a16="http://schemas.microsoft.com/office/drawing/2014/main" id="{9A7E6946-EF61-B878-5D8E-0DE2674AE0DC}"/>
              </a:ext>
            </a:extLst>
          </p:cNvPr>
          <p:cNvSpPr txBox="1"/>
          <p:nvPr/>
        </p:nvSpPr>
        <p:spPr>
          <a:xfrm>
            <a:off x="7513093" y="4732529"/>
            <a:ext cx="1241406" cy="246221"/>
          </a:xfrm>
          <a:prstGeom prst="rect">
            <a:avLst/>
          </a:prstGeom>
          <a:noFill/>
        </p:spPr>
        <p:txBody>
          <a:bodyPr wrap="square">
            <a:spAutoFit/>
          </a:bodyPr>
          <a:lstStyle/>
          <a:p>
            <a:r>
              <a:rPr lang="de-DE" sz="1000" i="1" noProof="1"/>
              <a:t>(Miller et al., 2019)</a:t>
            </a:r>
          </a:p>
        </p:txBody>
      </p:sp>
      <p:sp>
        <p:nvSpPr>
          <p:cNvPr id="10" name="Rechteck 9" descr="Lichter an mit einfarbiger Füllung">
            <a:extLst>
              <a:ext uri="{FF2B5EF4-FFF2-40B4-BE49-F238E27FC236}">
                <a16:creationId xmlns:a16="http://schemas.microsoft.com/office/drawing/2014/main" id="{79167938-B7CE-4389-1B22-8C1C300E4AEB}"/>
              </a:ext>
            </a:extLst>
          </p:cNvPr>
          <p:cNvSpPr/>
          <p:nvPr/>
        </p:nvSpPr>
        <p:spPr>
          <a:xfrm>
            <a:off x="8804352" y="664349"/>
            <a:ext cx="277969" cy="277969"/>
          </a:xfrm>
          <a:prstGeom prst="rect">
            <a:avLst/>
          </a:prstGeom>
          <a:blipFill>
            <a:blip r:embed="rId7">
              <a:extLst>
                <a:ext uri="{96DAC541-7B7A-43D3-8B79-37D633B846F1}">
                  <asvg:svgBlip xmlns:asvg="http://schemas.microsoft.com/office/drawing/2016/SVG/main" r:embed="rId8"/>
                </a:ext>
              </a:extLst>
            </a:blip>
            <a:srcRect/>
            <a:stretch>
              <a:fillRect/>
            </a:stretch>
          </a:blipFill>
          <a:ln>
            <a:noFill/>
          </a:ln>
        </p:spPr>
        <p:style>
          <a:lnRef idx="2">
            <a:scrgbClr r="0" g="0" b="0"/>
          </a:lnRef>
          <a:fillRef idx="1">
            <a:scrgbClr r="0" g="0" b="0"/>
          </a:fillRef>
          <a:effectRef idx="0">
            <a:schemeClr val="accent2">
              <a:hueOff val="0"/>
              <a:satOff val="0"/>
              <a:lumOff val="0"/>
              <a:alphaOff val="0"/>
            </a:schemeClr>
          </a:effectRef>
          <a:fontRef idx="minor">
            <a:schemeClr val="lt1"/>
          </a:fontRef>
        </p:style>
        <p:txBody>
          <a:bodyPr/>
          <a:lstStyle/>
          <a:p>
            <a:endParaRPr lang="en-US"/>
          </a:p>
        </p:txBody>
      </p:sp>
      <p:sp>
        <p:nvSpPr>
          <p:cNvPr id="11" name="Rechteck 10" descr="Geschlossenes Buch mit einfarbiger Füllung">
            <a:extLst>
              <a:ext uri="{FF2B5EF4-FFF2-40B4-BE49-F238E27FC236}">
                <a16:creationId xmlns:a16="http://schemas.microsoft.com/office/drawing/2014/main" id="{4E684D0F-2453-B473-DE5C-07C9B9AE21AC}"/>
              </a:ext>
            </a:extLst>
          </p:cNvPr>
          <p:cNvSpPr/>
          <p:nvPr/>
        </p:nvSpPr>
        <p:spPr>
          <a:xfrm>
            <a:off x="8804352" y="1043547"/>
            <a:ext cx="277969" cy="277969"/>
          </a:xfrm>
          <a:prstGeom prst="rect">
            <a:avLst/>
          </a:prstGeom>
          <a:blipFill>
            <a:blip r:embed="rId9">
              <a:extLst>
                <a:ext uri="{96DAC541-7B7A-43D3-8B79-37D633B846F1}">
                  <asvg:svgBlip xmlns:asvg="http://schemas.microsoft.com/office/drawing/2016/SVG/main" r:embed="rId10"/>
                </a:ext>
              </a:extLst>
            </a:blip>
            <a:srcRect/>
            <a:stretch>
              <a:fillRect/>
            </a:stretch>
          </a:blipFill>
          <a:ln>
            <a:noFill/>
          </a:ln>
        </p:spPr>
        <p:style>
          <a:lnRef idx="2">
            <a:scrgbClr r="0" g="0" b="0"/>
          </a:lnRef>
          <a:fillRef idx="1">
            <a:scrgbClr r="0" g="0" b="0"/>
          </a:fillRef>
          <a:effectRef idx="0">
            <a:schemeClr val="accent3">
              <a:hueOff val="0"/>
              <a:satOff val="0"/>
              <a:lumOff val="0"/>
              <a:alphaOff val="0"/>
            </a:schemeClr>
          </a:effectRef>
          <a:fontRef idx="minor">
            <a:schemeClr val="lt1"/>
          </a:fontRef>
        </p:style>
        <p:txBody>
          <a:bodyPr/>
          <a:lstStyle/>
          <a:p>
            <a:endParaRPr lang="en-US"/>
          </a:p>
        </p:txBody>
      </p:sp>
      <p:sp>
        <p:nvSpPr>
          <p:cNvPr id="13" name="Rechteck 12" descr="Netzwerk">
            <a:extLst>
              <a:ext uri="{FF2B5EF4-FFF2-40B4-BE49-F238E27FC236}">
                <a16:creationId xmlns:a16="http://schemas.microsoft.com/office/drawing/2014/main" id="{9E174B8D-10DF-6CD9-B8F8-91EC5E34B372}"/>
              </a:ext>
            </a:extLst>
          </p:cNvPr>
          <p:cNvSpPr/>
          <p:nvPr/>
        </p:nvSpPr>
        <p:spPr>
          <a:xfrm>
            <a:off x="8804352" y="1379208"/>
            <a:ext cx="277969" cy="277969"/>
          </a:xfrm>
          <a:prstGeom prst="rect">
            <a:avLst/>
          </a:prstGeom>
          <a: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a:noFill/>
          </a:ln>
        </p:spPr>
        <p:style>
          <a:lnRef idx="2">
            <a:scrgbClr r="0" g="0" b="0"/>
          </a:lnRef>
          <a:fillRef idx="1">
            <a:scrgbClr r="0" g="0" b="0"/>
          </a:fillRef>
          <a:effectRef idx="0">
            <a:schemeClr val="accent4">
              <a:hueOff val="0"/>
              <a:satOff val="0"/>
              <a:lumOff val="0"/>
              <a:alphaOff val="0"/>
            </a:schemeClr>
          </a:effectRef>
          <a:fontRef idx="minor">
            <a:schemeClr val="lt1"/>
          </a:fontRef>
        </p:style>
        <p:txBody>
          <a:bodyPr/>
          <a:lstStyle/>
          <a:p>
            <a:endParaRPr lang="en-US"/>
          </a:p>
        </p:txBody>
      </p:sp>
      <p:sp>
        <p:nvSpPr>
          <p:cNvPr id="17" name="Rechteck 16" descr="Kreise mit Pfeilen mit einfarbiger Füllung">
            <a:extLst>
              <a:ext uri="{FF2B5EF4-FFF2-40B4-BE49-F238E27FC236}">
                <a16:creationId xmlns:a16="http://schemas.microsoft.com/office/drawing/2014/main" id="{636A858A-A8B9-C368-77F9-5BC190A5CF5A}"/>
              </a:ext>
            </a:extLst>
          </p:cNvPr>
          <p:cNvSpPr/>
          <p:nvPr/>
        </p:nvSpPr>
        <p:spPr>
          <a:xfrm>
            <a:off x="8804352" y="1688740"/>
            <a:ext cx="277969" cy="277969"/>
          </a:xfrm>
          <a:prstGeom prst="rect">
            <a:avLst/>
          </a:prstGeom>
          <a:blipFill>
            <a:blip r:embed="rId13">
              <a:extLst>
                <a:ext uri="{96DAC541-7B7A-43D3-8B79-37D633B846F1}">
                  <asvg:svgBlip xmlns:asvg="http://schemas.microsoft.com/office/drawing/2016/SVG/main" r:embed="rId14"/>
                </a:ext>
              </a:extLst>
            </a:blip>
            <a:srcRect/>
            <a:stretch>
              <a:fillRect/>
            </a:stretch>
          </a:blipFill>
          <a:ln>
            <a:noFill/>
          </a:ln>
        </p:spPr>
        <p:style>
          <a:lnRef idx="2">
            <a:scrgbClr r="0" g="0" b="0"/>
          </a:lnRef>
          <a:fillRef idx="1">
            <a:scrgbClr r="0" g="0" b="0"/>
          </a:fillRef>
          <a:effectRef idx="0">
            <a:schemeClr val="accent5">
              <a:hueOff val="0"/>
              <a:satOff val="0"/>
              <a:lumOff val="0"/>
              <a:alphaOff val="0"/>
            </a:schemeClr>
          </a:effectRef>
          <a:fontRef idx="minor">
            <a:schemeClr val="lt1"/>
          </a:fontRef>
        </p:style>
        <p:txBody>
          <a:bodyPr/>
          <a:lstStyle/>
          <a:p>
            <a:endParaRPr lang="en-US"/>
          </a:p>
        </p:txBody>
      </p:sp>
      <p:sp>
        <p:nvSpPr>
          <p:cNvPr id="20" name="Rechteck 19" descr="Prüfliste">
            <a:extLst>
              <a:ext uri="{FF2B5EF4-FFF2-40B4-BE49-F238E27FC236}">
                <a16:creationId xmlns:a16="http://schemas.microsoft.com/office/drawing/2014/main" id="{A0C88327-1910-642F-C58D-BC65A56CBDBB}"/>
              </a:ext>
            </a:extLst>
          </p:cNvPr>
          <p:cNvSpPr/>
          <p:nvPr/>
        </p:nvSpPr>
        <p:spPr>
          <a:xfrm>
            <a:off x="8804352" y="2006980"/>
            <a:ext cx="277969" cy="277969"/>
          </a:xfrm>
          <a:prstGeom prst="rect">
            <a:avLst/>
          </a:prstGeom>
          <a: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a:blipFill>
          <a:ln>
            <a:noFill/>
          </a:ln>
        </p:spPr>
        <p:style>
          <a:lnRef idx="2">
            <a:scrgbClr r="0" g="0" b="0"/>
          </a:lnRef>
          <a:fillRef idx="1">
            <a:scrgbClr r="0" g="0" b="0"/>
          </a:fillRef>
          <a:effectRef idx="0">
            <a:schemeClr val="accent6">
              <a:hueOff val="0"/>
              <a:satOff val="0"/>
              <a:lumOff val="0"/>
              <a:alphaOff val="0"/>
            </a:schemeClr>
          </a:effectRef>
          <a:fontRef idx="minor">
            <a:schemeClr val="lt1"/>
          </a:fontRef>
        </p:style>
        <p:txBody>
          <a:bodyPr/>
          <a:lstStyle/>
          <a:p>
            <a:endParaRPr lang="en-US"/>
          </a:p>
        </p:txBody>
      </p:sp>
      <p:sp>
        <p:nvSpPr>
          <p:cNvPr id="23" name="Rechteck 22" descr="Auktionshammer">
            <a:extLst>
              <a:ext uri="{FF2B5EF4-FFF2-40B4-BE49-F238E27FC236}">
                <a16:creationId xmlns:a16="http://schemas.microsoft.com/office/drawing/2014/main" id="{B03CDCBB-1EBB-2D4B-3320-7B0A1C9B2982}"/>
              </a:ext>
            </a:extLst>
          </p:cNvPr>
          <p:cNvSpPr/>
          <p:nvPr/>
        </p:nvSpPr>
        <p:spPr>
          <a:xfrm>
            <a:off x="8804352" y="2316507"/>
            <a:ext cx="277969" cy="277969"/>
          </a:xfrm>
          <a:prstGeom prst="rect">
            <a:avLst/>
          </a:prstGeom>
          <a: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a:blipFill>
          <a:ln>
            <a:noFill/>
          </a:ln>
        </p:spPr>
        <p:style>
          <a:lnRef idx="2">
            <a:scrgbClr r="0" g="0" b="0"/>
          </a:lnRef>
          <a:fillRef idx="1">
            <a:scrgbClr r="0" g="0" b="0"/>
          </a:fillRef>
          <a:effectRef idx="0">
            <a:schemeClr val="accent2">
              <a:hueOff val="0"/>
              <a:satOff val="0"/>
              <a:lumOff val="0"/>
              <a:alphaOff val="0"/>
            </a:schemeClr>
          </a:effectRef>
          <a:fontRef idx="minor">
            <a:schemeClr val="lt1"/>
          </a:fontRef>
        </p:style>
        <p:txBody>
          <a:bodyPr/>
          <a:lstStyle/>
          <a:p>
            <a:endParaRPr lang="en-US"/>
          </a:p>
        </p:txBody>
      </p:sp>
      <p:sp>
        <p:nvSpPr>
          <p:cNvPr id="24" name="Textfeld 23">
            <a:extLst>
              <a:ext uri="{FF2B5EF4-FFF2-40B4-BE49-F238E27FC236}">
                <a16:creationId xmlns:a16="http://schemas.microsoft.com/office/drawing/2014/main" id="{0F12FB47-7A03-4979-C189-46C8B2A60B55}"/>
              </a:ext>
            </a:extLst>
          </p:cNvPr>
          <p:cNvSpPr txBox="1"/>
          <p:nvPr/>
        </p:nvSpPr>
        <p:spPr>
          <a:xfrm>
            <a:off x="7860603" y="134610"/>
            <a:ext cx="871905" cy="276999"/>
          </a:xfrm>
          <a:prstGeom prst="rect">
            <a:avLst/>
          </a:prstGeom>
          <a:noFill/>
        </p:spPr>
        <p:txBody>
          <a:bodyPr wrap="none" rtlCol="0">
            <a:spAutoFit/>
          </a:bodyPr>
          <a:lstStyle/>
          <a:p>
            <a:r>
              <a:rPr lang="de-DE" sz="1200" dirty="0"/>
              <a:t>Motivation</a:t>
            </a:r>
            <a:endParaRPr lang="en-US" sz="1200" dirty="0"/>
          </a:p>
        </p:txBody>
      </p:sp>
      <p:sp>
        <p:nvSpPr>
          <p:cNvPr id="25" name="Rechteck 24" descr="Lichter an mit einfarbiger Füllung">
            <a:extLst>
              <a:ext uri="{FF2B5EF4-FFF2-40B4-BE49-F238E27FC236}">
                <a16:creationId xmlns:a16="http://schemas.microsoft.com/office/drawing/2014/main" id="{366A4BD0-5289-689B-E7CD-73645B1AD3C4}"/>
              </a:ext>
            </a:extLst>
          </p:cNvPr>
          <p:cNvSpPr/>
          <p:nvPr/>
        </p:nvSpPr>
        <p:spPr>
          <a:xfrm>
            <a:off x="7600498" y="133639"/>
            <a:ext cx="277969" cy="277969"/>
          </a:xfrm>
          <a:prstGeom prst="rect">
            <a:avLst/>
          </a:prstGeom>
          <a:blipFill>
            <a:blip r:embed="rId7">
              <a:extLst>
                <a:ext uri="{96DAC541-7B7A-43D3-8B79-37D633B846F1}">
                  <asvg:svgBlip xmlns:asvg="http://schemas.microsoft.com/office/drawing/2016/SVG/main" r:embed="rId8"/>
                </a:ext>
              </a:extLst>
            </a:blip>
            <a:srcRect/>
            <a:stretch>
              <a:fillRect/>
            </a:stretch>
          </a:blipFill>
          <a:ln>
            <a:noFill/>
          </a:ln>
        </p:spPr>
        <p:style>
          <a:lnRef idx="2">
            <a:scrgbClr r="0" g="0" b="0"/>
          </a:lnRef>
          <a:fillRef idx="1">
            <a:scrgbClr r="0" g="0" b="0"/>
          </a:fillRef>
          <a:effectRef idx="0">
            <a:schemeClr val="accent2">
              <a:hueOff val="0"/>
              <a:satOff val="0"/>
              <a:lumOff val="0"/>
              <a:alphaOff val="0"/>
            </a:schemeClr>
          </a:effectRef>
          <a:fontRef idx="minor">
            <a:schemeClr val="lt1"/>
          </a:fontRef>
        </p:style>
        <p:txBody>
          <a:bodyPr/>
          <a:lstStyle/>
          <a:p>
            <a:endParaRPr lang="en-US"/>
          </a:p>
        </p:txBody>
      </p:sp>
    </p:spTree>
    <p:extLst>
      <p:ext uri="{BB962C8B-B14F-4D97-AF65-F5344CB8AC3E}">
        <p14:creationId xmlns:p14="http://schemas.microsoft.com/office/powerpoint/2010/main" val="4212486959"/>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anim calcmode="lin" valueType="num">
                                      <p:cBhvr additive="base">
                                        <p:cTn id="7" dur="500" fill="hold"/>
                                        <p:tgtEl>
                                          <p:spTgt spid="15"/>
                                        </p:tgtEl>
                                        <p:attrNameLst>
                                          <p:attrName>ppt_x</p:attrName>
                                        </p:attrNameLst>
                                      </p:cBhvr>
                                      <p:tavLst>
                                        <p:tav tm="0">
                                          <p:val>
                                            <p:strVal val="#ppt_x"/>
                                          </p:val>
                                        </p:tav>
                                        <p:tav tm="100000">
                                          <p:val>
                                            <p:strVal val="#ppt_x"/>
                                          </p:val>
                                        </p:tav>
                                      </p:tavLst>
                                    </p:anim>
                                    <p:anim calcmode="lin" valueType="num">
                                      <p:cBhvr additive="base">
                                        <p:cTn id="8" dur="500" fill="hold"/>
                                        <p:tgtEl>
                                          <p:spTgt spid="15"/>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9">
                                            <p:txEl>
                                              <p:pRg st="0" end="0"/>
                                            </p:txEl>
                                          </p:spTgt>
                                        </p:tgtEl>
                                        <p:attrNameLst>
                                          <p:attrName>style.visibility</p:attrName>
                                        </p:attrNameLst>
                                      </p:cBhvr>
                                      <p:to>
                                        <p:strVal val="visible"/>
                                      </p:to>
                                    </p:set>
                                    <p:anim calcmode="lin" valueType="num">
                                      <p:cBhvr additive="base">
                                        <p:cTn id="11" dur="500" fill="hold"/>
                                        <p:tgtEl>
                                          <p:spTgt spid="19">
                                            <p:txEl>
                                              <p:pRg st="0" end="0"/>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19">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12"/>
                                        </p:tgtEl>
                                        <p:attrNameLst>
                                          <p:attrName>style.visibility</p:attrName>
                                        </p:attrNameLst>
                                      </p:cBhvr>
                                      <p:to>
                                        <p:strVal val="visible"/>
                                      </p:to>
                                    </p:set>
                                    <p:anim calcmode="lin" valueType="num">
                                      <p:cBhvr additive="base">
                                        <p:cTn id="17" dur="500" fill="hold"/>
                                        <p:tgtEl>
                                          <p:spTgt spid="12"/>
                                        </p:tgtEl>
                                        <p:attrNameLst>
                                          <p:attrName>ppt_x</p:attrName>
                                        </p:attrNameLst>
                                      </p:cBhvr>
                                      <p:tavLst>
                                        <p:tav tm="0">
                                          <p:val>
                                            <p:strVal val="#ppt_x"/>
                                          </p:val>
                                        </p:tav>
                                        <p:tav tm="100000">
                                          <p:val>
                                            <p:strVal val="#ppt_x"/>
                                          </p:val>
                                        </p:tav>
                                      </p:tavLst>
                                    </p:anim>
                                    <p:anim calcmode="lin" valueType="num">
                                      <p:cBhvr additive="base">
                                        <p:cTn id="18" dur="500" fill="hold"/>
                                        <p:tgtEl>
                                          <p:spTgt spid="12"/>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18">
                                            <p:txEl>
                                              <p:pRg st="0" end="0"/>
                                            </p:txEl>
                                          </p:spTgt>
                                        </p:tgtEl>
                                        <p:attrNameLst>
                                          <p:attrName>style.visibility</p:attrName>
                                        </p:attrNameLst>
                                      </p:cBhvr>
                                      <p:to>
                                        <p:strVal val="visible"/>
                                      </p:to>
                                    </p:set>
                                    <p:anim calcmode="lin" valueType="num">
                                      <p:cBhvr additive="base">
                                        <p:cTn id="21" dur="500" fill="hold"/>
                                        <p:tgtEl>
                                          <p:spTgt spid="18">
                                            <p:txEl>
                                              <p:pRg st="0" end="0"/>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18">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14"/>
                                        </p:tgtEl>
                                        <p:attrNameLst>
                                          <p:attrName>style.visibility</p:attrName>
                                        </p:attrNameLst>
                                      </p:cBhvr>
                                      <p:to>
                                        <p:strVal val="visible"/>
                                      </p:to>
                                    </p:set>
                                    <p:anim calcmode="lin" valueType="num">
                                      <p:cBhvr additive="base">
                                        <p:cTn id="27" dur="500" fill="hold"/>
                                        <p:tgtEl>
                                          <p:spTgt spid="14"/>
                                        </p:tgtEl>
                                        <p:attrNameLst>
                                          <p:attrName>ppt_x</p:attrName>
                                        </p:attrNameLst>
                                      </p:cBhvr>
                                      <p:tavLst>
                                        <p:tav tm="0">
                                          <p:val>
                                            <p:strVal val="#ppt_x"/>
                                          </p:val>
                                        </p:tav>
                                        <p:tav tm="100000">
                                          <p:val>
                                            <p:strVal val="#ppt_x"/>
                                          </p:val>
                                        </p:tav>
                                      </p:tavLst>
                                    </p:anim>
                                    <p:anim calcmode="lin" valueType="num">
                                      <p:cBhvr additive="base">
                                        <p:cTn id="28" dur="500" fill="hold"/>
                                        <p:tgtEl>
                                          <p:spTgt spid="14"/>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21"/>
                                        </p:tgtEl>
                                        <p:attrNameLst>
                                          <p:attrName>style.visibility</p:attrName>
                                        </p:attrNameLst>
                                      </p:cBhvr>
                                      <p:to>
                                        <p:strVal val="visible"/>
                                      </p:to>
                                    </p:set>
                                    <p:anim calcmode="lin" valueType="num">
                                      <p:cBhvr additive="base">
                                        <p:cTn id="31" dur="500" fill="hold"/>
                                        <p:tgtEl>
                                          <p:spTgt spid="21"/>
                                        </p:tgtEl>
                                        <p:attrNameLst>
                                          <p:attrName>ppt_x</p:attrName>
                                        </p:attrNameLst>
                                      </p:cBhvr>
                                      <p:tavLst>
                                        <p:tav tm="0">
                                          <p:val>
                                            <p:strVal val="#ppt_x"/>
                                          </p:val>
                                        </p:tav>
                                        <p:tav tm="100000">
                                          <p:val>
                                            <p:strVal val="#ppt_x"/>
                                          </p:val>
                                        </p:tav>
                                      </p:tavLst>
                                    </p:anim>
                                    <p:anim calcmode="lin" valueType="num">
                                      <p:cBhvr additive="base">
                                        <p:cTn id="32" dur="500" fill="hold"/>
                                        <p:tgtEl>
                                          <p:spTgt spid="21"/>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16"/>
                                        </p:tgtEl>
                                        <p:attrNameLst>
                                          <p:attrName>style.visibility</p:attrName>
                                        </p:attrNameLst>
                                      </p:cBhvr>
                                      <p:to>
                                        <p:strVal val="visible"/>
                                      </p:to>
                                    </p:set>
                                    <p:anim calcmode="lin" valueType="num">
                                      <p:cBhvr additive="base">
                                        <p:cTn id="37" dur="500" fill="hold"/>
                                        <p:tgtEl>
                                          <p:spTgt spid="16"/>
                                        </p:tgtEl>
                                        <p:attrNameLst>
                                          <p:attrName>ppt_x</p:attrName>
                                        </p:attrNameLst>
                                      </p:cBhvr>
                                      <p:tavLst>
                                        <p:tav tm="0">
                                          <p:val>
                                            <p:strVal val="#ppt_x"/>
                                          </p:val>
                                        </p:tav>
                                        <p:tav tm="100000">
                                          <p:val>
                                            <p:strVal val="#ppt_x"/>
                                          </p:val>
                                        </p:tav>
                                      </p:tavLst>
                                    </p:anim>
                                    <p:anim calcmode="lin" valueType="num">
                                      <p:cBhvr additive="base">
                                        <p:cTn id="38" dur="500" fill="hold"/>
                                        <p:tgtEl>
                                          <p:spTgt spid="16"/>
                                        </p:tgtEl>
                                        <p:attrNameLst>
                                          <p:attrName>ppt_y</p:attrName>
                                        </p:attrNameLst>
                                      </p:cBhvr>
                                      <p:tavLst>
                                        <p:tav tm="0">
                                          <p:val>
                                            <p:strVal val="1+#ppt_h/2"/>
                                          </p:val>
                                        </p:tav>
                                        <p:tav tm="100000">
                                          <p:val>
                                            <p:strVal val="#ppt_y"/>
                                          </p:val>
                                        </p:tav>
                                      </p:tavLst>
                                    </p:anim>
                                  </p:childTnLst>
                                </p:cTn>
                              </p:par>
                              <p:par>
                                <p:cTn id="39" presetID="2" presetClass="entr" presetSubtype="4" fill="hold" grpId="0" nodeType="withEffect">
                                  <p:stCondLst>
                                    <p:cond delay="0"/>
                                  </p:stCondLst>
                                  <p:childTnLst>
                                    <p:set>
                                      <p:cBhvr>
                                        <p:cTn id="40" dur="1" fill="hold">
                                          <p:stCondLst>
                                            <p:cond delay="0"/>
                                          </p:stCondLst>
                                        </p:cTn>
                                        <p:tgtEl>
                                          <p:spTgt spid="22"/>
                                        </p:tgtEl>
                                        <p:attrNameLst>
                                          <p:attrName>style.visibility</p:attrName>
                                        </p:attrNameLst>
                                      </p:cBhvr>
                                      <p:to>
                                        <p:strVal val="visible"/>
                                      </p:to>
                                    </p:set>
                                    <p:anim calcmode="lin" valueType="num">
                                      <p:cBhvr additive="base">
                                        <p:cTn id="41" dur="500" fill="hold"/>
                                        <p:tgtEl>
                                          <p:spTgt spid="22"/>
                                        </p:tgtEl>
                                        <p:attrNameLst>
                                          <p:attrName>ppt_x</p:attrName>
                                        </p:attrNameLst>
                                      </p:cBhvr>
                                      <p:tavLst>
                                        <p:tav tm="0">
                                          <p:val>
                                            <p:strVal val="#ppt_x"/>
                                          </p:val>
                                        </p:tav>
                                        <p:tav tm="100000">
                                          <p:val>
                                            <p:strVal val="#ppt_x"/>
                                          </p:val>
                                        </p:tav>
                                      </p:tavLst>
                                    </p:anim>
                                    <p:anim calcmode="lin" valueType="num">
                                      <p:cBhvr additive="base">
                                        <p:cTn id="42" dur="500" fill="hold"/>
                                        <p:tgtEl>
                                          <p:spTgt spid="2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build="p"/>
      <p:bldP spid="19" grpId="0" build="p"/>
      <p:bldP spid="21" grpId="0"/>
      <p:bldP spid="22"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FCE18C1-3373-9117-B90E-EB8083BF5442}"/>
              </a:ext>
            </a:extLst>
          </p:cNvPr>
          <p:cNvSpPr>
            <a:spLocks noGrp="1"/>
          </p:cNvSpPr>
          <p:nvPr>
            <p:ph type="ctrTitle"/>
          </p:nvPr>
        </p:nvSpPr>
        <p:spPr>
          <a:xfrm>
            <a:off x="403380" y="291711"/>
            <a:ext cx="7432604" cy="611187"/>
          </a:xfrm>
        </p:spPr>
        <p:txBody>
          <a:bodyPr/>
          <a:lstStyle/>
          <a:p>
            <a:r>
              <a:rPr lang="de-DE" noProof="1"/>
              <a:t>Transparency is the key – How do we get there?</a:t>
            </a:r>
          </a:p>
        </p:txBody>
      </p:sp>
      <p:sp>
        <p:nvSpPr>
          <p:cNvPr id="3" name="Inhaltsplatzhalter 2">
            <a:extLst>
              <a:ext uri="{FF2B5EF4-FFF2-40B4-BE49-F238E27FC236}">
                <a16:creationId xmlns:a16="http://schemas.microsoft.com/office/drawing/2014/main" id="{8424E671-007D-2461-522A-A135FCCB7DCD}"/>
              </a:ext>
            </a:extLst>
          </p:cNvPr>
          <p:cNvSpPr>
            <a:spLocks noGrp="1"/>
          </p:cNvSpPr>
          <p:nvPr>
            <p:ph sz="quarter" idx="15"/>
          </p:nvPr>
        </p:nvSpPr>
        <p:spPr/>
        <p:txBody>
          <a:bodyPr/>
          <a:lstStyle/>
          <a:p>
            <a:endParaRPr lang="de-DE" noProof="1"/>
          </a:p>
          <a:p>
            <a:pPr marL="0" indent="0">
              <a:buNone/>
            </a:pPr>
            <a:endParaRPr lang="de-DE" noProof="1"/>
          </a:p>
        </p:txBody>
      </p:sp>
      <p:sp>
        <p:nvSpPr>
          <p:cNvPr id="8" name="Vertikaler Textplatzhalter 7">
            <a:extLst>
              <a:ext uri="{FF2B5EF4-FFF2-40B4-BE49-F238E27FC236}">
                <a16:creationId xmlns:a16="http://schemas.microsoft.com/office/drawing/2014/main" id="{CE218780-7516-92C2-7EC8-E09B57DD787E}"/>
              </a:ext>
            </a:extLst>
          </p:cNvPr>
          <p:cNvSpPr>
            <a:spLocks noGrp="1"/>
          </p:cNvSpPr>
          <p:nvPr>
            <p:ph type="body" orient="vert" sz="quarter" idx="18"/>
          </p:nvPr>
        </p:nvSpPr>
        <p:spPr/>
        <p:txBody>
          <a:bodyPr/>
          <a:lstStyle/>
          <a:p>
            <a:endParaRPr lang="de-DE" noProof="1"/>
          </a:p>
        </p:txBody>
      </p:sp>
      <p:sp>
        <p:nvSpPr>
          <p:cNvPr id="4" name="Datumsplatzhalter 3">
            <a:extLst>
              <a:ext uri="{FF2B5EF4-FFF2-40B4-BE49-F238E27FC236}">
                <a16:creationId xmlns:a16="http://schemas.microsoft.com/office/drawing/2014/main" id="{DAC5C7D0-3E21-CBB1-32B9-D1539F8F85AD}"/>
              </a:ext>
            </a:extLst>
          </p:cNvPr>
          <p:cNvSpPr>
            <a:spLocks noGrp="1"/>
          </p:cNvSpPr>
          <p:nvPr>
            <p:ph type="dt" sz="half" idx="10"/>
          </p:nvPr>
        </p:nvSpPr>
        <p:spPr/>
        <p:txBody>
          <a:bodyPr/>
          <a:lstStyle/>
          <a:p>
            <a:r>
              <a:rPr lang="en-US" noProof="1"/>
              <a:t>18.08.2025</a:t>
            </a:r>
            <a:endParaRPr lang="de-DE" noProof="1"/>
          </a:p>
        </p:txBody>
      </p:sp>
      <p:sp>
        <p:nvSpPr>
          <p:cNvPr id="5" name="Fußzeilenplatzhalter 4">
            <a:extLst>
              <a:ext uri="{FF2B5EF4-FFF2-40B4-BE49-F238E27FC236}">
                <a16:creationId xmlns:a16="http://schemas.microsoft.com/office/drawing/2014/main" id="{4BDE91C7-F4D0-3409-102E-7CAE91C4960E}"/>
              </a:ext>
            </a:extLst>
          </p:cNvPr>
          <p:cNvSpPr>
            <a:spLocks noGrp="1"/>
          </p:cNvSpPr>
          <p:nvPr>
            <p:ph type="ftr" sz="quarter" idx="11"/>
          </p:nvPr>
        </p:nvSpPr>
        <p:spPr/>
        <p:txBody>
          <a:bodyPr/>
          <a:lstStyle/>
          <a:p>
            <a:r>
              <a:rPr lang="en-US" noProof="1"/>
              <a:t>Enhancing model transparency: Effects of DK Integration for Conversational XAI | Feustel</a:t>
            </a:r>
            <a:endParaRPr lang="de-DE" noProof="1"/>
          </a:p>
        </p:txBody>
      </p:sp>
      <p:sp>
        <p:nvSpPr>
          <p:cNvPr id="6" name="Foliennummernplatzhalter 5">
            <a:extLst>
              <a:ext uri="{FF2B5EF4-FFF2-40B4-BE49-F238E27FC236}">
                <a16:creationId xmlns:a16="http://schemas.microsoft.com/office/drawing/2014/main" id="{8A0285A8-E17C-B981-C6C6-86642F3DAAB2}"/>
              </a:ext>
            </a:extLst>
          </p:cNvPr>
          <p:cNvSpPr>
            <a:spLocks noGrp="1"/>
          </p:cNvSpPr>
          <p:nvPr>
            <p:ph type="sldNum" sz="quarter" idx="12"/>
          </p:nvPr>
        </p:nvSpPr>
        <p:spPr/>
        <p:txBody>
          <a:bodyPr/>
          <a:lstStyle/>
          <a:p>
            <a:r>
              <a:rPr lang="de-DE" noProof="1"/>
              <a:t> </a:t>
            </a:r>
            <a:fld id="{FE120BDC-5456-EC41-8BB6-7A3B726EA19B}" type="slidenum">
              <a:rPr lang="de-DE" noProof="1" smtClean="0"/>
              <a:pPr/>
              <a:t>6</a:t>
            </a:fld>
            <a:endParaRPr lang="de-DE" noProof="1"/>
          </a:p>
        </p:txBody>
      </p:sp>
      <p:sp>
        <p:nvSpPr>
          <p:cNvPr id="11" name="Textfeld 10">
            <a:extLst>
              <a:ext uri="{FF2B5EF4-FFF2-40B4-BE49-F238E27FC236}">
                <a16:creationId xmlns:a16="http://schemas.microsoft.com/office/drawing/2014/main" id="{C8D01C9A-CA1C-F7A6-7C05-3FDCDF27AA9F}"/>
              </a:ext>
            </a:extLst>
          </p:cNvPr>
          <p:cNvSpPr txBox="1"/>
          <p:nvPr/>
        </p:nvSpPr>
        <p:spPr>
          <a:xfrm>
            <a:off x="7513093" y="4732529"/>
            <a:ext cx="1241406" cy="246221"/>
          </a:xfrm>
          <a:prstGeom prst="rect">
            <a:avLst/>
          </a:prstGeom>
          <a:noFill/>
        </p:spPr>
        <p:txBody>
          <a:bodyPr wrap="square">
            <a:spAutoFit/>
          </a:bodyPr>
          <a:lstStyle/>
          <a:p>
            <a:r>
              <a:rPr lang="de-DE" sz="1000" i="1" noProof="1"/>
              <a:t>(Miller et al., 2019)</a:t>
            </a:r>
          </a:p>
        </p:txBody>
      </p:sp>
      <p:sp>
        <p:nvSpPr>
          <p:cNvPr id="7" name="Ellipse 6"/>
          <p:cNvSpPr/>
          <p:nvPr/>
        </p:nvSpPr>
        <p:spPr>
          <a:xfrm>
            <a:off x="2396089" y="1858107"/>
            <a:ext cx="2708695" cy="2645433"/>
          </a:xfrm>
          <a:prstGeom prst="ellipse">
            <a:avLst/>
          </a:prstGeom>
          <a:solidFill>
            <a:schemeClr val="accent4">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de-DE" noProof="1"/>
          </a:p>
        </p:txBody>
      </p:sp>
      <p:sp>
        <p:nvSpPr>
          <p:cNvPr id="9" name="Ellipse 8">
            <a:extLst>
              <a:ext uri="{FF2B5EF4-FFF2-40B4-BE49-F238E27FC236}">
                <a16:creationId xmlns:a16="http://schemas.microsoft.com/office/drawing/2014/main" id="{116E58A6-EBB4-DF75-7540-1AD22C70FD25}"/>
              </a:ext>
            </a:extLst>
          </p:cNvPr>
          <p:cNvSpPr/>
          <p:nvPr/>
        </p:nvSpPr>
        <p:spPr>
          <a:xfrm>
            <a:off x="3000690" y="1049441"/>
            <a:ext cx="2708695" cy="2645433"/>
          </a:xfrm>
          <a:prstGeom prst="ellipse">
            <a:avLst/>
          </a:prstGeom>
          <a:solidFill>
            <a:schemeClr val="accent2">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de-DE" noProof="1"/>
          </a:p>
        </p:txBody>
      </p:sp>
      <p:sp>
        <p:nvSpPr>
          <p:cNvPr id="10" name="Ellipse 9">
            <a:extLst>
              <a:ext uri="{FF2B5EF4-FFF2-40B4-BE49-F238E27FC236}">
                <a16:creationId xmlns:a16="http://schemas.microsoft.com/office/drawing/2014/main" id="{A058A95B-C3D7-62C8-3413-42E39367DC4A}"/>
              </a:ext>
            </a:extLst>
          </p:cNvPr>
          <p:cNvSpPr/>
          <p:nvPr/>
        </p:nvSpPr>
        <p:spPr>
          <a:xfrm>
            <a:off x="3822243" y="1770045"/>
            <a:ext cx="2708695" cy="2645433"/>
          </a:xfrm>
          <a:prstGeom prst="ellipse">
            <a:avLst/>
          </a:prstGeom>
          <a:solidFill>
            <a:schemeClr val="accent6">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de-DE" noProof="1"/>
          </a:p>
        </p:txBody>
      </p:sp>
      <p:sp>
        <p:nvSpPr>
          <p:cNvPr id="12" name="Textfeld 11">
            <a:extLst>
              <a:ext uri="{FF2B5EF4-FFF2-40B4-BE49-F238E27FC236}">
                <a16:creationId xmlns:a16="http://schemas.microsoft.com/office/drawing/2014/main" id="{5C60E9B1-8D40-8600-827C-95E538F290D9}"/>
              </a:ext>
            </a:extLst>
          </p:cNvPr>
          <p:cNvSpPr txBox="1"/>
          <p:nvPr/>
        </p:nvSpPr>
        <p:spPr>
          <a:xfrm>
            <a:off x="1560610" y="3886516"/>
            <a:ext cx="1284904" cy="646331"/>
          </a:xfrm>
          <a:prstGeom prst="rect">
            <a:avLst/>
          </a:prstGeom>
          <a:noFill/>
        </p:spPr>
        <p:txBody>
          <a:bodyPr wrap="none" rtlCol="0">
            <a:spAutoFit/>
          </a:bodyPr>
          <a:lstStyle/>
          <a:p>
            <a:r>
              <a:rPr lang="de-DE" noProof="1">
                <a:solidFill>
                  <a:schemeClr val="accent4">
                    <a:lumMod val="60000"/>
                    <a:lumOff val="40000"/>
                  </a:schemeClr>
                </a:solidFill>
              </a:rPr>
              <a:t>Artifical </a:t>
            </a:r>
          </a:p>
          <a:p>
            <a:r>
              <a:rPr lang="de-DE" noProof="1">
                <a:solidFill>
                  <a:schemeClr val="accent4">
                    <a:lumMod val="60000"/>
                    <a:lumOff val="40000"/>
                  </a:schemeClr>
                </a:solidFill>
              </a:rPr>
              <a:t>Intelligence</a:t>
            </a:r>
          </a:p>
        </p:txBody>
      </p:sp>
      <p:sp>
        <p:nvSpPr>
          <p:cNvPr id="13" name="Textfeld 12">
            <a:extLst>
              <a:ext uri="{FF2B5EF4-FFF2-40B4-BE49-F238E27FC236}">
                <a16:creationId xmlns:a16="http://schemas.microsoft.com/office/drawing/2014/main" id="{71FD5459-E14C-C459-B30E-D43843C3DC70}"/>
              </a:ext>
            </a:extLst>
          </p:cNvPr>
          <p:cNvSpPr txBox="1"/>
          <p:nvPr/>
        </p:nvSpPr>
        <p:spPr>
          <a:xfrm>
            <a:off x="6160006" y="3857209"/>
            <a:ext cx="1881349" cy="646331"/>
          </a:xfrm>
          <a:prstGeom prst="rect">
            <a:avLst/>
          </a:prstGeom>
          <a:noFill/>
        </p:spPr>
        <p:txBody>
          <a:bodyPr wrap="none" rtlCol="0">
            <a:spAutoFit/>
          </a:bodyPr>
          <a:lstStyle/>
          <a:p>
            <a:r>
              <a:rPr lang="de-DE" noProof="1">
                <a:solidFill>
                  <a:schemeClr val="accent6">
                    <a:lumMod val="75000"/>
                  </a:schemeClr>
                </a:solidFill>
              </a:rPr>
              <a:t>Human-Computer</a:t>
            </a:r>
            <a:br>
              <a:rPr lang="de-DE" noProof="1">
                <a:solidFill>
                  <a:schemeClr val="accent6">
                    <a:lumMod val="75000"/>
                  </a:schemeClr>
                </a:solidFill>
              </a:rPr>
            </a:br>
            <a:r>
              <a:rPr lang="de-DE" noProof="1">
                <a:solidFill>
                  <a:schemeClr val="accent6">
                    <a:lumMod val="75000"/>
                  </a:schemeClr>
                </a:solidFill>
              </a:rPr>
              <a:t>Interaction</a:t>
            </a:r>
          </a:p>
        </p:txBody>
      </p:sp>
      <p:sp>
        <p:nvSpPr>
          <p:cNvPr id="14" name="Textfeld 13">
            <a:extLst>
              <a:ext uri="{FF2B5EF4-FFF2-40B4-BE49-F238E27FC236}">
                <a16:creationId xmlns:a16="http://schemas.microsoft.com/office/drawing/2014/main" id="{38EB0C67-F6B2-2304-0CD2-30BF9F80CB22}"/>
              </a:ext>
            </a:extLst>
          </p:cNvPr>
          <p:cNvSpPr txBox="1"/>
          <p:nvPr/>
        </p:nvSpPr>
        <p:spPr>
          <a:xfrm>
            <a:off x="3618480" y="706250"/>
            <a:ext cx="1503938" cy="369332"/>
          </a:xfrm>
          <a:prstGeom prst="rect">
            <a:avLst/>
          </a:prstGeom>
          <a:noFill/>
        </p:spPr>
        <p:txBody>
          <a:bodyPr wrap="none" rtlCol="0">
            <a:spAutoFit/>
          </a:bodyPr>
          <a:lstStyle/>
          <a:p>
            <a:r>
              <a:rPr lang="de-DE" noProof="1">
                <a:solidFill>
                  <a:schemeClr val="accent2">
                    <a:lumMod val="60000"/>
                    <a:lumOff val="40000"/>
                  </a:schemeClr>
                </a:solidFill>
              </a:rPr>
              <a:t>Social Science</a:t>
            </a:r>
          </a:p>
        </p:txBody>
      </p:sp>
      <p:sp>
        <p:nvSpPr>
          <p:cNvPr id="24" name="Freihandform: Form 23">
            <a:extLst>
              <a:ext uri="{FF2B5EF4-FFF2-40B4-BE49-F238E27FC236}">
                <a16:creationId xmlns:a16="http://schemas.microsoft.com/office/drawing/2014/main" id="{1B9B0A31-52B7-317B-CBDC-F6CD77914395}"/>
              </a:ext>
            </a:extLst>
          </p:cNvPr>
          <p:cNvSpPr/>
          <p:nvPr/>
        </p:nvSpPr>
        <p:spPr>
          <a:xfrm>
            <a:off x="3821392" y="2018786"/>
            <a:ext cx="1282542" cy="1678983"/>
          </a:xfrm>
          <a:custGeom>
            <a:avLst/>
            <a:gdLst>
              <a:gd name="connsiteX0" fmla="*/ 569804 w 1282542"/>
              <a:gd name="connsiteY0" fmla="*/ 0 h 1678983"/>
              <a:gd name="connsiteX1" fmla="*/ 573757 w 1282542"/>
              <a:gd name="connsiteY1" fmla="*/ 1860 h 1678983"/>
              <a:gd name="connsiteX2" fmla="*/ 1282542 w 1282542"/>
              <a:gd name="connsiteY2" fmla="*/ 1164932 h 1678983"/>
              <a:gd name="connsiteX3" fmla="*/ 1255026 w 1282542"/>
              <a:gd name="connsiteY3" fmla="*/ 1431505 h 1678983"/>
              <a:gd name="connsiteX4" fmla="*/ 1241814 w 1282542"/>
              <a:gd name="connsiteY4" fmla="*/ 1481688 h 1678983"/>
              <a:gd name="connsiteX5" fmla="*/ 1178358 w 1282542"/>
              <a:gd name="connsiteY5" fmla="*/ 1519338 h 1678983"/>
              <a:gd name="connsiteX6" fmla="*/ 532795 w 1282542"/>
              <a:gd name="connsiteY6" fmla="*/ 1678983 h 1678983"/>
              <a:gd name="connsiteX7" fmla="*/ 130053 w 1282542"/>
              <a:gd name="connsiteY7" fmla="*/ 1619516 h 1678983"/>
              <a:gd name="connsiteX8" fmla="*/ 118013 w 1282542"/>
              <a:gd name="connsiteY8" fmla="*/ 1615212 h 1678983"/>
              <a:gd name="connsiteX9" fmla="*/ 106431 w 1282542"/>
              <a:gd name="connsiteY9" fmla="*/ 1591731 h 1678983"/>
              <a:gd name="connsiteX10" fmla="*/ 0 w 1282542"/>
              <a:gd name="connsiteY10" fmla="*/ 1076870 h 1678983"/>
              <a:gd name="connsiteX11" fmla="*/ 492857 w 1282542"/>
              <a:gd name="connsiteY11" fmla="*/ 56197 h 1678983"/>
              <a:gd name="connsiteX12" fmla="*/ 569804 w 1282542"/>
              <a:gd name="connsiteY12" fmla="*/ 0 h 16789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82542" h="1678983">
                <a:moveTo>
                  <a:pt x="569804" y="0"/>
                </a:moveTo>
                <a:lnTo>
                  <a:pt x="573757" y="1860"/>
                </a:lnTo>
                <a:cubicBezTo>
                  <a:pt x="995941" y="225848"/>
                  <a:pt x="1282542" y="662702"/>
                  <a:pt x="1282542" y="1164932"/>
                </a:cubicBezTo>
                <a:cubicBezTo>
                  <a:pt x="1282542" y="1256247"/>
                  <a:pt x="1273068" y="1345400"/>
                  <a:pt x="1255026" y="1431505"/>
                </a:cubicBezTo>
                <a:lnTo>
                  <a:pt x="1241814" y="1481688"/>
                </a:lnTo>
                <a:lnTo>
                  <a:pt x="1178358" y="1519338"/>
                </a:lnTo>
                <a:cubicBezTo>
                  <a:pt x="986456" y="1621151"/>
                  <a:pt x="766541" y="1678983"/>
                  <a:pt x="532795" y="1678983"/>
                </a:cubicBezTo>
                <a:cubicBezTo>
                  <a:pt x="392548" y="1678983"/>
                  <a:pt x="257279" y="1658164"/>
                  <a:pt x="130053" y="1619516"/>
                </a:cubicBezTo>
                <a:lnTo>
                  <a:pt x="118013" y="1615212"/>
                </a:lnTo>
                <a:lnTo>
                  <a:pt x="106431" y="1591731"/>
                </a:lnTo>
                <a:cubicBezTo>
                  <a:pt x="37898" y="1433483"/>
                  <a:pt x="0" y="1259499"/>
                  <a:pt x="0" y="1076870"/>
                </a:cubicBezTo>
                <a:cubicBezTo>
                  <a:pt x="0" y="665955"/>
                  <a:pt x="191857" y="298803"/>
                  <a:pt x="492857" y="56197"/>
                </a:cubicBezTo>
                <a:lnTo>
                  <a:pt x="569804" y="0"/>
                </a:lnTo>
                <a:close/>
              </a:path>
            </a:pathLst>
          </a:custGeom>
          <a:solidFill>
            <a:schemeClr val="accent5"/>
          </a:solidFill>
          <a:ln>
            <a:noFill/>
          </a:ln>
        </p:spPr>
        <p:style>
          <a:lnRef idx="0">
            <a:scrgbClr r="0" g="0" b="0"/>
          </a:lnRef>
          <a:fillRef idx="0">
            <a:scrgbClr r="0" g="0" b="0"/>
          </a:fillRef>
          <a:effectRef idx="0">
            <a:scrgbClr r="0" g="0" b="0"/>
          </a:effectRef>
          <a:fontRef idx="minor">
            <a:schemeClr val="lt1"/>
          </a:fontRef>
        </p:style>
        <p:txBody>
          <a:bodyPr wrap="square" rtlCol="0" anchor="ctr">
            <a:noAutofit/>
          </a:bodyPr>
          <a:lstStyle/>
          <a:p>
            <a:pPr algn="ctr"/>
            <a:endParaRPr lang="de-DE" noProof="1"/>
          </a:p>
        </p:txBody>
      </p:sp>
      <p:sp>
        <p:nvSpPr>
          <p:cNvPr id="33" name="Textfeld 32">
            <a:extLst>
              <a:ext uri="{FF2B5EF4-FFF2-40B4-BE49-F238E27FC236}">
                <a16:creationId xmlns:a16="http://schemas.microsoft.com/office/drawing/2014/main" id="{0F7E3F14-AAD3-DACB-6166-D09B095696F1}"/>
              </a:ext>
            </a:extLst>
          </p:cNvPr>
          <p:cNvSpPr txBox="1"/>
          <p:nvPr/>
        </p:nvSpPr>
        <p:spPr>
          <a:xfrm>
            <a:off x="6551075" y="2363206"/>
            <a:ext cx="1490280" cy="646331"/>
          </a:xfrm>
          <a:prstGeom prst="rect">
            <a:avLst/>
          </a:prstGeom>
          <a:noFill/>
        </p:spPr>
        <p:txBody>
          <a:bodyPr wrap="none" rtlCol="0">
            <a:spAutoFit/>
          </a:bodyPr>
          <a:lstStyle/>
          <a:p>
            <a:r>
              <a:rPr lang="de-DE" noProof="1">
                <a:solidFill>
                  <a:srgbClr val="3484CC"/>
                </a:solidFill>
              </a:rPr>
              <a:t>Human-Agent</a:t>
            </a:r>
          </a:p>
          <a:p>
            <a:r>
              <a:rPr lang="de-DE" noProof="1">
                <a:solidFill>
                  <a:srgbClr val="3484CC"/>
                </a:solidFill>
              </a:rPr>
              <a:t>Interaction</a:t>
            </a:r>
          </a:p>
        </p:txBody>
      </p:sp>
      <p:sp>
        <p:nvSpPr>
          <p:cNvPr id="34" name="Ellipse 33">
            <a:extLst>
              <a:ext uri="{FF2B5EF4-FFF2-40B4-BE49-F238E27FC236}">
                <a16:creationId xmlns:a16="http://schemas.microsoft.com/office/drawing/2014/main" id="{999C74CB-49D6-B6FE-814B-7ED1873CD29C}"/>
              </a:ext>
            </a:extLst>
          </p:cNvPr>
          <p:cNvSpPr/>
          <p:nvPr/>
        </p:nvSpPr>
        <p:spPr>
          <a:xfrm>
            <a:off x="3995710" y="2481800"/>
            <a:ext cx="914400" cy="914400"/>
          </a:xfrm>
          <a:prstGeom prst="ellipse">
            <a:avLst/>
          </a:prstGeom>
          <a:solidFill>
            <a:schemeClr val="dk1">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de-DE" noProof="1"/>
              <a:t>XAI</a:t>
            </a:r>
          </a:p>
        </p:txBody>
      </p:sp>
      <p:sp>
        <p:nvSpPr>
          <p:cNvPr id="15" name="Textfeld 14">
            <a:extLst>
              <a:ext uri="{FF2B5EF4-FFF2-40B4-BE49-F238E27FC236}">
                <a16:creationId xmlns:a16="http://schemas.microsoft.com/office/drawing/2014/main" id="{A357E9DB-8B4B-767A-3F7F-FF9C09A7D0BC}"/>
              </a:ext>
            </a:extLst>
          </p:cNvPr>
          <p:cNvSpPr txBox="1"/>
          <p:nvPr/>
        </p:nvSpPr>
        <p:spPr>
          <a:xfrm>
            <a:off x="7860603" y="134610"/>
            <a:ext cx="871905" cy="276999"/>
          </a:xfrm>
          <a:prstGeom prst="rect">
            <a:avLst/>
          </a:prstGeom>
          <a:noFill/>
        </p:spPr>
        <p:txBody>
          <a:bodyPr wrap="none" rtlCol="0">
            <a:spAutoFit/>
          </a:bodyPr>
          <a:lstStyle/>
          <a:p>
            <a:r>
              <a:rPr lang="de-DE" sz="1200" dirty="0"/>
              <a:t>Motivation</a:t>
            </a:r>
            <a:endParaRPr lang="en-US" sz="1200" dirty="0"/>
          </a:p>
        </p:txBody>
      </p:sp>
      <p:sp>
        <p:nvSpPr>
          <p:cNvPr id="17" name="Rechteck 16" descr="Lichter an mit einfarbiger Füllung">
            <a:extLst>
              <a:ext uri="{FF2B5EF4-FFF2-40B4-BE49-F238E27FC236}">
                <a16:creationId xmlns:a16="http://schemas.microsoft.com/office/drawing/2014/main" id="{F92F67CE-835B-626E-B3A6-D1DA5031005E}"/>
              </a:ext>
            </a:extLst>
          </p:cNvPr>
          <p:cNvSpPr/>
          <p:nvPr/>
        </p:nvSpPr>
        <p:spPr>
          <a:xfrm>
            <a:off x="8804352" y="664349"/>
            <a:ext cx="277969" cy="277969"/>
          </a:xfrm>
          <a:prstGeom prst="rect">
            <a:avLst/>
          </a:prstGeom>
          <a:blipFill>
            <a:blip r:embed="rId3">
              <a:extLst>
                <a:ext uri="{96DAC541-7B7A-43D3-8B79-37D633B846F1}">
                  <asvg:svgBlip xmlns:asvg="http://schemas.microsoft.com/office/drawing/2016/SVG/main" r:embed="rId4"/>
                </a:ext>
              </a:extLst>
            </a:blip>
            <a:srcRect/>
            <a:stretch>
              <a:fillRect/>
            </a:stretch>
          </a:blipFill>
          <a:ln>
            <a:noFill/>
          </a:ln>
        </p:spPr>
        <p:style>
          <a:lnRef idx="2">
            <a:scrgbClr r="0" g="0" b="0"/>
          </a:lnRef>
          <a:fillRef idx="1">
            <a:scrgbClr r="0" g="0" b="0"/>
          </a:fillRef>
          <a:effectRef idx="0">
            <a:schemeClr val="accent2">
              <a:hueOff val="0"/>
              <a:satOff val="0"/>
              <a:lumOff val="0"/>
              <a:alphaOff val="0"/>
            </a:schemeClr>
          </a:effectRef>
          <a:fontRef idx="minor">
            <a:schemeClr val="lt1"/>
          </a:fontRef>
        </p:style>
        <p:txBody>
          <a:bodyPr/>
          <a:lstStyle/>
          <a:p>
            <a:endParaRPr lang="en-US"/>
          </a:p>
        </p:txBody>
      </p:sp>
      <p:sp>
        <p:nvSpPr>
          <p:cNvPr id="18" name="Rechteck 17" descr="Geschlossenes Buch mit einfarbiger Füllung">
            <a:extLst>
              <a:ext uri="{FF2B5EF4-FFF2-40B4-BE49-F238E27FC236}">
                <a16:creationId xmlns:a16="http://schemas.microsoft.com/office/drawing/2014/main" id="{A2BC1136-3BF1-8739-05AB-5119B416E68E}"/>
              </a:ext>
            </a:extLst>
          </p:cNvPr>
          <p:cNvSpPr/>
          <p:nvPr/>
        </p:nvSpPr>
        <p:spPr>
          <a:xfrm>
            <a:off x="8804352" y="1043547"/>
            <a:ext cx="277969" cy="277969"/>
          </a:xfrm>
          <a:prstGeom prst="rect">
            <a:avLst/>
          </a:prstGeom>
          <a:blipFill>
            <a:blip r:embed="rId5">
              <a:extLst>
                <a:ext uri="{96DAC541-7B7A-43D3-8B79-37D633B846F1}">
                  <asvg:svgBlip xmlns:asvg="http://schemas.microsoft.com/office/drawing/2016/SVG/main" r:embed="rId6"/>
                </a:ext>
              </a:extLst>
            </a:blip>
            <a:srcRect/>
            <a:stretch>
              <a:fillRect/>
            </a:stretch>
          </a:blipFill>
          <a:ln>
            <a:noFill/>
          </a:ln>
        </p:spPr>
        <p:style>
          <a:lnRef idx="2">
            <a:scrgbClr r="0" g="0" b="0"/>
          </a:lnRef>
          <a:fillRef idx="1">
            <a:scrgbClr r="0" g="0" b="0"/>
          </a:fillRef>
          <a:effectRef idx="0">
            <a:schemeClr val="accent3">
              <a:hueOff val="0"/>
              <a:satOff val="0"/>
              <a:lumOff val="0"/>
              <a:alphaOff val="0"/>
            </a:schemeClr>
          </a:effectRef>
          <a:fontRef idx="minor">
            <a:schemeClr val="lt1"/>
          </a:fontRef>
        </p:style>
        <p:txBody>
          <a:bodyPr/>
          <a:lstStyle/>
          <a:p>
            <a:endParaRPr lang="en-US"/>
          </a:p>
        </p:txBody>
      </p:sp>
      <p:sp>
        <p:nvSpPr>
          <p:cNvPr id="19" name="Rechteck 18" descr="Netzwerk">
            <a:extLst>
              <a:ext uri="{FF2B5EF4-FFF2-40B4-BE49-F238E27FC236}">
                <a16:creationId xmlns:a16="http://schemas.microsoft.com/office/drawing/2014/main" id="{0ECEAB61-AF44-9D79-C110-66DF03FF8C22}"/>
              </a:ext>
            </a:extLst>
          </p:cNvPr>
          <p:cNvSpPr/>
          <p:nvPr/>
        </p:nvSpPr>
        <p:spPr>
          <a:xfrm>
            <a:off x="8804352" y="1379208"/>
            <a:ext cx="277969" cy="277969"/>
          </a:xfrm>
          <a:prstGeom prst="rect">
            <a:avLst/>
          </a:prstGeom>
          <a: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p:spPr>
        <p:style>
          <a:lnRef idx="2">
            <a:scrgbClr r="0" g="0" b="0"/>
          </a:lnRef>
          <a:fillRef idx="1">
            <a:scrgbClr r="0" g="0" b="0"/>
          </a:fillRef>
          <a:effectRef idx="0">
            <a:schemeClr val="accent4">
              <a:hueOff val="0"/>
              <a:satOff val="0"/>
              <a:lumOff val="0"/>
              <a:alphaOff val="0"/>
            </a:schemeClr>
          </a:effectRef>
          <a:fontRef idx="minor">
            <a:schemeClr val="lt1"/>
          </a:fontRef>
        </p:style>
        <p:txBody>
          <a:bodyPr/>
          <a:lstStyle/>
          <a:p>
            <a:endParaRPr lang="en-US"/>
          </a:p>
        </p:txBody>
      </p:sp>
      <p:sp>
        <p:nvSpPr>
          <p:cNvPr id="20" name="Rechteck 19" descr="Kreise mit Pfeilen mit einfarbiger Füllung">
            <a:extLst>
              <a:ext uri="{FF2B5EF4-FFF2-40B4-BE49-F238E27FC236}">
                <a16:creationId xmlns:a16="http://schemas.microsoft.com/office/drawing/2014/main" id="{E159068B-089F-3372-14C6-AF87944C5ECB}"/>
              </a:ext>
            </a:extLst>
          </p:cNvPr>
          <p:cNvSpPr/>
          <p:nvPr/>
        </p:nvSpPr>
        <p:spPr>
          <a:xfrm>
            <a:off x="8804352" y="1688740"/>
            <a:ext cx="277969" cy="277969"/>
          </a:xfrm>
          <a:prstGeom prst="rect">
            <a:avLst/>
          </a:prstGeom>
          <a:blipFill>
            <a:blip r:embed="rId9">
              <a:extLst>
                <a:ext uri="{96DAC541-7B7A-43D3-8B79-37D633B846F1}">
                  <asvg:svgBlip xmlns:asvg="http://schemas.microsoft.com/office/drawing/2016/SVG/main" r:embed="rId10"/>
                </a:ext>
              </a:extLst>
            </a:blip>
            <a:srcRect/>
            <a:stretch>
              <a:fillRect/>
            </a:stretch>
          </a:blipFill>
          <a:ln>
            <a:noFill/>
          </a:ln>
        </p:spPr>
        <p:style>
          <a:lnRef idx="2">
            <a:scrgbClr r="0" g="0" b="0"/>
          </a:lnRef>
          <a:fillRef idx="1">
            <a:scrgbClr r="0" g="0" b="0"/>
          </a:fillRef>
          <a:effectRef idx="0">
            <a:schemeClr val="accent5">
              <a:hueOff val="0"/>
              <a:satOff val="0"/>
              <a:lumOff val="0"/>
              <a:alphaOff val="0"/>
            </a:schemeClr>
          </a:effectRef>
          <a:fontRef idx="minor">
            <a:schemeClr val="lt1"/>
          </a:fontRef>
        </p:style>
        <p:txBody>
          <a:bodyPr/>
          <a:lstStyle/>
          <a:p>
            <a:endParaRPr lang="en-US"/>
          </a:p>
        </p:txBody>
      </p:sp>
      <p:sp>
        <p:nvSpPr>
          <p:cNvPr id="21" name="Rechteck 20" descr="Prüfliste">
            <a:extLst>
              <a:ext uri="{FF2B5EF4-FFF2-40B4-BE49-F238E27FC236}">
                <a16:creationId xmlns:a16="http://schemas.microsoft.com/office/drawing/2014/main" id="{C5B21419-159D-133A-171D-ACFB87B43192}"/>
              </a:ext>
            </a:extLst>
          </p:cNvPr>
          <p:cNvSpPr/>
          <p:nvPr/>
        </p:nvSpPr>
        <p:spPr>
          <a:xfrm>
            <a:off x="8804352" y="2006980"/>
            <a:ext cx="277969" cy="277969"/>
          </a:xfrm>
          <a:prstGeom prst="rect">
            <a:avLst/>
          </a:prstGeom>
          <a: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a:noFill/>
          </a:ln>
        </p:spPr>
        <p:style>
          <a:lnRef idx="2">
            <a:scrgbClr r="0" g="0" b="0"/>
          </a:lnRef>
          <a:fillRef idx="1">
            <a:scrgbClr r="0" g="0" b="0"/>
          </a:fillRef>
          <a:effectRef idx="0">
            <a:schemeClr val="accent6">
              <a:hueOff val="0"/>
              <a:satOff val="0"/>
              <a:lumOff val="0"/>
              <a:alphaOff val="0"/>
            </a:schemeClr>
          </a:effectRef>
          <a:fontRef idx="minor">
            <a:schemeClr val="lt1"/>
          </a:fontRef>
        </p:style>
        <p:txBody>
          <a:bodyPr/>
          <a:lstStyle/>
          <a:p>
            <a:endParaRPr lang="en-US"/>
          </a:p>
        </p:txBody>
      </p:sp>
      <p:sp>
        <p:nvSpPr>
          <p:cNvPr id="22" name="Rechteck 21" descr="Auktionshammer">
            <a:extLst>
              <a:ext uri="{FF2B5EF4-FFF2-40B4-BE49-F238E27FC236}">
                <a16:creationId xmlns:a16="http://schemas.microsoft.com/office/drawing/2014/main" id="{D186BF11-F6A7-28EE-E42D-EA7565C92C5C}"/>
              </a:ext>
            </a:extLst>
          </p:cNvPr>
          <p:cNvSpPr/>
          <p:nvPr/>
        </p:nvSpPr>
        <p:spPr>
          <a:xfrm>
            <a:off x="8804352" y="2316507"/>
            <a:ext cx="277969" cy="277969"/>
          </a:xfrm>
          <a:prstGeom prst="rect">
            <a:avLst/>
          </a:prstGeom>
          <a: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a:blipFill>
          <a:ln>
            <a:noFill/>
          </a:ln>
        </p:spPr>
        <p:style>
          <a:lnRef idx="2">
            <a:scrgbClr r="0" g="0" b="0"/>
          </a:lnRef>
          <a:fillRef idx="1">
            <a:scrgbClr r="0" g="0" b="0"/>
          </a:fillRef>
          <a:effectRef idx="0">
            <a:schemeClr val="accent2">
              <a:hueOff val="0"/>
              <a:satOff val="0"/>
              <a:lumOff val="0"/>
              <a:alphaOff val="0"/>
            </a:schemeClr>
          </a:effectRef>
          <a:fontRef idx="minor">
            <a:schemeClr val="lt1"/>
          </a:fontRef>
        </p:style>
        <p:txBody>
          <a:bodyPr/>
          <a:lstStyle/>
          <a:p>
            <a:endParaRPr lang="en-US"/>
          </a:p>
        </p:txBody>
      </p:sp>
      <p:sp>
        <p:nvSpPr>
          <p:cNvPr id="26" name="Rechteck 25" descr="Lichter an mit einfarbiger Füllung">
            <a:extLst>
              <a:ext uri="{FF2B5EF4-FFF2-40B4-BE49-F238E27FC236}">
                <a16:creationId xmlns:a16="http://schemas.microsoft.com/office/drawing/2014/main" id="{8909A730-8471-647E-A8B9-4D77C108E8C8}"/>
              </a:ext>
            </a:extLst>
          </p:cNvPr>
          <p:cNvSpPr/>
          <p:nvPr/>
        </p:nvSpPr>
        <p:spPr>
          <a:xfrm>
            <a:off x="7600498" y="133639"/>
            <a:ext cx="277969" cy="277969"/>
          </a:xfrm>
          <a:prstGeom prst="rect">
            <a:avLst/>
          </a:prstGeom>
          <a:blipFill>
            <a:blip r:embed="rId3">
              <a:extLst>
                <a:ext uri="{96DAC541-7B7A-43D3-8B79-37D633B846F1}">
                  <asvg:svgBlip xmlns:asvg="http://schemas.microsoft.com/office/drawing/2016/SVG/main" r:embed="rId4"/>
                </a:ext>
              </a:extLst>
            </a:blip>
            <a:srcRect/>
            <a:stretch>
              <a:fillRect/>
            </a:stretch>
          </a:blipFill>
          <a:ln>
            <a:noFill/>
          </a:ln>
        </p:spPr>
        <p:style>
          <a:lnRef idx="2">
            <a:scrgbClr r="0" g="0" b="0"/>
          </a:lnRef>
          <a:fillRef idx="1">
            <a:scrgbClr r="0" g="0" b="0"/>
          </a:fillRef>
          <a:effectRef idx="0">
            <a:schemeClr val="accent2">
              <a:hueOff val="0"/>
              <a:satOff val="0"/>
              <a:lumOff val="0"/>
              <a:alphaOff val="0"/>
            </a:schemeClr>
          </a:effectRef>
          <a:fontRef idx="minor">
            <a:schemeClr val="lt1"/>
          </a:fontRef>
        </p:style>
        <p:txBody>
          <a:bodyPr/>
          <a:lstStyle/>
          <a:p>
            <a:endParaRPr lang="en-US"/>
          </a:p>
        </p:txBody>
      </p:sp>
    </p:spTree>
    <p:extLst>
      <p:ext uri="{BB962C8B-B14F-4D97-AF65-F5344CB8AC3E}">
        <p14:creationId xmlns:p14="http://schemas.microsoft.com/office/powerpoint/2010/main" val="3655451244"/>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500" fill="hold"/>
                                        <p:tgtEl>
                                          <p:spTgt spid="7"/>
                                        </p:tgtEl>
                                        <p:attrNameLst>
                                          <p:attrName>ppt_w</p:attrName>
                                        </p:attrNameLst>
                                      </p:cBhvr>
                                      <p:tavLst>
                                        <p:tav tm="0">
                                          <p:val>
                                            <p:fltVal val="0"/>
                                          </p:val>
                                        </p:tav>
                                        <p:tav tm="100000">
                                          <p:val>
                                            <p:strVal val="#ppt_w"/>
                                          </p:val>
                                        </p:tav>
                                      </p:tavLst>
                                    </p:anim>
                                    <p:anim calcmode="lin" valueType="num">
                                      <p:cBhvr>
                                        <p:cTn id="8" dur="500" fill="hold"/>
                                        <p:tgtEl>
                                          <p:spTgt spid="7"/>
                                        </p:tgtEl>
                                        <p:attrNameLst>
                                          <p:attrName>ppt_h</p:attrName>
                                        </p:attrNameLst>
                                      </p:cBhvr>
                                      <p:tavLst>
                                        <p:tav tm="0">
                                          <p:val>
                                            <p:fltVal val="0"/>
                                          </p:val>
                                        </p:tav>
                                        <p:tav tm="100000">
                                          <p:val>
                                            <p:strVal val="#ppt_h"/>
                                          </p:val>
                                        </p:tav>
                                      </p:tavLst>
                                    </p:anim>
                                    <p:anim calcmode="lin" valueType="num">
                                      <p:cBhvr>
                                        <p:cTn id="9" dur="500" fill="hold"/>
                                        <p:tgtEl>
                                          <p:spTgt spid="7"/>
                                        </p:tgtEl>
                                        <p:attrNameLst>
                                          <p:attrName>style.rotation</p:attrName>
                                        </p:attrNameLst>
                                      </p:cBhvr>
                                      <p:tavLst>
                                        <p:tav tm="0">
                                          <p:val>
                                            <p:fltVal val="90"/>
                                          </p:val>
                                        </p:tav>
                                        <p:tav tm="100000">
                                          <p:val>
                                            <p:fltVal val="0"/>
                                          </p:val>
                                        </p:tav>
                                      </p:tavLst>
                                    </p:anim>
                                    <p:animEffect transition="in" filter="fade">
                                      <p:cBhvr>
                                        <p:cTn id="10" dur="500"/>
                                        <p:tgtEl>
                                          <p:spTgt spid="7"/>
                                        </p:tgtEl>
                                      </p:cBhvr>
                                    </p:animEffect>
                                  </p:childTnLst>
                                </p:cTn>
                              </p:par>
                              <p:par>
                                <p:cTn id="11" presetID="31" presetClass="entr" presetSubtype="0" fill="hold" grpId="0" nodeType="withEffect">
                                  <p:stCondLst>
                                    <p:cond delay="0"/>
                                  </p:stCondLst>
                                  <p:childTnLst>
                                    <p:set>
                                      <p:cBhvr>
                                        <p:cTn id="12" dur="1" fill="hold">
                                          <p:stCondLst>
                                            <p:cond delay="0"/>
                                          </p:stCondLst>
                                        </p:cTn>
                                        <p:tgtEl>
                                          <p:spTgt spid="12"/>
                                        </p:tgtEl>
                                        <p:attrNameLst>
                                          <p:attrName>style.visibility</p:attrName>
                                        </p:attrNameLst>
                                      </p:cBhvr>
                                      <p:to>
                                        <p:strVal val="visible"/>
                                      </p:to>
                                    </p:set>
                                    <p:anim calcmode="lin" valueType="num">
                                      <p:cBhvr>
                                        <p:cTn id="13" dur="500" fill="hold"/>
                                        <p:tgtEl>
                                          <p:spTgt spid="12"/>
                                        </p:tgtEl>
                                        <p:attrNameLst>
                                          <p:attrName>ppt_w</p:attrName>
                                        </p:attrNameLst>
                                      </p:cBhvr>
                                      <p:tavLst>
                                        <p:tav tm="0">
                                          <p:val>
                                            <p:fltVal val="0"/>
                                          </p:val>
                                        </p:tav>
                                        <p:tav tm="100000">
                                          <p:val>
                                            <p:strVal val="#ppt_w"/>
                                          </p:val>
                                        </p:tav>
                                      </p:tavLst>
                                    </p:anim>
                                    <p:anim calcmode="lin" valueType="num">
                                      <p:cBhvr>
                                        <p:cTn id="14" dur="500" fill="hold"/>
                                        <p:tgtEl>
                                          <p:spTgt spid="12"/>
                                        </p:tgtEl>
                                        <p:attrNameLst>
                                          <p:attrName>ppt_h</p:attrName>
                                        </p:attrNameLst>
                                      </p:cBhvr>
                                      <p:tavLst>
                                        <p:tav tm="0">
                                          <p:val>
                                            <p:fltVal val="0"/>
                                          </p:val>
                                        </p:tav>
                                        <p:tav tm="100000">
                                          <p:val>
                                            <p:strVal val="#ppt_h"/>
                                          </p:val>
                                        </p:tav>
                                      </p:tavLst>
                                    </p:anim>
                                    <p:anim calcmode="lin" valueType="num">
                                      <p:cBhvr>
                                        <p:cTn id="15" dur="500" fill="hold"/>
                                        <p:tgtEl>
                                          <p:spTgt spid="12"/>
                                        </p:tgtEl>
                                        <p:attrNameLst>
                                          <p:attrName>style.rotation</p:attrName>
                                        </p:attrNameLst>
                                      </p:cBhvr>
                                      <p:tavLst>
                                        <p:tav tm="0">
                                          <p:val>
                                            <p:fltVal val="90"/>
                                          </p:val>
                                        </p:tav>
                                        <p:tav tm="100000">
                                          <p:val>
                                            <p:fltVal val="0"/>
                                          </p:val>
                                        </p:tav>
                                      </p:tavLst>
                                    </p:anim>
                                    <p:animEffect transition="in" filter="fade">
                                      <p:cBhvr>
                                        <p:cTn id="16" dur="500"/>
                                        <p:tgtEl>
                                          <p:spTgt spid="12"/>
                                        </p:tgtEl>
                                      </p:cBhvr>
                                    </p:animEffect>
                                  </p:childTnLst>
                                </p:cTn>
                              </p:par>
                            </p:childTnLst>
                          </p:cTn>
                        </p:par>
                        <p:par>
                          <p:cTn id="17" fill="hold">
                            <p:stCondLst>
                              <p:cond delay="500"/>
                            </p:stCondLst>
                            <p:childTnLst>
                              <p:par>
                                <p:cTn id="18" presetID="31" presetClass="entr" presetSubtype="0" fill="hold" grpId="0" nodeType="afterEffect">
                                  <p:stCondLst>
                                    <p:cond delay="0"/>
                                  </p:stCondLst>
                                  <p:childTnLst>
                                    <p:set>
                                      <p:cBhvr>
                                        <p:cTn id="19" dur="1" fill="hold">
                                          <p:stCondLst>
                                            <p:cond delay="0"/>
                                          </p:stCondLst>
                                        </p:cTn>
                                        <p:tgtEl>
                                          <p:spTgt spid="10"/>
                                        </p:tgtEl>
                                        <p:attrNameLst>
                                          <p:attrName>style.visibility</p:attrName>
                                        </p:attrNameLst>
                                      </p:cBhvr>
                                      <p:to>
                                        <p:strVal val="visible"/>
                                      </p:to>
                                    </p:set>
                                    <p:anim calcmode="lin" valueType="num">
                                      <p:cBhvr>
                                        <p:cTn id="20" dur="500" fill="hold"/>
                                        <p:tgtEl>
                                          <p:spTgt spid="10"/>
                                        </p:tgtEl>
                                        <p:attrNameLst>
                                          <p:attrName>ppt_w</p:attrName>
                                        </p:attrNameLst>
                                      </p:cBhvr>
                                      <p:tavLst>
                                        <p:tav tm="0">
                                          <p:val>
                                            <p:fltVal val="0"/>
                                          </p:val>
                                        </p:tav>
                                        <p:tav tm="100000">
                                          <p:val>
                                            <p:strVal val="#ppt_w"/>
                                          </p:val>
                                        </p:tav>
                                      </p:tavLst>
                                    </p:anim>
                                    <p:anim calcmode="lin" valueType="num">
                                      <p:cBhvr>
                                        <p:cTn id="21" dur="500" fill="hold"/>
                                        <p:tgtEl>
                                          <p:spTgt spid="10"/>
                                        </p:tgtEl>
                                        <p:attrNameLst>
                                          <p:attrName>ppt_h</p:attrName>
                                        </p:attrNameLst>
                                      </p:cBhvr>
                                      <p:tavLst>
                                        <p:tav tm="0">
                                          <p:val>
                                            <p:fltVal val="0"/>
                                          </p:val>
                                        </p:tav>
                                        <p:tav tm="100000">
                                          <p:val>
                                            <p:strVal val="#ppt_h"/>
                                          </p:val>
                                        </p:tav>
                                      </p:tavLst>
                                    </p:anim>
                                    <p:anim calcmode="lin" valueType="num">
                                      <p:cBhvr>
                                        <p:cTn id="22" dur="500" fill="hold"/>
                                        <p:tgtEl>
                                          <p:spTgt spid="10"/>
                                        </p:tgtEl>
                                        <p:attrNameLst>
                                          <p:attrName>style.rotation</p:attrName>
                                        </p:attrNameLst>
                                      </p:cBhvr>
                                      <p:tavLst>
                                        <p:tav tm="0">
                                          <p:val>
                                            <p:fltVal val="90"/>
                                          </p:val>
                                        </p:tav>
                                        <p:tav tm="100000">
                                          <p:val>
                                            <p:fltVal val="0"/>
                                          </p:val>
                                        </p:tav>
                                      </p:tavLst>
                                    </p:anim>
                                    <p:animEffect transition="in" filter="fade">
                                      <p:cBhvr>
                                        <p:cTn id="23" dur="500"/>
                                        <p:tgtEl>
                                          <p:spTgt spid="10"/>
                                        </p:tgtEl>
                                      </p:cBhvr>
                                    </p:animEffect>
                                  </p:childTnLst>
                                </p:cTn>
                              </p:par>
                              <p:par>
                                <p:cTn id="24" presetID="31" presetClass="entr" presetSubtype="0" fill="hold" grpId="0" nodeType="withEffect">
                                  <p:stCondLst>
                                    <p:cond delay="0"/>
                                  </p:stCondLst>
                                  <p:childTnLst>
                                    <p:set>
                                      <p:cBhvr>
                                        <p:cTn id="25" dur="1" fill="hold">
                                          <p:stCondLst>
                                            <p:cond delay="0"/>
                                          </p:stCondLst>
                                        </p:cTn>
                                        <p:tgtEl>
                                          <p:spTgt spid="13"/>
                                        </p:tgtEl>
                                        <p:attrNameLst>
                                          <p:attrName>style.visibility</p:attrName>
                                        </p:attrNameLst>
                                      </p:cBhvr>
                                      <p:to>
                                        <p:strVal val="visible"/>
                                      </p:to>
                                    </p:set>
                                    <p:anim calcmode="lin" valueType="num">
                                      <p:cBhvr>
                                        <p:cTn id="26" dur="500" fill="hold"/>
                                        <p:tgtEl>
                                          <p:spTgt spid="13"/>
                                        </p:tgtEl>
                                        <p:attrNameLst>
                                          <p:attrName>ppt_w</p:attrName>
                                        </p:attrNameLst>
                                      </p:cBhvr>
                                      <p:tavLst>
                                        <p:tav tm="0">
                                          <p:val>
                                            <p:fltVal val="0"/>
                                          </p:val>
                                        </p:tav>
                                        <p:tav tm="100000">
                                          <p:val>
                                            <p:strVal val="#ppt_w"/>
                                          </p:val>
                                        </p:tav>
                                      </p:tavLst>
                                    </p:anim>
                                    <p:anim calcmode="lin" valueType="num">
                                      <p:cBhvr>
                                        <p:cTn id="27" dur="500" fill="hold"/>
                                        <p:tgtEl>
                                          <p:spTgt spid="13"/>
                                        </p:tgtEl>
                                        <p:attrNameLst>
                                          <p:attrName>ppt_h</p:attrName>
                                        </p:attrNameLst>
                                      </p:cBhvr>
                                      <p:tavLst>
                                        <p:tav tm="0">
                                          <p:val>
                                            <p:fltVal val="0"/>
                                          </p:val>
                                        </p:tav>
                                        <p:tav tm="100000">
                                          <p:val>
                                            <p:strVal val="#ppt_h"/>
                                          </p:val>
                                        </p:tav>
                                      </p:tavLst>
                                    </p:anim>
                                    <p:anim calcmode="lin" valueType="num">
                                      <p:cBhvr>
                                        <p:cTn id="28" dur="500" fill="hold"/>
                                        <p:tgtEl>
                                          <p:spTgt spid="13"/>
                                        </p:tgtEl>
                                        <p:attrNameLst>
                                          <p:attrName>style.rotation</p:attrName>
                                        </p:attrNameLst>
                                      </p:cBhvr>
                                      <p:tavLst>
                                        <p:tav tm="0">
                                          <p:val>
                                            <p:fltVal val="90"/>
                                          </p:val>
                                        </p:tav>
                                        <p:tav tm="100000">
                                          <p:val>
                                            <p:fltVal val="0"/>
                                          </p:val>
                                        </p:tav>
                                      </p:tavLst>
                                    </p:anim>
                                    <p:animEffect transition="in" filter="fade">
                                      <p:cBhvr>
                                        <p:cTn id="29" dur="500"/>
                                        <p:tgtEl>
                                          <p:spTgt spid="13"/>
                                        </p:tgtEl>
                                      </p:cBhvr>
                                    </p:animEffect>
                                  </p:childTnLst>
                                </p:cTn>
                              </p:par>
                            </p:childTnLst>
                          </p:cTn>
                        </p:par>
                        <p:par>
                          <p:cTn id="30" fill="hold">
                            <p:stCondLst>
                              <p:cond delay="1000"/>
                            </p:stCondLst>
                            <p:childTnLst>
                              <p:par>
                                <p:cTn id="31" presetID="31" presetClass="entr" presetSubtype="0" fill="hold" grpId="0" nodeType="afterEffect">
                                  <p:stCondLst>
                                    <p:cond delay="0"/>
                                  </p:stCondLst>
                                  <p:childTnLst>
                                    <p:set>
                                      <p:cBhvr>
                                        <p:cTn id="32" dur="1" fill="hold">
                                          <p:stCondLst>
                                            <p:cond delay="0"/>
                                          </p:stCondLst>
                                        </p:cTn>
                                        <p:tgtEl>
                                          <p:spTgt spid="9"/>
                                        </p:tgtEl>
                                        <p:attrNameLst>
                                          <p:attrName>style.visibility</p:attrName>
                                        </p:attrNameLst>
                                      </p:cBhvr>
                                      <p:to>
                                        <p:strVal val="visible"/>
                                      </p:to>
                                    </p:set>
                                    <p:anim calcmode="lin" valueType="num">
                                      <p:cBhvr>
                                        <p:cTn id="33" dur="500" fill="hold"/>
                                        <p:tgtEl>
                                          <p:spTgt spid="9"/>
                                        </p:tgtEl>
                                        <p:attrNameLst>
                                          <p:attrName>ppt_w</p:attrName>
                                        </p:attrNameLst>
                                      </p:cBhvr>
                                      <p:tavLst>
                                        <p:tav tm="0">
                                          <p:val>
                                            <p:fltVal val="0"/>
                                          </p:val>
                                        </p:tav>
                                        <p:tav tm="100000">
                                          <p:val>
                                            <p:strVal val="#ppt_w"/>
                                          </p:val>
                                        </p:tav>
                                      </p:tavLst>
                                    </p:anim>
                                    <p:anim calcmode="lin" valueType="num">
                                      <p:cBhvr>
                                        <p:cTn id="34" dur="500" fill="hold"/>
                                        <p:tgtEl>
                                          <p:spTgt spid="9"/>
                                        </p:tgtEl>
                                        <p:attrNameLst>
                                          <p:attrName>ppt_h</p:attrName>
                                        </p:attrNameLst>
                                      </p:cBhvr>
                                      <p:tavLst>
                                        <p:tav tm="0">
                                          <p:val>
                                            <p:fltVal val="0"/>
                                          </p:val>
                                        </p:tav>
                                        <p:tav tm="100000">
                                          <p:val>
                                            <p:strVal val="#ppt_h"/>
                                          </p:val>
                                        </p:tav>
                                      </p:tavLst>
                                    </p:anim>
                                    <p:anim calcmode="lin" valueType="num">
                                      <p:cBhvr>
                                        <p:cTn id="35" dur="500" fill="hold"/>
                                        <p:tgtEl>
                                          <p:spTgt spid="9"/>
                                        </p:tgtEl>
                                        <p:attrNameLst>
                                          <p:attrName>style.rotation</p:attrName>
                                        </p:attrNameLst>
                                      </p:cBhvr>
                                      <p:tavLst>
                                        <p:tav tm="0">
                                          <p:val>
                                            <p:fltVal val="90"/>
                                          </p:val>
                                        </p:tav>
                                        <p:tav tm="100000">
                                          <p:val>
                                            <p:fltVal val="0"/>
                                          </p:val>
                                        </p:tav>
                                      </p:tavLst>
                                    </p:anim>
                                    <p:animEffect transition="in" filter="fade">
                                      <p:cBhvr>
                                        <p:cTn id="36" dur="500"/>
                                        <p:tgtEl>
                                          <p:spTgt spid="9"/>
                                        </p:tgtEl>
                                      </p:cBhvr>
                                    </p:animEffect>
                                  </p:childTnLst>
                                </p:cTn>
                              </p:par>
                              <p:par>
                                <p:cTn id="37" presetID="31" presetClass="entr" presetSubtype="0" fill="hold" grpId="0" nodeType="withEffect">
                                  <p:stCondLst>
                                    <p:cond delay="0"/>
                                  </p:stCondLst>
                                  <p:childTnLst>
                                    <p:set>
                                      <p:cBhvr>
                                        <p:cTn id="38" dur="1" fill="hold">
                                          <p:stCondLst>
                                            <p:cond delay="0"/>
                                          </p:stCondLst>
                                        </p:cTn>
                                        <p:tgtEl>
                                          <p:spTgt spid="14"/>
                                        </p:tgtEl>
                                        <p:attrNameLst>
                                          <p:attrName>style.visibility</p:attrName>
                                        </p:attrNameLst>
                                      </p:cBhvr>
                                      <p:to>
                                        <p:strVal val="visible"/>
                                      </p:to>
                                    </p:set>
                                    <p:anim calcmode="lin" valueType="num">
                                      <p:cBhvr>
                                        <p:cTn id="39" dur="500" fill="hold"/>
                                        <p:tgtEl>
                                          <p:spTgt spid="14"/>
                                        </p:tgtEl>
                                        <p:attrNameLst>
                                          <p:attrName>ppt_w</p:attrName>
                                        </p:attrNameLst>
                                      </p:cBhvr>
                                      <p:tavLst>
                                        <p:tav tm="0">
                                          <p:val>
                                            <p:fltVal val="0"/>
                                          </p:val>
                                        </p:tav>
                                        <p:tav tm="100000">
                                          <p:val>
                                            <p:strVal val="#ppt_w"/>
                                          </p:val>
                                        </p:tav>
                                      </p:tavLst>
                                    </p:anim>
                                    <p:anim calcmode="lin" valueType="num">
                                      <p:cBhvr>
                                        <p:cTn id="40" dur="500" fill="hold"/>
                                        <p:tgtEl>
                                          <p:spTgt spid="14"/>
                                        </p:tgtEl>
                                        <p:attrNameLst>
                                          <p:attrName>ppt_h</p:attrName>
                                        </p:attrNameLst>
                                      </p:cBhvr>
                                      <p:tavLst>
                                        <p:tav tm="0">
                                          <p:val>
                                            <p:fltVal val="0"/>
                                          </p:val>
                                        </p:tav>
                                        <p:tav tm="100000">
                                          <p:val>
                                            <p:strVal val="#ppt_h"/>
                                          </p:val>
                                        </p:tav>
                                      </p:tavLst>
                                    </p:anim>
                                    <p:anim calcmode="lin" valueType="num">
                                      <p:cBhvr>
                                        <p:cTn id="41" dur="500" fill="hold"/>
                                        <p:tgtEl>
                                          <p:spTgt spid="14"/>
                                        </p:tgtEl>
                                        <p:attrNameLst>
                                          <p:attrName>style.rotation</p:attrName>
                                        </p:attrNameLst>
                                      </p:cBhvr>
                                      <p:tavLst>
                                        <p:tav tm="0">
                                          <p:val>
                                            <p:fltVal val="90"/>
                                          </p:val>
                                        </p:tav>
                                        <p:tav tm="100000">
                                          <p:val>
                                            <p:fltVal val="0"/>
                                          </p:val>
                                        </p:tav>
                                      </p:tavLst>
                                    </p:anim>
                                    <p:animEffect transition="in" filter="fade">
                                      <p:cBhvr>
                                        <p:cTn id="42" dur="500"/>
                                        <p:tgtEl>
                                          <p:spTgt spid="14"/>
                                        </p:tgtEl>
                                      </p:cBhvr>
                                    </p:animEffect>
                                  </p:childTnLst>
                                </p:cTn>
                              </p:par>
                            </p:childTnLst>
                          </p:cTn>
                        </p:par>
                        <p:par>
                          <p:cTn id="43" fill="hold">
                            <p:stCondLst>
                              <p:cond delay="1500"/>
                            </p:stCondLst>
                            <p:childTnLst>
                              <p:par>
                                <p:cTn id="44" presetID="31" presetClass="entr" presetSubtype="0" fill="hold" grpId="0" nodeType="afterEffect">
                                  <p:stCondLst>
                                    <p:cond delay="0"/>
                                  </p:stCondLst>
                                  <p:childTnLst>
                                    <p:set>
                                      <p:cBhvr>
                                        <p:cTn id="45" dur="1" fill="hold">
                                          <p:stCondLst>
                                            <p:cond delay="0"/>
                                          </p:stCondLst>
                                        </p:cTn>
                                        <p:tgtEl>
                                          <p:spTgt spid="33"/>
                                        </p:tgtEl>
                                        <p:attrNameLst>
                                          <p:attrName>style.visibility</p:attrName>
                                        </p:attrNameLst>
                                      </p:cBhvr>
                                      <p:to>
                                        <p:strVal val="visible"/>
                                      </p:to>
                                    </p:set>
                                    <p:anim calcmode="lin" valueType="num">
                                      <p:cBhvr>
                                        <p:cTn id="46" dur="500" fill="hold"/>
                                        <p:tgtEl>
                                          <p:spTgt spid="33"/>
                                        </p:tgtEl>
                                        <p:attrNameLst>
                                          <p:attrName>ppt_w</p:attrName>
                                        </p:attrNameLst>
                                      </p:cBhvr>
                                      <p:tavLst>
                                        <p:tav tm="0">
                                          <p:val>
                                            <p:fltVal val="0"/>
                                          </p:val>
                                        </p:tav>
                                        <p:tav tm="100000">
                                          <p:val>
                                            <p:strVal val="#ppt_w"/>
                                          </p:val>
                                        </p:tav>
                                      </p:tavLst>
                                    </p:anim>
                                    <p:anim calcmode="lin" valueType="num">
                                      <p:cBhvr>
                                        <p:cTn id="47" dur="500" fill="hold"/>
                                        <p:tgtEl>
                                          <p:spTgt spid="33"/>
                                        </p:tgtEl>
                                        <p:attrNameLst>
                                          <p:attrName>ppt_h</p:attrName>
                                        </p:attrNameLst>
                                      </p:cBhvr>
                                      <p:tavLst>
                                        <p:tav tm="0">
                                          <p:val>
                                            <p:fltVal val="0"/>
                                          </p:val>
                                        </p:tav>
                                        <p:tav tm="100000">
                                          <p:val>
                                            <p:strVal val="#ppt_h"/>
                                          </p:val>
                                        </p:tav>
                                      </p:tavLst>
                                    </p:anim>
                                    <p:anim calcmode="lin" valueType="num">
                                      <p:cBhvr>
                                        <p:cTn id="48" dur="500" fill="hold"/>
                                        <p:tgtEl>
                                          <p:spTgt spid="33"/>
                                        </p:tgtEl>
                                        <p:attrNameLst>
                                          <p:attrName>style.rotation</p:attrName>
                                        </p:attrNameLst>
                                      </p:cBhvr>
                                      <p:tavLst>
                                        <p:tav tm="0">
                                          <p:val>
                                            <p:fltVal val="90"/>
                                          </p:val>
                                        </p:tav>
                                        <p:tav tm="100000">
                                          <p:val>
                                            <p:fltVal val="0"/>
                                          </p:val>
                                        </p:tav>
                                      </p:tavLst>
                                    </p:anim>
                                    <p:animEffect transition="in" filter="fade">
                                      <p:cBhvr>
                                        <p:cTn id="49" dur="500"/>
                                        <p:tgtEl>
                                          <p:spTgt spid="33"/>
                                        </p:tgtEl>
                                      </p:cBhvr>
                                    </p:animEffect>
                                  </p:childTnLst>
                                </p:cTn>
                              </p:par>
                              <p:par>
                                <p:cTn id="50" presetID="31" presetClass="entr" presetSubtype="0" fill="hold" grpId="0" nodeType="withEffect">
                                  <p:stCondLst>
                                    <p:cond delay="0"/>
                                  </p:stCondLst>
                                  <p:childTnLst>
                                    <p:set>
                                      <p:cBhvr>
                                        <p:cTn id="51" dur="1" fill="hold">
                                          <p:stCondLst>
                                            <p:cond delay="0"/>
                                          </p:stCondLst>
                                        </p:cTn>
                                        <p:tgtEl>
                                          <p:spTgt spid="24"/>
                                        </p:tgtEl>
                                        <p:attrNameLst>
                                          <p:attrName>style.visibility</p:attrName>
                                        </p:attrNameLst>
                                      </p:cBhvr>
                                      <p:to>
                                        <p:strVal val="visible"/>
                                      </p:to>
                                    </p:set>
                                    <p:anim calcmode="lin" valueType="num">
                                      <p:cBhvr>
                                        <p:cTn id="52" dur="500" fill="hold"/>
                                        <p:tgtEl>
                                          <p:spTgt spid="24"/>
                                        </p:tgtEl>
                                        <p:attrNameLst>
                                          <p:attrName>ppt_w</p:attrName>
                                        </p:attrNameLst>
                                      </p:cBhvr>
                                      <p:tavLst>
                                        <p:tav tm="0">
                                          <p:val>
                                            <p:fltVal val="0"/>
                                          </p:val>
                                        </p:tav>
                                        <p:tav tm="100000">
                                          <p:val>
                                            <p:strVal val="#ppt_w"/>
                                          </p:val>
                                        </p:tav>
                                      </p:tavLst>
                                    </p:anim>
                                    <p:anim calcmode="lin" valueType="num">
                                      <p:cBhvr>
                                        <p:cTn id="53" dur="500" fill="hold"/>
                                        <p:tgtEl>
                                          <p:spTgt spid="24"/>
                                        </p:tgtEl>
                                        <p:attrNameLst>
                                          <p:attrName>ppt_h</p:attrName>
                                        </p:attrNameLst>
                                      </p:cBhvr>
                                      <p:tavLst>
                                        <p:tav tm="0">
                                          <p:val>
                                            <p:fltVal val="0"/>
                                          </p:val>
                                        </p:tav>
                                        <p:tav tm="100000">
                                          <p:val>
                                            <p:strVal val="#ppt_h"/>
                                          </p:val>
                                        </p:tav>
                                      </p:tavLst>
                                    </p:anim>
                                    <p:anim calcmode="lin" valueType="num">
                                      <p:cBhvr>
                                        <p:cTn id="54" dur="500" fill="hold"/>
                                        <p:tgtEl>
                                          <p:spTgt spid="24"/>
                                        </p:tgtEl>
                                        <p:attrNameLst>
                                          <p:attrName>style.rotation</p:attrName>
                                        </p:attrNameLst>
                                      </p:cBhvr>
                                      <p:tavLst>
                                        <p:tav tm="0">
                                          <p:val>
                                            <p:fltVal val="90"/>
                                          </p:val>
                                        </p:tav>
                                        <p:tav tm="100000">
                                          <p:val>
                                            <p:fltVal val="0"/>
                                          </p:val>
                                        </p:tav>
                                      </p:tavLst>
                                    </p:anim>
                                    <p:animEffect transition="in" filter="fade">
                                      <p:cBhvr>
                                        <p:cTn id="55" dur="500"/>
                                        <p:tgtEl>
                                          <p:spTgt spid="24"/>
                                        </p:tgtEl>
                                      </p:cBhvr>
                                    </p:animEffect>
                                  </p:childTnLst>
                                </p:cTn>
                              </p:par>
                            </p:childTnLst>
                          </p:cTn>
                        </p:par>
                      </p:childTnLst>
                    </p:cTn>
                  </p:par>
                  <p:par>
                    <p:cTn id="56" fill="hold">
                      <p:stCondLst>
                        <p:cond delay="indefinite"/>
                      </p:stCondLst>
                      <p:childTnLst>
                        <p:par>
                          <p:cTn id="57" fill="hold">
                            <p:stCondLst>
                              <p:cond delay="0"/>
                            </p:stCondLst>
                            <p:childTnLst>
                              <p:par>
                                <p:cTn id="58" presetID="31" presetClass="entr" presetSubtype="0" fill="hold" grpId="0" nodeType="clickEffect">
                                  <p:stCondLst>
                                    <p:cond delay="0"/>
                                  </p:stCondLst>
                                  <p:childTnLst>
                                    <p:set>
                                      <p:cBhvr>
                                        <p:cTn id="59" dur="1" fill="hold">
                                          <p:stCondLst>
                                            <p:cond delay="0"/>
                                          </p:stCondLst>
                                        </p:cTn>
                                        <p:tgtEl>
                                          <p:spTgt spid="34"/>
                                        </p:tgtEl>
                                        <p:attrNameLst>
                                          <p:attrName>style.visibility</p:attrName>
                                        </p:attrNameLst>
                                      </p:cBhvr>
                                      <p:to>
                                        <p:strVal val="visible"/>
                                      </p:to>
                                    </p:set>
                                    <p:anim calcmode="lin" valueType="num">
                                      <p:cBhvr>
                                        <p:cTn id="60" dur="500" fill="hold"/>
                                        <p:tgtEl>
                                          <p:spTgt spid="34"/>
                                        </p:tgtEl>
                                        <p:attrNameLst>
                                          <p:attrName>ppt_w</p:attrName>
                                        </p:attrNameLst>
                                      </p:cBhvr>
                                      <p:tavLst>
                                        <p:tav tm="0">
                                          <p:val>
                                            <p:fltVal val="0"/>
                                          </p:val>
                                        </p:tav>
                                        <p:tav tm="100000">
                                          <p:val>
                                            <p:strVal val="#ppt_w"/>
                                          </p:val>
                                        </p:tav>
                                      </p:tavLst>
                                    </p:anim>
                                    <p:anim calcmode="lin" valueType="num">
                                      <p:cBhvr>
                                        <p:cTn id="61" dur="500" fill="hold"/>
                                        <p:tgtEl>
                                          <p:spTgt spid="34"/>
                                        </p:tgtEl>
                                        <p:attrNameLst>
                                          <p:attrName>ppt_h</p:attrName>
                                        </p:attrNameLst>
                                      </p:cBhvr>
                                      <p:tavLst>
                                        <p:tav tm="0">
                                          <p:val>
                                            <p:fltVal val="0"/>
                                          </p:val>
                                        </p:tav>
                                        <p:tav tm="100000">
                                          <p:val>
                                            <p:strVal val="#ppt_h"/>
                                          </p:val>
                                        </p:tav>
                                      </p:tavLst>
                                    </p:anim>
                                    <p:anim calcmode="lin" valueType="num">
                                      <p:cBhvr>
                                        <p:cTn id="62" dur="500" fill="hold"/>
                                        <p:tgtEl>
                                          <p:spTgt spid="34"/>
                                        </p:tgtEl>
                                        <p:attrNameLst>
                                          <p:attrName>style.rotation</p:attrName>
                                        </p:attrNameLst>
                                      </p:cBhvr>
                                      <p:tavLst>
                                        <p:tav tm="0">
                                          <p:val>
                                            <p:fltVal val="90"/>
                                          </p:val>
                                        </p:tav>
                                        <p:tav tm="100000">
                                          <p:val>
                                            <p:fltVal val="0"/>
                                          </p:val>
                                        </p:tav>
                                      </p:tavLst>
                                    </p:anim>
                                    <p:animEffect transition="in" filter="fade">
                                      <p:cBhvr>
                                        <p:cTn id="63" dur="5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9" grpId="0" animBg="1"/>
      <p:bldP spid="10" grpId="0" animBg="1"/>
      <p:bldP spid="12" grpId="0"/>
      <p:bldP spid="13" grpId="0"/>
      <p:bldP spid="14" grpId="0"/>
      <p:bldP spid="24" grpId="0" animBg="1"/>
      <p:bldP spid="33" grpId="0"/>
      <p:bldP spid="34"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el 8">
            <a:extLst>
              <a:ext uri="{FF2B5EF4-FFF2-40B4-BE49-F238E27FC236}">
                <a16:creationId xmlns:a16="http://schemas.microsoft.com/office/drawing/2014/main" id="{70AB6C28-FDF3-EACC-88DB-66CEE6DDA448}"/>
              </a:ext>
            </a:extLst>
          </p:cNvPr>
          <p:cNvSpPr>
            <a:spLocks noGrp="1"/>
          </p:cNvSpPr>
          <p:nvPr>
            <p:ph type="ctrTitle"/>
          </p:nvPr>
        </p:nvSpPr>
        <p:spPr/>
        <p:txBody>
          <a:bodyPr/>
          <a:lstStyle/>
          <a:p>
            <a:r>
              <a:rPr lang="de-DE" noProof="1"/>
              <a:t>XAI Foundations: Model Explainability</a:t>
            </a:r>
            <a:endParaRPr lang="en-US" dirty="0"/>
          </a:p>
        </p:txBody>
      </p:sp>
      <p:grpSp>
        <p:nvGrpSpPr>
          <p:cNvPr id="23" name="Gruppieren 22">
            <a:extLst>
              <a:ext uri="{FF2B5EF4-FFF2-40B4-BE49-F238E27FC236}">
                <a16:creationId xmlns:a16="http://schemas.microsoft.com/office/drawing/2014/main" id="{8579D066-B001-317C-713F-112AEC30F7F9}"/>
              </a:ext>
            </a:extLst>
          </p:cNvPr>
          <p:cNvGrpSpPr/>
          <p:nvPr/>
        </p:nvGrpSpPr>
        <p:grpSpPr>
          <a:xfrm>
            <a:off x="657000" y="1170028"/>
            <a:ext cx="3600000" cy="3600001"/>
            <a:chOff x="657000" y="1170028"/>
            <a:chExt cx="3600000" cy="3600001"/>
          </a:xfrm>
        </p:grpSpPr>
        <p:sp>
          <p:nvSpPr>
            <p:cNvPr id="14" name="Ellipse 13">
              <a:extLst>
                <a:ext uri="{FF2B5EF4-FFF2-40B4-BE49-F238E27FC236}">
                  <a16:creationId xmlns:a16="http://schemas.microsoft.com/office/drawing/2014/main" id="{49C81B63-0724-8AEE-39A8-0E7BE692C495}"/>
                </a:ext>
              </a:extLst>
            </p:cNvPr>
            <p:cNvSpPr/>
            <p:nvPr/>
          </p:nvSpPr>
          <p:spPr>
            <a:xfrm>
              <a:off x="1359000" y="1170028"/>
              <a:ext cx="2196000" cy="2196000"/>
            </a:xfrm>
            <a:prstGeom prst="ellipse">
              <a:avLst/>
            </a:prstGeom>
          </p:spPr>
          <p:style>
            <a:lnRef idx="0">
              <a:schemeClr val="accent1">
                <a:hueOff val="0"/>
                <a:satOff val="0"/>
                <a:lumOff val="0"/>
                <a:alphaOff val="0"/>
              </a:schemeClr>
            </a:lnRef>
            <a:fillRef idx="1">
              <a:schemeClr val="accent1">
                <a:tint val="40000"/>
                <a:hueOff val="0"/>
                <a:satOff val="0"/>
                <a:lumOff val="0"/>
                <a:alphaOff val="0"/>
              </a:schemeClr>
            </a:fillRef>
            <a:effectRef idx="0">
              <a:schemeClr val="accent1">
                <a:tint val="40000"/>
                <a:hueOff val="0"/>
                <a:satOff val="0"/>
                <a:lumOff val="0"/>
                <a:alphaOff val="0"/>
              </a:schemeClr>
            </a:effectRef>
            <a:fontRef idx="minor">
              <a:schemeClr val="dk1">
                <a:hueOff val="0"/>
                <a:satOff val="0"/>
                <a:lumOff val="0"/>
                <a:alphaOff val="0"/>
              </a:schemeClr>
            </a:fontRef>
          </p:style>
          <p:txBody>
            <a:bodyPr/>
            <a:lstStyle/>
            <a:p>
              <a:endParaRPr lang="en-US"/>
            </a:p>
          </p:txBody>
        </p:sp>
        <p:sp>
          <p:nvSpPr>
            <p:cNvPr id="15" name="Rechteck 14" descr="Schachtel mit einfarbiger Füllung">
              <a:extLst>
                <a:ext uri="{FF2B5EF4-FFF2-40B4-BE49-F238E27FC236}">
                  <a16:creationId xmlns:a16="http://schemas.microsoft.com/office/drawing/2014/main" id="{BBE67DC1-0AC5-047D-C70F-2D94FC912740}"/>
                </a:ext>
              </a:extLst>
            </p:cNvPr>
            <p:cNvSpPr/>
            <p:nvPr/>
          </p:nvSpPr>
          <p:spPr>
            <a:xfrm>
              <a:off x="1827000" y="1638028"/>
              <a:ext cx="1260000" cy="1260000"/>
            </a:xfrm>
            <a:prstGeom prst="rect">
              <a:avLst/>
            </a:prstGeom>
            <a:blipFill>
              <a:blip r:embed="rId3">
                <a:extLst>
                  <a:ext uri="{96DAC541-7B7A-43D3-8B79-37D633B846F1}">
                    <asvg:svgBlip xmlns:asvg="http://schemas.microsoft.com/office/drawing/2016/SVG/main" r:embed="rId4"/>
                  </a:ext>
                </a:extLst>
              </a:blip>
              <a:srcRect/>
              <a:stretch>
                <a:fillRect/>
              </a:stretch>
            </a:blip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a:lstStyle/>
            <a:p>
              <a:endParaRPr lang="en-US"/>
            </a:p>
          </p:txBody>
        </p:sp>
        <p:sp>
          <p:nvSpPr>
            <p:cNvPr id="17" name="Freihandform: Form 16">
              <a:extLst>
                <a:ext uri="{FF2B5EF4-FFF2-40B4-BE49-F238E27FC236}">
                  <a16:creationId xmlns:a16="http://schemas.microsoft.com/office/drawing/2014/main" id="{21DD8A78-707E-04CF-EB7B-41D1E85B1EE1}"/>
                </a:ext>
              </a:extLst>
            </p:cNvPr>
            <p:cNvSpPr/>
            <p:nvPr/>
          </p:nvSpPr>
          <p:spPr>
            <a:xfrm>
              <a:off x="657000" y="4050029"/>
              <a:ext cx="3600000" cy="720000"/>
            </a:xfrm>
            <a:custGeom>
              <a:avLst/>
              <a:gdLst>
                <a:gd name="connsiteX0" fmla="*/ 0 w 3600000"/>
                <a:gd name="connsiteY0" fmla="*/ 0 h 720000"/>
                <a:gd name="connsiteX1" fmla="*/ 3600000 w 3600000"/>
                <a:gd name="connsiteY1" fmla="*/ 0 h 720000"/>
                <a:gd name="connsiteX2" fmla="*/ 3600000 w 3600000"/>
                <a:gd name="connsiteY2" fmla="*/ 720000 h 720000"/>
                <a:gd name="connsiteX3" fmla="*/ 0 w 3600000"/>
                <a:gd name="connsiteY3" fmla="*/ 720000 h 720000"/>
                <a:gd name="connsiteX4" fmla="*/ 0 w 3600000"/>
                <a:gd name="connsiteY4" fmla="*/ 0 h 72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00000" h="720000">
                  <a:moveTo>
                    <a:pt x="0" y="0"/>
                  </a:moveTo>
                  <a:lnTo>
                    <a:pt x="3600000" y="0"/>
                  </a:lnTo>
                  <a:lnTo>
                    <a:pt x="3600000" y="720000"/>
                  </a:lnTo>
                  <a:lnTo>
                    <a:pt x="0" y="720000"/>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0" tIns="0" rIns="0" bIns="0" numCol="1" spcCol="1270" anchor="t" anchorCtr="0">
              <a:noAutofit/>
            </a:bodyPr>
            <a:lstStyle/>
            <a:p>
              <a:pPr marL="0" lvl="0" indent="0" algn="ctr" defTabSz="800100">
                <a:lnSpc>
                  <a:spcPct val="100000"/>
                </a:lnSpc>
                <a:spcBef>
                  <a:spcPct val="0"/>
                </a:spcBef>
                <a:spcAft>
                  <a:spcPct val="35000"/>
                </a:spcAft>
                <a:buNone/>
                <a:defRPr cap="all"/>
              </a:pPr>
              <a:r>
                <a:rPr lang="de-DE" sz="1800" kern="1200" cap="none" dirty="0"/>
                <a:t>Post-Hoc Methods</a:t>
              </a:r>
            </a:p>
          </p:txBody>
        </p:sp>
      </p:grpSp>
      <p:grpSp>
        <p:nvGrpSpPr>
          <p:cNvPr id="24" name="Gruppieren 23">
            <a:extLst>
              <a:ext uri="{FF2B5EF4-FFF2-40B4-BE49-F238E27FC236}">
                <a16:creationId xmlns:a16="http://schemas.microsoft.com/office/drawing/2014/main" id="{E7DD5106-7A3B-246E-D52D-1D8F418DBD81}"/>
              </a:ext>
            </a:extLst>
          </p:cNvPr>
          <p:cNvGrpSpPr/>
          <p:nvPr/>
        </p:nvGrpSpPr>
        <p:grpSpPr>
          <a:xfrm>
            <a:off x="4887000" y="1170028"/>
            <a:ext cx="3600000" cy="3600001"/>
            <a:chOff x="4887000" y="1170028"/>
            <a:chExt cx="3600000" cy="3600001"/>
          </a:xfrm>
        </p:grpSpPr>
        <p:sp>
          <p:nvSpPr>
            <p:cNvPr id="18" name="Ellipse 17">
              <a:extLst>
                <a:ext uri="{FF2B5EF4-FFF2-40B4-BE49-F238E27FC236}">
                  <a16:creationId xmlns:a16="http://schemas.microsoft.com/office/drawing/2014/main" id="{B094B67A-0A10-F922-D2C6-D28E0480C6C8}"/>
                </a:ext>
              </a:extLst>
            </p:cNvPr>
            <p:cNvSpPr/>
            <p:nvPr/>
          </p:nvSpPr>
          <p:spPr>
            <a:xfrm>
              <a:off x="5589000" y="1170028"/>
              <a:ext cx="2196000" cy="2196000"/>
            </a:xfrm>
            <a:prstGeom prst="ellipse">
              <a:avLst/>
            </a:prstGeom>
          </p:spPr>
          <p:style>
            <a:lnRef idx="0">
              <a:schemeClr val="accent1">
                <a:hueOff val="0"/>
                <a:satOff val="0"/>
                <a:lumOff val="0"/>
                <a:alphaOff val="0"/>
              </a:schemeClr>
            </a:lnRef>
            <a:fillRef idx="1">
              <a:schemeClr val="accent1">
                <a:tint val="40000"/>
                <a:hueOff val="0"/>
                <a:satOff val="0"/>
                <a:lumOff val="0"/>
                <a:alphaOff val="0"/>
              </a:schemeClr>
            </a:fillRef>
            <a:effectRef idx="0">
              <a:schemeClr val="accent1">
                <a:tint val="40000"/>
                <a:hueOff val="0"/>
                <a:satOff val="0"/>
                <a:lumOff val="0"/>
                <a:alphaOff val="0"/>
              </a:schemeClr>
            </a:effectRef>
            <a:fontRef idx="minor">
              <a:schemeClr val="dk1">
                <a:hueOff val="0"/>
                <a:satOff val="0"/>
                <a:lumOff val="0"/>
                <a:alphaOff val="0"/>
              </a:schemeClr>
            </a:fontRef>
          </p:style>
          <p:txBody>
            <a:bodyPr/>
            <a:lstStyle/>
            <a:p>
              <a:endParaRPr lang="en-US"/>
            </a:p>
          </p:txBody>
        </p:sp>
        <p:sp>
          <p:nvSpPr>
            <p:cNvPr id="20" name="Rechteck 19" descr="Karton geöffnet mit einfarbiger Füllung">
              <a:extLst>
                <a:ext uri="{FF2B5EF4-FFF2-40B4-BE49-F238E27FC236}">
                  <a16:creationId xmlns:a16="http://schemas.microsoft.com/office/drawing/2014/main" id="{E7C35168-84A1-7402-5AD2-16D57C4F065F}"/>
                </a:ext>
              </a:extLst>
            </p:cNvPr>
            <p:cNvSpPr/>
            <p:nvPr/>
          </p:nvSpPr>
          <p:spPr>
            <a:xfrm>
              <a:off x="6057000" y="1638028"/>
              <a:ext cx="1260000" cy="1260000"/>
            </a:xfrm>
            <a:prstGeom prst="rect">
              <a:avLst/>
            </a:prstGeom>
            <a:blipFill>
              <a:blip r:embed="rId5">
                <a:extLst>
                  <a:ext uri="{96DAC541-7B7A-43D3-8B79-37D633B846F1}">
                    <asvg:svgBlip xmlns:asvg="http://schemas.microsoft.com/office/drawing/2016/SVG/main" r:embed="rId6"/>
                  </a:ext>
                </a:extLst>
              </a:blip>
              <a:srcRect/>
              <a:stretch>
                <a:fillRect/>
              </a:stretch>
            </a:blip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a:lstStyle/>
            <a:p>
              <a:endParaRPr lang="en-US"/>
            </a:p>
          </p:txBody>
        </p:sp>
        <p:sp>
          <p:nvSpPr>
            <p:cNvPr id="21" name="Freihandform: Form 20">
              <a:extLst>
                <a:ext uri="{FF2B5EF4-FFF2-40B4-BE49-F238E27FC236}">
                  <a16:creationId xmlns:a16="http://schemas.microsoft.com/office/drawing/2014/main" id="{4A955FB9-6478-F6A3-A058-EC659879990F}"/>
                </a:ext>
              </a:extLst>
            </p:cNvPr>
            <p:cNvSpPr/>
            <p:nvPr/>
          </p:nvSpPr>
          <p:spPr>
            <a:xfrm>
              <a:off x="4887000" y="4050029"/>
              <a:ext cx="3600000" cy="720000"/>
            </a:xfrm>
            <a:custGeom>
              <a:avLst/>
              <a:gdLst>
                <a:gd name="connsiteX0" fmla="*/ 0 w 3600000"/>
                <a:gd name="connsiteY0" fmla="*/ 0 h 720000"/>
                <a:gd name="connsiteX1" fmla="*/ 3600000 w 3600000"/>
                <a:gd name="connsiteY1" fmla="*/ 0 h 720000"/>
                <a:gd name="connsiteX2" fmla="*/ 3600000 w 3600000"/>
                <a:gd name="connsiteY2" fmla="*/ 720000 h 720000"/>
                <a:gd name="connsiteX3" fmla="*/ 0 w 3600000"/>
                <a:gd name="connsiteY3" fmla="*/ 720000 h 720000"/>
                <a:gd name="connsiteX4" fmla="*/ 0 w 3600000"/>
                <a:gd name="connsiteY4" fmla="*/ 0 h 72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00000" h="720000">
                  <a:moveTo>
                    <a:pt x="0" y="0"/>
                  </a:moveTo>
                  <a:lnTo>
                    <a:pt x="3600000" y="0"/>
                  </a:lnTo>
                  <a:lnTo>
                    <a:pt x="3600000" y="720000"/>
                  </a:lnTo>
                  <a:lnTo>
                    <a:pt x="0" y="720000"/>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0" tIns="0" rIns="0" bIns="0" numCol="1" spcCol="1270" anchor="t" anchorCtr="0">
              <a:noAutofit/>
            </a:bodyPr>
            <a:lstStyle/>
            <a:p>
              <a:pPr marL="0" lvl="0" indent="0" algn="ctr" defTabSz="800100">
                <a:lnSpc>
                  <a:spcPct val="100000"/>
                </a:lnSpc>
                <a:spcBef>
                  <a:spcPct val="0"/>
                </a:spcBef>
                <a:spcAft>
                  <a:spcPct val="35000"/>
                </a:spcAft>
                <a:buNone/>
                <a:defRPr cap="all"/>
              </a:pPr>
              <a:r>
                <a:rPr lang="de-DE" sz="1800" kern="1200" cap="none" dirty="0" err="1"/>
                <a:t>Interpretable</a:t>
              </a:r>
              <a:r>
                <a:rPr lang="de-DE" sz="1800" kern="1200" cap="none" dirty="0"/>
                <a:t> </a:t>
              </a:r>
              <a:r>
                <a:rPr lang="de-DE" sz="1800" kern="1200" cap="none" dirty="0" err="1"/>
                <a:t>models</a:t>
              </a:r>
              <a:r>
                <a:rPr lang="de-DE" sz="1800" kern="1200" cap="none" dirty="0"/>
                <a:t> </a:t>
              </a:r>
            </a:p>
            <a:p>
              <a:pPr marL="0" lvl="0" indent="0" algn="ctr" defTabSz="800100">
                <a:lnSpc>
                  <a:spcPct val="100000"/>
                </a:lnSpc>
                <a:spcBef>
                  <a:spcPct val="0"/>
                </a:spcBef>
                <a:spcAft>
                  <a:spcPct val="35000"/>
                </a:spcAft>
                <a:buNone/>
                <a:defRPr cap="all"/>
              </a:pPr>
              <a:r>
                <a:rPr lang="de-DE" sz="1800" kern="1200" cap="none" dirty="0"/>
                <a:t>(</a:t>
              </a:r>
              <a:r>
                <a:rPr lang="de-DE" sz="1800" kern="1200" cap="none" dirty="0" err="1"/>
                <a:t>white</a:t>
              </a:r>
              <a:r>
                <a:rPr lang="de-DE" sz="1800" kern="1200" cap="none" dirty="0"/>
                <a:t> </a:t>
              </a:r>
              <a:r>
                <a:rPr lang="de-DE" sz="1800" kern="1200" cap="none" dirty="0" err="1"/>
                <a:t>boxes</a:t>
              </a:r>
              <a:r>
                <a:rPr lang="de-DE" sz="1800" kern="1200" cap="none" dirty="0"/>
                <a:t>)</a:t>
              </a:r>
              <a:endParaRPr lang="en-US" sz="1800" kern="1200" cap="none" dirty="0"/>
            </a:p>
          </p:txBody>
        </p:sp>
      </p:grpSp>
      <p:sp>
        <p:nvSpPr>
          <p:cNvPr id="6" name="Datumsplatzhalter 5">
            <a:extLst>
              <a:ext uri="{FF2B5EF4-FFF2-40B4-BE49-F238E27FC236}">
                <a16:creationId xmlns:a16="http://schemas.microsoft.com/office/drawing/2014/main" id="{57E1F1AF-2F5A-A84A-E4A4-D35544CF984E}"/>
              </a:ext>
            </a:extLst>
          </p:cNvPr>
          <p:cNvSpPr>
            <a:spLocks noGrp="1"/>
          </p:cNvSpPr>
          <p:nvPr>
            <p:ph type="dt" sz="half" idx="10"/>
          </p:nvPr>
        </p:nvSpPr>
        <p:spPr/>
        <p:txBody>
          <a:bodyPr/>
          <a:lstStyle/>
          <a:p>
            <a:r>
              <a:rPr lang="en-US"/>
              <a:t>18.08.2025</a:t>
            </a:r>
            <a:endParaRPr lang="de-DE" dirty="0"/>
          </a:p>
        </p:txBody>
      </p:sp>
      <p:sp>
        <p:nvSpPr>
          <p:cNvPr id="7" name="Fußzeilenplatzhalter 6">
            <a:extLst>
              <a:ext uri="{FF2B5EF4-FFF2-40B4-BE49-F238E27FC236}">
                <a16:creationId xmlns:a16="http://schemas.microsoft.com/office/drawing/2014/main" id="{0073D0EF-95E1-6820-FFEB-E02BC1CD688B}"/>
              </a:ext>
            </a:extLst>
          </p:cNvPr>
          <p:cNvSpPr>
            <a:spLocks noGrp="1"/>
          </p:cNvSpPr>
          <p:nvPr>
            <p:ph type="ftr" sz="quarter" idx="11"/>
          </p:nvPr>
        </p:nvSpPr>
        <p:spPr/>
        <p:txBody>
          <a:bodyPr/>
          <a:lstStyle/>
          <a:p>
            <a:r>
              <a:rPr lang="en-US"/>
              <a:t>Enhancing model transparency: Effects of DK Integration for Conversational XAI | Feustel</a:t>
            </a:r>
            <a:endParaRPr lang="de-DE" dirty="0"/>
          </a:p>
        </p:txBody>
      </p:sp>
      <p:sp>
        <p:nvSpPr>
          <p:cNvPr id="8" name="Foliennummernplatzhalter 7">
            <a:extLst>
              <a:ext uri="{FF2B5EF4-FFF2-40B4-BE49-F238E27FC236}">
                <a16:creationId xmlns:a16="http://schemas.microsoft.com/office/drawing/2014/main" id="{12CD9FB9-1600-F19C-1D93-8706AB18AC6B}"/>
              </a:ext>
            </a:extLst>
          </p:cNvPr>
          <p:cNvSpPr>
            <a:spLocks noGrp="1"/>
          </p:cNvSpPr>
          <p:nvPr>
            <p:ph type="sldNum" sz="quarter" idx="12"/>
          </p:nvPr>
        </p:nvSpPr>
        <p:spPr/>
        <p:txBody>
          <a:bodyPr/>
          <a:lstStyle/>
          <a:p>
            <a:r>
              <a:rPr lang="de-DE"/>
              <a:t> </a:t>
            </a:r>
            <a:fld id="{FE120BDC-5456-EC41-8BB6-7A3B726EA19B}" type="slidenum">
              <a:rPr lang="de-DE" smtClean="0"/>
              <a:pPr/>
              <a:t>7</a:t>
            </a:fld>
            <a:endParaRPr lang="de-DE" dirty="0"/>
          </a:p>
        </p:txBody>
      </p:sp>
      <p:sp>
        <p:nvSpPr>
          <p:cNvPr id="2" name="Textfeld 1">
            <a:extLst>
              <a:ext uri="{FF2B5EF4-FFF2-40B4-BE49-F238E27FC236}">
                <a16:creationId xmlns:a16="http://schemas.microsoft.com/office/drawing/2014/main" id="{2369FF16-37A9-CBC7-77EC-736CA2C4B40F}"/>
              </a:ext>
            </a:extLst>
          </p:cNvPr>
          <p:cNvSpPr txBox="1"/>
          <p:nvPr/>
        </p:nvSpPr>
        <p:spPr>
          <a:xfrm>
            <a:off x="7851895" y="134610"/>
            <a:ext cx="1200650" cy="276999"/>
          </a:xfrm>
          <a:prstGeom prst="rect">
            <a:avLst/>
          </a:prstGeom>
          <a:noFill/>
        </p:spPr>
        <p:txBody>
          <a:bodyPr wrap="none" rtlCol="0">
            <a:spAutoFit/>
          </a:bodyPr>
          <a:lstStyle/>
          <a:p>
            <a:r>
              <a:rPr lang="de-DE" sz="1200" dirty="0"/>
              <a:t>XAI Foundations</a:t>
            </a:r>
            <a:endParaRPr lang="en-US" sz="1200" dirty="0"/>
          </a:p>
        </p:txBody>
      </p:sp>
      <p:sp>
        <p:nvSpPr>
          <p:cNvPr id="4" name="Rechteck 3" descr="Lichter an mit einfarbiger Füllung">
            <a:extLst>
              <a:ext uri="{FF2B5EF4-FFF2-40B4-BE49-F238E27FC236}">
                <a16:creationId xmlns:a16="http://schemas.microsoft.com/office/drawing/2014/main" id="{691C8D5D-7877-8D1E-83D9-FD3D070F51A4}"/>
              </a:ext>
            </a:extLst>
          </p:cNvPr>
          <p:cNvSpPr/>
          <p:nvPr/>
        </p:nvSpPr>
        <p:spPr>
          <a:xfrm>
            <a:off x="8804352" y="664349"/>
            <a:ext cx="277969" cy="277969"/>
          </a:xfrm>
          <a:prstGeom prst="rect">
            <a:avLst/>
          </a:prstGeom>
          <a:blipFill>
            <a:blip r:embed="rId7">
              <a:extLst>
                <a:ext uri="{96DAC541-7B7A-43D3-8B79-37D633B846F1}">
                  <asvg:svgBlip xmlns:asvg="http://schemas.microsoft.com/office/drawing/2016/SVG/main" r:embed="rId8"/>
                </a:ext>
              </a:extLst>
            </a:blip>
            <a:srcRect/>
            <a:stretch>
              <a:fillRect/>
            </a:stretch>
          </a:blipFill>
          <a:ln>
            <a:noFill/>
          </a:ln>
        </p:spPr>
        <p:style>
          <a:lnRef idx="2">
            <a:scrgbClr r="0" g="0" b="0"/>
          </a:lnRef>
          <a:fillRef idx="1">
            <a:scrgbClr r="0" g="0" b="0"/>
          </a:fillRef>
          <a:effectRef idx="0">
            <a:schemeClr val="accent2">
              <a:hueOff val="0"/>
              <a:satOff val="0"/>
              <a:lumOff val="0"/>
              <a:alphaOff val="0"/>
            </a:schemeClr>
          </a:effectRef>
          <a:fontRef idx="minor">
            <a:schemeClr val="lt1"/>
          </a:fontRef>
        </p:style>
        <p:txBody>
          <a:bodyPr/>
          <a:lstStyle/>
          <a:p>
            <a:endParaRPr lang="en-US"/>
          </a:p>
        </p:txBody>
      </p:sp>
      <p:sp>
        <p:nvSpPr>
          <p:cNvPr id="5" name="Rechteck 4" descr="Geschlossenes Buch mit einfarbiger Füllung">
            <a:extLst>
              <a:ext uri="{FF2B5EF4-FFF2-40B4-BE49-F238E27FC236}">
                <a16:creationId xmlns:a16="http://schemas.microsoft.com/office/drawing/2014/main" id="{CDDEF460-D748-79E1-C3C0-F8AB53F9CCA5}"/>
              </a:ext>
            </a:extLst>
          </p:cNvPr>
          <p:cNvSpPr/>
          <p:nvPr/>
        </p:nvSpPr>
        <p:spPr>
          <a:xfrm>
            <a:off x="8804352" y="1043547"/>
            <a:ext cx="277969" cy="277969"/>
          </a:xfrm>
          <a:prstGeom prst="rect">
            <a:avLst/>
          </a:prstGeom>
          <a:blipFill>
            <a:blip r:embed="rId9">
              <a:extLst>
                <a:ext uri="{96DAC541-7B7A-43D3-8B79-37D633B846F1}">
                  <asvg:svgBlip xmlns:asvg="http://schemas.microsoft.com/office/drawing/2016/SVG/main" r:embed="rId10"/>
                </a:ext>
              </a:extLst>
            </a:blip>
            <a:srcRect/>
            <a:stretch>
              <a:fillRect/>
            </a:stretch>
          </a:blipFill>
          <a:ln>
            <a:noFill/>
          </a:ln>
        </p:spPr>
        <p:style>
          <a:lnRef idx="2">
            <a:scrgbClr r="0" g="0" b="0"/>
          </a:lnRef>
          <a:fillRef idx="1">
            <a:scrgbClr r="0" g="0" b="0"/>
          </a:fillRef>
          <a:effectRef idx="0">
            <a:schemeClr val="accent3">
              <a:hueOff val="0"/>
              <a:satOff val="0"/>
              <a:lumOff val="0"/>
              <a:alphaOff val="0"/>
            </a:schemeClr>
          </a:effectRef>
          <a:fontRef idx="minor">
            <a:schemeClr val="lt1"/>
          </a:fontRef>
        </p:style>
        <p:txBody>
          <a:bodyPr/>
          <a:lstStyle/>
          <a:p>
            <a:endParaRPr lang="en-US"/>
          </a:p>
        </p:txBody>
      </p:sp>
      <p:sp>
        <p:nvSpPr>
          <p:cNvPr id="10" name="Rechteck 9" descr="Netzwerk">
            <a:extLst>
              <a:ext uri="{FF2B5EF4-FFF2-40B4-BE49-F238E27FC236}">
                <a16:creationId xmlns:a16="http://schemas.microsoft.com/office/drawing/2014/main" id="{970FD0BD-CA83-BDBC-E43E-27F0246DDF41}"/>
              </a:ext>
            </a:extLst>
          </p:cNvPr>
          <p:cNvSpPr/>
          <p:nvPr/>
        </p:nvSpPr>
        <p:spPr>
          <a:xfrm>
            <a:off x="8804352" y="1379208"/>
            <a:ext cx="277969" cy="277969"/>
          </a:xfrm>
          <a:prstGeom prst="rect">
            <a:avLst/>
          </a:prstGeom>
          <a: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a:noFill/>
          </a:ln>
        </p:spPr>
        <p:style>
          <a:lnRef idx="2">
            <a:scrgbClr r="0" g="0" b="0"/>
          </a:lnRef>
          <a:fillRef idx="1">
            <a:scrgbClr r="0" g="0" b="0"/>
          </a:fillRef>
          <a:effectRef idx="0">
            <a:schemeClr val="accent4">
              <a:hueOff val="0"/>
              <a:satOff val="0"/>
              <a:lumOff val="0"/>
              <a:alphaOff val="0"/>
            </a:schemeClr>
          </a:effectRef>
          <a:fontRef idx="minor">
            <a:schemeClr val="lt1"/>
          </a:fontRef>
        </p:style>
        <p:txBody>
          <a:bodyPr/>
          <a:lstStyle/>
          <a:p>
            <a:endParaRPr lang="en-US"/>
          </a:p>
        </p:txBody>
      </p:sp>
      <p:sp>
        <p:nvSpPr>
          <p:cNvPr id="11" name="Rechteck 10" descr="Kreise mit Pfeilen mit einfarbiger Füllung">
            <a:extLst>
              <a:ext uri="{FF2B5EF4-FFF2-40B4-BE49-F238E27FC236}">
                <a16:creationId xmlns:a16="http://schemas.microsoft.com/office/drawing/2014/main" id="{3589E52B-3D8F-B56B-7534-1CB4082F03D3}"/>
              </a:ext>
            </a:extLst>
          </p:cNvPr>
          <p:cNvSpPr/>
          <p:nvPr/>
        </p:nvSpPr>
        <p:spPr>
          <a:xfrm>
            <a:off x="8804352" y="1688740"/>
            <a:ext cx="277969" cy="277969"/>
          </a:xfrm>
          <a:prstGeom prst="rect">
            <a:avLst/>
          </a:prstGeom>
          <a:blipFill>
            <a:blip r:embed="rId13">
              <a:extLst>
                <a:ext uri="{96DAC541-7B7A-43D3-8B79-37D633B846F1}">
                  <asvg:svgBlip xmlns:asvg="http://schemas.microsoft.com/office/drawing/2016/SVG/main" r:embed="rId14"/>
                </a:ext>
              </a:extLst>
            </a:blip>
            <a:srcRect/>
            <a:stretch>
              <a:fillRect/>
            </a:stretch>
          </a:blipFill>
          <a:ln>
            <a:noFill/>
          </a:ln>
        </p:spPr>
        <p:style>
          <a:lnRef idx="2">
            <a:scrgbClr r="0" g="0" b="0"/>
          </a:lnRef>
          <a:fillRef idx="1">
            <a:scrgbClr r="0" g="0" b="0"/>
          </a:fillRef>
          <a:effectRef idx="0">
            <a:schemeClr val="accent5">
              <a:hueOff val="0"/>
              <a:satOff val="0"/>
              <a:lumOff val="0"/>
              <a:alphaOff val="0"/>
            </a:schemeClr>
          </a:effectRef>
          <a:fontRef idx="minor">
            <a:schemeClr val="lt1"/>
          </a:fontRef>
        </p:style>
        <p:txBody>
          <a:bodyPr/>
          <a:lstStyle/>
          <a:p>
            <a:endParaRPr lang="en-US"/>
          </a:p>
        </p:txBody>
      </p:sp>
      <p:sp>
        <p:nvSpPr>
          <p:cNvPr id="12" name="Rechteck 11" descr="Prüfliste">
            <a:extLst>
              <a:ext uri="{FF2B5EF4-FFF2-40B4-BE49-F238E27FC236}">
                <a16:creationId xmlns:a16="http://schemas.microsoft.com/office/drawing/2014/main" id="{56969702-4D83-7BFA-63F3-6B6BDEF7E02E}"/>
              </a:ext>
            </a:extLst>
          </p:cNvPr>
          <p:cNvSpPr/>
          <p:nvPr/>
        </p:nvSpPr>
        <p:spPr>
          <a:xfrm>
            <a:off x="8804352" y="2006980"/>
            <a:ext cx="277969" cy="277969"/>
          </a:xfrm>
          <a:prstGeom prst="rect">
            <a:avLst/>
          </a:prstGeom>
          <a: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a:blipFill>
          <a:ln>
            <a:noFill/>
          </a:ln>
        </p:spPr>
        <p:style>
          <a:lnRef idx="2">
            <a:scrgbClr r="0" g="0" b="0"/>
          </a:lnRef>
          <a:fillRef idx="1">
            <a:scrgbClr r="0" g="0" b="0"/>
          </a:fillRef>
          <a:effectRef idx="0">
            <a:schemeClr val="accent6">
              <a:hueOff val="0"/>
              <a:satOff val="0"/>
              <a:lumOff val="0"/>
              <a:alphaOff val="0"/>
            </a:schemeClr>
          </a:effectRef>
          <a:fontRef idx="minor">
            <a:schemeClr val="lt1"/>
          </a:fontRef>
        </p:style>
        <p:txBody>
          <a:bodyPr/>
          <a:lstStyle/>
          <a:p>
            <a:endParaRPr lang="en-US"/>
          </a:p>
        </p:txBody>
      </p:sp>
      <p:sp>
        <p:nvSpPr>
          <p:cNvPr id="13" name="Rechteck 12" descr="Auktionshammer">
            <a:extLst>
              <a:ext uri="{FF2B5EF4-FFF2-40B4-BE49-F238E27FC236}">
                <a16:creationId xmlns:a16="http://schemas.microsoft.com/office/drawing/2014/main" id="{9046FEFA-B2F3-C9DA-F7AD-9EACDC683613}"/>
              </a:ext>
            </a:extLst>
          </p:cNvPr>
          <p:cNvSpPr/>
          <p:nvPr/>
        </p:nvSpPr>
        <p:spPr>
          <a:xfrm>
            <a:off x="8804352" y="2316507"/>
            <a:ext cx="277969" cy="277969"/>
          </a:xfrm>
          <a:prstGeom prst="rect">
            <a:avLst/>
          </a:prstGeom>
          <a: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a:blipFill>
          <a:ln>
            <a:noFill/>
          </a:ln>
        </p:spPr>
        <p:style>
          <a:lnRef idx="2">
            <a:scrgbClr r="0" g="0" b="0"/>
          </a:lnRef>
          <a:fillRef idx="1">
            <a:scrgbClr r="0" g="0" b="0"/>
          </a:fillRef>
          <a:effectRef idx="0">
            <a:schemeClr val="accent2">
              <a:hueOff val="0"/>
              <a:satOff val="0"/>
              <a:lumOff val="0"/>
              <a:alphaOff val="0"/>
            </a:schemeClr>
          </a:effectRef>
          <a:fontRef idx="minor">
            <a:schemeClr val="lt1"/>
          </a:fontRef>
        </p:style>
        <p:txBody>
          <a:bodyPr/>
          <a:lstStyle/>
          <a:p>
            <a:endParaRPr lang="en-US"/>
          </a:p>
        </p:txBody>
      </p:sp>
      <p:sp>
        <p:nvSpPr>
          <p:cNvPr id="19" name="Rechteck 18" descr="Geschlossenes Buch mit einfarbiger Füllung">
            <a:extLst>
              <a:ext uri="{FF2B5EF4-FFF2-40B4-BE49-F238E27FC236}">
                <a16:creationId xmlns:a16="http://schemas.microsoft.com/office/drawing/2014/main" id="{3AD70B19-CB53-1C7F-A2C6-A58762C3EDE8}"/>
              </a:ext>
            </a:extLst>
          </p:cNvPr>
          <p:cNvSpPr/>
          <p:nvPr/>
        </p:nvSpPr>
        <p:spPr>
          <a:xfrm>
            <a:off x="7600498" y="133640"/>
            <a:ext cx="277969" cy="277969"/>
          </a:xfrm>
          <a:prstGeom prst="rect">
            <a:avLst/>
          </a:prstGeom>
          <a:blipFill>
            <a:blip r:embed="rId9">
              <a:extLst>
                <a:ext uri="{96DAC541-7B7A-43D3-8B79-37D633B846F1}">
                  <asvg:svgBlip xmlns:asvg="http://schemas.microsoft.com/office/drawing/2016/SVG/main" r:embed="rId10"/>
                </a:ext>
              </a:extLst>
            </a:blip>
            <a:srcRect/>
            <a:stretch>
              <a:fillRect/>
            </a:stretch>
          </a:blipFill>
          <a:ln>
            <a:noFill/>
          </a:ln>
        </p:spPr>
        <p:style>
          <a:lnRef idx="2">
            <a:scrgbClr r="0" g="0" b="0"/>
          </a:lnRef>
          <a:fillRef idx="1">
            <a:scrgbClr r="0" g="0" b="0"/>
          </a:fillRef>
          <a:effectRef idx="0">
            <a:schemeClr val="accent3">
              <a:hueOff val="0"/>
              <a:satOff val="0"/>
              <a:lumOff val="0"/>
              <a:alphaOff val="0"/>
            </a:schemeClr>
          </a:effectRef>
          <a:fontRef idx="minor">
            <a:schemeClr val="lt1"/>
          </a:fontRef>
        </p:style>
        <p:txBody>
          <a:bodyPr/>
          <a:lstStyle/>
          <a:p>
            <a:endParaRPr lang="en-US"/>
          </a:p>
        </p:txBody>
      </p:sp>
    </p:spTree>
    <p:extLst>
      <p:ext uri="{BB962C8B-B14F-4D97-AF65-F5344CB8AC3E}">
        <p14:creationId xmlns:p14="http://schemas.microsoft.com/office/powerpoint/2010/main" val="20862086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3"/>
                                        </p:tgtEl>
                                        <p:attrNameLst>
                                          <p:attrName>style.visibility</p:attrName>
                                        </p:attrNameLst>
                                      </p:cBhvr>
                                      <p:to>
                                        <p:strVal val="visible"/>
                                      </p:to>
                                    </p:set>
                                    <p:anim calcmode="lin" valueType="num">
                                      <p:cBhvr additive="base">
                                        <p:cTn id="7" dur="500" fill="hold"/>
                                        <p:tgtEl>
                                          <p:spTgt spid="23"/>
                                        </p:tgtEl>
                                        <p:attrNameLst>
                                          <p:attrName>ppt_x</p:attrName>
                                        </p:attrNameLst>
                                      </p:cBhvr>
                                      <p:tavLst>
                                        <p:tav tm="0">
                                          <p:val>
                                            <p:strVal val="#ppt_x"/>
                                          </p:val>
                                        </p:tav>
                                        <p:tav tm="100000">
                                          <p:val>
                                            <p:strVal val="#ppt_x"/>
                                          </p:val>
                                        </p:tav>
                                      </p:tavLst>
                                    </p:anim>
                                    <p:anim calcmode="lin" valueType="num">
                                      <p:cBhvr additive="base">
                                        <p:cTn id="8" dur="500" fill="hold"/>
                                        <p:tgtEl>
                                          <p:spTgt spid="2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4"/>
                                        </p:tgtEl>
                                        <p:attrNameLst>
                                          <p:attrName>style.visibility</p:attrName>
                                        </p:attrNameLst>
                                      </p:cBhvr>
                                      <p:to>
                                        <p:strVal val="visible"/>
                                      </p:to>
                                    </p:set>
                                    <p:anim calcmode="lin" valueType="num">
                                      <p:cBhvr additive="base">
                                        <p:cTn id="13" dur="500" fill="hold"/>
                                        <p:tgtEl>
                                          <p:spTgt spid="24"/>
                                        </p:tgtEl>
                                        <p:attrNameLst>
                                          <p:attrName>ppt_x</p:attrName>
                                        </p:attrNameLst>
                                      </p:cBhvr>
                                      <p:tavLst>
                                        <p:tav tm="0">
                                          <p:val>
                                            <p:strVal val="#ppt_x"/>
                                          </p:val>
                                        </p:tav>
                                        <p:tav tm="100000">
                                          <p:val>
                                            <p:strVal val="#ppt_x"/>
                                          </p:val>
                                        </p:tav>
                                      </p:tavLst>
                                    </p:anim>
                                    <p:anim calcmode="lin" valueType="num">
                                      <p:cBhvr additive="base">
                                        <p:cTn id="14" dur="500" fill="hold"/>
                                        <p:tgtEl>
                                          <p:spTgt spid="2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4B5AD7-D084-2064-F22E-37EE23EF505B}"/>
            </a:ext>
          </a:extLst>
        </p:cNvPr>
        <p:cNvGrpSpPr/>
        <p:nvPr/>
      </p:nvGrpSpPr>
      <p:grpSpPr>
        <a:xfrm>
          <a:off x="0" y="0"/>
          <a:ext cx="0" cy="0"/>
          <a:chOff x="0" y="0"/>
          <a:chExt cx="0" cy="0"/>
        </a:xfrm>
      </p:grpSpPr>
      <p:sp>
        <p:nvSpPr>
          <p:cNvPr id="9" name="Titel 8">
            <a:extLst>
              <a:ext uri="{FF2B5EF4-FFF2-40B4-BE49-F238E27FC236}">
                <a16:creationId xmlns:a16="http://schemas.microsoft.com/office/drawing/2014/main" id="{86619C24-12FE-C9A9-648A-1486EBB107C2}"/>
              </a:ext>
            </a:extLst>
          </p:cNvPr>
          <p:cNvSpPr>
            <a:spLocks noGrp="1"/>
          </p:cNvSpPr>
          <p:nvPr>
            <p:ph type="ctrTitle"/>
          </p:nvPr>
        </p:nvSpPr>
        <p:spPr/>
        <p:txBody>
          <a:bodyPr/>
          <a:lstStyle/>
          <a:p>
            <a:r>
              <a:rPr lang="de-DE" noProof="1"/>
              <a:t>XAI Foundations: Explanation Types</a:t>
            </a:r>
            <a:endParaRPr lang="en-US" dirty="0"/>
          </a:p>
        </p:txBody>
      </p:sp>
      <p:grpSp>
        <p:nvGrpSpPr>
          <p:cNvPr id="24" name="Gruppieren 23">
            <a:extLst>
              <a:ext uri="{FF2B5EF4-FFF2-40B4-BE49-F238E27FC236}">
                <a16:creationId xmlns:a16="http://schemas.microsoft.com/office/drawing/2014/main" id="{E7800264-D51B-33D1-963F-BBCC4B53DFF5}"/>
              </a:ext>
            </a:extLst>
          </p:cNvPr>
          <p:cNvGrpSpPr/>
          <p:nvPr/>
        </p:nvGrpSpPr>
        <p:grpSpPr>
          <a:xfrm>
            <a:off x="395288" y="1729283"/>
            <a:ext cx="8353425" cy="1102884"/>
            <a:chOff x="395288" y="1729283"/>
            <a:chExt cx="8353425" cy="1102884"/>
          </a:xfrm>
        </p:grpSpPr>
        <p:sp>
          <p:nvSpPr>
            <p:cNvPr id="15" name="Rechteck: abgerundete Ecken 14">
              <a:extLst>
                <a:ext uri="{FF2B5EF4-FFF2-40B4-BE49-F238E27FC236}">
                  <a16:creationId xmlns:a16="http://schemas.microsoft.com/office/drawing/2014/main" id="{A58ABEF3-9DAD-32B1-19F8-3A35193A4822}"/>
                </a:ext>
              </a:extLst>
            </p:cNvPr>
            <p:cNvSpPr/>
            <p:nvPr/>
          </p:nvSpPr>
          <p:spPr>
            <a:xfrm>
              <a:off x="395288" y="1729283"/>
              <a:ext cx="8353425" cy="1102884"/>
            </a:xfrm>
            <a:prstGeom prst="roundRect">
              <a:avLst>
                <a:gd name="adj" fmla="val 10000"/>
              </a:avLst>
            </a:prstGeom>
          </p:spPr>
          <p:style>
            <a:lnRef idx="0">
              <a:schemeClr val="accent1">
                <a:hueOff val="0"/>
                <a:satOff val="0"/>
                <a:lumOff val="0"/>
                <a:alphaOff val="0"/>
              </a:schemeClr>
            </a:lnRef>
            <a:fillRef idx="1">
              <a:schemeClr val="accent1">
                <a:tint val="40000"/>
                <a:hueOff val="0"/>
                <a:satOff val="0"/>
                <a:lumOff val="0"/>
                <a:alphaOff val="0"/>
              </a:schemeClr>
            </a:fillRef>
            <a:effectRef idx="0">
              <a:schemeClr val="accent1">
                <a:tint val="40000"/>
                <a:hueOff val="0"/>
                <a:satOff val="0"/>
                <a:lumOff val="0"/>
                <a:alphaOff val="0"/>
              </a:schemeClr>
            </a:effectRef>
            <a:fontRef idx="minor">
              <a:schemeClr val="dk1">
                <a:hueOff val="0"/>
                <a:satOff val="0"/>
                <a:lumOff val="0"/>
                <a:alphaOff val="0"/>
              </a:schemeClr>
            </a:fontRef>
          </p:style>
          <p:txBody>
            <a:bodyPr/>
            <a:lstStyle/>
            <a:p>
              <a:endParaRPr lang="en-US"/>
            </a:p>
          </p:txBody>
        </p:sp>
        <p:sp>
          <p:nvSpPr>
            <p:cNvPr id="17" name="Rechteck 16" descr="Markierung Silhouette">
              <a:extLst>
                <a:ext uri="{FF2B5EF4-FFF2-40B4-BE49-F238E27FC236}">
                  <a16:creationId xmlns:a16="http://schemas.microsoft.com/office/drawing/2014/main" id="{CB4C5682-BC45-1531-F162-6C45B6511E58}"/>
                </a:ext>
              </a:extLst>
            </p:cNvPr>
            <p:cNvSpPr/>
            <p:nvPr/>
          </p:nvSpPr>
          <p:spPr>
            <a:xfrm>
              <a:off x="728910" y="1977432"/>
              <a:ext cx="606586" cy="606586"/>
            </a:xfrm>
            <a:prstGeom prst="rect">
              <a:avLst/>
            </a:prstGeom>
            <a:blipFill>
              <a:blip r:embed="rId3">
                <a:extLst>
                  <a:ext uri="{96DAC541-7B7A-43D3-8B79-37D633B846F1}">
                    <asvg:svgBlip xmlns:asvg="http://schemas.microsoft.com/office/drawing/2016/SVG/main" r:embed="rId4"/>
                  </a:ext>
                </a:extLst>
              </a:blip>
              <a:srcRect/>
              <a:stretch>
                <a:fillRect/>
              </a:stretch>
            </a:blip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a:lstStyle/>
            <a:p>
              <a:endParaRPr lang="en-US"/>
            </a:p>
          </p:txBody>
        </p:sp>
        <p:sp>
          <p:nvSpPr>
            <p:cNvPr id="18" name="Freihandform: Form 17">
              <a:extLst>
                <a:ext uri="{FF2B5EF4-FFF2-40B4-BE49-F238E27FC236}">
                  <a16:creationId xmlns:a16="http://schemas.microsoft.com/office/drawing/2014/main" id="{DCD03B47-60A0-2C38-8040-BBF2CB84CCC8}"/>
                </a:ext>
              </a:extLst>
            </p:cNvPr>
            <p:cNvSpPr/>
            <p:nvPr/>
          </p:nvSpPr>
          <p:spPr>
            <a:xfrm>
              <a:off x="1669119" y="1729283"/>
              <a:ext cx="3759041" cy="1102884"/>
            </a:xfrm>
            <a:custGeom>
              <a:avLst/>
              <a:gdLst>
                <a:gd name="connsiteX0" fmla="*/ 0 w 3759041"/>
                <a:gd name="connsiteY0" fmla="*/ 0 h 1102884"/>
                <a:gd name="connsiteX1" fmla="*/ 3759041 w 3759041"/>
                <a:gd name="connsiteY1" fmla="*/ 0 h 1102884"/>
                <a:gd name="connsiteX2" fmla="*/ 3759041 w 3759041"/>
                <a:gd name="connsiteY2" fmla="*/ 1102884 h 1102884"/>
                <a:gd name="connsiteX3" fmla="*/ 0 w 3759041"/>
                <a:gd name="connsiteY3" fmla="*/ 1102884 h 1102884"/>
                <a:gd name="connsiteX4" fmla="*/ 0 w 3759041"/>
                <a:gd name="connsiteY4" fmla="*/ 0 h 11028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59041" h="1102884">
                  <a:moveTo>
                    <a:pt x="0" y="0"/>
                  </a:moveTo>
                  <a:lnTo>
                    <a:pt x="3759041" y="0"/>
                  </a:lnTo>
                  <a:lnTo>
                    <a:pt x="3759041" y="1102884"/>
                  </a:lnTo>
                  <a:lnTo>
                    <a:pt x="0" y="1102884"/>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116722" tIns="116722" rIns="116722" bIns="116722" numCol="1" spcCol="1270" anchor="ctr" anchorCtr="0">
              <a:noAutofit/>
            </a:bodyPr>
            <a:lstStyle/>
            <a:p>
              <a:pPr marL="0" lvl="0" indent="0" algn="l" defTabSz="889000">
                <a:lnSpc>
                  <a:spcPct val="100000"/>
                </a:lnSpc>
                <a:spcBef>
                  <a:spcPct val="0"/>
                </a:spcBef>
                <a:spcAft>
                  <a:spcPct val="35000"/>
                </a:spcAft>
                <a:buNone/>
              </a:pPr>
              <a:r>
                <a:rPr lang="de-DE" sz="2000" b="1" kern="1200" dirty="0" err="1"/>
                <a:t>Local</a:t>
              </a:r>
              <a:r>
                <a:rPr lang="de-DE" sz="2000" b="1" kern="1200" dirty="0"/>
                <a:t> Explanation</a:t>
              </a:r>
              <a:endParaRPr lang="en-US" sz="2000" b="1" kern="1200" dirty="0"/>
            </a:p>
          </p:txBody>
        </p:sp>
        <p:sp>
          <p:nvSpPr>
            <p:cNvPr id="19" name="Freihandform: Form 18">
              <a:extLst>
                <a:ext uri="{FF2B5EF4-FFF2-40B4-BE49-F238E27FC236}">
                  <a16:creationId xmlns:a16="http://schemas.microsoft.com/office/drawing/2014/main" id="{065C190D-3656-D45E-9FC0-09336EBBEDCA}"/>
                </a:ext>
              </a:extLst>
            </p:cNvPr>
            <p:cNvSpPr/>
            <p:nvPr/>
          </p:nvSpPr>
          <p:spPr>
            <a:xfrm>
              <a:off x="5428160" y="1729283"/>
              <a:ext cx="3320552" cy="1102884"/>
            </a:xfrm>
            <a:custGeom>
              <a:avLst/>
              <a:gdLst>
                <a:gd name="connsiteX0" fmla="*/ 0 w 3320552"/>
                <a:gd name="connsiteY0" fmla="*/ 0 h 1102884"/>
                <a:gd name="connsiteX1" fmla="*/ 3320552 w 3320552"/>
                <a:gd name="connsiteY1" fmla="*/ 0 h 1102884"/>
                <a:gd name="connsiteX2" fmla="*/ 3320552 w 3320552"/>
                <a:gd name="connsiteY2" fmla="*/ 1102884 h 1102884"/>
                <a:gd name="connsiteX3" fmla="*/ 0 w 3320552"/>
                <a:gd name="connsiteY3" fmla="*/ 1102884 h 1102884"/>
                <a:gd name="connsiteX4" fmla="*/ 0 w 3320552"/>
                <a:gd name="connsiteY4" fmla="*/ 0 h 11028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20552" h="1102884">
                  <a:moveTo>
                    <a:pt x="0" y="0"/>
                  </a:moveTo>
                  <a:lnTo>
                    <a:pt x="3320552" y="0"/>
                  </a:lnTo>
                  <a:lnTo>
                    <a:pt x="3320552" y="1102884"/>
                  </a:lnTo>
                  <a:lnTo>
                    <a:pt x="0" y="1102884"/>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116722" tIns="116722" rIns="116722" bIns="116722" numCol="1" spcCol="1270" anchor="ctr" anchorCtr="0">
              <a:noAutofit/>
            </a:bodyPr>
            <a:lstStyle/>
            <a:p>
              <a:pPr marL="0" lvl="0" indent="0" algn="l" defTabSz="711200">
                <a:lnSpc>
                  <a:spcPct val="100000"/>
                </a:lnSpc>
                <a:spcBef>
                  <a:spcPct val="0"/>
                </a:spcBef>
                <a:spcAft>
                  <a:spcPct val="35000"/>
                </a:spcAft>
                <a:buNone/>
              </a:pPr>
              <a:r>
                <a:rPr lang="en-US" sz="1600" kern="1200" dirty="0"/>
                <a:t>Why </a:t>
              </a:r>
              <a:r>
                <a:rPr lang="de-DE" sz="1600" kern="1200" dirty="0" err="1"/>
                <a:t>specific</a:t>
              </a:r>
              <a:r>
                <a:rPr lang="de-DE" sz="1600" kern="1200" dirty="0"/>
                <a:t> </a:t>
              </a:r>
              <a:r>
                <a:rPr lang="de-DE" sz="1600" kern="1200" dirty="0" err="1"/>
                <a:t>prediction</a:t>
              </a:r>
              <a:r>
                <a:rPr lang="de-DE" sz="1600" kern="1200" dirty="0"/>
                <a:t>?</a:t>
              </a:r>
            </a:p>
            <a:p>
              <a:pPr marL="0" lvl="0" indent="0" algn="l" defTabSz="711200">
                <a:lnSpc>
                  <a:spcPct val="100000"/>
                </a:lnSpc>
                <a:spcBef>
                  <a:spcPct val="0"/>
                </a:spcBef>
                <a:spcAft>
                  <a:spcPct val="35000"/>
                </a:spcAft>
                <a:buNone/>
              </a:pPr>
              <a:r>
                <a:rPr lang="de-DE" sz="1600" kern="1200" dirty="0"/>
                <a:t>Instance </a:t>
              </a:r>
              <a:r>
                <a:rPr lang="de-DE" sz="1600" kern="1200" dirty="0" err="1"/>
                <a:t>level</a:t>
              </a:r>
              <a:endParaRPr lang="de-DE" sz="1600" kern="1200" dirty="0"/>
            </a:p>
          </p:txBody>
        </p:sp>
      </p:grpSp>
      <p:grpSp>
        <p:nvGrpSpPr>
          <p:cNvPr id="25" name="Gruppieren 24">
            <a:extLst>
              <a:ext uri="{FF2B5EF4-FFF2-40B4-BE49-F238E27FC236}">
                <a16:creationId xmlns:a16="http://schemas.microsoft.com/office/drawing/2014/main" id="{298C9D05-F16C-B532-91EE-6F1ADDAE7065}"/>
              </a:ext>
            </a:extLst>
          </p:cNvPr>
          <p:cNvGrpSpPr/>
          <p:nvPr/>
        </p:nvGrpSpPr>
        <p:grpSpPr>
          <a:xfrm>
            <a:off x="395288" y="3107889"/>
            <a:ext cx="8353425" cy="1102884"/>
            <a:chOff x="395288" y="3107889"/>
            <a:chExt cx="8353425" cy="1102884"/>
          </a:xfrm>
        </p:grpSpPr>
        <p:sp>
          <p:nvSpPr>
            <p:cNvPr id="20" name="Rechteck: abgerundete Ecken 19">
              <a:extLst>
                <a:ext uri="{FF2B5EF4-FFF2-40B4-BE49-F238E27FC236}">
                  <a16:creationId xmlns:a16="http://schemas.microsoft.com/office/drawing/2014/main" id="{F9A82B48-E0CA-7CAC-4280-8F45BD52996D}"/>
                </a:ext>
              </a:extLst>
            </p:cNvPr>
            <p:cNvSpPr/>
            <p:nvPr/>
          </p:nvSpPr>
          <p:spPr>
            <a:xfrm>
              <a:off x="395288" y="3107889"/>
              <a:ext cx="8353425" cy="1102884"/>
            </a:xfrm>
            <a:prstGeom prst="roundRect">
              <a:avLst>
                <a:gd name="adj" fmla="val 10000"/>
              </a:avLst>
            </a:prstGeom>
          </p:spPr>
          <p:style>
            <a:lnRef idx="0">
              <a:schemeClr val="accent1">
                <a:hueOff val="0"/>
                <a:satOff val="0"/>
                <a:lumOff val="0"/>
                <a:alphaOff val="0"/>
              </a:schemeClr>
            </a:lnRef>
            <a:fillRef idx="1">
              <a:schemeClr val="accent1">
                <a:tint val="40000"/>
                <a:hueOff val="0"/>
                <a:satOff val="0"/>
                <a:lumOff val="0"/>
                <a:alphaOff val="0"/>
              </a:schemeClr>
            </a:fillRef>
            <a:effectRef idx="0">
              <a:schemeClr val="accent1">
                <a:tint val="40000"/>
                <a:hueOff val="0"/>
                <a:satOff val="0"/>
                <a:lumOff val="0"/>
                <a:alphaOff val="0"/>
              </a:schemeClr>
            </a:effectRef>
            <a:fontRef idx="minor">
              <a:schemeClr val="dk1">
                <a:hueOff val="0"/>
                <a:satOff val="0"/>
                <a:lumOff val="0"/>
                <a:alphaOff val="0"/>
              </a:schemeClr>
            </a:fontRef>
          </p:style>
          <p:txBody>
            <a:bodyPr/>
            <a:lstStyle/>
            <a:p>
              <a:endParaRPr lang="en-US"/>
            </a:p>
          </p:txBody>
        </p:sp>
        <p:sp>
          <p:nvSpPr>
            <p:cNvPr id="21" name="Rechteck 20" descr="Earth Globe Americas">
              <a:extLst>
                <a:ext uri="{FF2B5EF4-FFF2-40B4-BE49-F238E27FC236}">
                  <a16:creationId xmlns:a16="http://schemas.microsoft.com/office/drawing/2014/main" id="{9B44BACC-28EB-91EB-11AD-3CC74564BD1E}"/>
                </a:ext>
              </a:extLst>
            </p:cNvPr>
            <p:cNvSpPr/>
            <p:nvPr/>
          </p:nvSpPr>
          <p:spPr>
            <a:xfrm>
              <a:off x="728910" y="3356038"/>
              <a:ext cx="606586" cy="606586"/>
            </a:xfrm>
            <a:prstGeom prst="rect">
              <a:avLst/>
            </a:prstGeom>
            <a: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a:lstStyle/>
            <a:p>
              <a:endParaRPr lang="en-US"/>
            </a:p>
          </p:txBody>
        </p:sp>
        <p:sp>
          <p:nvSpPr>
            <p:cNvPr id="22" name="Freihandform: Form 21">
              <a:extLst>
                <a:ext uri="{FF2B5EF4-FFF2-40B4-BE49-F238E27FC236}">
                  <a16:creationId xmlns:a16="http://schemas.microsoft.com/office/drawing/2014/main" id="{BF7E41D7-A71F-27BF-47DE-E7A6289A7964}"/>
                </a:ext>
              </a:extLst>
            </p:cNvPr>
            <p:cNvSpPr/>
            <p:nvPr/>
          </p:nvSpPr>
          <p:spPr>
            <a:xfrm>
              <a:off x="1669119" y="3107889"/>
              <a:ext cx="3759041" cy="1102884"/>
            </a:xfrm>
            <a:custGeom>
              <a:avLst/>
              <a:gdLst>
                <a:gd name="connsiteX0" fmla="*/ 0 w 3759041"/>
                <a:gd name="connsiteY0" fmla="*/ 0 h 1102884"/>
                <a:gd name="connsiteX1" fmla="*/ 3759041 w 3759041"/>
                <a:gd name="connsiteY1" fmla="*/ 0 h 1102884"/>
                <a:gd name="connsiteX2" fmla="*/ 3759041 w 3759041"/>
                <a:gd name="connsiteY2" fmla="*/ 1102884 h 1102884"/>
                <a:gd name="connsiteX3" fmla="*/ 0 w 3759041"/>
                <a:gd name="connsiteY3" fmla="*/ 1102884 h 1102884"/>
                <a:gd name="connsiteX4" fmla="*/ 0 w 3759041"/>
                <a:gd name="connsiteY4" fmla="*/ 0 h 11028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59041" h="1102884">
                  <a:moveTo>
                    <a:pt x="0" y="0"/>
                  </a:moveTo>
                  <a:lnTo>
                    <a:pt x="3759041" y="0"/>
                  </a:lnTo>
                  <a:lnTo>
                    <a:pt x="3759041" y="1102884"/>
                  </a:lnTo>
                  <a:lnTo>
                    <a:pt x="0" y="1102884"/>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116722" tIns="116722" rIns="116722" bIns="116722" numCol="1" spcCol="1270" anchor="ctr" anchorCtr="0">
              <a:noAutofit/>
            </a:bodyPr>
            <a:lstStyle/>
            <a:p>
              <a:pPr marL="0" lvl="0" indent="0" algn="l" defTabSz="889000">
                <a:lnSpc>
                  <a:spcPct val="100000"/>
                </a:lnSpc>
                <a:spcBef>
                  <a:spcPct val="0"/>
                </a:spcBef>
                <a:spcAft>
                  <a:spcPct val="35000"/>
                </a:spcAft>
                <a:buNone/>
              </a:pPr>
              <a:r>
                <a:rPr lang="de-DE" sz="2000" b="1" kern="1200" dirty="0"/>
                <a:t>Global Explanation</a:t>
              </a:r>
              <a:endParaRPr lang="en-US" sz="2000" b="1" kern="1200" dirty="0"/>
            </a:p>
          </p:txBody>
        </p:sp>
        <p:sp>
          <p:nvSpPr>
            <p:cNvPr id="23" name="Freihandform: Form 22">
              <a:extLst>
                <a:ext uri="{FF2B5EF4-FFF2-40B4-BE49-F238E27FC236}">
                  <a16:creationId xmlns:a16="http://schemas.microsoft.com/office/drawing/2014/main" id="{21A8C519-22F6-2A52-D66B-E436F0ECE3DC}"/>
                </a:ext>
              </a:extLst>
            </p:cNvPr>
            <p:cNvSpPr/>
            <p:nvPr/>
          </p:nvSpPr>
          <p:spPr>
            <a:xfrm>
              <a:off x="5428160" y="3107889"/>
              <a:ext cx="3320552" cy="1102884"/>
            </a:xfrm>
            <a:custGeom>
              <a:avLst/>
              <a:gdLst>
                <a:gd name="connsiteX0" fmla="*/ 0 w 3320552"/>
                <a:gd name="connsiteY0" fmla="*/ 0 h 1102884"/>
                <a:gd name="connsiteX1" fmla="*/ 3320552 w 3320552"/>
                <a:gd name="connsiteY1" fmla="*/ 0 h 1102884"/>
                <a:gd name="connsiteX2" fmla="*/ 3320552 w 3320552"/>
                <a:gd name="connsiteY2" fmla="*/ 1102884 h 1102884"/>
                <a:gd name="connsiteX3" fmla="*/ 0 w 3320552"/>
                <a:gd name="connsiteY3" fmla="*/ 1102884 h 1102884"/>
                <a:gd name="connsiteX4" fmla="*/ 0 w 3320552"/>
                <a:gd name="connsiteY4" fmla="*/ 0 h 11028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20552" h="1102884">
                  <a:moveTo>
                    <a:pt x="0" y="0"/>
                  </a:moveTo>
                  <a:lnTo>
                    <a:pt x="3320552" y="0"/>
                  </a:lnTo>
                  <a:lnTo>
                    <a:pt x="3320552" y="1102884"/>
                  </a:lnTo>
                  <a:lnTo>
                    <a:pt x="0" y="1102884"/>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116722" tIns="116722" rIns="116722" bIns="116722" numCol="1" spcCol="1270" anchor="ctr" anchorCtr="0">
              <a:noAutofit/>
            </a:bodyPr>
            <a:lstStyle/>
            <a:p>
              <a:pPr marL="0" lvl="0" indent="0" algn="l" defTabSz="711200">
                <a:lnSpc>
                  <a:spcPct val="100000"/>
                </a:lnSpc>
                <a:spcBef>
                  <a:spcPct val="0"/>
                </a:spcBef>
                <a:spcAft>
                  <a:spcPct val="35000"/>
                </a:spcAft>
                <a:buNone/>
              </a:pPr>
              <a:r>
                <a:rPr lang="de-DE" sz="1600" kern="1200" dirty="0" err="1"/>
                <a:t>How</a:t>
              </a:r>
              <a:r>
                <a:rPr lang="de-DE" sz="1600" kern="1200" dirty="0"/>
                <a:t> </a:t>
              </a:r>
              <a:r>
                <a:rPr lang="de-DE" sz="1600" kern="1200" dirty="0" err="1"/>
                <a:t>does</a:t>
              </a:r>
              <a:r>
                <a:rPr lang="de-DE" sz="1600" kern="1200" dirty="0"/>
                <a:t> </a:t>
              </a:r>
              <a:r>
                <a:rPr lang="de-DE" sz="1600" kern="1200" dirty="0" err="1"/>
                <a:t>model</a:t>
              </a:r>
              <a:r>
                <a:rPr lang="de-DE" sz="1600" kern="1200" dirty="0"/>
                <a:t> </a:t>
              </a:r>
              <a:r>
                <a:rPr lang="de-DE" sz="1600" kern="1200" dirty="0" err="1"/>
                <a:t>behave</a:t>
              </a:r>
              <a:r>
                <a:rPr lang="de-DE" sz="1600" kern="1200" dirty="0"/>
                <a:t> </a:t>
              </a:r>
              <a:r>
                <a:rPr lang="de-DE" sz="1600" kern="1200" dirty="0" err="1"/>
                <a:t>overall</a:t>
              </a:r>
              <a:r>
                <a:rPr lang="de-DE" sz="1600" kern="1200" dirty="0"/>
                <a:t>?</a:t>
              </a:r>
            </a:p>
            <a:p>
              <a:pPr marL="0" lvl="0" indent="0" algn="l" defTabSz="711200">
                <a:lnSpc>
                  <a:spcPct val="100000"/>
                </a:lnSpc>
                <a:spcBef>
                  <a:spcPct val="0"/>
                </a:spcBef>
                <a:spcAft>
                  <a:spcPct val="35000"/>
                </a:spcAft>
                <a:buNone/>
              </a:pPr>
              <a:r>
                <a:rPr lang="de-DE" sz="1600" kern="1200" dirty="0"/>
                <a:t>Model </a:t>
              </a:r>
              <a:r>
                <a:rPr lang="de-DE" sz="1600" kern="1200" dirty="0" err="1"/>
                <a:t>level</a:t>
              </a:r>
              <a:endParaRPr lang="en-US" sz="1600" kern="1200" dirty="0"/>
            </a:p>
          </p:txBody>
        </p:sp>
      </p:grpSp>
      <p:sp>
        <p:nvSpPr>
          <p:cNvPr id="6" name="Datumsplatzhalter 5">
            <a:extLst>
              <a:ext uri="{FF2B5EF4-FFF2-40B4-BE49-F238E27FC236}">
                <a16:creationId xmlns:a16="http://schemas.microsoft.com/office/drawing/2014/main" id="{B51CBECA-C6B0-17DC-D543-F9FBE2FF43B3}"/>
              </a:ext>
            </a:extLst>
          </p:cNvPr>
          <p:cNvSpPr>
            <a:spLocks noGrp="1"/>
          </p:cNvSpPr>
          <p:nvPr>
            <p:ph type="dt" sz="half" idx="10"/>
          </p:nvPr>
        </p:nvSpPr>
        <p:spPr/>
        <p:txBody>
          <a:bodyPr/>
          <a:lstStyle/>
          <a:p>
            <a:r>
              <a:rPr lang="en-US"/>
              <a:t>18.08.2025</a:t>
            </a:r>
            <a:endParaRPr lang="de-DE" dirty="0"/>
          </a:p>
        </p:txBody>
      </p:sp>
      <p:sp>
        <p:nvSpPr>
          <p:cNvPr id="7" name="Fußzeilenplatzhalter 6">
            <a:extLst>
              <a:ext uri="{FF2B5EF4-FFF2-40B4-BE49-F238E27FC236}">
                <a16:creationId xmlns:a16="http://schemas.microsoft.com/office/drawing/2014/main" id="{3722AAFD-B8D2-BE56-345B-A70277059BB4}"/>
              </a:ext>
            </a:extLst>
          </p:cNvPr>
          <p:cNvSpPr>
            <a:spLocks noGrp="1"/>
          </p:cNvSpPr>
          <p:nvPr>
            <p:ph type="ftr" sz="quarter" idx="11"/>
          </p:nvPr>
        </p:nvSpPr>
        <p:spPr/>
        <p:txBody>
          <a:bodyPr/>
          <a:lstStyle/>
          <a:p>
            <a:r>
              <a:rPr lang="en-US" dirty="0"/>
              <a:t>Enhancing model transparency: Effects of DK Integration for Conversational XAI | Feustel</a:t>
            </a:r>
            <a:endParaRPr lang="de-DE" dirty="0"/>
          </a:p>
        </p:txBody>
      </p:sp>
      <p:sp>
        <p:nvSpPr>
          <p:cNvPr id="8" name="Foliennummernplatzhalter 7">
            <a:extLst>
              <a:ext uri="{FF2B5EF4-FFF2-40B4-BE49-F238E27FC236}">
                <a16:creationId xmlns:a16="http://schemas.microsoft.com/office/drawing/2014/main" id="{21729686-1A33-8670-92C6-989F7F5FC6B7}"/>
              </a:ext>
            </a:extLst>
          </p:cNvPr>
          <p:cNvSpPr>
            <a:spLocks noGrp="1"/>
          </p:cNvSpPr>
          <p:nvPr>
            <p:ph type="sldNum" sz="quarter" idx="12"/>
          </p:nvPr>
        </p:nvSpPr>
        <p:spPr/>
        <p:txBody>
          <a:bodyPr/>
          <a:lstStyle/>
          <a:p>
            <a:r>
              <a:rPr lang="de-DE"/>
              <a:t> </a:t>
            </a:r>
            <a:fld id="{FE120BDC-5456-EC41-8BB6-7A3B726EA19B}" type="slidenum">
              <a:rPr lang="de-DE" smtClean="0"/>
              <a:pPr/>
              <a:t>8</a:t>
            </a:fld>
            <a:endParaRPr lang="de-DE" dirty="0"/>
          </a:p>
        </p:txBody>
      </p:sp>
      <p:sp>
        <p:nvSpPr>
          <p:cNvPr id="2" name="Textfeld 1">
            <a:extLst>
              <a:ext uri="{FF2B5EF4-FFF2-40B4-BE49-F238E27FC236}">
                <a16:creationId xmlns:a16="http://schemas.microsoft.com/office/drawing/2014/main" id="{4A4563F3-8236-F233-1C33-2642248D6EB6}"/>
              </a:ext>
            </a:extLst>
          </p:cNvPr>
          <p:cNvSpPr txBox="1"/>
          <p:nvPr/>
        </p:nvSpPr>
        <p:spPr>
          <a:xfrm>
            <a:off x="7851895" y="134610"/>
            <a:ext cx="1200650" cy="276999"/>
          </a:xfrm>
          <a:prstGeom prst="rect">
            <a:avLst/>
          </a:prstGeom>
          <a:noFill/>
        </p:spPr>
        <p:txBody>
          <a:bodyPr wrap="none" rtlCol="0">
            <a:spAutoFit/>
          </a:bodyPr>
          <a:lstStyle/>
          <a:p>
            <a:r>
              <a:rPr lang="de-DE" sz="1200" dirty="0"/>
              <a:t>XAI Foundations</a:t>
            </a:r>
            <a:endParaRPr lang="en-US" sz="1200" dirty="0"/>
          </a:p>
        </p:txBody>
      </p:sp>
      <p:sp>
        <p:nvSpPr>
          <p:cNvPr id="3" name="Rechteck 2" descr="Lichter an mit einfarbiger Füllung">
            <a:extLst>
              <a:ext uri="{FF2B5EF4-FFF2-40B4-BE49-F238E27FC236}">
                <a16:creationId xmlns:a16="http://schemas.microsoft.com/office/drawing/2014/main" id="{E8BAEFA5-ED73-CB21-51A2-BDFF78E2CDE9}"/>
              </a:ext>
            </a:extLst>
          </p:cNvPr>
          <p:cNvSpPr/>
          <p:nvPr/>
        </p:nvSpPr>
        <p:spPr>
          <a:xfrm>
            <a:off x="8804352" y="664349"/>
            <a:ext cx="277969" cy="277969"/>
          </a:xfrm>
          <a:prstGeom prst="rect">
            <a:avLst/>
          </a:prstGeom>
          <a:blipFill>
            <a:blip r:embed="rId7">
              <a:extLst>
                <a:ext uri="{96DAC541-7B7A-43D3-8B79-37D633B846F1}">
                  <asvg:svgBlip xmlns:asvg="http://schemas.microsoft.com/office/drawing/2016/SVG/main" r:embed="rId8"/>
                </a:ext>
              </a:extLst>
            </a:blip>
            <a:srcRect/>
            <a:stretch>
              <a:fillRect/>
            </a:stretch>
          </a:blipFill>
          <a:ln>
            <a:noFill/>
          </a:ln>
        </p:spPr>
        <p:style>
          <a:lnRef idx="2">
            <a:scrgbClr r="0" g="0" b="0"/>
          </a:lnRef>
          <a:fillRef idx="1">
            <a:scrgbClr r="0" g="0" b="0"/>
          </a:fillRef>
          <a:effectRef idx="0">
            <a:schemeClr val="accent2">
              <a:hueOff val="0"/>
              <a:satOff val="0"/>
              <a:lumOff val="0"/>
              <a:alphaOff val="0"/>
            </a:schemeClr>
          </a:effectRef>
          <a:fontRef idx="minor">
            <a:schemeClr val="lt1"/>
          </a:fontRef>
        </p:style>
        <p:txBody>
          <a:bodyPr/>
          <a:lstStyle/>
          <a:p>
            <a:endParaRPr lang="en-US"/>
          </a:p>
        </p:txBody>
      </p:sp>
      <p:sp>
        <p:nvSpPr>
          <p:cNvPr id="4" name="Rechteck 3" descr="Geschlossenes Buch mit einfarbiger Füllung">
            <a:extLst>
              <a:ext uri="{FF2B5EF4-FFF2-40B4-BE49-F238E27FC236}">
                <a16:creationId xmlns:a16="http://schemas.microsoft.com/office/drawing/2014/main" id="{DCF2ABBB-0AE1-B9BF-EAC4-ADBB128CF11A}"/>
              </a:ext>
            </a:extLst>
          </p:cNvPr>
          <p:cNvSpPr/>
          <p:nvPr/>
        </p:nvSpPr>
        <p:spPr>
          <a:xfrm>
            <a:off x="8804352" y="1043547"/>
            <a:ext cx="277969" cy="277969"/>
          </a:xfrm>
          <a:prstGeom prst="rect">
            <a:avLst/>
          </a:prstGeom>
          <a:blipFill>
            <a:blip r:embed="rId9">
              <a:extLst>
                <a:ext uri="{96DAC541-7B7A-43D3-8B79-37D633B846F1}">
                  <asvg:svgBlip xmlns:asvg="http://schemas.microsoft.com/office/drawing/2016/SVG/main" r:embed="rId10"/>
                </a:ext>
              </a:extLst>
            </a:blip>
            <a:srcRect/>
            <a:stretch>
              <a:fillRect/>
            </a:stretch>
          </a:blipFill>
          <a:ln>
            <a:noFill/>
          </a:ln>
        </p:spPr>
        <p:style>
          <a:lnRef idx="2">
            <a:scrgbClr r="0" g="0" b="0"/>
          </a:lnRef>
          <a:fillRef idx="1">
            <a:scrgbClr r="0" g="0" b="0"/>
          </a:fillRef>
          <a:effectRef idx="0">
            <a:schemeClr val="accent3">
              <a:hueOff val="0"/>
              <a:satOff val="0"/>
              <a:lumOff val="0"/>
              <a:alphaOff val="0"/>
            </a:schemeClr>
          </a:effectRef>
          <a:fontRef idx="minor">
            <a:schemeClr val="lt1"/>
          </a:fontRef>
        </p:style>
        <p:txBody>
          <a:bodyPr/>
          <a:lstStyle/>
          <a:p>
            <a:endParaRPr lang="en-US"/>
          </a:p>
        </p:txBody>
      </p:sp>
      <p:sp>
        <p:nvSpPr>
          <p:cNvPr id="5" name="Rechteck 4" descr="Netzwerk">
            <a:extLst>
              <a:ext uri="{FF2B5EF4-FFF2-40B4-BE49-F238E27FC236}">
                <a16:creationId xmlns:a16="http://schemas.microsoft.com/office/drawing/2014/main" id="{D93BD69E-D0AD-4E35-03CE-C72E52FC50C6}"/>
              </a:ext>
            </a:extLst>
          </p:cNvPr>
          <p:cNvSpPr/>
          <p:nvPr/>
        </p:nvSpPr>
        <p:spPr>
          <a:xfrm>
            <a:off x="8804352" y="1379208"/>
            <a:ext cx="277969" cy="277969"/>
          </a:xfrm>
          <a:prstGeom prst="rect">
            <a:avLst/>
          </a:prstGeom>
          <a: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a:noFill/>
          </a:ln>
        </p:spPr>
        <p:style>
          <a:lnRef idx="2">
            <a:scrgbClr r="0" g="0" b="0"/>
          </a:lnRef>
          <a:fillRef idx="1">
            <a:scrgbClr r="0" g="0" b="0"/>
          </a:fillRef>
          <a:effectRef idx="0">
            <a:schemeClr val="accent4">
              <a:hueOff val="0"/>
              <a:satOff val="0"/>
              <a:lumOff val="0"/>
              <a:alphaOff val="0"/>
            </a:schemeClr>
          </a:effectRef>
          <a:fontRef idx="minor">
            <a:schemeClr val="lt1"/>
          </a:fontRef>
        </p:style>
        <p:txBody>
          <a:bodyPr/>
          <a:lstStyle/>
          <a:p>
            <a:endParaRPr lang="en-US"/>
          </a:p>
        </p:txBody>
      </p:sp>
      <p:sp>
        <p:nvSpPr>
          <p:cNvPr id="10" name="Rechteck 9" descr="Kreise mit Pfeilen mit einfarbiger Füllung">
            <a:extLst>
              <a:ext uri="{FF2B5EF4-FFF2-40B4-BE49-F238E27FC236}">
                <a16:creationId xmlns:a16="http://schemas.microsoft.com/office/drawing/2014/main" id="{65E2BF31-10FD-2C71-1EC9-A0C5E328AFE0}"/>
              </a:ext>
            </a:extLst>
          </p:cNvPr>
          <p:cNvSpPr/>
          <p:nvPr/>
        </p:nvSpPr>
        <p:spPr>
          <a:xfrm>
            <a:off x="8804352" y="1688740"/>
            <a:ext cx="277969" cy="277969"/>
          </a:xfrm>
          <a:prstGeom prst="rect">
            <a:avLst/>
          </a:prstGeom>
          <a:blipFill>
            <a:blip r:embed="rId13">
              <a:extLst>
                <a:ext uri="{96DAC541-7B7A-43D3-8B79-37D633B846F1}">
                  <asvg:svgBlip xmlns:asvg="http://schemas.microsoft.com/office/drawing/2016/SVG/main" r:embed="rId14"/>
                </a:ext>
              </a:extLst>
            </a:blip>
            <a:srcRect/>
            <a:stretch>
              <a:fillRect/>
            </a:stretch>
          </a:blipFill>
          <a:ln>
            <a:noFill/>
          </a:ln>
        </p:spPr>
        <p:style>
          <a:lnRef idx="2">
            <a:scrgbClr r="0" g="0" b="0"/>
          </a:lnRef>
          <a:fillRef idx="1">
            <a:scrgbClr r="0" g="0" b="0"/>
          </a:fillRef>
          <a:effectRef idx="0">
            <a:schemeClr val="accent5">
              <a:hueOff val="0"/>
              <a:satOff val="0"/>
              <a:lumOff val="0"/>
              <a:alphaOff val="0"/>
            </a:schemeClr>
          </a:effectRef>
          <a:fontRef idx="minor">
            <a:schemeClr val="lt1"/>
          </a:fontRef>
        </p:style>
        <p:txBody>
          <a:bodyPr/>
          <a:lstStyle/>
          <a:p>
            <a:endParaRPr lang="en-US"/>
          </a:p>
        </p:txBody>
      </p:sp>
      <p:sp>
        <p:nvSpPr>
          <p:cNvPr id="11" name="Rechteck 10" descr="Prüfliste">
            <a:extLst>
              <a:ext uri="{FF2B5EF4-FFF2-40B4-BE49-F238E27FC236}">
                <a16:creationId xmlns:a16="http://schemas.microsoft.com/office/drawing/2014/main" id="{9F786620-F793-8841-DBDF-F1BB4FF1FE1D}"/>
              </a:ext>
            </a:extLst>
          </p:cNvPr>
          <p:cNvSpPr/>
          <p:nvPr/>
        </p:nvSpPr>
        <p:spPr>
          <a:xfrm>
            <a:off x="8804352" y="2006980"/>
            <a:ext cx="277969" cy="277969"/>
          </a:xfrm>
          <a:prstGeom prst="rect">
            <a:avLst/>
          </a:prstGeom>
          <a: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a:blipFill>
          <a:ln>
            <a:noFill/>
          </a:ln>
        </p:spPr>
        <p:style>
          <a:lnRef idx="2">
            <a:scrgbClr r="0" g="0" b="0"/>
          </a:lnRef>
          <a:fillRef idx="1">
            <a:scrgbClr r="0" g="0" b="0"/>
          </a:fillRef>
          <a:effectRef idx="0">
            <a:schemeClr val="accent6">
              <a:hueOff val="0"/>
              <a:satOff val="0"/>
              <a:lumOff val="0"/>
              <a:alphaOff val="0"/>
            </a:schemeClr>
          </a:effectRef>
          <a:fontRef idx="minor">
            <a:schemeClr val="lt1"/>
          </a:fontRef>
        </p:style>
        <p:txBody>
          <a:bodyPr/>
          <a:lstStyle/>
          <a:p>
            <a:endParaRPr lang="en-US"/>
          </a:p>
        </p:txBody>
      </p:sp>
      <p:sp>
        <p:nvSpPr>
          <p:cNvPr id="12" name="Rechteck 11" descr="Auktionshammer">
            <a:extLst>
              <a:ext uri="{FF2B5EF4-FFF2-40B4-BE49-F238E27FC236}">
                <a16:creationId xmlns:a16="http://schemas.microsoft.com/office/drawing/2014/main" id="{D7A207C2-983E-FF04-4317-9DB0269FE5F8}"/>
              </a:ext>
            </a:extLst>
          </p:cNvPr>
          <p:cNvSpPr/>
          <p:nvPr/>
        </p:nvSpPr>
        <p:spPr>
          <a:xfrm>
            <a:off x="8804352" y="2316507"/>
            <a:ext cx="277969" cy="277969"/>
          </a:xfrm>
          <a:prstGeom prst="rect">
            <a:avLst/>
          </a:prstGeom>
          <a: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a:blipFill>
          <a:ln>
            <a:noFill/>
          </a:ln>
        </p:spPr>
        <p:style>
          <a:lnRef idx="2">
            <a:scrgbClr r="0" g="0" b="0"/>
          </a:lnRef>
          <a:fillRef idx="1">
            <a:scrgbClr r="0" g="0" b="0"/>
          </a:fillRef>
          <a:effectRef idx="0">
            <a:schemeClr val="accent2">
              <a:hueOff val="0"/>
              <a:satOff val="0"/>
              <a:lumOff val="0"/>
              <a:alphaOff val="0"/>
            </a:schemeClr>
          </a:effectRef>
          <a:fontRef idx="minor">
            <a:schemeClr val="lt1"/>
          </a:fontRef>
        </p:style>
        <p:txBody>
          <a:bodyPr/>
          <a:lstStyle/>
          <a:p>
            <a:endParaRPr lang="en-US"/>
          </a:p>
        </p:txBody>
      </p:sp>
      <p:sp>
        <p:nvSpPr>
          <p:cNvPr id="13" name="Rechteck 12" descr="Geschlossenes Buch mit einfarbiger Füllung">
            <a:extLst>
              <a:ext uri="{FF2B5EF4-FFF2-40B4-BE49-F238E27FC236}">
                <a16:creationId xmlns:a16="http://schemas.microsoft.com/office/drawing/2014/main" id="{C56DA5BD-83E6-E116-7461-23A28922359B}"/>
              </a:ext>
            </a:extLst>
          </p:cNvPr>
          <p:cNvSpPr/>
          <p:nvPr/>
        </p:nvSpPr>
        <p:spPr>
          <a:xfrm>
            <a:off x="7600498" y="133640"/>
            <a:ext cx="277969" cy="277969"/>
          </a:xfrm>
          <a:prstGeom prst="rect">
            <a:avLst/>
          </a:prstGeom>
          <a:blipFill>
            <a:blip r:embed="rId9">
              <a:extLst>
                <a:ext uri="{96DAC541-7B7A-43D3-8B79-37D633B846F1}">
                  <asvg:svgBlip xmlns:asvg="http://schemas.microsoft.com/office/drawing/2016/SVG/main" r:embed="rId10"/>
                </a:ext>
              </a:extLst>
            </a:blip>
            <a:srcRect/>
            <a:stretch>
              <a:fillRect/>
            </a:stretch>
          </a:blipFill>
          <a:ln>
            <a:noFill/>
          </a:ln>
        </p:spPr>
        <p:style>
          <a:lnRef idx="2">
            <a:scrgbClr r="0" g="0" b="0"/>
          </a:lnRef>
          <a:fillRef idx="1">
            <a:scrgbClr r="0" g="0" b="0"/>
          </a:fillRef>
          <a:effectRef idx="0">
            <a:schemeClr val="accent3">
              <a:hueOff val="0"/>
              <a:satOff val="0"/>
              <a:lumOff val="0"/>
              <a:alphaOff val="0"/>
            </a:schemeClr>
          </a:effectRef>
          <a:fontRef idx="minor">
            <a:schemeClr val="lt1"/>
          </a:fontRef>
        </p:style>
        <p:txBody>
          <a:bodyPr/>
          <a:lstStyle/>
          <a:p>
            <a:endParaRPr lang="en-US"/>
          </a:p>
        </p:txBody>
      </p:sp>
    </p:spTree>
    <p:extLst>
      <p:ext uri="{BB962C8B-B14F-4D97-AF65-F5344CB8AC3E}">
        <p14:creationId xmlns:p14="http://schemas.microsoft.com/office/powerpoint/2010/main" val="28965791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4"/>
                                        </p:tgtEl>
                                        <p:attrNameLst>
                                          <p:attrName>style.visibility</p:attrName>
                                        </p:attrNameLst>
                                      </p:cBhvr>
                                      <p:to>
                                        <p:strVal val="visible"/>
                                      </p:to>
                                    </p:set>
                                    <p:anim calcmode="lin" valueType="num">
                                      <p:cBhvr additive="base">
                                        <p:cTn id="7" dur="500" fill="hold"/>
                                        <p:tgtEl>
                                          <p:spTgt spid="24"/>
                                        </p:tgtEl>
                                        <p:attrNameLst>
                                          <p:attrName>ppt_x</p:attrName>
                                        </p:attrNameLst>
                                      </p:cBhvr>
                                      <p:tavLst>
                                        <p:tav tm="0">
                                          <p:val>
                                            <p:strVal val="#ppt_x"/>
                                          </p:val>
                                        </p:tav>
                                        <p:tav tm="100000">
                                          <p:val>
                                            <p:strVal val="#ppt_x"/>
                                          </p:val>
                                        </p:tav>
                                      </p:tavLst>
                                    </p:anim>
                                    <p:anim calcmode="lin" valueType="num">
                                      <p:cBhvr additive="base">
                                        <p:cTn id="8" dur="500" fill="hold"/>
                                        <p:tgtEl>
                                          <p:spTgt spid="2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5"/>
                                        </p:tgtEl>
                                        <p:attrNameLst>
                                          <p:attrName>style.visibility</p:attrName>
                                        </p:attrNameLst>
                                      </p:cBhvr>
                                      <p:to>
                                        <p:strVal val="visible"/>
                                      </p:to>
                                    </p:set>
                                    <p:anim calcmode="lin" valueType="num">
                                      <p:cBhvr additive="base">
                                        <p:cTn id="13" dur="500" fill="hold"/>
                                        <p:tgtEl>
                                          <p:spTgt spid="25"/>
                                        </p:tgtEl>
                                        <p:attrNameLst>
                                          <p:attrName>ppt_x</p:attrName>
                                        </p:attrNameLst>
                                      </p:cBhvr>
                                      <p:tavLst>
                                        <p:tav tm="0">
                                          <p:val>
                                            <p:strVal val="#ppt_x"/>
                                          </p:val>
                                        </p:tav>
                                        <p:tav tm="100000">
                                          <p:val>
                                            <p:strVal val="#ppt_x"/>
                                          </p:val>
                                        </p:tav>
                                      </p:tavLst>
                                    </p:anim>
                                    <p:anim calcmode="lin" valueType="num">
                                      <p:cBhvr additive="base">
                                        <p:cTn id="14" dur="500" fill="hold"/>
                                        <p:tgtEl>
                                          <p:spTgt spid="2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647C84-A6E0-D85B-0DE1-3E7DE8FA2D70}"/>
            </a:ext>
          </a:extLst>
        </p:cNvPr>
        <p:cNvGrpSpPr/>
        <p:nvPr/>
      </p:nvGrpSpPr>
      <p:grpSpPr>
        <a:xfrm>
          <a:off x="0" y="0"/>
          <a:ext cx="0" cy="0"/>
          <a:chOff x="0" y="0"/>
          <a:chExt cx="0" cy="0"/>
        </a:xfrm>
      </p:grpSpPr>
      <p:sp>
        <p:nvSpPr>
          <p:cNvPr id="9" name="Titel 8">
            <a:extLst>
              <a:ext uri="{FF2B5EF4-FFF2-40B4-BE49-F238E27FC236}">
                <a16:creationId xmlns:a16="http://schemas.microsoft.com/office/drawing/2014/main" id="{BFBFAD65-980E-2531-0A40-79F3358FBF0B}"/>
              </a:ext>
            </a:extLst>
          </p:cNvPr>
          <p:cNvSpPr>
            <a:spLocks noGrp="1"/>
          </p:cNvSpPr>
          <p:nvPr>
            <p:ph type="ctrTitle"/>
          </p:nvPr>
        </p:nvSpPr>
        <p:spPr/>
        <p:txBody>
          <a:bodyPr/>
          <a:lstStyle/>
          <a:p>
            <a:r>
              <a:rPr lang="de-DE" noProof="1"/>
              <a:t>XAI Foundations: Explanation Types</a:t>
            </a:r>
            <a:endParaRPr lang="en-US" dirty="0"/>
          </a:p>
        </p:txBody>
      </p:sp>
      <p:grpSp>
        <p:nvGrpSpPr>
          <p:cNvPr id="14" name="Gruppieren 13">
            <a:extLst>
              <a:ext uri="{FF2B5EF4-FFF2-40B4-BE49-F238E27FC236}">
                <a16:creationId xmlns:a16="http://schemas.microsoft.com/office/drawing/2014/main" id="{540F8E8C-171E-B347-5680-BEA605A7198F}"/>
              </a:ext>
            </a:extLst>
          </p:cNvPr>
          <p:cNvGrpSpPr/>
          <p:nvPr/>
        </p:nvGrpSpPr>
        <p:grpSpPr>
          <a:xfrm>
            <a:off x="387195" y="1137297"/>
            <a:ext cx="8353425" cy="1102884"/>
            <a:chOff x="387195" y="1137297"/>
            <a:chExt cx="8353425" cy="1102884"/>
          </a:xfrm>
        </p:grpSpPr>
        <p:sp>
          <p:nvSpPr>
            <p:cNvPr id="15" name="Rechteck: abgerundete Ecken 14">
              <a:extLst>
                <a:ext uri="{FF2B5EF4-FFF2-40B4-BE49-F238E27FC236}">
                  <a16:creationId xmlns:a16="http://schemas.microsoft.com/office/drawing/2014/main" id="{44B64161-F711-45EA-FC99-33E9DF24CD69}"/>
                </a:ext>
              </a:extLst>
            </p:cNvPr>
            <p:cNvSpPr/>
            <p:nvPr/>
          </p:nvSpPr>
          <p:spPr>
            <a:xfrm>
              <a:off x="387195" y="1137297"/>
              <a:ext cx="8353425" cy="1102884"/>
            </a:xfrm>
            <a:prstGeom prst="roundRect">
              <a:avLst>
                <a:gd name="adj" fmla="val 10000"/>
              </a:avLst>
            </a:prstGeom>
          </p:spPr>
          <p:style>
            <a:lnRef idx="0">
              <a:schemeClr val="accent1">
                <a:hueOff val="0"/>
                <a:satOff val="0"/>
                <a:lumOff val="0"/>
                <a:alphaOff val="0"/>
              </a:schemeClr>
            </a:lnRef>
            <a:fillRef idx="1">
              <a:schemeClr val="accent1">
                <a:tint val="40000"/>
                <a:hueOff val="0"/>
                <a:satOff val="0"/>
                <a:lumOff val="0"/>
                <a:alphaOff val="0"/>
              </a:schemeClr>
            </a:fillRef>
            <a:effectRef idx="0">
              <a:schemeClr val="accent1">
                <a:tint val="40000"/>
                <a:hueOff val="0"/>
                <a:satOff val="0"/>
                <a:lumOff val="0"/>
                <a:alphaOff val="0"/>
              </a:schemeClr>
            </a:effectRef>
            <a:fontRef idx="minor">
              <a:schemeClr val="dk1">
                <a:hueOff val="0"/>
                <a:satOff val="0"/>
                <a:lumOff val="0"/>
                <a:alphaOff val="0"/>
              </a:schemeClr>
            </a:fontRef>
          </p:style>
          <p:txBody>
            <a:bodyPr/>
            <a:lstStyle/>
            <a:p>
              <a:endParaRPr lang="en-US"/>
            </a:p>
          </p:txBody>
        </p:sp>
        <p:sp>
          <p:nvSpPr>
            <p:cNvPr id="17" name="Rechteck 16" descr="Markierung Silhouette">
              <a:extLst>
                <a:ext uri="{FF2B5EF4-FFF2-40B4-BE49-F238E27FC236}">
                  <a16:creationId xmlns:a16="http://schemas.microsoft.com/office/drawing/2014/main" id="{9ED84F2D-477F-6CBD-5E1D-F76E30F45782}"/>
                </a:ext>
              </a:extLst>
            </p:cNvPr>
            <p:cNvSpPr/>
            <p:nvPr/>
          </p:nvSpPr>
          <p:spPr>
            <a:xfrm>
              <a:off x="720817" y="1385446"/>
              <a:ext cx="606586" cy="606586"/>
            </a:xfrm>
            <a:prstGeom prst="rect">
              <a:avLst/>
            </a:prstGeom>
            <a:blipFill>
              <a:blip r:embed="rId3">
                <a:extLst>
                  <a:ext uri="{96DAC541-7B7A-43D3-8B79-37D633B846F1}">
                    <asvg:svgBlip xmlns:asvg="http://schemas.microsoft.com/office/drawing/2016/SVG/main" r:embed="rId4"/>
                  </a:ext>
                </a:extLst>
              </a:blip>
              <a:srcRect/>
              <a:stretch>
                <a:fillRect/>
              </a:stretch>
            </a:blip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a:lstStyle/>
            <a:p>
              <a:endParaRPr lang="en-US"/>
            </a:p>
          </p:txBody>
        </p:sp>
        <p:sp>
          <p:nvSpPr>
            <p:cNvPr id="18" name="Freihandform: Form 17">
              <a:extLst>
                <a:ext uri="{FF2B5EF4-FFF2-40B4-BE49-F238E27FC236}">
                  <a16:creationId xmlns:a16="http://schemas.microsoft.com/office/drawing/2014/main" id="{5DD9AD2E-0CA4-90F8-97D5-DDF3DD3D69E4}"/>
                </a:ext>
              </a:extLst>
            </p:cNvPr>
            <p:cNvSpPr/>
            <p:nvPr/>
          </p:nvSpPr>
          <p:spPr>
            <a:xfrm>
              <a:off x="1661026" y="1137297"/>
              <a:ext cx="3759041" cy="1102884"/>
            </a:xfrm>
            <a:custGeom>
              <a:avLst/>
              <a:gdLst>
                <a:gd name="connsiteX0" fmla="*/ 0 w 3759041"/>
                <a:gd name="connsiteY0" fmla="*/ 0 h 1102884"/>
                <a:gd name="connsiteX1" fmla="*/ 3759041 w 3759041"/>
                <a:gd name="connsiteY1" fmla="*/ 0 h 1102884"/>
                <a:gd name="connsiteX2" fmla="*/ 3759041 w 3759041"/>
                <a:gd name="connsiteY2" fmla="*/ 1102884 h 1102884"/>
                <a:gd name="connsiteX3" fmla="*/ 0 w 3759041"/>
                <a:gd name="connsiteY3" fmla="*/ 1102884 h 1102884"/>
                <a:gd name="connsiteX4" fmla="*/ 0 w 3759041"/>
                <a:gd name="connsiteY4" fmla="*/ 0 h 11028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59041" h="1102884">
                  <a:moveTo>
                    <a:pt x="0" y="0"/>
                  </a:moveTo>
                  <a:lnTo>
                    <a:pt x="3759041" y="0"/>
                  </a:lnTo>
                  <a:lnTo>
                    <a:pt x="3759041" y="1102884"/>
                  </a:lnTo>
                  <a:lnTo>
                    <a:pt x="0" y="1102884"/>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116722" tIns="116722" rIns="116722" bIns="116722" numCol="1" spcCol="1270" anchor="ctr" anchorCtr="0">
              <a:noAutofit/>
            </a:bodyPr>
            <a:lstStyle/>
            <a:p>
              <a:pPr marL="0" lvl="0" indent="0" algn="l" defTabSz="889000">
                <a:lnSpc>
                  <a:spcPct val="100000"/>
                </a:lnSpc>
                <a:spcBef>
                  <a:spcPct val="0"/>
                </a:spcBef>
                <a:spcAft>
                  <a:spcPct val="35000"/>
                </a:spcAft>
                <a:buNone/>
              </a:pPr>
              <a:r>
                <a:rPr lang="de-DE" sz="2000" b="1" kern="1200" dirty="0" err="1"/>
                <a:t>Local</a:t>
              </a:r>
              <a:r>
                <a:rPr lang="de-DE" sz="2000" b="1" kern="1200" dirty="0"/>
                <a:t> Explanation</a:t>
              </a:r>
              <a:endParaRPr lang="en-US" sz="2000" b="1" kern="1200" dirty="0"/>
            </a:p>
          </p:txBody>
        </p:sp>
        <p:sp>
          <p:nvSpPr>
            <p:cNvPr id="19" name="Freihandform: Form 18">
              <a:extLst>
                <a:ext uri="{FF2B5EF4-FFF2-40B4-BE49-F238E27FC236}">
                  <a16:creationId xmlns:a16="http://schemas.microsoft.com/office/drawing/2014/main" id="{DBA84C02-D067-2B94-0229-93F2453A6F57}"/>
                </a:ext>
              </a:extLst>
            </p:cNvPr>
            <p:cNvSpPr/>
            <p:nvPr/>
          </p:nvSpPr>
          <p:spPr>
            <a:xfrm>
              <a:off x="5420067" y="1137297"/>
              <a:ext cx="3320552" cy="1102884"/>
            </a:xfrm>
            <a:custGeom>
              <a:avLst/>
              <a:gdLst>
                <a:gd name="connsiteX0" fmla="*/ 0 w 3320552"/>
                <a:gd name="connsiteY0" fmla="*/ 0 h 1102884"/>
                <a:gd name="connsiteX1" fmla="*/ 3320552 w 3320552"/>
                <a:gd name="connsiteY1" fmla="*/ 0 h 1102884"/>
                <a:gd name="connsiteX2" fmla="*/ 3320552 w 3320552"/>
                <a:gd name="connsiteY2" fmla="*/ 1102884 h 1102884"/>
                <a:gd name="connsiteX3" fmla="*/ 0 w 3320552"/>
                <a:gd name="connsiteY3" fmla="*/ 1102884 h 1102884"/>
                <a:gd name="connsiteX4" fmla="*/ 0 w 3320552"/>
                <a:gd name="connsiteY4" fmla="*/ 0 h 11028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20552" h="1102884">
                  <a:moveTo>
                    <a:pt x="0" y="0"/>
                  </a:moveTo>
                  <a:lnTo>
                    <a:pt x="3320552" y="0"/>
                  </a:lnTo>
                  <a:lnTo>
                    <a:pt x="3320552" y="1102884"/>
                  </a:lnTo>
                  <a:lnTo>
                    <a:pt x="0" y="1102884"/>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116722" tIns="116722" rIns="116722" bIns="116722" numCol="1" spcCol="1270" anchor="ctr" anchorCtr="0">
              <a:noAutofit/>
            </a:bodyPr>
            <a:lstStyle/>
            <a:p>
              <a:pPr marL="0" lvl="0" indent="0" algn="l" defTabSz="711200">
                <a:lnSpc>
                  <a:spcPct val="100000"/>
                </a:lnSpc>
                <a:spcBef>
                  <a:spcPct val="0"/>
                </a:spcBef>
                <a:spcAft>
                  <a:spcPct val="35000"/>
                </a:spcAft>
                <a:buNone/>
              </a:pPr>
              <a:r>
                <a:rPr lang="en-US" sz="1600" kern="1200" dirty="0"/>
                <a:t>Why </a:t>
              </a:r>
              <a:r>
                <a:rPr lang="de-DE" sz="1600" kern="1200" dirty="0" err="1"/>
                <a:t>specific</a:t>
              </a:r>
              <a:r>
                <a:rPr lang="de-DE" sz="1600" kern="1200" dirty="0"/>
                <a:t> </a:t>
              </a:r>
              <a:r>
                <a:rPr lang="de-DE" sz="1600" kern="1200" dirty="0" err="1"/>
                <a:t>prediction</a:t>
              </a:r>
              <a:r>
                <a:rPr lang="de-DE" sz="1600" kern="1200" dirty="0"/>
                <a:t>?</a:t>
              </a:r>
            </a:p>
            <a:p>
              <a:pPr marL="0" lvl="0" indent="0" algn="l" defTabSz="711200">
                <a:lnSpc>
                  <a:spcPct val="100000"/>
                </a:lnSpc>
                <a:spcBef>
                  <a:spcPct val="0"/>
                </a:spcBef>
                <a:spcAft>
                  <a:spcPct val="35000"/>
                </a:spcAft>
                <a:buNone/>
              </a:pPr>
              <a:r>
                <a:rPr lang="de-DE" sz="1600" kern="1200" dirty="0"/>
                <a:t>Instance </a:t>
              </a:r>
              <a:r>
                <a:rPr lang="de-DE" sz="1600" kern="1200" dirty="0" err="1"/>
                <a:t>level</a:t>
              </a:r>
              <a:endParaRPr lang="de-DE" sz="1600" kern="1200" dirty="0"/>
            </a:p>
          </p:txBody>
        </p:sp>
      </p:grpSp>
      <p:sp>
        <p:nvSpPr>
          <p:cNvPr id="6" name="Datumsplatzhalter 5">
            <a:extLst>
              <a:ext uri="{FF2B5EF4-FFF2-40B4-BE49-F238E27FC236}">
                <a16:creationId xmlns:a16="http://schemas.microsoft.com/office/drawing/2014/main" id="{3A26ACE6-9698-B91B-148E-D7129C31D058}"/>
              </a:ext>
            </a:extLst>
          </p:cNvPr>
          <p:cNvSpPr>
            <a:spLocks noGrp="1"/>
          </p:cNvSpPr>
          <p:nvPr>
            <p:ph type="dt" sz="half" idx="10"/>
          </p:nvPr>
        </p:nvSpPr>
        <p:spPr/>
        <p:txBody>
          <a:bodyPr/>
          <a:lstStyle/>
          <a:p>
            <a:r>
              <a:rPr lang="en-US"/>
              <a:t>18.08.2025</a:t>
            </a:r>
            <a:endParaRPr lang="de-DE" dirty="0"/>
          </a:p>
        </p:txBody>
      </p:sp>
      <p:sp>
        <p:nvSpPr>
          <p:cNvPr id="7" name="Fußzeilenplatzhalter 6">
            <a:extLst>
              <a:ext uri="{FF2B5EF4-FFF2-40B4-BE49-F238E27FC236}">
                <a16:creationId xmlns:a16="http://schemas.microsoft.com/office/drawing/2014/main" id="{BFF36D84-1789-2842-BDC5-85256170BF2E}"/>
              </a:ext>
            </a:extLst>
          </p:cNvPr>
          <p:cNvSpPr>
            <a:spLocks noGrp="1"/>
          </p:cNvSpPr>
          <p:nvPr>
            <p:ph type="ftr" sz="quarter" idx="11"/>
          </p:nvPr>
        </p:nvSpPr>
        <p:spPr/>
        <p:txBody>
          <a:bodyPr/>
          <a:lstStyle/>
          <a:p>
            <a:r>
              <a:rPr lang="en-US" dirty="0"/>
              <a:t>Enhancing model transparency: Effects of DK Integration for Conversational XAI | Feustel</a:t>
            </a:r>
            <a:endParaRPr lang="de-DE" dirty="0"/>
          </a:p>
        </p:txBody>
      </p:sp>
      <p:sp>
        <p:nvSpPr>
          <p:cNvPr id="8" name="Foliennummernplatzhalter 7">
            <a:extLst>
              <a:ext uri="{FF2B5EF4-FFF2-40B4-BE49-F238E27FC236}">
                <a16:creationId xmlns:a16="http://schemas.microsoft.com/office/drawing/2014/main" id="{73883D3F-C6D3-EA6E-B9A3-F1F143B11B89}"/>
              </a:ext>
            </a:extLst>
          </p:cNvPr>
          <p:cNvSpPr>
            <a:spLocks noGrp="1"/>
          </p:cNvSpPr>
          <p:nvPr>
            <p:ph type="sldNum" sz="quarter" idx="12"/>
          </p:nvPr>
        </p:nvSpPr>
        <p:spPr/>
        <p:txBody>
          <a:bodyPr/>
          <a:lstStyle/>
          <a:p>
            <a:r>
              <a:rPr lang="de-DE"/>
              <a:t> </a:t>
            </a:r>
            <a:fld id="{FE120BDC-5456-EC41-8BB6-7A3B726EA19B}" type="slidenum">
              <a:rPr lang="de-DE" smtClean="0"/>
              <a:pPr/>
              <a:t>9</a:t>
            </a:fld>
            <a:endParaRPr lang="de-DE" dirty="0"/>
          </a:p>
        </p:txBody>
      </p:sp>
      <p:sp>
        <p:nvSpPr>
          <p:cNvPr id="2" name="Textfeld 1">
            <a:extLst>
              <a:ext uri="{FF2B5EF4-FFF2-40B4-BE49-F238E27FC236}">
                <a16:creationId xmlns:a16="http://schemas.microsoft.com/office/drawing/2014/main" id="{417AA7C1-1DFB-F69C-7B4D-DEC82B7BFF03}"/>
              </a:ext>
            </a:extLst>
          </p:cNvPr>
          <p:cNvSpPr txBox="1"/>
          <p:nvPr/>
        </p:nvSpPr>
        <p:spPr>
          <a:xfrm>
            <a:off x="7851895" y="134610"/>
            <a:ext cx="1200650" cy="276999"/>
          </a:xfrm>
          <a:prstGeom prst="rect">
            <a:avLst/>
          </a:prstGeom>
          <a:noFill/>
        </p:spPr>
        <p:txBody>
          <a:bodyPr wrap="none" rtlCol="0">
            <a:spAutoFit/>
          </a:bodyPr>
          <a:lstStyle/>
          <a:p>
            <a:r>
              <a:rPr lang="de-DE" sz="1200" dirty="0"/>
              <a:t>XAI Foundations</a:t>
            </a:r>
            <a:endParaRPr lang="en-US" sz="1200" dirty="0"/>
          </a:p>
        </p:txBody>
      </p:sp>
      <p:sp>
        <p:nvSpPr>
          <p:cNvPr id="3" name="Rechteck 2" descr="Lichter an mit einfarbiger Füllung">
            <a:extLst>
              <a:ext uri="{FF2B5EF4-FFF2-40B4-BE49-F238E27FC236}">
                <a16:creationId xmlns:a16="http://schemas.microsoft.com/office/drawing/2014/main" id="{FC8AC054-58BB-64AF-C1EC-7EA2AF1135C1}"/>
              </a:ext>
            </a:extLst>
          </p:cNvPr>
          <p:cNvSpPr/>
          <p:nvPr/>
        </p:nvSpPr>
        <p:spPr>
          <a:xfrm>
            <a:off x="8804352" y="664349"/>
            <a:ext cx="277969" cy="277969"/>
          </a:xfrm>
          <a:prstGeom prst="rect">
            <a:avLst/>
          </a:prstGeom>
          <a:blipFill>
            <a:blip r:embed="rId5">
              <a:extLst>
                <a:ext uri="{96DAC541-7B7A-43D3-8B79-37D633B846F1}">
                  <asvg:svgBlip xmlns:asvg="http://schemas.microsoft.com/office/drawing/2016/SVG/main" r:embed="rId6"/>
                </a:ext>
              </a:extLst>
            </a:blip>
            <a:srcRect/>
            <a:stretch>
              <a:fillRect/>
            </a:stretch>
          </a:blipFill>
          <a:ln>
            <a:noFill/>
          </a:ln>
        </p:spPr>
        <p:style>
          <a:lnRef idx="2">
            <a:scrgbClr r="0" g="0" b="0"/>
          </a:lnRef>
          <a:fillRef idx="1">
            <a:scrgbClr r="0" g="0" b="0"/>
          </a:fillRef>
          <a:effectRef idx="0">
            <a:schemeClr val="accent2">
              <a:hueOff val="0"/>
              <a:satOff val="0"/>
              <a:lumOff val="0"/>
              <a:alphaOff val="0"/>
            </a:schemeClr>
          </a:effectRef>
          <a:fontRef idx="minor">
            <a:schemeClr val="lt1"/>
          </a:fontRef>
        </p:style>
        <p:txBody>
          <a:bodyPr/>
          <a:lstStyle/>
          <a:p>
            <a:endParaRPr lang="en-US"/>
          </a:p>
        </p:txBody>
      </p:sp>
      <p:sp>
        <p:nvSpPr>
          <p:cNvPr id="4" name="Rechteck 3" descr="Geschlossenes Buch mit einfarbiger Füllung">
            <a:extLst>
              <a:ext uri="{FF2B5EF4-FFF2-40B4-BE49-F238E27FC236}">
                <a16:creationId xmlns:a16="http://schemas.microsoft.com/office/drawing/2014/main" id="{17E72EFB-B921-18F8-BDA9-403AB8AACE12}"/>
              </a:ext>
            </a:extLst>
          </p:cNvPr>
          <p:cNvSpPr/>
          <p:nvPr/>
        </p:nvSpPr>
        <p:spPr>
          <a:xfrm>
            <a:off x="8804352" y="1043547"/>
            <a:ext cx="277969" cy="277969"/>
          </a:xfrm>
          <a:prstGeom prst="rect">
            <a:avLst/>
          </a:prstGeom>
          <a:blipFill>
            <a:blip r:embed="rId7">
              <a:extLst>
                <a:ext uri="{96DAC541-7B7A-43D3-8B79-37D633B846F1}">
                  <asvg:svgBlip xmlns:asvg="http://schemas.microsoft.com/office/drawing/2016/SVG/main" r:embed="rId8"/>
                </a:ext>
              </a:extLst>
            </a:blip>
            <a:srcRect/>
            <a:stretch>
              <a:fillRect/>
            </a:stretch>
          </a:blipFill>
          <a:ln>
            <a:noFill/>
          </a:ln>
        </p:spPr>
        <p:style>
          <a:lnRef idx="2">
            <a:scrgbClr r="0" g="0" b="0"/>
          </a:lnRef>
          <a:fillRef idx="1">
            <a:scrgbClr r="0" g="0" b="0"/>
          </a:fillRef>
          <a:effectRef idx="0">
            <a:schemeClr val="accent3">
              <a:hueOff val="0"/>
              <a:satOff val="0"/>
              <a:lumOff val="0"/>
              <a:alphaOff val="0"/>
            </a:schemeClr>
          </a:effectRef>
          <a:fontRef idx="minor">
            <a:schemeClr val="lt1"/>
          </a:fontRef>
        </p:style>
        <p:txBody>
          <a:bodyPr/>
          <a:lstStyle/>
          <a:p>
            <a:endParaRPr lang="en-US"/>
          </a:p>
        </p:txBody>
      </p:sp>
      <p:sp>
        <p:nvSpPr>
          <p:cNvPr id="5" name="Rechteck 4" descr="Netzwerk">
            <a:extLst>
              <a:ext uri="{FF2B5EF4-FFF2-40B4-BE49-F238E27FC236}">
                <a16:creationId xmlns:a16="http://schemas.microsoft.com/office/drawing/2014/main" id="{CB6E6F6F-2229-5493-660C-46EBF5CCE853}"/>
              </a:ext>
            </a:extLst>
          </p:cNvPr>
          <p:cNvSpPr/>
          <p:nvPr/>
        </p:nvSpPr>
        <p:spPr>
          <a:xfrm>
            <a:off x="8804352" y="1379208"/>
            <a:ext cx="277969" cy="277969"/>
          </a:xfrm>
          <a:prstGeom prst="rect">
            <a:avLst/>
          </a:prstGeom>
          <a: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p:spPr>
        <p:style>
          <a:lnRef idx="2">
            <a:scrgbClr r="0" g="0" b="0"/>
          </a:lnRef>
          <a:fillRef idx="1">
            <a:scrgbClr r="0" g="0" b="0"/>
          </a:fillRef>
          <a:effectRef idx="0">
            <a:schemeClr val="accent4">
              <a:hueOff val="0"/>
              <a:satOff val="0"/>
              <a:lumOff val="0"/>
              <a:alphaOff val="0"/>
            </a:schemeClr>
          </a:effectRef>
          <a:fontRef idx="minor">
            <a:schemeClr val="lt1"/>
          </a:fontRef>
        </p:style>
        <p:txBody>
          <a:bodyPr/>
          <a:lstStyle/>
          <a:p>
            <a:endParaRPr lang="en-US"/>
          </a:p>
        </p:txBody>
      </p:sp>
      <p:sp>
        <p:nvSpPr>
          <p:cNvPr id="10" name="Rechteck 9" descr="Kreise mit Pfeilen mit einfarbiger Füllung">
            <a:extLst>
              <a:ext uri="{FF2B5EF4-FFF2-40B4-BE49-F238E27FC236}">
                <a16:creationId xmlns:a16="http://schemas.microsoft.com/office/drawing/2014/main" id="{EB7B7687-812A-91AF-D487-7EF1BFEFD07B}"/>
              </a:ext>
            </a:extLst>
          </p:cNvPr>
          <p:cNvSpPr/>
          <p:nvPr/>
        </p:nvSpPr>
        <p:spPr>
          <a:xfrm>
            <a:off x="8804352" y="1688740"/>
            <a:ext cx="277969" cy="277969"/>
          </a:xfrm>
          <a:prstGeom prst="rect">
            <a:avLst/>
          </a:prstGeom>
          <a:blipFill>
            <a:blip r:embed="rId11">
              <a:extLst>
                <a:ext uri="{96DAC541-7B7A-43D3-8B79-37D633B846F1}">
                  <asvg:svgBlip xmlns:asvg="http://schemas.microsoft.com/office/drawing/2016/SVG/main" r:embed="rId12"/>
                </a:ext>
              </a:extLst>
            </a:blip>
            <a:srcRect/>
            <a:stretch>
              <a:fillRect/>
            </a:stretch>
          </a:blipFill>
          <a:ln>
            <a:noFill/>
          </a:ln>
        </p:spPr>
        <p:style>
          <a:lnRef idx="2">
            <a:scrgbClr r="0" g="0" b="0"/>
          </a:lnRef>
          <a:fillRef idx="1">
            <a:scrgbClr r="0" g="0" b="0"/>
          </a:fillRef>
          <a:effectRef idx="0">
            <a:schemeClr val="accent5">
              <a:hueOff val="0"/>
              <a:satOff val="0"/>
              <a:lumOff val="0"/>
              <a:alphaOff val="0"/>
            </a:schemeClr>
          </a:effectRef>
          <a:fontRef idx="minor">
            <a:schemeClr val="lt1"/>
          </a:fontRef>
        </p:style>
        <p:txBody>
          <a:bodyPr/>
          <a:lstStyle/>
          <a:p>
            <a:endParaRPr lang="en-US"/>
          </a:p>
        </p:txBody>
      </p:sp>
      <p:sp>
        <p:nvSpPr>
          <p:cNvPr id="11" name="Rechteck 10" descr="Prüfliste">
            <a:extLst>
              <a:ext uri="{FF2B5EF4-FFF2-40B4-BE49-F238E27FC236}">
                <a16:creationId xmlns:a16="http://schemas.microsoft.com/office/drawing/2014/main" id="{14FB1A8F-B10E-7A78-063E-66B7E9436C5C}"/>
              </a:ext>
            </a:extLst>
          </p:cNvPr>
          <p:cNvSpPr/>
          <p:nvPr/>
        </p:nvSpPr>
        <p:spPr>
          <a:xfrm>
            <a:off x="8804352" y="2006980"/>
            <a:ext cx="277969" cy="277969"/>
          </a:xfrm>
          <a:prstGeom prst="rect">
            <a:avLst/>
          </a:prstGeom>
          <a: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a:blipFill>
          <a:ln>
            <a:noFill/>
          </a:ln>
        </p:spPr>
        <p:style>
          <a:lnRef idx="2">
            <a:scrgbClr r="0" g="0" b="0"/>
          </a:lnRef>
          <a:fillRef idx="1">
            <a:scrgbClr r="0" g="0" b="0"/>
          </a:fillRef>
          <a:effectRef idx="0">
            <a:schemeClr val="accent6">
              <a:hueOff val="0"/>
              <a:satOff val="0"/>
              <a:lumOff val="0"/>
              <a:alphaOff val="0"/>
            </a:schemeClr>
          </a:effectRef>
          <a:fontRef idx="minor">
            <a:schemeClr val="lt1"/>
          </a:fontRef>
        </p:style>
        <p:txBody>
          <a:bodyPr/>
          <a:lstStyle/>
          <a:p>
            <a:endParaRPr lang="en-US"/>
          </a:p>
        </p:txBody>
      </p:sp>
      <p:sp>
        <p:nvSpPr>
          <p:cNvPr id="12" name="Rechteck 11" descr="Auktionshammer">
            <a:extLst>
              <a:ext uri="{FF2B5EF4-FFF2-40B4-BE49-F238E27FC236}">
                <a16:creationId xmlns:a16="http://schemas.microsoft.com/office/drawing/2014/main" id="{FBF072B3-2818-7EDC-CA73-14338B1C318C}"/>
              </a:ext>
            </a:extLst>
          </p:cNvPr>
          <p:cNvSpPr/>
          <p:nvPr/>
        </p:nvSpPr>
        <p:spPr>
          <a:xfrm>
            <a:off x="8804352" y="2316507"/>
            <a:ext cx="277969" cy="277969"/>
          </a:xfrm>
          <a:prstGeom prst="rect">
            <a:avLst/>
          </a:prstGeom>
          <a: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a:blipFill>
          <a:ln>
            <a:noFill/>
          </a:ln>
        </p:spPr>
        <p:style>
          <a:lnRef idx="2">
            <a:scrgbClr r="0" g="0" b="0"/>
          </a:lnRef>
          <a:fillRef idx="1">
            <a:scrgbClr r="0" g="0" b="0"/>
          </a:fillRef>
          <a:effectRef idx="0">
            <a:schemeClr val="accent2">
              <a:hueOff val="0"/>
              <a:satOff val="0"/>
              <a:lumOff val="0"/>
              <a:alphaOff val="0"/>
            </a:schemeClr>
          </a:effectRef>
          <a:fontRef idx="minor">
            <a:schemeClr val="lt1"/>
          </a:fontRef>
        </p:style>
        <p:txBody>
          <a:bodyPr/>
          <a:lstStyle/>
          <a:p>
            <a:endParaRPr lang="en-US"/>
          </a:p>
        </p:txBody>
      </p:sp>
      <p:sp>
        <p:nvSpPr>
          <p:cNvPr id="13" name="Rechteck 12" descr="Geschlossenes Buch mit einfarbiger Füllung">
            <a:extLst>
              <a:ext uri="{FF2B5EF4-FFF2-40B4-BE49-F238E27FC236}">
                <a16:creationId xmlns:a16="http://schemas.microsoft.com/office/drawing/2014/main" id="{0A958E3B-0A34-67CF-2B95-0DB6B54A6857}"/>
              </a:ext>
            </a:extLst>
          </p:cNvPr>
          <p:cNvSpPr/>
          <p:nvPr/>
        </p:nvSpPr>
        <p:spPr>
          <a:xfrm>
            <a:off x="7600498" y="133640"/>
            <a:ext cx="277969" cy="277969"/>
          </a:xfrm>
          <a:prstGeom prst="rect">
            <a:avLst/>
          </a:prstGeom>
          <a:blipFill>
            <a:blip r:embed="rId7">
              <a:extLst>
                <a:ext uri="{96DAC541-7B7A-43D3-8B79-37D633B846F1}">
                  <asvg:svgBlip xmlns:asvg="http://schemas.microsoft.com/office/drawing/2016/SVG/main" r:embed="rId8"/>
                </a:ext>
              </a:extLst>
            </a:blip>
            <a:srcRect/>
            <a:stretch>
              <a:fillRect/>
            </a:stretch>
          </a:blipFill>
          <a:ln>
            <a:noFill/>
          </a:ln>
        </p:spPr>
        <p:style>
          <a:lnRef idx="2">
            <a:scrgbClr r="0" g="0" b="0"/>
          </a:lnRef>
          <a:fillRef idx="1">
            <a:scrgbClr r="0" g="0" b="0"/>
          </a:fillRef>
          <a:effectRef idx="0">
            <a:schemeClr val="accent3">
              <a:hueOff val="0"/>
              <a:satOff val="0"/>
              <a:lumOff val="0"/>
              <a:alphaOff val="0"/>
            </a:schemeClr>
          </a:effectRef>
          <a:fontRef idx="minor">
            <a:schemeClr val="lt1"/>
          </a:fontRef>
        </p:style>
        <p:txBody>
          <a:bodyPr/>
          <a:lstStyle/>
          <a:p>
            <a:endParaRPr lang="en-US"/>
          </a:p>
        </p:txBody>
      </p:sp>
      <p:grpSp>
        <p:nvGrpSpPr>
          <p:cNvPr id="30" name="Gruppieren 29">
            <a:extLst>
              <a:ext uri="{FF2B5EF4-FFF2-40B4-BE49-F238E27FC236}">
                <a16:creationId xmlns:a16="http://schemas.microsoft.com/office/drawing/2014/main" id="{48757F2D-7EEC-FD63-011F-BC3B5C6A358E}"/>
              </a:ext>
            </a:extLst>
          </p:cNvPr>
          <p:cNvGrpSpPr/>
          <p:nvPr/>
        </p:nvGrpSpPr>
        <p:grpSpPr>
          <a:xfrm>
            <a:off x="964490" y="2432670"/>
            <a:ext cx="7776130" cy="756966"/>
            <a:chOff x="964490" y="2432670"/>
            <a:chExt cx="7776130" cy="756966"/>
          </a:xfrm>
        </p:grpSpPr>
        <p:sp>
          <p:nvSpPr>
            <p:cNvPr id="21" name="Rechteck: abgerundete Ecken 20">
              <a:extLst>
                <a:ext uri="{FF2B5EF4-FFF2-40B4-BE49-F238E27FC236}">
                  <a16:creationId xmlns:a16="http://schemas.microsoft.com/office/drawing/2014/main" id="{202066A4-3E8D-329B-2863-999670DBECB4}"/>
                </a:ext>
              </a:extLst>
            </p:cNvPr>
            <p:cNvSpPr/>
            <p:nvPr/>
          </p:nvSpPr>
          <p:spPr>
            <a:xfrm>
              <a:off x="964490" y="2432670"/>
              <a:ext cx="7776130" cy="756966"/>
            </a:xfrm>
            <a:prstGeom prst="roundRect">
              <a:avLst>
                <a:gd name="adj" fmla="val 10000"/>
              </a:avLst>
            </a:prstGeom>
          </p:spPr>
          <p:style>
            <a:lnRef idx="0">
              <a:schemeClr val="accent1">
                <a:hueOff val="0"/>
                <a:satOff val="0"/>
                <a:lumOff val="0"/>
                <a:alphaOff val="0"/>
              </a:schemeClr>
            </a:lnRef>
            <a:fillRef idx="1">
              <a:schemeClr val="accent1">
                <a:tint val="40000"/>
                <a:hueOff val="0"/>
                <a:satOff val="0"/>
                <a:lumOff val="0"/>
                <a:alphaOff val="0"/>
              </a:schemeClr>
            </a:fillRef>
            <a:effectRef idx="0">
              <a:schemeClr val="accent1">
                <a:tint val="40000"/>
                <a:hueOff val="0"/>
                <a:satOff val="0"/>
                <a:lumOff val="0"/>
                <a:alphaOff val="0"/>
              </a:schemeClr>
            </a:effectRef>
            <a:fontRef idx="minor">
              <a:schemeClr val="dk1">
                <a:hueOff val="0"/>
                <a:satOff val="0"/>
                <a:lumOff val="0"/>
                <a:alphaOff val="0"/>
              </a:schemeClr>
            </a:fontRef>
          </p:style>
          <p:txBody>
            <a:bodyPr/>
            <a:lstStyle/>
            <a:p>
              <a:endParaRPr lang="en-US"/>
            </a:p>
          </p:txBody>
        </p:sp>
        <p:sp>
          <p:nvSpPr>
            <p:cNvPr id="22" name="Rechteck 21" descr="Liste mit einfarbiger Füllung">
              <a:extLst>
                <a:ext uri="{FF2B5EF4-FFF2-40B4-BE49-F238E27FC236}">
                  <a16:creationId xmlns:a16="http://schemas.microsoft.com/office/drawing/2014/main" id="{1178F5B1-2CC5-8C25-B381-507DAF15C5D9}"/>
                </a:ext>
              </a:extLst>
            </p:cNvPr>
            <p:cNvSpPr/>
            <p:nvPr/>
          </p:nvSpPr>
          <p:spPr>
            <a:xfrm>
              <a:off x="1193472" y="2602987"/>
              <a:ext cx="416331" cy="416331"/>
            </a:xfrm>
            <a:prstGeom prst="rect">
              <a:avLst/>
            </a:prstGeom>
            <a:blipFill>
              <a:blip r:embed="rId17">
                <a:extLst>
                  <a:ext uri="{96DAC541-7B7A-43D3-8B79-37D633B846F1}">
                    <asvg:svgBlip xmlns:asvg="http://schemas.microsoft.com/office/drawing/2016/SVG/main" r:embed="rId18"/>
                  </a:ext>
                </a:extLst>
              </a:blip>
              <a:srcRect/>
              <a:stretch>
                <a:fillRect/>
              </a:stretch>
            </a:blip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a:lstStyle/>
            <a:p>
              <a:endParaRPr lang="en-US"/>
            </a:p>
          </p:txBody>
        </p:sp>
        <p:sp>
          <p:nvSpPr>
            <p:cNvPr id="23" name="Freihandform: Form 22">
              <a:extLst>
                <a:ext uri="{FF2B5EF4-FFF2-40B4-BE49-F238E27FC236}">
                  <a16:creationId xmlns:a16="http://schemas.microsoft.com/office/drawing/2014/main" id="{1B441304-4EE0-B92A-49D2-30F216C151A4}"/>
                </a:ext>
              </a:extLst>
            </p:cNvPr>
            <p:cNvSpPr/>
            <p:nvPr/>
          </p:nvSpPr>
          <p:spPr>
            <a:xfrm>
              <a:off x="1838786" y="2432670"/>
              <a:ext cx="3499258" cy="756966"/>
            </a:xfrm>
            <a:custGeom>
              <a:avLst/>
              <a:gdLst>
                <a:gd name="connsiteX0" fmla="*/ 0 w 3499258"/>
                <a:gd name="connsiteY0" fmla="*/ 0 h 756966"/>
                <a:gd name="connsiteX1" fmla="*/ 3499258 w 3499258"/>
                <a:gd name="connsiteY1" fmla="*/ 0 h 756966"/>
                <a:gd name="connsiteX2" fmla="*/ 3499258 w 3499258"/>
                <a:gd name="connsiteY2" fmla="*/ 756966 h 756966"/>
                <a:gd name="connsiteX3" fmla="*/ 0 w 3499258"/>
                <a:gd name="connsiteY3" fmla="*/ 756966 h 756966"/>
                <a:gd name="connsiteX4" fmla="*/ 0 w 3499258"/>
                <a:gd name="connsiteY4" fmla="*/ 0 h 7569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99258" h="756966">
                  <a:moveTo>
                    <a:pt x="0" y="0"/>
                  </a:moveTo>
                  <a:lnTo>
                    <a:pt x="3499258" y="0"/>
                  </a:lnTo>
                  <a:lnTo>
                    <a:pt x="3499258" y="756966"/>
                  </a:lnTo>
                  <a:lnTo>
                    <a:pt x="0" y="756966"/>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80112" tIns="80112" rIns="80112" bIns="80112" numCol="1" spcCol="1270" anchor="ctr" anchorCtr="0">
              <a:noAutofit/>
            </a:bodyPr>
            <a:lstStyle/>
            <a:p>
              <a:pPr marL="0" lvl="0" indent="0" algn="l" defTabSz="889000">
                <a:lnSpc>
                  <a:spcPct val="100000"/>
                </a:lnSpc>
                <a:spcBef>
                  <a:spcPct val="0"/>
                </a:spcBef>
                <a:spcAft>
                  <a:spcPct val="35000"/>
                </a:spcAft>
                <a:buNone/>
              </a:pPr>
              <a:r>
                <a:rPr lang="de-DE" sz="2000" b="1" kern="1200" dirty="0"/>
                <a:t>Feature </a:t>
              </a:r>
              <a:r>
                <a:rPr lang="de-DE" sz="2000" b="1" kern="1200" dirty="0" err="1"/>
                <a:t>Importance</a:t>
              </a:r>
              <a:endParaRPr lang="en-US" sz="2000" b="1" kern="1200" dirty="0"/>
            </a:p>
          </p:txBody>
        </p:sp>
        <p:sp>
          <p:nvSpPr>
            <p:cNvPr id="24" name="Freihandform: Form 23">
              <a:extLst>
                <a:ext uri="{FF2B5EF4-FFF2-40B4-BE49-F238E27FC236}">
                  <a16:creationId xmlns:a16="http://schemas.microsoft.com/office/drawing/2014/main" id="{F0E6C1A8-98ED-C6A8-B307-420B4F3B690F}"/>
                </a:ext>
              </a:extLst>
            </p:cNvPr>
            <p:cNvSpPr/>
            <p:nvPr/>
          </p:nvSpPr>
          <p:spPr>
            <a:xfrm>
              <a:off x="5338044" y="2432670"/>
              <a:ext cx="3402575" cy="756966"/>
            </a:xfrm>
            <a:custGeom>
              <a:avLst/>
              <a:gdLst>
                <a:gd name="connsiteX0" fmla="*/ 0 w 3402575"/>
                <a:gd name="connsiteY0" fmla="*/ 0 h 756966"/>
                <a:gd name="connsiteX1" fmla="*/ 3402575 w 3402575"/>
                <a:gd name="connsiteY1" fmla="*/ 0 h 756966"/>
                <a:gd name="connsiteX2" fmla="*/ 3402575 w 3402575"/>
                <a:gd name="connsiteY2" fmla="*/ 756966 h 756966"/>
                <a:gd name="connsiteX3" fmla="*/ 0 w 3402575"/>
                <a:gd name="connsiteY3" fmla="*/ 756966 h 756966"/>
                <a:gd name="connsiteX4" fmla="*/ 0 w 3402575"/>
                <a:gd name="connsiteY4" fmla="*/ 0 h 7569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02575" h="756966">
                  <a:moveTo>
                    <a:pt x="0" y="0"/>
                  </a:moveTo>
                  <a:lnTo>
                    <a:pt x="3402575" y="0"/>
                  </a:lnTo>
                  <a:lnTo>
                    <a:pt x="3402575" y="756966"/>
                  </a:lnTo>
                  <a:lnTo>
                    <a:pt x="0" y="756966"/>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80112" tIns="80112" rIns="80112" bIns="80112" numCol="1" spcCol="1270" anchor="ctr" anchorCtr="0">
              <a:noAutofit/>
            </a:bodyPr>
            <a:lstStyle/>
            <a:p>
              <a:pPr marL="0" lvl="0" indent="0" algn="l" defTabSz="711200">
                <a:lnSpc>
                  <a:spcPct val="100000"/>
                </a:lnSpc>
                <a:spcBef>
                  <a:spcPct val="0"/>
                </a:spcBef>
                <a:spcAft>
                  <a:spcPct val="35000"/>
                </a:spcAft>
                <a:buNone/>
              </a:pPr>
              <a:r>
                <a:rPr lang="de-DE" sz="1600" kern="1200" dirty="0" err="1"/>
                <a:t>What</a:t>
              </a:r>
              <a:r>
                <a:rPr lang="de-DE" sz="1600" kern="1200" dirty="0"/>
                <a:t> feature </a:t>
              </a:r>
              <a:r>
                <a:rPr lang="de-DE" sz="1600" kern="1200" dirty="0" err="1"/>
                <a:t>influenced</a:t>
              </a:r>
              <a:r>
                <a:rPr lang="de-DE" sz="1600" kern="1200" dirty="0"/>
                <a:t> </a:t>
              </a:r>
              <a:r>
                <a:rPr lang="de-DE" sz="1600" kern="1200" dirty="0" err="1"/>
                <a:t>the</a:t>
              </a:r>
              <a:r>
                <a:rPr lang="de-DE" sz="1600" kern="1200" dirty="0"/>
                <a:t> </a:t>
              </a:r>
              <a:r>
                <a:rPr lang="de-DE" sz="1600" kern="1200" dirty="0" err="1"/>
                <a:t>outcome</a:t>
              </a:r>
              <a:r>
                <a:rPr lang="de-DE" sz="1600" kern="1200" dirty="0"/>
                <a:t>?</a:t>
              </a:r>
            </a:p>
          </p:txBody>
        </p:sp>
      </p:grpSp>
      <p:grpSp>
        <p:nvGrpSpPr>
          <p:cNvPr id="31" name="Gruppieren 30">
            <a:extLst>
              <a:ext uri="{FF2B5EF4-FFF2-40B4-BE49-F238E27FC236}">
                <a16:creationId xmlns:a16="http://schemas.microsoft.com/office/drawing/2014/main" id="{0517E3F7-B24A-D560-68F4-8E79FCE860C7}"/>
              </a:ext>
            </a:extLst>
          </p:cNvPr>
          <p:cNvGrpSpPr/>
          <p:nvPr/>
        </p:nvGrpSpPr>
        <p:grpSpPr>
          <a:xfrm>
            <a:off x="964490" y="3378878"/>
            <a:ext cx="7776130" cy="756966"/>
            <a:chOff x="964490" y="3378878"/>
            <a:chExt cx="7776130" cy="756966"/>
          </a:xfrm>
        </p:grpSpPr>
        <p:sp>
          <p:nvSpPr>
            <p:cNvPr id="25" name="Rechteck: abgerundete Ecken 24">
              <a:extLst>
                <a:ext uri="{FF2B5EF4-FFF2-40B4-BE49-F238E27FC236}">
                  <a16:creationId xmlns:a16="http://schemas.microsoft.com/office/drawing/2014/main" id="{1DF0C149-52DE-27A6-CF71-4E7D285DACE2}"/>
                </a:ext>
              </a:extLst>
            </p:cNvPr>
            <p:cNvSpPr/>
            <p:nvPr/>
          </p:nvSpPr>
          <p:spPr>
            <a:xfrm>
              <a:off x="964490" y="3378878"/>
              <a:ext cx="7776130" cy="756966"/>
            </a:xfrm>
            <a:prstGeom prst="roundRect">
              <a:avLst>
                <a:gd name="adj" fmla="val 10000"/>
              </a:avLst>
            </a:prstGeom>
          </p:spPr>
          <p:style>
            <a:lnRef idx="0">
              <a:schemeClr val="accent1">
                <a:hueOff val="0"/>
                <a:satOff val="0"/>
                <a:lumOff val="0"/>
                <a:alphaOff val="0"/>
              </a:schemeClr>
            </a:lnRef>
            <a:fillRef idx="1">
              <a:schemeClr val="accent1">
                <a:tint val="40000"/>
                <a:hueOff val="0"/>
                <a:satOff val="0"/>
                <a:lumOff val="0"/>
                <a:alphaOff val="0"/>
              </a:schemeClr>
            </a:fillRef>
            <a:effectRef idx="0">
              <a:schemeClr val="accent1">
                <a:tint val="40000"/>
                <a:hueOff val="0"/>
                <a:satOff val="0"/>
                <a:lumOff val="0"/>
                <a:alphaOff val="0"/>
              </a:schemeClr>
            </a:effectRef>
            <a:fontRef idx="minor">
              <a:schemeClr val="dk1">
                <a:hueOff val="0"/>
                <a:satOff val="0"/>
                <a:lumOff val="0"/>
                <a:alphaOff val="0"/>
              </a:schemeClr>
            </a:fontRef>
          </p:style>
          <p:txBody>
            <a:bodyPr/>
            <a:lstStyle/>
            <a:p>
              <a:endParaRPr lang="en-US"/>
            </a:p>
          </p:txBody>
        </p:sp>
        <p:sp>
          <p:nvSpPr>
            <p:cNvPr id="27" name="Rechteck 26" descr="Übertragen mit einfarbiger Füllung">
              <a:extLst>
                <a:ext uri="{FF2B5EF4-FFF2-40B4-BE49-F238E27FC236}">
                  <a16:creationId xmlns:a16="http://schemas.microsoft.com/office/drawing/2014/main" id="{63509B61-E6E7-25E6-675F-9B4EE68F63A4}"/>
                </a:ext>
              </a:extLst>
            </p:cNvPr>
            <p:cNvSpPr/>
            <p:nvPr/>
          </p:nvSpPr>
          <p:spPr>
            <a:xfrm>
              <a:off x="1193472" y="3549195"/>
              <a:ext cx="416331" cy="416331"/>
            </a:xfrm>
            <a:prstGeom prst="rect">
              <a:avLst/>
            </a:prstGeom>
            <a:blipFill>
              <a:blip r:embed="rId19">
                <a:extLst>
                  <a:ext uri="{96DAC541-7B7A-43D3-8B79-37D633B846F1}">
                    <asvg:svgBlip xmlns:asvg="http://schemas.microsoft.com/office/drawing/2016/SVG/main" r:embed="rId20"/>
                  </a:ext>
                </a:extLst>
              </a:blip>
              <a:srcRect/>
              <a:stretch>
                <a:fillRect/>
              </a:stretch>
            </a:blip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a:lstStyle/>
            <a:p>
              <a:endParaRPr lang="en-US"/>
            </a:p>
          </p:txBody>
        </p:sp>
        <p:sp>
          <p:nvSpPr>
            <p:cNvPr id="28" name="Freihandform: Form 27">
              <a:extLst>
                <a:ext uri="{FF2B5EF4-FFF2-40B4-BE49-F238E27FC236}">
                  <a16:creationId xmlns:a16="http://schemas.microsoft.com/office/drawing/2014/main" id="{083C65BB-B08B-D075-6AE7-958D239A51DC}"/>
                </a:ext>
              </a:extLst>
            </p:cNvPr>
            <p:cNvSpPr/>
            <p:nvPr/>
          </p:nvSpPr>
          <p:spPr>
            <a:xfrm>
              <a:off x="1838786" y="3378878"/>
              <a:ext cx="3499258" cy="756966"/>
            </a:xfrm>
            <a:custGeom>
              <a:avLst/>
              <a:gdLst>
                <a:gd name="connsiteX0" fmla="*/ 0 w 3499258"/>
                <a:gd name="connsiteY0" fmla="*/ 0 h 756966"/>
                <a:gd name="connsiteX1" fmla="*/ 3499258 w 3499258"/>
                <a:gd name="connsiteY1" fmla="*/ 0 h 756966"/>
                <a:gd name="connsiteX2" fmla="*/ 3499258 w 3499258"/>
                <a:gd name="connsiteY2" fmla="*/ 756966 h 756966"/>
                <a:gd name="connsiteX3" fmla="*/ 0 w 3499258"/>
                <a:gd name="connsiteY3" fmla="*/ 756966 h 756966"/>
                <a:gd name="connsiteX4" fmla="*/ 0 w 3499258"/>
                <a:gd name="connsiteY4" fmla="*/ 0 h 7569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99258" h="756966">
                  <a:moveTo>
                    <a:pt x="0" y="0"/>
                  </a:moveTo>
                  <a:lnTo>
                    <a:pt x="3499258" y="0"/>
                  </a:lnTo>
                  <a:lnTo>
                    <a:pt x="3499258" y="756966"/>
                  </a:lnTo>
                  <a:lnTo>
                    <a:pt x="0" y="756966"/>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80112" tIns="80112" rIns="80112" bIns="80112" numCol="1" spcCol="1270" anchor="ctr" anchorCtr="0">
              <a:noAutofit/>
            </a:bodyPr>
            <a:lstStyle/>
            <a:p>
              <a:pPr marL="0" lvl="0" indent="0" algn="l" defTabSz="889000">
                <a:lnSpc>
                  <a:spcPct val="100000"/>
                </a:lnSpc>
                <a:spcBef>
                  <a:spcPct val="0"/>
                </a:spcBef>
                <a:spcAft>
                  <a:spcPct val="35000"/>
                </a:spcAft>
                <a:buNone/>
              </a:pPr>
              <a:r>
                <a:rPr lang="de-DE" sz="2000" b="1" kern="1200" dirty="0" err="1"/>
                <a:t>Counterfactual</a:t>
              </a:r>
              <a:r>
                <a:rPr lang="de-DE" sz="2000" b="1" kern="1200" dirty="0"/>
                <a:t> Explanation</a:t>
              </a:r>
              <a:endParaRPr lang="en-US" sz="2000" b="1" kern="1200" dirty="0"/>
            </a:p>
          </p:txBody>
        </p:sp>
        <p:sp>
          <p:nvSpPr>
            <p:cNvPr id="29" name="Freihandform: Form 28">
              <a:extLst>
                <a:ext uri="{FF2B5EF4-FFF2-40B4-BE49-F238E27FC236}">
                  <a16:creationId xmlns:a16="http://schemas.microsoft.com/office/drawing/2014/main" id="{8CDD420C-C348-C075-9E05-8E37A667CD69}"/>
                </a:ext>
              </a:extLst>
            </p:cNvPr>
            <p:cNvSpPr/>
            <p:nvPr/>
          </p:nvSpPr>
          <p:spPr>
            <a:xfrm>
              <a:off x="5338044" y="3378878"/>
              <a:ext cx="3402575" cy="756966"/>
            </a:xfrm>
            <a:custGeom>
              <a:avLst/>
              <a:gdLst>
                <a:gd name="connsiteX0" fmla="*/ 0 w 3402575"/>
                <a:gd name="connsiteY0" fmla="*/ 0 h 756966"/>
                <a:gd name="connsiteX1" fmla="*/ 3402575 w 3402575"/>
                <a:gd name="connsiteY1" fmla="*/ 0 h 756966"/>
                <a:gd name="connsiteX2" fmla="*/ 3402575 w 3402575"/>
                <a:gd name="connsiteY2" fmla="*/ 756966 h 756966"/>
                <a:gd name="connsiteX3" fmla="*/ 0 w 3402575"/>
                <a:gd name="connsiteY3" fmla="*/ 756966 h 756966"/>
                <a:gd name="connsiteX4" fmla="*/ 0 w 3402575"/>
                <a:gd name="connsiteY4" fmla="*/ 0 h 7569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02575" h="756966">
                  <a:moveTo>
                    <a:pt x="0" y="0"/>
                  </a:moveTo>
                  <a:lnTo>
                    <a:pt x="3402575" y="0"/>
                  </a:lnTo>
                  <a:lnTo>
                    <a:pt x="3402575" y="756966"/>
                  </a:lnTo>
                  <a:lnTo>
                    <a:pt x="0" y="756966"/>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80112" tIns="80112" rIns="80112" bIns="80112" numCol="1" spcCol="1270" anchor="ctr" anchorCtr="0">
              <a:noAutofit/>
            </a:bodyPr>
            <a:lstStyle/>
            <a:p>
              <a:pPr marL="0" lvl="0" indent="0" algn="l" defTabSz="711200">
                <a:lnSpc>
                  <a:spcPct val="100000"/>
                </a:lnSpc>
                <a:spcBef>
                  <a:spcPct val="0"/>
                </a:spcBef>
                <a:spcAft>
                  <a:spcPct val="35000"/>
                </a:spcAft>
                <a:buNone/>
              </a:pPr>
              <a:r>
                <a:rPr lang="de-DE" sz="1600" kern="1200" dirty="0" err="1"/>
                <a:t>What</a:t>
              </a:r>
              <a:r>
                <a:rPr lang="de-DE" sz="1600" kern="1200" dirty="0"/>
                <a:t> </a:t>
              </a:r>
              <a:r>
                <a:rPr lang="de-DE" sz="1600" kern="1200" dirty="0" err="1"/>
                <a:t>changes</a:t>
              </a:r>
              <a:r>
                <a:rPr lang="de-DE" sz="1600" kern="1200" dirty="0"/>
                <a:t> </a:t>
              </a:r>
              <a:r>
                <a:rPr lang="de-DE" sz="1600" kern="1200" dirty="0" err="1"/>
                <a:t>the</a:t>
              </a:r>
              <a:r>
                <a:rPr lang="de-DE" sz="1600" kern="1200" dirty="0"/>
                <a:t> </a:t>
              </a:r>
              <a:r>
                <a:rPr lang="de-DE" sz="1600" kern="1200" dirty="0" err="1"/>
                <a:t>outcome</a:t>
              </a:r>
              <a:r>
                <a:rPr lang="de-DE" sz="1600" kern="1200" dirty="0"/>
                <a:t>?</a:t>
              </a:r>
              <a:endParaRPr lang="en-US" sz="1600" kern="1200" dirty="0"/>
            </a:p>
          </p:txBody>
        </p:sp>
      </p:grpSp>
    </p:spTree>
    <p:extLst>
      <p:ext uri="{BB962C8B-B14F-4D97-AF65-F5344CB8AC3E}">
        <p14:creationId xmlns:p14="http://schemas.microsoft.com/office/powerpoint/2010/main" val="58343474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0"/>
                                        </p:tgtEl>
                                        <p:attrNameLst>
                                          <p:attrName>style.visibility</p:attrName>
                                        </p:attrNameLst>
                                      </p:cBhvr>
                                      <p:to>
                                        <p:strVal val="visible"/>
                                      </p:to>
                                    </p:set>
                                    <p:anim calcmode="lin" valueType="num">
                                      <p:cBhvr additive="base">
                                        <p:cTn id="7" dur="500" fill="hold"/>
                                        <p:tgtEl>
                                          <p:spTgt spid="30"/>
                                        </p:tgtEl>
                                        <p:attrNameLst>
                                          <p:attrName>ppt_x</p:attrName>
                                        </p:attrNameLst>
                                      </p:cBhvr>
                                      <p:tavLst>
                                        <p:tav tm="0">
                                          <p:val>
                                            <p:strVal val="#ppt_x"/>
                                          </p:val>
                                        </p:tav>
                                        <p:tav tm="100000">
                                          <p:val>
                                            <p:strVal val="#ppt_x"/>
                                          </p:val>
                                        </p:tav>
                                      </p:tavLst>
                                    </p:anim>
                                    <p:anim calcmode="lin" valueType="num">
                                      <p:cBhvr additive="base">
                                        <p:cTn id="8" dur="500" fill="hold"/>
                                        <p:tgtEl>
                                          <p:spTgt spid="30"/>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1"/>
                                        </p:tgtEl>
                                        <p:attrNameLst>
                                          <p:attrName>style.visibility</p:attrName>
                                        </p:attrNameLst>
                                      </p:cBhvr>
                                      <p:to>
                                        <p:strVal val="visible"/>
                                      </p:to>
                                    </p:set>
                                    <p:anim calcmode="lin" valueType="num">
                                      <p:cBhvr additive="base">
                                        <p:cTn id="13" dur="500" fill="hold"/>
                                        <p:tgtEl>
                                          <p:spTgt spid="31"/>
                                        </p:tgtEl>
                                        <p:attrNameLst>
                                          <p:attrName>ppt_x</p:attrName>
                                        </p:attrNameLst>
                                      </p:cBhvr>
                                      <p:tavLst>
                                        <p:tav tm="0">
                                          <p:val>
                                            <p:strVal val="#ppt_x"/>
                                          </p:val>
                                        </p:tav>
                                        <p:tav tm="100000">
                                          <p:val>
                                            <p:strVal val="#ppt_x"/>
                                          </p:val>
                                        </p:tav>
                                      </p:tavLst>
                                    </p:anim>
                                    <p:anim calcmode="lin" valueType="num">
                                      <p:cBhvr additive="base">
                                        <p:cTn id="14" dur="500" fill="hold"/>
                                        <p:tgtEl>
                                          <p:spTgt spid="3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9CA328-E99F-9E9F-5D4C-C2B0DDA4B1D5}"/>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86827C30-1831-F429-9252-B0F0A5630D75}"/>
              </a:ext>
            </a:extLst>
          </p:cNvPr>
          <p:cNvSpPr>
            <a:spLocks noGrp="1"/>
          </p:cNvSpPr>
          <p:nvPr>
            <p:ph type="ctrTitle"/>
          </p:nvPr>
        </p:nvSpPr>
        <p:spPr/>
        <p:txBody>
          <a:bodyPr/>
          <a:lstStyle/>
          <a:p>
            <a:pPr marL="0" indent="0">
              <a:buNone/>
            </a:pPr>
            <a:r>
              <a:rPr lang="de-DE" noProof="1"/>
              <a:t>Limitations of XAI</a:t>
            </a:r>
          </a:p>
        </p:txBody>
      </p:sp>
      <p:sp>
        <p:nvSpPr>
          <p:cNvPr id="8" name="Vertikaler Textplatzhalter 7">
            <a:extLst>
              <a:ext uri="{FF2B5EF4-FFF2-40B4-BE49-F238E27FC236}">
                <a16:creationId xmlns:a16="http://schemas.microsoft.com/office/drawing/2014/main" id="{D068DE5E-E182-44A1-6D1D-5C0727220549}"/>
              </a:ext>
            </a:extLst>
          </p:cNvPr>
          <p:cNvSpPr>
            <a:spLocks noGrp="1"/>
          </p:cNvSpPr>
          <p:nvPr>
            <p:ph type="body" orient="vert" sz="quarter" idx="18"/>
          </p:nvPr>
        </p:nvSpPr>
        <p:spPr/>
        <p:txBody>
          <a:bodyPr/>
          <a:lstStyle/>
          <a:p>
            <a:endParaRPr lang="de-DE" noProof="1"/>
          </a:p>
        </p:txBody>
      </p:sp>
      <p:sp>
        <p:nvSpPr>
          <p:cNvPr id="4" name="Datumsplatzhalter 3">
            <a:extLst>
              <a:ext uri="{FF2B5EF4-FFF2-40B4-BE49-F238E27FC236}">
                <a16:creationId xmlns:a16="http://schemas.microsoft.com/office/drawing/2014/main" id="{1D5DA1F7-5968-062B-F50B-A1277A652E09}"/>
              </a:ext>
            </a:extLst>
          </p:cNvPr>
          <p:cNvSpPr>
            <a:spLocks noGrp="1"/>
          </p:cNvSpPr>
          <p:nvPr>
            <p:ph type="dt" sz="half" idx="10"/>
          </p:nvPr>
        </p:nvSpPr>
        <p:spPr/>
        <p:txBody>
          <a:bodyPr/>
          <a:lstStyle/>
          <a:p>
            <a:r>
              <a:rPr lang="en-US" noProof="1"/>
              <a:t>18.08.2025</a:t>
            </a:r>
            <a:endParaRPr lang="de-DE" noProof="1"/>
          </a:p>
        </p:txBody>
      </p:sp>
      <p:sp>
        <p:nvSpPr>
          <p:cNvPr id="5" name="Fußzeilenplatzhalter 4">
            <a:extLst>
              <a:ext uri="{FF2B5EF4-FFF2-40B4-BE49-F238E27FC236}">
                <a16:creationId xmlns:a16="http://schemas.microsoft.com/office/drawing/2014/main" id="{708E2EEF-1389-3815-5730-6D1B40FD7E8B}"/>
              </a:ext>
            </a:extLst>
          </p:cNvPr>
          <p:cNvSpPr>
            <a:spLocks noGrp="1"/>
          </p:cNvSpPr>
          <p:nvPr>
            <p:ph type="ftr" sz="quarter" idx="11"/>
          </p:nvPr>
        </p:nvSpPr>
        <p:spPr/>
        <p:txBody>
          <a:bodyPr/>
          <a:lstStyle/>
          <a:p>
            <a:r>
              <a:rPr lang="en-US" noProof="1"/>
              <a:t>Enhancing model transparency: Effects of DK Integration for Conversational XAI | Feustel</a:t>
            </a:r>
            <a:endParaRPr lang="de-DE" noProof="1"/>
          </a:p>
        </p:txBody>
      </p:sp>
      <p:sp>
        <p:nvSpPr>
          <p:cNvPr id="6" name="Foliennummernplatzhalter 5">
            <a:extLst>
              <a:ext uri="{FF2B5EF4-FFF2-40B4-BE49-F238E27FC236}">
                <a16:creationId xmlns:a16="http://schemas.microsoft.com/office/drawing/2014/main" id="{79D60FB2-F3C8-B0C3-C5F4-14EE1272EC3C}"/>
              </a:ext>
            </a:extLst>
          </p:cNvPr>
          <p:cNvSpPr>
            <a:spLocks noGrp="1"/>
          </p:cNvSpPr>
          <p:nvPr>
            <p:ph type="sldNum" sz="quarter" idx="12"/>
          </p:nvPr>
        </p:nvSpPr>
        <p:spPr/>
        <p:txBody>
          <a:bodyPr/>
          <a:lstStyle/>
          <a:p>
            <a:r>
              <a:rPr lang="de-DE" noProof="1"/>
              <a:t> </a:t>
            </a:r>
            <a:fld id="{FE120BDC-5456-EC41-8BB6-7A3B726EA19B}" type="slidenum">
              <a:rPr lang="de-DE" noProof="1" smtClean="0"/>
              <a:pPr/>
              <a:t>10</a:t>
            </a:fld>
            <a:endParaRPr lang="de-DE" noProof="1"/>
          </a:p>
        </p:txBody>
      </p:sp>
      <p:pic>
        <p:nvPicPr>
          <p:cNvPr id="12" name="Grafik 11">
            <a:extLst>
              <a:ext uri="{FF2B5EF4-FFF2-40B4-BE49-F238E27FC236}">
                <a16:creationId xmlns:a16="http://schemas.microsoft.com/office/drawing/2014/main" id="{27B06D23-BABF-5C08-D3A3-D2DF36AB3F6D}"/>
              </a:ext>
            </a:extLst>
          </p:cNvPr>
          <p:cNvPicPr>
            <a:picLocks noChangeAspect="1"/>
          </p:cNvPicPr>
          <p:nvPr/>
        </p:nvPicPr>
        <p:blipFill>
          <a:blip r:embed="rId3">
            <a:duotone>
              <a:schemeClr val="accent1">
                <a:shade val="45000"/>
                <a:satMod val="135000"/>
              </a:schemeClr>
              <a:prstClr val="white"/>
            </a:duotone>
          </a:blip>
          <a:stretch>
            <a:fillRect/>
          </a:stretch>
        </p:blipFill>
        <p:spPr>
          <a:xfrm>
            <a:off x="415124" y="1292471"/>
            <a:ext cx="547254" cy="547254"/>
          </a:xfrm>
          <a:prstGeom prst="rect">
            <a:avLst/>
          </a:prstGeom>
        </p:spPr>
      </p:pic>
      <p:pic>
        <p:nvPicPr>
          <p:cNvPr id="14" name="Grafik 13">
            <a:extLst>
              <a:ext uri="{FF2B5EF4-FFF2-40B4-BE49-F238E27FC236}">
                <a16:creationId xmlns:a16="http://schemas.microsoft.com/office/drawing/2014/main" id="{9161CE39-A2CA-EB3B-13F0-7E643EDFC0EB}"/>
              </a:ext>
            </a:extLst>
          </p:cNvPr>
          <p:cNvPicPr>
            <a:picLocks noChangeAspect="1"/>
          </p:cNvPicPr>
          <p:nvPr/>
        </p:nvPicPr>
        <p:blipFill>
          <a:blip r:embed="rId4">
            <a:duotone>
              <a:schemeClr val="accent1">
                <a:shade val="45000"/>
                <a:satMod val="135000"/>
              </a:schemeClr>
              <a:prstClr val="white"/>
            </a:duotone>
          </a:blip>
          <a:stretch>
            <a:fillRect/>
          </a:stretch>
        </p:blipFill>
        <p:spPr>
          <a:xfrm>
            <a:off x="426870" y="3349227"/>
            <a:ext cx="547254" cy="547254"/>
          </a:xfrm>
          <a:prstGeom prst="rect">
            <a:avLst/>
          </a:prstGeom>
        </p:spPr>
      </p:pic>
      <p:pic>
        <p:nvPicPr>
          <p:cNvPr id="16" name="Grafik 15">
            <a:extLst>
              <a:ext uri="{FF2B5EF4-FFF2-40B4-BE49-F238E27FC236}">
                <a16:creationId xmlns:a16="http://schemas.microsoft.com/office/drawing/2014/main" id="{CD8A79F6-BC42-E31B-F792-88B6AD0590DF}"/>
              </a:ext>
            </a:extLst>
          </p:cNvPr>
          <p:cNvPicPr>
            <a:picLocks noChangeAspect="1"/>
          </p:cNvPicPr>
          <p:nvPr/>
        </p:nvPicPr>
        <p:blipFill>
          <a:blip r:embed="rId5">
            <a:duotone>
              <a:schemeClr val="accent1">
                <a:shade val="45000"/>
                <a:satMod val="135000"/>
              </a:schemeClr>
              <a:prstClr val="white"/>
            </a:duotone>
          </a:blip>
          <a:stretch>
            <a:fillRect/>
          </a:stretch>
        </p:blipFill>
        <p:spPr>
          <a:xfrm>
            <a:off x="426870" y="2320849"/>
            <a:ext cx="547254" cy="547254"/>
          </a:xfrm>
          <a:prstGeom prst="rect">
            <a:avLst/>
          </a:prstGeom>
        </p:spPr>
      </p:pic>
      <p:sp>
        <p:nvSpPr>
          <p:cNvPr id="22" name="Inhaltsplatzhalter 2">
            <a:extLst>
              <a:ext uri="{FF2B5EF4-FFF2-40B4-BE49-F238E27FC236}">
                <a16:creationId xmlns:a16="http://schemas.microsoft.com/office/drawing/2014/main" id="{A08612A7-8CC3-A5D2-3EB3-1EAFE4F5B196}"/>
              </a:ext>
            </a:extLst>
          </p:cNvPr>
          <p:cNvSpPr txBox="1">
            <a:spLocks/>
          </p:cNvSpPr>
          <p:nvPr/>
        </p:nvSpPr>
        <p:spPr>
          <a:xfrm>
            <a:off x="1219106" y="3382608"/>
            <a:ext cx="5528795" cy="485898"/>
          </a:xfrm>
          <a:prstGeom prst="rect">
            <a:avLst/>
          </a:prstGeom>
        </p:spPr>
        <p:txBody>
          <a:bodyPr vert="horz" lIns="0" tIns="0" rIns="0" bIns="0" rtlCol="0" anchor="ctr">
            <a:noAutofit/>
          </a:bodyPr>
          <a:lstStyle>
            <a:lvl1pPr marL="171450" indent="-171450" algn="l" defTabSz="685800" rtl="0" eaLnBrk="1" latinLnBrk="0" hangingPunct="1">
              <a:lnSpc>
                <a:spcPct val="100000"/>
              </a:lnSpc>
              <a:spcBef>
                <a:spcPts val="750"/>
              </a:spcBef>
              <a:buClr>
                <a:srgbClr val="A32638"/>
              </a:buClr>
              <a:buFont typeface="Wingdings" pitchFamily="2" charset="2"/>
              <a:buChar char="§"/>
              <a:defRPr sz="1400" b="0" i="0" kern="1200" baseline="0">
                <a:solidFill>
                  <a:schemeClr val="tx1"/>
                </a:solidFill>
                <a:latin typeface="Arial" panose="020B0604020202020204" pitchFamily="34" charset="0"/>
                <a:ea typeface="+mn-ea"/>
                <a:cs typeface="Arial" panose="020B0604020202020204" pitchFamily="34" charset="0"/>
              </a:defRPr>
            </a:lvl1pPr>
            <a:lvl2pPr marL="514350" indent="-171450" algn="l" defTabSz="685800" rtl="0" eaLnBrk="1" latinLnBrk="0" hangingPunct="1">
              <a:lnSpc>
                <a:spcPct val="100000"/>
              </a:lnSpc>
              <a:spcBef>
                <a:spcPts val="375"/>
              </a:spcBef>
              <a:buFont typeface="Arial" panose="020B0604020202020204" pitchFamily="34" charset="0"/>
              <a:buChar char="•"/>
              <a:defRPr sz="1400" b="0" i="0" kern="1200" baseline="0">
                <a:solidFill>
                  <a:schemeClr val="tx1"/>
                </a:solidFill>
                <a:latin typeface="Arial" panose="020B0604020202020204" pitchFamily="34" charset="0"/>
                <a:ea typeface="+mn-ea"/>
                <a:cs typeface="Arial" panose="020B0604020202020204" pitchFamily="34" charset="0"/>
              </a:defRPr>
            </a:lvl2pPr>
            <a:lvl3pPr marL="857250" indent="-171450" algn="l" defTabSz="685800" rtl="0" eaLnBrk="1" latinLnBrk="0" hangingPunct="1">
              <a:lnSpc>
                <a:spcPct val="100000"/>
              </a:lnSpc>
              <a:spcBef>
                <a:spcPts val="375"/>
              </a:spcBef>
              <a:buFont typeface="Arial" panose="020B0604020202020204" pitchFamily="34" charset="0"/>
              <a:buChar char="•"/>
              <a:defRPr sz="1400" b="0" i="0" kern="1200" baseline="0">
                <a:solidFill>
                  <a:schemeClr val="tx1"/>
                </a:solidFill>
                <a:latin typeface="Arial" panose="020B0604020202020204" pitchFamily="34" charset="0"/>
                <a:ea typeface="+mn-ea"/>
                <a:cs typeface="Arial" panose="020B0604020202020204" pitchFamily="34" charset="0"/>
              </a:defRPr>
            </a:lvl3pPr>
            <a:lvl4pPr marL="1200150" indent="-171450" algn="l" defTabSz="685800" rtl="0" eaLnBrk="1" latinLnBrk="0" hangingPunct="1">
              <a:lnSpc>
                <a:spcPct val="100000"/>
              </a:lnSpc>
              <a:spcBef>
                <a:spcPts val="375"/>
              </a:spcBef>
              <a:buFont typeface="Arial" panose="020B0604020202020204" pitchFamily="34" charset="0"/>
              <a:buChar char="•"/>
              <a:defRPr sz="1400" b="0" i="0" kern="1200" baseline="0">
                <a:solidFill>
                  <a:schemeClr val="tx1"/>
                </a:solidFill>
                <a:latin typeface="Arial" panose="020B0604020202020204" pitchFamily="34" charset="0"/>
                <a:ea typeface="+mn-ea"/>
                <a:cs typeface="Arial" panose="020B0604020202020204" pitchFamily="34" charset="0"/>
              </a:defRPr>
            </a:lvl4pPr>
            <a:lvl5pPr marL="1543050" indent="-171450" algn="l" defTabSz="685800" rtl="0" eaLnBrk="1" latinLnBrk="0" hangingPunct="1">
              <a:lnSpc>
                <a:spcPct val="100000"/>
              </a:lnSpc>
              <a:spcBef>
                <a:spcPts val="375"/>
              </a:spcBef>
              <a:buFont typeface="Arial" panose="020B0604020202020204" pitchFamily="34" charset="0"/>
              <a:buChar char="•"/>
              <a:defRPr sz="1400" b="0" i="0" kern="1200" baseline="0">
                <a:solidFill>
                  <a:schemeClr val="tx1"/>
                </a:solidFill>
                <a:latin typeface="Arial" panose="020B0604020202020204" pitchFamily="34" charset="0"/>
                <a:ea typeface="+mn-ea"/>
                <a:cs typeface="Arial" panose="020B0604020202020204" pitchFamily="34"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buNone/>
            </a:pPr>
            <a:r>
              <a:rPr lang="de-DE" sz="1800" noProof="1">
                <a:latin typeface="+mn-lt"/>
                <a:cs typeface="Arial"/>
              </a:rPr>
              <a:t>Limited to data and model only</a:t>
            </a:r>
          </a:p>
        </p:txBody>
      </p:sp>
      <p:sp>
        <p:nvSpPr>
          <p:cNvPr id="23" name="Inhaltsplatzhalter 2">
            <a:extLst>
              <a:ext uri="{FF2B5EF4-FFF2-40B4-BE49-F238E27FC236}">
                <a16:creationId xmlns:a16="http://schemas.microsoft.com/office/drawing/2014/main" id="{53764F50-B2C1-9FA9-0DE6-B62CF182BA90}"/>
              </a:ext>
            </a:extLst>
          </p:cNvPr>
          <p:cNvSpPr txBox="1">
            <a:spLocks/>
          </p:cNvSpPr>
          <p:nvPr/>
        </p:nvSpPr>
        <p:spPr>
          <a:xfrm>
            <a:off x="1219106" y="1341826"/>
            <a:ext cx="4419694" cy="485898"/>
          </a:xfrm>
          <a:prstGeom prst="rect">
            <a:avLst/>
          </a:prstGeom>
        </p:spPr>
        <p:txBody>
          <a:bodyPr vert="horz" lIns="0" tIns="0" rIns="0" bIns="0" rtlCol="0" anchor="ctr">
            <a:noAutofit/>
          </a:bodyPr>
          <a:lstStyle>
            <a:lvl1pPr marL="171450" indent="-171450" algn="l" defTabSz="685800" rtl="0" eaLnBrk="1" latinLnBrk="0" hangingPunct="1">
              <a:lnSpc>
                <a:spcPct val="100000"/>
              </a:lnSpc>
              <a:spcBef>
                <a:spcPts val="750"/>
              </a:spcBef>
              <a:buClr>
                <a:srgbClr val="A32638"/>
              </a:buClr>
              <a:buFont typeface="Wingdings" pitchFamily="2" charset="2"/>
              <a:buChar char="§"/>
              <a:defRPr sz="1400" b="0" i="0" kern="1200" baseline="0">
                <a:solidFill>
                  <a:schemeClr val="tx1"/>
                </a:solidFill>
                <a:latin typeface="Arial" panose="020B0604020202020204" pitchFamily="34" charset="0"/>
                <a:ea typeface="+mn-ea"/>
                <a:cs typeface="Arial" panose="020B0604020202020204" pitchFamily="34" charset="0"/>
              </a:defRPr>
            </a:lvl1pPr>
            <a:lvl2pPr marL="514350" indent="-171450" algn="l" defTabSz="685800" rtl="0" eaLnBrk="1" latinLnBrk="0" hangingPunct="1">
              <a:lnSpc>
                <a:spcPct val="100000"/>
              </a:lnSpc>
              <a:spcBef>
                <a:spcPts val="375"/>
              </a:spcBef>
              <a:buFont typeface="Arial" panose="020B0604020202020204" pitchFamily="34" charset="0"/>
              <a:buChar char="•"/>
              <a:defRPr sz="1400" b="0" i="0" kern="1200" baseline="0">
                <a:solidFill>
                  <a:schemeClr val="tx1"/>
                </a:solidFill>
                <a:latin typeface="Arial" panose="020B0604020202020204" pitchFamily="34" charset="0"/>
                <a:ea typeface="+mn-ea"/>
                <a:cs typeface="Arial" panose="020B0604020202020204" pitchFamily="34" charset="0"/>
              </a:defRPr>
            </a:lvl2pPr>
            <a:lvl3pPr marL="857250" indent="-171450" algn="l" defTabSz="685800" rtl="0" eaLnBrk="1" latinLnBrk="0" hangingPunct="1">
              <a:lnSpc>
                <a:spcPct val="100000"/>
              </a:lnSpc>
              <a:spcBef>
                <a:spcPts val="375"/>
              </a:spcBef>
              <a:buFont typeface="Arial" panose="020B0604020202020204" pitchFamily="34" charset="0"/>
              <a:buChar char="•"/>
              <a:defRPr sz="1400" b="0" i="0" kern="1200" baseline="0">
                <a:solidFill>
                  <a:schemeClr val="tx1"/>
                </a:solidFill>
                <a:latin typeface="Arial" panose="020B0604020202020204" pitchFamily="34" charset="0"/>
                <a:ea typeface="+mn-ea"/>
                <a:cs typeface="Arial" panose="020B0604020202020204" pitchFamily="34" charset="0"/>
              </a:defRPr>
            </a:lvl3pPr>
            <a:lvl4pPr marL="1200150" indent="-171450" algn="l" defTabSz="685800" rtl="0" eaLnBrk="1" latinLnBrk="0" hangingPunct="1">
              <a:lnSpc>
                <a:spcPct val="100000"/>
              </a:lnSpc>
              <a:spcBef>
                <a:spcPts val="375"/>
              </a:spcBef>
              <a:buFont typeface="Arial" panose="020B0604020202020204" pitchFamily="34" charset="0"/>
              <a:buChar char="•"/>
              <a:defRPr sz="1400" b="0" i="0" kern="1200" baseline="0">
                <a:solidFill>
                  <a:schemeClr val="tx1"/>
                </a:solidFill>
                <a:latin typeface="Arial" panose="020B0604020202020204" pitchFamily="34" charset="0"/>
                <a:ea typeface="+mn-ea"/>
                <a:cs typeface="Arial" panose="020B0604020202020204" pitchFamily="34" charset="0"/>
              </a:defRPr>
            </a:lvl4pPr>
            <a:lvl5pPr marL="1543050" indent="-171450" algn="l" defTabSz="685800" rtl="0" eaLnBrk="1" latinLnBrk="0" hangingPunct="1">
              <a:lnSpc>
                <a:spcPct val="100000"/>
              </a:lnSpc>
              <a:spcBef>
                <a:spcPts val="375"/>
              </a:spcBef>
              <a:buFont typeface="Arial" panose="020B0604020202020204" pitchFamily="34" charset="0"/>
              <a:buChar char="•"/>
              <a:defRPr sz="1400" b="0" i="0" kern="1200" baseline="0">
                <a:solidFill>
                  <a:schemeClr val="tx1"/>
                </a:solidFill>
                <a:latin typeface="Arial" panose="020B0604020202020204" pitchFamily="34" charset="0"/>
                <a:ea typeface="+mn-ea"/>
                <a:cs typeface="Arial" panose="020B0604020202020204" pitchFamily="34"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buNone/>
            </a:pPr>
            <a:r>
              <a:rPr lang="de-DE" sz="1800" noProof="1">
                <a:latin typeface="+mn-lt"/>
              </a:rPr>
              <a:t>Non conversational explanations</a:t>
            </a:r>
            <a:endParaRPr lang="de-DE" sz="1800" noProof="1">
              <a:latin typeface="+mn-lt"/>
              <a:cs typeface="Arial"/>
            </a:endParaRPr>
          </a:p>
        </p:txBody>
      </p:sp>
      <p:sp>
        <p:nvSpPr>
          <p:cNvPr id="24" name="Textfeld 23">
            <a:extLst>
              <a:ext uri="{FF2B5EF4-FFF2-40B4-BE49-F238E27FC236}">
                <a16:creationId xmlns:a16="http://schemas.microsoft.com/office/drawing/2014/main" id="{ACAEF00B-F495-0DA2-2E41-868105126A17}"/>
              </a:ext>
            </a:extLst>
          </p:cNvPr>
          <p:cNvSpPr txBox="1"/>
          <p:nvPr/>
        </p:nvSpPr>
        <p:spPr>
          <a:xfrm>
            <a:off x="1134501" y="2408475"/>
            <a:ext cx="5613400" cy="369332"/>
          </a:xfrm>
          <a:prstGeom prst="rect">
            <a:avLst/>
          </a:prstGeom>
          <a:noFill/>
        </p:spPr>
        <p:txBody>
          <a:bodyPr wrap="square">
            <a:spAutoFit/>
          </a:bodyPr>
          <a:lstStyle/>
          <a:p>
            <a:pPr marL="0" indent="0">
              <a:buNone/>
            </a:pPr>
            <a:r>
              <a:rPr lang="de-DE" sz="1800" noProof="1">
                <a:cs typeface="Arial"/>
              </a:rPr>
              <a:t>Main focus on expert users</a:t>
            </a:r>
          </a:p>
        </p:txBody>
      </p:sp>
      <p:sp>
        <p:nvSpPr>
          <p:cNvPr id="3" name="Textfeld 2">
            <a:extLst>
              <a:ext uri="{FF2B5EF4-FFF2-40B4-BE49-F238E27FC236}">
                <a16:creationId xmlns:a16="http://schemas.microsoft.com/office/drawing/2014/main" id="{3FF54EBC-A01A-76FA-C46B-8E7CFA4D101B}"/>
              </a:ext>
            </a:extLst>
          </p:cNvPr>
          <p:cNvSpPr txBox="1"/>
          <p:nvPr/>
        </p:nvSpPr>
        <p:spPr>
          <a:xfrm>
            <a:off x="7851895" y="134610"/>
            <a:ext cx="1200650" cy="276999"/>
          </a:xfrm>
          <a:prstGeom prst="rect">
            <a:avLst/>
          </a:prstGeom>
          <a:noFill/>
        </p:spPr>
        <p:txBody>
          <a:bodyPr wrap="none" rtlCol="0">
            <a:spAutoFit/>
          </a:bodyPr>
          <a:lstStyle/>
          <a:p>
            <a:r>
              <a:rPr lang="de-DE" sz="1200" dirty="0"/>
              <a:t>XAI Foundations</a:t>
            </a:r>
            <a:endParaRPr lang="en-US" sz="1200" dirty="0"/>
          </a:p>
        </p:txBody>
      </p:sp>
      <p:sp>
        <p:nvSpPr>
          <p:cNvPr id="7" name="Rechteck 6" descr="Lichter an mit einfarbiger Füllung">
            <a:extLst>
              <a:ext uri="{FF2B5EF4-FFF2-40B4-BE49-F238E27FC236}">
                <a16:creationId xmlns:a16="http://schemas.microsoft.com/office/drawing/2014/main" id="{5D852330-0713-D601-926D-21271B829A36}"/>
              </a:ext>
            </a:extLst>
          </p:cNvPr>
          <p:cNvSpPr/>
          <p:nvPr/>
        </p:nvSpPr>
        <p:spPr>
          <a:xfrm>
            <a:off x="8804352" y="664349"/>
            <a:ext cx="277969" cy="277969"/>
          </a:xfrm>
          <a:prstGeom prst="rect">
            <a:avLst/>
          </a:prstGeom>
          <a:blipFill>
            <a:blip r:embed="rId6">
              <a:extLst>
                <a:ext uri="{96DAC541-7B7A-43D3-8B79-37D633B846F1}">
                  <asvg:svgBlip xmlns:asvg="http://schemas.microsoft.com/office/drawing/2016/SVG/main" r:embed="rId7"/>
                </a:ext>
              </a:extLst>
            </a:blip>
            <a:srcRect/>
            <a:stretch>
              <a:fillRect/>
            </a:stretch>
          </a:blipFill>
          <a:ln>
            <a:noFill/>
          </a:ln>
        </p:spPr>
        <p:style>
          <a:lnRef idx="2">
            <a:scrgbClr r="0" g="0" b="0"/>
          </a:lnRef>
          <a:fillRef idx="1">
            <a:scrgbClr r="0" g="0" b="0"/>
          </a:fillRef>
          <a:effectRef idx="0">
            <a:schemeClr val="accent2">
              <a:hueOff val="0"/>
              <a:satOff val="0"/>
              <a:lumOff val="0"/>
              <a:alphaOff val="0"/>
            </a:schemeClr>
          </a:effectRef>
          <a:fontRef idx="minor">
            <a:schemeClr val="lt1"/>
          </a:fontRef>
        </p:style>
        <p:txBody>
          <a:bodyPr/>
          <a:lstStyle/>
          <a:p>
            <a:endParaRPr lang="en-US"/>
          </a:p>
        </p:txBody>
      </p:sp>
      <p:sp>
        <p:nvSpPr>
          <p:cNvPr id="9" name="Rechteck 8" descr="Geschlossenes Buch mit einfarbiger Füllung">
            <a:extLst>
              <a:ext uri="{FF2B5EF4-FFF2-40B4-BE49-F238E27FC236}">
                <a16:creationId xmlns:a16="http://schemas.microsoft.com/office/drawing/2014/main" id="{7E09B43A-85AF-4AD9-CA22-3506A1A38357}"/>
              </a:ext>
            </a:extLst>
          </p:cNvPr>
          <p:cNvSpPr/>
          <p:nvPr/>
        </p:nvSpPr>
        <p:spPr>
          <a:xfrm>
            <a:off x="8804352" y="1043547"/>
            <a:ext cx="277969" cy="277969"/>
          </a:xfrm>
          <a:prstGeom prst="rect">
            <a:avLst/>
          </a:prstGeom>
          <a:blipFill>
            <a:blip r:embed="rId8">
              <a:extLst>
                <a:ext uri="{96DAC541-7B7A-43D3-8B79-37D633B846F1}">
                  <asvg:svgBlip xmlns:asvg="http://schemas.microsoft.com/office/drawing/2016/SVG/main" r:embed="rId9"/>
                </a:ext>
              </a:extLst>
            </a:blip>
            <a:srcRect/>
            <a:stretch>
              <a:fillRect/>
            </a:stretch>
          </a:blipFill>
          <a:ln>
            <a:noFill/>
          </a:ln>
        </p:spPr>
        <p:style>
          <a:lnRef idx="2">
            <a:scrgbClr r="0" g="0" b="0"/>
          </a:lnRef>
          <a:fillRef idx="1">
            <a:scrgbClr r="0" g="0" b="0"/>
          </a:fillRef>
          <a:effectRef idx="0">
            <a:schemeClr val="accent3">
              <a:hueOff val="0"/>
              <a:satOff val="0"/>
              <a:lumOff val="0"/>
              <a:alphaOff val="0"/>
            </a:schemeClr>
          </a:effectRef>
          <a:fontRef idx="minor">
            <a:schemeClr val="lt1"/>
          </a:fontRef>
        </p:style>
        <p:txBody>
          <a:bodyPr/>
          <a:lstStyle/>
          <a:p>
            <a:endParaRPr lang="en-US"/>
          </a:p>
        </p:txBody>
      </p:sp>
      <p:sp>
        <p:nvSpPr>
          <p:cNvPr id="10" name="Rechteck 9" descr="Netzwerk">
            <a:extLst>
              <a:ext uri="{FF2B5EF4-FFF2-40B4-BE49-F238E27FC236}">
                <a16:creationId xmlns:a16="http://schemas.microsoft.com/office/drawing/2014/main" id="{91BA18E3-4586-C690-551C-35A32362CBE4}"/>
              </a:ext>
            </a:extLst>
          </p:cNvPr>
          <p:cNvSpPr/>
          <p:nvPr/>
        </p:nvSpPr>
        <p:spPr>
          <a:xfrm>
            <a:off x="8804352" y="1379208"/>
            <a:ext cx="277969" cy="277969"/>
          </a:xfrm>
          <a:prstGeom prst="rect">
            <a:avLst/>
          </a:prstGeom>
          <a: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a:blipFill>
          <a:ln>
            <a:noFill/>
          </a:ln>
        </p:spPr>
        <p:style>
          <a:lnRef idx="2">
            <a:scrgbClr r="0" g="0" b="0"/>
          </a:lnRef>
          <a:fillRef idx="1">
            <a:scrgbClr r="0" g="0" b="0"/>
          </a:fillRef>
          <a:effectRef idx="0">
            <a:schemeClr val="accent4">
              <a:hueOff val="0"/>
              <a:satOff val="0"/>
              <a:lumOff val="0"/>
              <a:alphaOff val="0"/>
            </a:schemeClr>
          </a:effectRef>
          <a:fontRef idx="minor">
            <a:schemeClr val="lt1"/>
          </a:fontRef>
        </p:style>
        <p:txBody>
          <a:bodyPr/>
          <a:lstStyle/>
          <a:p>
            <a:endParaRPr lang="en-US"/>
          </a:p>
        </p:txBody>
      </p:sp>
      <p:sp>
        <p:nvSpPr>
          <p:cNvPr id="11" name="Rechteck 10" descr="Kreise mit Pfeilen mit einfarbiger Füllung">
            <a:extLst>
              <a:ext uri="{FF2B5EF4-FFF2-40B4-BE49-F238E27FC236}">
                <a16:creationId xmlns:a16="http://schemas.microsoft.com/office/drawing/2014/main" id="{8E135128-5E0E-91A0-C419-D4F62DA4C244}"/>
              </a:ext>
            </a:extLst>
          </p:cNvPr>
          <p:cNvSpPr/>
          <p:nvPr/>
        </p:nvSpPr>
        <p:spPr>
          <a:xfrm>
            <a:off x="8804352" y="1688740"/>
            <a:ext cx="277969" cy="277969"/>
          </a:xfrm>
          <a:prstGeom prst="rect">
            <a:avLst/>
          </a:prstGeom>
          <a:blipFill>
            <a:blip r:embed="rId12">
              <a:extLst>
                <a:ext uri="{96DAC541-7B7A-43D3-8B79-37D633B846F1}">
                  <asvg:svgBlip xmlns:asvg="http://schemas.microsoft.com/office/drawing/2016/SVG/main" r:embed="rId13"/>
                </a:ext>
              </a:extLst>
            </a:blip>
            <a:srcRect/>
            <a:stretch>
              <a:fillRect/>
            </a:stretch>
          </a:blipFill>
          <a:ln>
            <a:noFill/>
          </a:ln>
        </p:spPr>
        <p:style>
          <a:lnRef idx="2">
            <a:scrgbClr r="0" g="0" b="0"/>
          </a:lnRef>
          <a:fillRef idx="1">
            <a:scrgbClr r="0" g="0" b="0"/>
          </a:fillRef>
          <a:effectRef idx="0">
            <a:schemeClr val="accent5">
              <a:hueOff val="0"/>
              <a:satOff val="0"/>
              <a:lumOff val="0"/>
              <a:alphaOff val="0"/>
            </a:schemeClr>
          </a:effectRef>
          <a:fontRef idx="minor">
            <a:schemeClr val="lt1"/>
          </a:fontRef>
        </p:style>
        <p:txBody>
          <a:bodyPr/>
          <a:lstStyle/>
          <a:p>
            <a:endParaRPr lang="en-US"/>
          </a:p>
        </p:txBody>
      </p:sp>
      <p:sp>
        <p:nvSpPr>
          <p:cNvPr id="13" name="Rechteck 12" descr="Prüfliste">
            <a:extLst>
              <a:ext uri="{FF2B5EF4-FFF2-40B4-BE49-F238E27FC236}">
                <a16:creationId xmlns:a16="http://schemas.microsoft.com/office/drawing/2014/main" id="{35330A0A-5D38-FEA3-DDCA-3173456533DF}"/>
              </a:ext>
            </a:extLst>
          </p:cNvPr>
          <p:cNvSpPr/>
          <p:nvPr/>
        </p:nvSpPr>
        <p:spPr>
          <a:xfrm>
            <a:off x="8804352" y="2006980"/>
            <a:ext cx="277969" cy="277969"/>
          </a:xfrm>
          <a:prstGeom prst="rect">
            <a:avLst/>
          </a:prstGeom>
          <a: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a:blipFill>
          <a:ln>
            <a:noFill/>
          </a:ln>
        </p:spPr>
        <p:style>
          <a:lnRef idx="2">
            <a:scrgbClr r="0" g="0" b="0"/>
          </a:lnRef>
          <a:fillRef idx="1">
            <a:scrgbClr r="0" g="0" b="0"/>
          </a:fillRef>
          <a:effectRef idx="0">
            <a:schemeClr val="accent6">
              <a:hueOff val="0"/>
              <a:satOff val="0"/>
              <a:lumOff val="0"/>
              <a:alphaOff val="0"/>
            </a:schemeClr>
          </a:effectRef>
          <a:fontRef idx="minor">
            <a:schemeClr val="lt1"/>
          </a:fontRef>
        </p:style>
        <p:txBody>
          <a:bodyPr/>
          <a:lstStyle/>
          <a:p>
            <a:endParaRPr lang="en-US"/>
          </a:p>
        </p:txBody>
      </p:sp>
      <p:sp>
        <p:nvSpPr>
          <p:cNvPr id="15" name="Rechteck 14" descr="Auktionshammer">
            <a:extLst>
              <a:ext uri="{FF2B5EF4-FFF2-40B4-BE49-F238E27FC236}">
                <a16:creationId xmlns:a16="http://schemas.microsoft.com/office/drawing/2014/main" id="{58862E7F-A413-8A57-074E-7F880C6C07CF}"/>
              </a:ext>
            </a:extLst>
          </p:cNvPr>
          <p:cNvSpPr/>
          <p:nvPr/>
        </p:nvSpPr>
        <p:spPr>
          <a:xfrm>
            <a:off x="8804352" y="2316507"/>
            <a:ext cx="277969" cy="277969"/>
          </a:xfrm>
          <a:prstGeom prst="rect">
            <a:avLst/>
          </a:prstGeom>
          <a: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a:blipFill>
          <a:ln>
            <a:noFill/>
          </a:ln>
        </p:spPr>
        <p:style>
          <a:lnRef idx="2">
            <a:scrgbClr r="0" g="0" b="0"/>
          </a:lnRef>
          <a:fillRef idx="1">
            <a:scrgbClr r="0" g="0" b="0"/>
          </a:fillRef>
          <a:effectRef idx="0">
            <a:schemeClr val="accent2">
              <a:hueOff val="0"/>
              <a:satOff val="0"/>
              <a:lumOff val="0"/>
              <a:alphaOff val="0"/>
            </a:schemeClr>
          </a:effectRef>
          <a:fontRef idx="minor">
            <a:schemeClr val="lt1"/>
          </a:fontRef>
        </p:style>
        <p:txBody>
          <a:bodyPr/>
          <a:lstStyle/>
          <a:p>
            <a:endParaRPr lang="en-US"/>
          </a:p>
        </p:txBody>
      </p:sp>
      <p:sp>
        <p:nvSpPr>
          <p:cNvPr id="17" name="Rechteck 16" descr="Geschlossenes Buch mit einfarbiger Füllung">
            <a:extLst>
              <a:ext uri="{FF2B5EF4-FFF2-40B4-BE49-F238E27FC236}">
                <a16:creationId xmlns:a16="http://schemas.microsoft.com/office/drawing/2014/main" id="{8BF72055-8023-A4CA-BABB-51D81DB84D6A}"/>
              </a:ext>
            </a:extLst>
          </p:cNvPr>
          <p:cNvSpPr/>
          <p:nvPr/>
        </p:nvSpPr>
        <p:spPr>
          <a:xfrm>
            <a:off x="7600498" y="133640"/>
            <a:ext cx="277969" cy="277969"/>
          </a:xfrm>
          <a:prstGeom prst="rect">
            <a:avLst/>
          </a:prstGeom>
          <a:blipFill>
            <a:blip r:embed="rId8">
              <a:extLst>
                <a:ext uri="{96DAC541-7B7A-43D3-8B79-37D633B846F1}">
                  <asvg:svgBlip xmlns:asvg="http://schemas.microsoft.com/office/drawing/2016/SVG/main" r:embed="rId9"/>
                </a:ext>
              </a:extLst>
            </a:blip>
            <a:srcRect/>
            <a:stretch>
              <a:fillRect/>
            </a:stretch>
          </a:blipFill>
          <a:ln>
            <a:noFill/>
          </a:ln>
        </p:spPr>
        <p:style>
          <a:lnRef idx="2">
            <a:scrgbClr r="0" g="0" b="0"/>
          </a:lnRef>
          <a:fillRef idx="1">
            <a:scrgbClr r="0" g="0" b="0"/>
          </a:fillRef>
          <a:effectRef idx="0">
            <a:schemeClr val="accent3">
              <a:hueOff val="0"/>
              <a:satOff val="0"/>
              <a:lumOff val="0"/>
              <a:alphaOff val="0"/>
            </a:schemeClr>
          </a:effectRef>
          <a:fontRef idx="minor">
            <a:schemeClr val="lt1"/>
          </a:fontRef>
        </p:style>
        <p:txBody>
          <a:bodyPr/>
          <a:lstStyle/>
          <a:p>
            <a:endParaRPr lang="en-US"/>
          </a:p>
        </p:txBody>
      </p:sp>
    </p:spTree>
    <p:extLst>
      <p:ext uri="{BB962C8B-B14F-4D97-AF65-F5344CB8AC3E}">
        <p14:creationId xmlns:p14="http://schemas.microsoft.com/office/powerpoint/2010/main" val="1352810597"/>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500" fill="hold"/>
                                        <p:tgtEl>
                                          <p:spTgt spid="12"/>
                                        </p:tgtEl>
                                        <p:attrNameLst>
                                          <p:attrName>ppt_x</p:attrName>
                                        </p:attrNameLst>
                                      </p:cBhvr>
                                      <p:tavLst>
                                        <p:tav tm="0">
                                          <p:val>
                                            <p:strVal val="#ppt_x"/>
                                          </p:val>
                                        </p:tav>
                                        <p:tav tm="100000">
                                          <p:val>
                                            <p:strVal val="#ppt_x"/>
                                          </p:val>
                                        </p:tav>
                                      </p:tavLst>
                                    </p:anim>
                                    <p:anim calcmode="lin" valueType="num">
                                      <p:cBhvr additive="base">
                                        <p:cTn id="8" dur="500" fill="hold"/>
                                        <p:tgtEl>
                                          <p:spTgt spid="12"/>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23">
                                            <p:txEl>
                                              <p:pRg st="0" end="0"/>
                                            </p:txEl>
                                          </p:spTgt>
                                        </p:tgtEl>
                                        <p:attrNameLst>
                                          <p:attrName>style.visibility</p:attrName>
                                        </p:attrNameLst>
                                      </p:cBhvr>
                                      <p:to>
                                        <p:strVal val="visible"/>
                                      </p:to>
                                    </p:set>
                                    <p:anim calcmode="lin" valueType="num">
                                      <p:cBhvr additive="base">
                                        <p:cTn id="11" dur="500" fill="hold"/>
                                        <p:tgtEl>
                                          <p:spTgt spid="23">
                                            <p:txEl>
                                              <p:pRg st="0" end="0"/>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2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16"/>
                                        </p:tgtEl>
                                        <p:attrNameLst>
                                          <p:attrName>style.visibility</p:attrName>
                                        </p:attrNameLst>
                                      </p:cBhvr>
                                      <p:to>
                                        <p:strVal val="visible"/>
                                      </p:to>
                                    </p:set>
                                    <p:anim calcmode="lin" valueType="num">
                                      <p:cBhvr additive="base">
                                        <p:cTn id="17" dur="500" fill="hold"/>
                                        <p:tgtEl>
                                          <p:spTgt spid="16"/>
                                        </p:tgtEl>
                                        <p:attrNameLst>
                                          <p:attrName>ppt_x</p:attrName>
                                        </p:attrNameLst>
                                      </p:cBhvr>
                                      <p:tavLst>
                                        <p:tav tm="0">
                                          <p:val>
                                            <p:strVal val="#ppt_x"/>
                                          </p:val>
                                        </p:tav>
                                        <p:tav tm="100000">
                                          <p:val>
                                            <p:strVal val="#ppt_x"/>
                                          </p:val>
                                        </p:tav>
                                      </p:tavLst>
                                    </p:anim>
                                    <p:anim calcmode="lin" valueType="num">
                                      <p:cBhvr additive="base">
                                        <p:cTn id="18" dur="500" fill="hold"/>
                                        <p:tgtEl>
                                          <p:spTgt spid="16"/>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24"/>
                                        </p:tgtEl>
                                        <p:attrNameLst>
                                          <p:attrName>style.visibility</p:attrName>
                                        </p:attrNameLst>
                                      </p:cBhvr>
                                      <p:to>
                                        <p:strVal val="visible"/>
                                      </p:to>
                                    </p:set>
                                    <p:anim calcmode="lin" valueType="num">
                                      <p:cBhvr additive="base">
                                        <p:cTn id="21" dur="500" fill="hold"/>
                                        <p:tgtEl>
                                          <p:spTgt spid="24"/>
                                        </p:tgtEl>
                                        <p:attrNameLst>
                                          <p:attrName>ppt_x</p:attrName>
                                        </p:attrNameLst>
                                      </p:cBhvr>
                                      <p:tavLst>
                                        <p:tav tm="0">
                                          <p:val>
                                            <p:strVal val="#ppt_x"/>
                                          </p:val>
                                        </p:tav>
                                        <p:tav tm="100000">
                                          <p:val>
                                            <p:strVal val="#ppt_x"/>
                                          </p:val>
                                        </p:tav>
                                      </p:tavLst>
                                    </p:anim>
                                    <p:anim calcmode="lin" valueType="num">
                                      <p:cBhvr additive="base">
                                        <p:cTn id="22" dur="500" fill="hold"/>
                                        <p:tgtEl>
                                          <p:spTgt spid="24"/>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14"/>
                                        </p:tgtEl>
                                        <p:attrNameLst>
                                          <p:attrName>style.visibility</p:attrName>
                                        </p:attrNameLst>
                                      </p:cBhvr>
                                      <p:to>
                                        <p:strVal val="visible"/>
                                      </p:to>
                                    </p:set>
                                    <p:anim calcmode="lin" valueType="num">
                                      <p:cBhvr additive="base">
                                        <p:cTn id="27" dur="500" fill="hold"/>
                                        <p:tgtEl>
                                          <p:spTgt spid="14"/>
                                        </p:tgtEl>
                                        <p:attrNameLst>
                                          <p:attrName>ppt_x</p:attrName>
                                        </p:attrNameLst>
                                      </p:cBhvr>
                                      <p:tavLst>
                                        <p:tav tm="0">
                                          <p:val>
                                            <p:strVal val="#ppt_x"/>
                                          </p:val>
                                        </p:tav>
                                        <p:tav tm="100000">
                                          <p:val>
                                            <p:strVal val="#ppt_x"/>
                                          </p:val>
                                        </p:tav>
                                      </p:tavLst>
                                    </p:anim>
                                    <p:anim calcmode="lin" valueType="num">
                                      <p:cBhvr additive="base">
                                        <p:cTn id="28" dur="500" fill="hold"/>
                                        <p:tgtEl>
                                          <p:spTgt spid="14"/>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22">
                                            <p:txEl>
                                              <p:pRg st="0" end="0"/>
                                            </p:txEl>
                                          </p:spTgt>
                                        </p:tgtEl>
                                        <p:attrNameLst>
                                          <p:attrName>style.visibility</p:attrName>
                                        </p:attrNameLst>
                                      </p:cBhvr>
                                      <p:to>
                                        <p:strVal val="visible"/>
                                      </p:to>
                                    </p:set>
                                    <p:anim calcmode="lin" valueType="num">
                                      <p:cBhvr additive="base">
                                        <p:cTn id="31" dur="500" fill="hold"/>
                                        <p:tgtEl>
                                          <p:spTgt spid="22">
                                            <p:txEl>
                                              <p:pRg st="0" end="0"/>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22">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build="p"/>
      <p:bldP spid="23" grpId="0" build="p"/>
      <p:bldP spid="24"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18EE2E-0EBB-5241-69BA-B3F990D48DD4}"/>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5A9C0641-B541-451F-9F6B-3D87A29EA1FB}"/>
              </a:ext>
            </a:extLst>
          </p:cNvPr>
          <p:cNvSpPr>
            <a:spLocks noGrp="1"/>
          </p:cNvSpPr>
          <p:nvPr>
            <p:ph type="ctrTitle"/>
          </p:nvPr>
        </p:nvSpPr>
        <p:spPr/>
        <p:txBody>
          <a:bodyPr/>
          <a:lstStyle/>
          <a:p>
            <a:pPr marL="0" indent="0">
              <a:buNone/>
            </a:pPr>
            <a:r>
              <a:rPr lang="de-DE" sz="2000" noProof="1"/>
              <a:t>Limitations of XAI</a:t>
            </a:r>
          </a:p>
        </p:txBody>
      </p:sp>
      <p:sp>
        <p:nvSpPr>
          <p:cNvPr id="8" name="Vertikaler Textplatzhalter 7">
            <a:extLst>
              <a:ext uri="{FF2B5EF4-FFF2-40B4-BE49-F238E27FC236}">
                <a16:creationId xmlns:a16="http://schemas.microsoft.com/office/drawing/2014/main" id="{D539B6E0-BCBF-7D7F-E975-123E8A0F52CB}"/>
              </a:ext>
            </a:extLst>
          </p:cNvPr>
          <p:cNvSpPr>
            <a:spLocks noGrp="1"/>
          </p:cNvSpPr>
          <p:nvPr>
            <p:ph type="body" orient="vert" sz="quarter" idx="18"/>
          </p:nvPr>
        </p:nvSpPr>
        <p:spPr/>
        <p:txBody>
          <a:bodyPr/>
          <a:lstStyle/>
          <a:p>
            <a:endParaRPr lang="de-DE" noProof="1"/>
          </a:p>
        </p:txBody>
      </p:sp>
      <p:sp>
        <p:nvSpPr>
          <p:cNvPr id="4" name="Datumsplatzhalter 3">
            <a:extLst>
              <a:ext uri="{FF2B5EF4-FFF2-40B4-BE49-F238E27FC236}">
                <a16:creationId xmlns:a16="http://schemas.microsoft.com/office/drawing/2014/main" id="{81134D75-4BC6-7473-6B56-41A920C9EF22}"/>
              </a:ext>
            </a:extLst>
          </p:cNvPr>
          <p:cNvSpPr>
            <a:spLocks noGrp="1"/>
          </p:cNvSpPr>
          <p:nvPr>
            <p:ph type="dt" sz="half" idx="10"/>
          </p:nvPr>
        </p:nvSpPr>
        <p:spPr/>
        <p:txBody>
          <a:bodyPr/>
          <a:lstStyle/>
          <a:p>
            <a:r>
              <a:rPr lang="en-US" noProof="1"/>
              <a:t>18.08.2025</a:t>
            </a:r>
            <a:endParaRPr lang="de-DE" noProof="1"/>
          </a:p>
        </p:txBody>
      </p:sp>
      <p:sp>
        <p:nvSpPr>
          <p:cNvPr id="5" name="Fußzeilenplatzhalter 4">
            <a:extLst>
              <a:ext uri="{FF2B5EF4-FFF2-40B4-BE49-F238E27FC236}">
                <a16:creationId xmlns:a16="http://schemas.microsoft.com/office/drawing/2014/main" id="{9C29CABF-01E8-10E7-1001-6CB5A49AA9D8}"/>
              </a:ext>
            </a:extLst>
          </p:cNvPr>
          <p:cNvSpPr>
            <a:spLocks noGrp="1"/>
          </p:cNvSpPr>
          <p:nvPr>
            <p:ph type="ftr" sz="quarter" idx="11"/>
          </p:nvPr>
        </p:nvSpPr>
        <p:spPr/>
        <p:txBody>
          <a:bodyPr/>
          <a:lstStyle/>
          <a:p>
            <a:r>
              <a:rPr lang="en-US" noProof="1"/>
              <a:t>Enhancing model transparency: Effects of DK Integration for Conversational XAI | Feustel</a:t>
            </a:r>
            <a:endParaRPr lang="de-DE" noProof="1"/>
          </a:p>
        </p:txBody>
      </p:sp>
      <p:sp>
        <p:nvSpPr>
          <p:cNvPr id="6" name="Foliennummernplatzhalter 5">
            <a:extLst>
              <a:ext uri="{FF2B5EF4-FFF2-40B4-BE49-F238E27FC236}">
                <a16:creationId xmlns:a16="http://schemas.microsoft.com/office/drawing/2014/main" id="{C6FF1EE4-EE8B-5571-F799-BC8E4BB09E2E}"/>
              </a:ext>
            </a:extLst>
          </p:cNvPr>
          <p:cNvSpPr>
            <a:spLocks noGrp="1"/>
          </p:cNvSpPr>
          <p:nvPr>
            <p:ph type="sldNum" sz="quarter" idx="12"/>
          </p:nvPr>
        </p:nvSpPr>
        <p:spPr/>
        <p:txBody>
          <a:bodyPr/>
          <a:lstStyle/>
          <a:p>
            <a:r>
              <a:rPr lang="de-DE" noProof="1"/>
              <a:t> </a:t>
            </a:r>
            <a:fld id="{FE120BDC-5456-EC41-8BB6-7A3B726EA19B}" type="slidenum">
              <a:rPr lang="de-DE" noProof="1" smtClean="0"/>
              <a:pPr/>
              <a:t>11</a:t>
            </a:fld>
            <a:endParaRPr lang="de-DE" noProof="1"/>
          </a:p>
        </p:txBody>
      </p:sp>
      <p:pic>
        <p:nvPicPr>
          <p:cNvPr id="12" name="Grafik 11">
            <a:extLst>
              <a:ext uri="{FF2B5EF4-FFF2-40B4-BE49-F238E27FC236}">
                <a16:creationId xmlns:a16="http://schemas.microsoft.com/office/drawing/2014/main" id="{D080D918-201F-5F0A-9374-60DD977D199B}"/>
              </a:ext>
            </a:extLst>
          </p:cNvPr>
          <p:cNvPicPr>
            <a:picLocks noChangeAspect="1"/>
          </p:cNvPicPr>
          <p:nvPr/>
        </p:nvPicPr>
        <p:blipFill>
          <a:blip r:embed="rId3">
            <a:duotone>
              <a:schemeClr val="accent1">
                <a:shade val="45000"/>
                <a:satMod val="135000"/>
              </a:schemeClr>
              <a:prstClr val="white"/>
            </a:duotone>
          </a:blip>
          <a:stretch>
            <a:fillRect/>
          </a:stretch>
        </p:blipFill>
        <p:spPr>
          <a:xfrm>
            <a:off x="2696351" y="175537"/>
            <a:ext cx="445943" cy="445943"/>
          </a:xfrm>
          <a:prstGeom prst="rect">
            <a:avLst/>
          </a:prstGeom>
        </p:spPr>
      </p:pic>
      <p:pic>
        <p:nvPicPr>
          <p:cNvPr id="14" name="Grafik 13">
            <a:extLst>
              <a:ext uri="{FF2B5EF4-FFF2-40B4-BE49-F238E27FC236}">
                <a16:creationId xmlns:a16="http://schemas.microsoft.com/office/drawing/2014/main" id="{AD4E622A-575C-4FAE-5977-129F8C3CBAD8}"/>
              </a:ext>
            </a:extLst>
          </p:cNvPr>
          <p:cNvPicPr>
            <a:picLocks noChangeAspect="1"/>
          </p:cNvPicPr>
          <p:nvPr/>
        </p:nvPicPr>
        <p:blipFill>
          <a:blip r:embed="rId4">
            <a:duotone>
              <a:schemeClr val="accent1">
                <a:shade val="45000"/>
                <a:satMod val="135000"/>
              </a:schemeClr>
              <a:prstClr val="white"/>
            </a:duotone>
          </a:blip>
          <a:stretch>
            <a:fillRect/>
          </a:stretch>
        </p:blipFill>
        <p:spPr>
          <a:xfrm>
            <a:off x="426870" y="1015183"/>
            <a:ext cx="827478" cy="827478"/>
          </a:xfrm>
          <a:prstGeom prst="rect">
            <a:avLst/>
          </a:prstGeom>
        </p:spPr>
      </p:pic>
      <p:pic>
        <p:nvPicPr>
          <p:cNvPr id="16" name="Grafik 15">
            <a:extLst>
              <a:ext uri="{FF2B5EF4-FFF2-40B4-BE49-F238E27FC236}">
                <a16:creationId xmlns:a16="http://schemas.microsoft.com/office/drawing/2014/main" id="{7BC8720D-D9EA-B7F7-E4BB-2EE723AFC22B}"/>
              </a:ext>
            </a:extLst>
          </p:cNvPr>
          <p:cNvPicPr>
            <a:picLocks noChangeAspect="1"/>
          </p:cNvPicPr>
          <p:nvPr/>
        </p:nvPicPr>
        <p:blipFill>
          <a:blip r:embed="rId5">
            <a:duotone>
              <a:schemeClr val="accent1">
                <a:shade val="45000"/>
                <a:satMod val="135000"/>
              </a:schemeClr>
              <a:prstClr val="white"/>
            </a:duotone>
          </a:blip>
          <a:stretch>
            <a:fillRect/>
          </a:stretch>
        </p:blipFill>
        <p:spPr>
          <a:xfrm>
            <a:off x="3393691" y="175537"/>
            <a:ext cx="445943" cy="445943"/>
          </a:xfrm>
          <a:prstGeom prst="rect">
            <a:avLst/>
          </a:prstGeom>
        </p:spPr>
      </p:pic>
      <p:sp>
        <p:nvSpPr>
          <p:cNvPr id="22" name="Inhaltsplatzhalter 2">
            <a:extLst>
              <a:ext uri="{FF2B5EF4-FFF2-40B4-BE49-F238E27FC236}">
                <a16:creationId xmlns:a16="http://schemas.microsoft.com/office/drawing/2014/main" id="{1CEC668F-7E9A-FF75-7623-0F996398B88F}"/>
              </a:ext>
            </a:extLst>
          </p:cNvPr>
          <p:cNvSpPr txBox="1">
            <a:spLocks/>
          </p:cNvSpPr>
          <p:nvPr/>
        </p:nvSpPr>
        <p:spPr>
          <a:xfrm>
            <a:off x="1468952" y="1185973"/>
            <a:ext cx="5528795" cy="485898"/>
          </a:xfrm>
          <a:prstGeom prst="rect">
            <a:avLst/>
          </a:prstGeom>
        </p:spPr>
        <p:txBody>
          <a:bodyPr vert="horz" lIns="0" tIns="0" rIns="0" bIns="0" rtlCol="0" anchor="ctr">
            <a:noAutofit/>
          </a:bodyPr>
          <a:lstStyle>
            <a:lvl1pPr marL="171450" indent="-171450" algn="l" defTabSz="685800" rtl="0" eaLnBrk="1" latinLnBrk="0" hangingPunct="1">
              <a:lnSpc>
                <a:spcPct val="100000"/>
              </a:lnSpc>
              <a:spcBef>
                <a:spcPts val="750"/>
              </a:spcBef>
              <a:buClr>
                <a:srgbClr val="A32638"/>
              </a:buClr>
              <a:buFont typeface="Wingdings" pitchFamily="2" charset="2"/>
              <a:buChar char="§"/>
              <a:defRPr sz="1400" b="0" i="0" kern="1200" baseline="0">
                <a:solidFill>
                  <a:schemeClr val="tx1"/>
                </a:solidFill>
                <a:latin typeface="Arial" panose="020B0604020202020204" pitchFamily="34" charset="0"/>
                <a:ea typeface="+mn-ea"/>
                <a:cs typeface="Arial" panose="020B0604020202020204" pitchFamily="34" charset="0"/>
              </a:defRPr>
            </a:lvl1pPr>
            <a:lvl2pPr marL="514350" indent="-171450" algn="l" defTabSz="685800" rtl="0" eaLnBrk="1" latinLnBrk="0" hangingPunct="1">
              <a:lnSpc>
                <a:spcPct val="100000"/>
              </a:lnSpc>
              <a:spcBef>
                <a:spcPts val="375"/>
              </a:spcBef>
              <a:buFont typeface="Arial" panose="020B0604020202020204" pitchFamily="34" charset="0"/>
              <a:buChar char="•"/>
              <a:defRPr sz="1400" b="0" i="0" kern="1200" baseline="0">
                <a:solidFill>
                  <a:schemeClr val="tx1"/>
                </a:solidFill>
                <a:latin typeface="Arial" panose="020B0604020202020204" pitchFamily="34" charset="0"/>
                <a:ea typeface="+mn-ea"/>
                <a:cs typeface="Arial" panose="020B0604020202020204" pitchFamily="34" charset="0"/>
              </a:defRPr>
            </a:lvl2pPr>
            <a:lvl3pPr marL="857250" indent="-171450" algn="l" defTabSz="685800" rtl="0" eaLnBrk="1" latinLnBrk="0" hangingPunct="1">
              <a:lnSpc>
                <a:spcPct val="100000"/>
              </a:lnSpc>
              <a:spcBef>
                <a:spcPts val="375"/>
              </a:spcBef>
              <a:buFont typeface="Arial" panose="020B0604020202020204" pitchFamily="34" charset="0"/>
              <a:buChar char="•"/>
              <a:defRPr sz="1400" b="0" i="0" kern="1200" baseline="0">
                <a:solidFill>
                  <a:schemeClr val="tx1"/>
                </a:solidFill>
                <a:latin typeface="Arial" panose="020B0604020202020204" pitchFamily="34" charset="0"/>
                <a:ea typeface="+mn-ea"/>
                <a:cs typeface="Arial" panose="020B0604020202020204" pitchFamily="34" charset="0"/>
              </a:defRPr>
            </a:lvl3pPr>
            <a:lvl4pPr marL="1200150" indent="-171450" algn="l" defTabSz="685800" rtl="0" eaLnBrk="1" latinLnBrk="0" hangingPunct="1">
              <a:lnSpc>
                <a:spcPct val="100000"/>
              </a:lnSpc>
              <a:spcBef>
                <a:spcPts val="375"/>
              </a:spcBef>
              <a:buFont typeface="Arial" panose="020B0604020202020204" pitchFamily="34" charset="0"/>
              <a:buChar char="•"/>
              <a:defRPr sz="1400" b="0" i="0" kern="1200" baseline="0">
                <a:solidFill>
                  <a:schemeClr val="tx1"/>
                </a:solidFill>
                <a:latin typeface="Arial" panose="020B0604020202020204" pitchFamily="34" charset="0"/>
                <a:ea typeface="+mn-ea"/>
                <a:cs typeface="Arial" panose="020B0604020202020204" pitchFamily="34" charset="0"/>
              </a:defRPr>
            </a:lvl4pPr>
            <a:lvl5pPr marL="1543050" indent="-171450" algn="l" defTabSz="685800" rtl="0" eaLnBrk="1" latinLnBrk="0" hangingPunct="1">
              <a:lnSpc>
                <a:spcPct val="100000"/>
              </a:lnSpc>
              <a:spcBef>
                <a:spcPts val="375"/>
              </a:spcBef>
              <a:buFont typeface="Arial" panose="020B0604020202020204" pitchFamily="34" charset="0"/>
              <a:buChar char="•"/>
              <a:defRPr sz="1400" b="0" i="0" kern="1200" baseline="0">
                <a:solidFill>
                  <a:schemeClr val="tx1"/>
                </a:solidFill>
                <a:latin typeface="Arial" panose="020B0604020202020204" pitchFamily="34" charset="0"/>
                <a:ea typeface="+mn-ea"/>
                <a:cs typeface="Arial" panose="020B0604020202020204" pitchFamily="34"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buNone/>
            </a:pPr>
            <a:r>
              <a:rPr lang="de-DE" sz="1800" noProof="1">
                <a:latin typeface="Arial"/>
                <a:cs typeface="Arial"/>
              </a:rPr>
              <a:t>Limited to data and model only</a:t>
            </a:r>
          </a:p>
        </p:txBody>
      </p:sp>
      <p:sp>
        <p:nvSpPr>
          <p:cNvPr id="3" name="Textfeld 2">
            <a:extLst>
              <a:ext uri="{FF2B5EF4-FFF2-40B4-BE49-F238E27FC236}">
                <a16:creationId xmlns:a16="http://schemas.microsoft.com/office/drawing/2014/main" id="{20BBCC80-BC50-CD7D-A04C-6C0156411E7E}"/>
              </a:ext>
            </a:extLst>
          </p:cNvPr>
          <p:cNvSpPr txBox="1"/>
          <p:nvPr/>
        </p:nvSpPr>
        <p:spPr>
          <a:xfrm>
            <a:off x="7851895" y="134610"/>
            <a:ext cx="1200650" cy="276999"/>
          </a:xfrm>
          <a:prstGeom prst="rect">
            <a:avLst/>
          </a:prstGeom>
          <a:noFill/>
        </p:spPr>
        <p:txBody>
          <a:bodyPr wrap="none" rtlCol="0">
            <a:spAutoFit/>
          </a:bodyPr>
          <a:lstStyle/>
          <a:p>
            <a:r>
              <a:rPr lang="de-DE" sz="1200" dirty="0"/>
              <a:t>XAI Foundations</a:t>
            </a:r>
            <a:endParaRPr lang="en-US" sz="1200" dirty="0"/>
          </a:p>
        </p:txBody>
      </p:sp>
      <p:sp>
        <p:nvSpPr>
          <p:cNvPr id="7" name="Rechteck 6" descr="Lichter an mit einfarbiger Füllung">
            <a:extLst>
              <a:ext uri="{FF2B5EF4-FFF2-40B4-BE49-F238E27FC236}">
                <a16:creationId xmlns:a16="http://schemas.microsoft.com/office/drawing/2014/main" id="{E8CA80DB-B586-C156-CFBD-87117F6DA1AF}"/>
              </a:ext>
            </a:extLst>
          </p:cNvPr>
          <p:cNvSpPr/>
          <p:nvPr/>
        </p:nvSpPr>
        <p:spPr>
          <a:xfrm>
            <a:off x="8804352" y="664349"/>
            <a:ext cx="277969" cy="277969"/>
          </a:xfrm>
          <a:prstGeom prst="rect">
            <a:avLst/>
          </a:prstGeom>
          <a:blipFill>
            <a:blip r:embed="rId6">
              <a:extLst>
                <a:ext uri="{96DAC541-7B7A-43D3-8B79-37D633B846F1}">
                  <asvg:svgBlip xmlns:asvg="http://schemas.microsoft.com/office/drawing/2016/SVG/main" r:embed="rId7"/>
                </a:ext>
              </a:extLst>
            </a:blip>
            <a:srcRect/>
            <a:stretch>
              <a:fillRect/>
            </a:stretch>
          </a:blipFill>
          <a:ln>
            <a:noFill/>
          </a:ln>
        </p:spPr>
        <p:style>
          <a:lnRef idx="2">
            <a:scrgbClr r="0" g="0" b="0"/>
          </a:lnRef>
          <a:fillRef idx="1">
            <a:scrgbClr r="0" g="0" b="0"/>
          </a:fillRef>
          <a:effectRef idx="0">
            <a:schemeClr val="accent2">
              <a:hueOff val="0"/>
              <a:satOff val="0"/>
              <a:lumOff val="0"/>
              <a:alphaOff val="0"/>
            </a:schemeClr>
          </a:effectRef>
          <a:fontRef idx="minor">
            <a:schemeClr val="lt1"/>
          </a:fontRef>
        </p:style>
        <p:txBody>
          <a:bodyPr/>
          <a:lstStyle/>
          <a:p>
            <a:endParaRPr lang="en-US"/>
          </a:p>
        </p:txBody>
      </p:sp>
      <p:sp>
        <p:nvSpPr>
          <p:cNvPr id="9" name="Rechteck 8" descr="Geschlossenes Buch mit einfarbiger Füllung">
            <a:extLst>
              <a:ext uri="{FF2B5EF4-FFF2-40B4-BE49-F238E27FC236}">
                <a16:creationId xmlns:a16="http://schemas.microsoft.com/office/drawing/2014/main" id="{239399C6-16C6-F25D-2016-9050E9A4A909}"/>
              </a:ext>
            </a:extLst>
          </p:cNvPr>
          <p:cNvSpPr/>
          <p:nvPr/>
        </p:nvSpPr>
        <p:spPr>
          <a:xfrm>
            <a:off x="8804352" y="1043547"/>
            <a:ext cx="277969" cy="277969"/>
          </a:xfrm>
          <a:prstGeom prst="rect">
            <a:avLst/>
          </a:prstGeom>
          <a:blipFill>
            <a:blip r:embed="rId8">
              <a:extLst>
                <a:ext uri="{96DAC541-7B7A-43D3-8B79-37D633B846F1}">
                  <asvg:svgBlip xmlns:asvg="http://schemas.microsoft.com/office/drawing/2016/SVG/main" r:embed="rId9"/>
                </a:ext>
              </a:extLst>
            </a:blip>
            <a:srcRect/>
            <a:stretch>
              <a:fillRect/>
            </a:stretch>
          </a:blipFill>
          <a:ln>
            <a:noFill/>
          </a:ln>
        </p:spPr>
        <p:style>
          <a:lnRef idx="2">
            <a:scrgbClr r="0" g="0" b="0"/>
          </a:lnRef>
          <a:fillRef idx="1">
            <a:scrgbClr r="0" g="0" b="0"/>
          </a:fillRef>
          <a:effectRef idx="0">
            <a:schemeClr val="accent3">
              <a:hueOff val="0"/>
              <a:satOff val="0"/>
              <a:lumOff val="0"/>
              <a:alphaOff val="0"/>
            </a:schemeClr>
          </a:effectRef>
          <a:fontRef idx="minor">
            <a:schemeClr val="lt1"/>
          </a:fontRef>
        </p:style>
        <p:txBody>
          <a:bodyPr/>
          <a:lstStyle/>
          <a:p>
            <a:endParaRPr lang="en-US"/>
          </a:p>
        </p:txBody>
      </p:sp>
      <p:sp>
        <p:nvSpPr>
          <p:cNvPr id="10" name="Rechteck 9" descr="Netzwerk">
            <a:extLst>
              <a:ext uri="{FF2B5EF4-FFF2-40B4-BE49-F238E27FC236}">
                <a16:creationId xmlns:a16="http://schemas.microsoft.com/office/drawing/2014/main" id="{C5E75249-17D9-48D4-DE66-167ABB228D8A}"/>
              </a:ext>
            </a:extLst>
          </p:cNvPr>
          <p:cNvSpPr/>
          <p:nvPr/>
        </p:nvSpPr>
        <p:spPr>
          <a:xfrm>
            <a:off x="8804352" y="1379208"/>
            <a:ext cx="277969" cy="277969"/>
          </a:xfrm>
          <a:prstGeom prst="rect">
            <a:avLst/>
          </a:prstGeom>
          <a: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a:blipFill>
          <a:ln>
            <a:noFill/>
          </a:ln>
        </p:spPr>
        <p:style>
          <a:lnRef idx="2">
            <a:scrgbClr r="0" g="0" b="0"/>
          </a:lnRef>
          <a:fillRef idx="1">
            <a:scrgbClr r="0" g="0" b="0"/>
          </a:fillRef>
          <a:effectRef idx="0">
            <a:schemeClr val="accent4">
              <a:hueOff val="0"/>
              <a:satOff val="0"/>
              <a:lumOff val="0"/>
              <a:alphaOff val="0"/>
            </a:schemeClr>
          </a:effectRef>
          <a:fontRef idx="minor">
            <a:schemeClr val="lt1"/>
          </a:fontRef>
        </p:style>
        <p:txBody>
          <a:bodyPr/>
          <a:lstStyle/>
          <a:p>
            <a:endParaRPr lang="en-US"/>
          </a:p>
        </p:txBody>
      </p:sp>
      <p:sp>
        <p:nvSpPr>
          <p:cNvPr id="11" name="Rechteck 10" descr="Kreise mit Pfeilen mit einfarbiger Füllung">
            <a:extLst>
              <a:ext uri="{FF2B5EF4-FFF2-40B4-BE49-F238E27FC236}">
                <a16:creationId xmlns:a16="http://schemas.microsoft.com/office/drawing/2014/main" id="{DD9378C8-B5C6-81F0-08EC-EA2A77F34B9E}"/>
              </a:ext>
            </a:extLst>
          </p:cNvPr>
          <p:cNvSpPr/>
          <p:nvPr/>
        </p:nvSpPr>
        <p:spPr>
          <a:xfrm>
            <a:off x="8804352" y="1688740"/>
            <a:ext cx="277969" cy="277969"/>
          </a:xfrm>
          <a:prstGeom prst="rect">
            <a:avLst/>
          </a:prstGeom>
          <a:blipFill>
            <a:blip r:embed="rId12">
              <a:extLst>
                <a:ext uri="{96DAC541-7B7A-43D3-8B79-37D633B846F1}">
                  <asvg:svgBlip xmlns:asvg="http://schemas.microsoft.com/office/drawing/2016/SVG/main" r:embed="rId13"/>
                </a:ext>
              </a:extLst>
            </a:blip>
            <a:srcRect/>
            <a:stretch>
              <a:fillRect/>
            </a:stretch>
          </a:blipFill>
          <a:ln>
            <a:noFill/>
          </a:ln>
        </p:spPr>
        <p:style>
          <a:lnRef idx="2">
            <a:scrgbClr r="0" g="0" b="0"/>
          </a:lnRef>
          <a:fillRef idx="1">
            <a:scrgbClr r="0" g="0" b="0"/>
          </a:fillRef>
          <a:effectRef idx="0">
            <a:schemeClr val="accent5">
              <a:hueOff val="0"/>
              <a:satOff val="0"/>
              <a:lumOff val="0"/>
              <a:alphaOff val="0"/>
            </a:schemeClr>
          </a:effectRef>
          <a:fontRef idx="minor">
            <a:schemeClr val="lt1"/>
          </a:fontRef>
        </p:style>
        <p:txBody>
          <a:bodyPr/>
          <a:lstStyle/>
          <a:p>
            <a:endParaRPr lang="en-US"/>
          </a:p>
        </p:txBody>
      </p:sp>
      <p:sp>
        <p:nvSpPr>
          <p:cNvPr id="13" name="Rechteck 12" descr="Prüfliste">
            <a:extLst>
              <a:ext uri="{FF2B5EF4-FFF2-40B4-BE49-F238E27FC236}">
                <a16:creationId xmlns:a16="http://schemas.microsoft.com/office/drawing/2014/main" id="{162C30FB-1D75-22C2-73C9-52011E6DCF49}"/>
              </a:ext>
            </a:extLst>
          </p:cNvPr>
          <p:cNvSpPr/>
          <p:nvPr/>
        </p:nvSpPr>
        <p:spPr>
          <a:xfrm>
            <a:off x="8804352" y="2006980"/>
            <a:ext cx="277969" cy="277969"/>
          </a:xfrm>
          <a:prstGeom prst="rect">
            <a:avLst/>
          </a:prstGeom>
          <a: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a:blipFill>
          <a:ln>
            <a:noFill/>
          </a:ln>
        </p:spPr>
        <p:style>
          <a:lnRef idx="2">
            <a:scrgbClr r="0" g="0" b="0"/>
          </a:lnRef>
          <a:fillRef idx="1">
            <a:scrgbClr r="0" g="0" b="0"/>
          </a:fillRef>
          <a:effectRef idx="0">
            <a:schemeClr val="accent6">
              <a:hueOff val="0"/>
              <a:satOff val="0"/>
              <a:lumOff val="0"/>
              <a:alphaOff val="0"/>
            </a:schemeClr>
          </a:effectRef>
          <a:fontRef idx="minor">
            <a:schemeClr val="lt1"/>
          </a:fontRef>
        </p:style>
        <p:txBody>
          <a:bodyPr/>
          <a:lstStyle/>
          <a:p>
            <a:endParaRPr lang="en-US"/>
          </a:p>
        </p:txBody>
      </p:sp>
      <p:sp>
        <p:nvSpPr>
          <p:cNvPr id="15" name="Rechteck 14" descr="Auktionshammer">
            <a:extLst>
              <a:ext uri="{FF2B5EF4-FFF2-40B4-BE49-F238E27FC236}">
                <a16:creationId xmlns:a16="http://schemas.microsoft.com/office/drawing/2014/main" id="{71E65974-122C-8A0C-887A-04BBD444A51E}"/>
              </a:ext>
            </a:extLst>
          </p:cNvPr>
          <p:cNvSpPr/>
          <p:nvPr/>
        </p:nvSpPr>
        <p:spPr>
          <a:xfrm>
            <a:off x="8804352" y="2316507"/>
            <a:ext cx="277969" cy="277969"/>
          </a:xfrm>
          <a:prstGeom prst="rect">
            <a:avLst/>
          </a:prstGeom>
          <a: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a:blipFill>
          <a:ln>
            <a:noFill/>
          </a:ln>
        </p:spPr>
        <p:style>
          <a:lnRef idx="2">
            <a:scrgbClr r="0" g="0" b="0"/>
          </a:lnRef>
          <a:fillRef idx="1">
            <a:scrgbClr r="0" g="0" b="0"/>
          </a:fillRef>
          <a:effectRef idx="0">
            <a:schemeClr val="accent2">
              <a:hueOff val="0"/>
              <a:satOff val="0"/>
              <a:lumOff val="0"/>
              <a:alphaOff val="0"/>
            </a:schemeClr>
          </a:effectRef>
          <a:fontRef idx="minor">
            <a:schemeClr val="lt1"/>
          </a:fontRef>
        </p:style>
        <p:txBody>
          <a:bodyPr/>
          <a:lstStyle/>
          <a:p>
            <a:endParaRPr lang="en-US"/>
          </a:p>
        </p:txBody>
      </p:sp>
      <p:sp>
        <p:nvSpPr>
          <p:cNvPr id="17" name="Rechteck 16" descr="Geschlossenes Buch mit einfarbiger Füllung">
            <a:extLst>
              <a:ext uri="{FF2B5EF4-FFF2-40B4-BE49-F238E27FC236}">
                <a16:creationId xmlns:a16="http://schemas.microsoft.com/office/drawing/2014/main" id="{0E1322C6-131E-C04A-2F09-C1604E99852F}"/>
              </a:ext>
            </a:extLst>
          </p:cNvPr>
          <p:cNvSpPr/>
          <p:nvPr/>
        </p:nvSpPr>
        <p:spPr>
          <a:xfrm>
            <a:off x="7600498" y="133640"/>
            <a:ext cx="277969" cy="277969"/>
          </a:xfrm>
          <a:prstGeom prst="rect">
            <a:avLst/>
          </a:prstGeom>
          <a:blipFill>
            <a:blip r:embed="rId8">
              <a:extLst>
                <a:ext uri="{96DAC541-7B7A-43D3-8B79-37D633B846F1}">
                  <asvg:svgBlip xmlns:asvg="http://schemas.microsoft.com/office/drawing/2016/SVG/main" r:embed="rId9"/>
                </a:ext>
              </a:extLst>
            </a:blip>
            <a:srcRect/>
            <a:stretch>
              <a:fillRect/>
            </a:stretch>
          </a:blipFill>
          <a:ln>
            <a:noFill/>
          </a:ln>
        </p:spPr>
        <p:style>
          <a:lnRef idx="2">
            <a:scrgbClr r="0" g="0" b="0"/>
          </a:lnRef>
          <a:fillRef idx="1">
            <a:scrgbClr r="0" g="0" b="0"/>
          </a:fillRef>
          <a:effectRef idx="0">
            <a:schemeClr val="accent3">
              <a:hueOff val="0"/>
              <a:satOff val="0"/>
              <a:lumOff val="0"/>
              <a:alphaOff val="0"/>
            </a:schemeClr>
          </a:effectRef>
          <a:fontRef idx="minor">
            <a:schemeClr val="lt1"/>
          </a:fontRef>
        </p:style>
        <p:txBody>
          <a:bodyPr/>
          <a:lstStyle/>
          <a:p>
            <a:endParaRPr lang="en-US"/>
          </a:p>
        </p:txBody>
      </p:sp>
      <p:sp>
        <p:nvSpPr>
          <p:cNvPr id="18" name="Pfeil: nach unten 17">
            <a:extLst>
              <a:ext uri="{FF2B5EF4-FFF2-40B4-BE49-F238E27FC236}">
                <a16:creationId xmlns:a16="http://schemas.microsoft.com/office/drawing/2014/main" id="{128A033B-2582-5ABA-BEA5-8740E050DBB2}"/>
              </a:ext>
            </a:extLst>
          </p:cNvPr>
          <p:cNvSpPr/>
          <p:nvPr/>
        </p:nvSpPr>
        <p:spPr>
          <a:xfrm>
            <a:off x="2397586" y="1857664"/>
            <a:ext cx="484632" cy="978408"/>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3" name="Grafik 22" descr="Bücher Silhouette">
            <a:extLst>
              <a:ext uri="{FF2B5EF4-FFF2-40B4-BE49-F238E27FC236}">
                <a16:creationId xmlns:a16="http://schemas.microsoft.com/office/drawing/2014/main" id="{D5804667-2249-FFA5-BACC-C6C600BBBF8E}"/>
              </a:ext>
            </a:extLst>
          </p:cNvPr>
          <p:cNvPicPr>
            <a:picLocks noChangeAspect="1"/>
          </p:cNvPicPr>
          <p:nvPr/>
        </p:nvPicPr>
        <p:blipFill>
          <a:blip r:embed="rId18">
            <a:extLst>
              <a:ext uri="{96DAC541-7B7A-43D3-8B79-37D633B846F1}">
                <asvg:svgBlip xmlns:asvg="http://schemas.microsoft.com/office/drawing/2016/SVG/main" r:embed="rId19"/>
              </a:ext>
            </a:extLst>
          </a:blip>
          <a:stretch>
            <a:fillRect/>
          </a:stretch>
        </p:blipFill>
        <p:spPr>
          <a:xfrm>
            <a:off x="395288" y="2992977"/>
            <a:ext cx="827478" cy="827478"/>
          </a:xfrm>
          <a:prstGeom prst="rect">
            <a:avLst/>
          </a:prstGeom>
        </p:spPr>
      </p:pic>
      <p:sp>
        <p:nvSpPr>
          <p:cNvPr id="24" name="Textfeld 23">
            <a:extLst>
              <a:ext uri="{FF2B5EF4-FFF2-40B4-BE49-F238E27FC236}">
                <a16:creationId xmlns:a16="http://schemas.microsoft.com/office/drawing/2014/main" id="{262BADFB-F82D-D72C-D678-D2D9B34186A9}"/>
              </a:ext>
            </a:extLst>
          </p:cNvPr>
          <p:cNvSpPr txBox="1"/>
          <p:nvPr/>
        </p:nvSpPr>
        <p:spPr>
          <a:xfrm>
            <a:off x="1378417" y="3222050"/>
            <a:ext cx="2112310" cy="369332"/>
          </a:xfrm>
          <a:prstGeom prst="rect">
            <a:avLst/>
          </a:prstGeom>
          <a:noFill/>
        </p:spPr>
        <p:txBody>
          <a:bodyPr wrap="none" rtlCol="0">
            <a:spAutoFit/>
          </a:bodyPr>
          <a:lstStyle/>
          <a:p>
            <a:r>
              <a:rPr lang="de-DE" dirty="0" err="1"/>
              <a:t>Integrate</a:t>
            </a:r>
            <a:r>
              <a:rPr lang="de-DE" dirty="0"/>
              <a:t> </a:t>
            </a:r>
            <a:r>
              <a:rPr lang="de-DE" dirty="0" err="1"/>
              <a:t>knowledge</a:t>
            </a:r>
            <a:endParaRPr lang="en-US" dirty="0"/>
          </a:p>
        </p:txBody>
      </p:sp>
    </p:spTree>
    <p:extLst>
      <p:ext uri="{BB962C8B-B14F-4D97-AF65-F5344CB8AC3E}">
        <p14:creationId xmlns:p14="http://schemas.microsoft.com/office/powerpoint/2010/main" val="150299525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wipe(up)">
                                      <p:cBhvr>
                                        <p:cTn id="7" dur="500"/>
                                        <p:tgtEl>
                                          <p:spTgt spid="18"/>
                                        </p:tgtEl>
                                      </p:cBhvr>
                                    </p:animEffect>
                                  </p:childTnLst>
                                </p:cTn>
                              </p:par>
                            </p:childTnLst>
                          </p:cTn>
                        </p:par>
                        <p:par>
                          <p:cTn id="8" fill="hold">
                            <p:stCondLst>
                              <p:cond delay="500"/>
                            </p:stCondLst>
                            <p:childTnLst>
                              <p:par>
                                <p:cTn id="9" presetID="22" presetClass="entr" presetSubtype="1" fill="hold" nodeType="afterEffect">
                                  <p:stCondLst>
                                    <p:cond delay="0"/>
                                  </p:stCondLst>
                                  <p:childTnLst>
                                    <p:set>
                                      <p:cBhvr>
                                        <p:cTn id="10" dur="1" fill="hold">
                                          <p:stCondLst>
                                            <p:cond delay="0"/>
                                          </p:stCondLst>
                                        </p:cTn>
                                        <p:tgtEl>
                                          <p:spTgt spid="23"/>
                                        </p:tgtEl>
                                        <p:attrNameLst>
                                          <p:attrName>style.visibility</p:attrName>
                                        </p:attrNameLst>
                                      </p:cBhvr>
                                      <p:to>
                                        <p:strVal val="visible"/>
                                      </p:to>
                                    </p:set>
                                    <p:animEffect transition="in" filter="wipe(up)">
                                      <p:cBhvr>
                                        <p:cTn id="11" dur="500"/>
                                        <p:tgtEl>
                                          <p:spTgt spid="23"/>
                                        </p:tgtEl>
                                      </p:cBhvr>
                                    </p:animEffect>
                                  </p:childTnLst>
                                </p:cTn>
                              </p:par>
                              <p:par>
                                <p:cTn id="12" presetID="22" presetClass="entr" presetSubtype="1" fill="hold" grpId="0" nodeType="withEffect">
                                  <p:stCondLst>
                                    <p:cond delay="0"/>
                                  </p:stCondLst>
                                  <p:childTnLst>
                                    <p:set>
                                      <p:cBhvr>
                                        <p:cTn id="13" dur="1" fill="hold">
                                          <p:stCondLst>
                                            <p:cond delay="0"/>
                                          </p:stCondLst>
                                        </p:cTn>
                                        <p:tgtEl>
                                          <p:spTgt spid="24"/>
                                        </p:tgtEl>
                                        <p:attrNameLst>
                                          <p:attrName>style.visibility</p:attrName>
                                        </p:attrNameLst>
                                      </p:cBhvr>
                                      <p:to>
                                        <p:strVal val="visible"/>
                                      </p:to>
                                    </p:set>
                                    <p:animEffect transition="in" filter="wipe(up)">
                                      <p:cBhvr>
                                        <p:cTn id="14"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24"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CD600F-9957-4752-2FBB-0881514E18AF}"/>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7C8DD10E-DD8B-2895-E981-2576C0653D8E}"/>
              </a:ext>
            </a:extLst>
          </p:cNvPr>
          <p:cNvSpPr>
            <a:spLocks noGrp="1"/>
          </p:cNvSpPr>
          <p:nvPr>
            <p:ph type="ctrTitle"/>
          </p:nvPr>
        </p:nvSpPr>
        <p:spPr/>
        <p:txBody>
          <a:bodyPr/>
          <a:lstStyle/>
          <a:p>
            <a:r>
              <a:rPr lang="de-DE" dirty="0">
                <a:latin typeface="+mn-lt"/>
              </a:rPr>
              <a:t>Outline</a:t>
            </a:r>
            <a:endParaRPr lang="en-US" dirty="0">
              <a:latin typeface="+mn-lt"/>
            </a:endParaRPr>
          </a:p>
        </p:txBody>
      </p:sp>
      <p:sp>
        <p:nvSpPr>
          <p:cNvPr id="3" name="Inhaltsplatzhalter 2">
            <a:extLst>
              <a:ext uri="{FF2B5EF4-FFF2-40B4-BE49-F238E27FC236}">
                <a16:creationId xmlns:a16="http://schemas.microsoft.com/office/drawing/2014/main" id="{1F14AE47-1C46-0AE6-1ADB-3BFE1C4C9FA2}"/>
              </a:ext>
            </a:extLst>
          </p:cNvPr>
          <p:cNvSpPr>
            <a:spLocks noGrp="1"/>
          </p:cNvSpPr>
          <p:nvPr>
            <p:ph sz="quarter" idx="13"/>
          </p:nvPr>
        </p:nvSpPr>
        <p:spPr/>
        <p:txBody>
          <a:bodyPr/>
          <a:lstStyle/>
          <a:p>
            <a:endParaRPr lang="en-US"/>
          </a:p>
        </p:txBody>
      </p:sp>
      <p:sp>
        <p:nvSpPr>
          <p:cNvPr id="4" name="Datumsplatzhalter 3">
            <a:extLst>
              <a:ext uri="{FF2B5EF4-FFF2-40B4-BE49-F238E27FC236}">
                <a16:creationId xmlns:a16="http://schemas.microsoft.com/office/drawing/2014/main" id="{95D7CF0C-49B1-E0FC-A160-0ACC91A846CE}"/>
              </a:ext>
            </a:extLst>
          </p:cNvPr>
          <p:cNvSpPr>
            <a:spLocks noGrp="1"/>
          </p:cNvSpPr>
          <p:nvPr>
            <p:ph type="dt" sz="half" idx="10"/>
          </p:nvPr>
        </p:nvSpPr>
        <p:spPr/>
        <p:txBody>
          <a:bodyPr/>
          <a:lstStyle/>
          <a:p>
            <a:r>
              <a:rPr lang="en-US"/>
              <a:t>18.08.2025</a:t>
            </a:r>
            <a:endParaRPr lang="de-DE" dirty="0"/>
          </a:p>
        </p:txBody>
      </p:sp>
      <p:sp>
        <p:nvSpPr>
          <p:cNvPr id="5" name="Fußzeilenplatzhalter 4">
            <a:extLst>
              <a:ext uri="{FF2B5EF4-FFF2-40B4-BE49-F238E27FC236}">
                <a16:creationId xmlns:a16="http://schemas.microsoft.com/office/drawing/2014/main" id="{094B6D44-21F0-ACF7-94B7-694AB0A03A68}"/>
              </a:ext>
            </a:extLst>
          </p:cNvPr>
          <p:cNvSpPr>
            <a:spLocks noGrp="1"/>
          </p:cNvSpPr>
          <p:nvPr>
            <p:ph type="ftr" sz="quarter" idx="11"/>
          </p:nvPr>
        </p:nvSpPr>
        <p:spPr/>
        <p:txBody>
          <a:bodyPr/>
          <a:lstStyle/>
          <a:p>
            <a:r>
              <a:rPr lang="en-US"/>
              <a:t>Enhancing model transparency: Effects of DK Integration for Conversational XAI | Feustel</a:t>
            </a:r>
            <a:endParaRPr lang="de-DE" dirty="0"/>
          </a:p>
        </p:txBody>
      </p:sp>
      <p:sp>
        <p:nvSpPr>
          <p:cNvPr id="6" name="Foliennummernplatzhalter 5">
            <a:extLst>
              <a:ext uri="{FF2B5EF4-FFF2-40B4-BE49-F238E27FC236}">
                <a16:creationId xmlns:a16="http://schemas.microsoft.com/office/drawing/2014/main" id="{77218CD2-3F50-5DFE-8CD3-12DA7C1DD07B}"/>
              </a:ext>
            </a:extLst>
          </p:cNvPr>
          <p:cNvSpPr>
            <a:spLocks noGrp="1"/>
          </p:cNvSpPr>
          <p:nvPr>
            <p:ph type="sldNum" sz="quarter" idx="12"/>
          </p:nvPr>
        </p:nvSpPr>
        <p:spPr/>
        <p:txBody>
          <a:bodyPr/>
          <a:lstStyle/>
          <a:p>
            <a:r>
              <a:rPr lang="de-DE"/>
              <a:t> </a:t>
            </a:r>
            <a:fld id="{FE120BDC-5456-EC41-8BB6-7A3B726EA19B}" type="slidenum">
              <a:rPr lang="de-DE" smtClean="0"/>
              <a:pPr/>
              <a:t>12</a:t>
            </a:fld>
            <a:endParaRPr lang="de-DE" dirty="0"/>
          </a:p>
        </p:txBody>
      </p:sp>
      <p:graphicFrame>
        <p:nvGraphicFramePr>
          <p:cNvPr id="7" name="Inhaltsplatzhalter 2">
            <a:extLst>
              <a:ext uri="{FF2B5EF4-FFF2-40B4-BE49-F238E27FC236}">
                <a16:creationId xmlns:a16="http://schemas.microsoft.com/office/drawing/2014/main" id="{887917EF-60BC-E326-7AFF-50C0010CD296}"/>
              </a:ext>
            </a:extLst>
          </p:cNvPr>
          <p:cNvGraphicFramePr>
            <a:graphicFrameLocks/>
          </p:cNvGraphicFramePr>
          <p:nvPr>
            <p:extLst>
              <p:ext uri="{D42A27DB-BD31-4B8C-83A1-F6EECF244321}">
                <p14:modId xmlns:p14="http://schemas.microsoft.com/office/powerpoint/2010/main" val="4288164537"/>
              </p:ext>
            </p:extLst>
          </p:nvPr>
        </p:nvGraphicFramePr>
        <p:xfrm>
          <a:off x="395287" y="1131888"/>
          <a:ext cx="8312397" cy="366652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38102842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C3CC2E-C7B9-A019-0E7F-A1A99AC5612E}"/>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748AE29F-8523-B6C0-5D4A-A5CFCA4AF5CC}"/>
              </a:ext>
            </a:extLst>
          </p:cNvPr>
          <p:cNvSpPr>
            <a:spLocks noGrp="1"/>
          </p:cNvSpPr>
          <p:nvPr>
            <p:ph type="ctrTitle"/>
          </p:nvPr>
        </p:nvSpPr>
        <p:spPr/>
        <p:txBody>
          <a:bodyPr/>
          <a:lstStyle/>
          <a:p>
            <a:r>
              <a:rPr lang="de-DE" sz="2000" noProof="1">
                <a:cs typeface="Arial"/>
              </a:rPr>
              <a:t>Example Scenario Credit Application</a:t>
            </a:r>
            <a:endParaRPr lang="de-DE" sz="2000" noProof="1"/>
          </a:p>
        </p:txBody>
      </p:sp>
      <p:sp>
        <p:nvSpPr>
          <p:cNvPr id="3" name="Inhaltsplatzhalter 2">
            <a:extLst>
              <a:ext uri="{FF2B5EF4-FFF2-40B4-BE49-F238E27FC236}">
                <a16:creationId xmlns:a16="http://schemas.microsoft.com/office/drawing/2014/main" id="{C61EC96B-FA1E-324C-DCF5-92FE28A3A8BC}"/>
              </a:ext>
            </a:extLst>
          </p:cNvPr>
          <p:cNvSpPr>
            <a:spLocks noGrp="1"/>
          </p:cNvSpPr>
          <p:nvPr>
            <p:ph sz="quarter" idx="15"/>
          </p:nvPr>
        </p:nvSpPr>
        <p:spPr>
          <a:xfrm>
            <a:off x="395288" y="1131887"/>
            <a:ext cx="6088061" cy="480717"/>
          </a:xfrm>
        </p:spPr>
        <p:txBody>
          <a:bodyPr vert="horz" lIns="0" tIns="0" rIns="0" bIns="0" rtlCol="0" anchor="t">
            <a:noAutofit/>
          </a:bodyPr>
          <a:lstStyle/>
          <a:p>
            <a:r>
              <a:rPr lang="de-DE" sz="1800" noProof="1">
                <a:cs typeface="Arial"/>
              </a:rPr>
              <a:t>Prediction: Would you be approved for a credit loan?</a:t>
            </a:r>
            <a:endParaRPr lang="de-DE" sz="1800" noProof="1"/>
          </a:p>
        </p:txBody>
      </p:sp>
      <p:sp>
        <p:nvSpPr>
          <p:cNvPr id="5" name="Vertikaler Textplatzhalter 4">
            <a:extLst>
              <a:ext uri="{FF2B5EF4-FFF2-40B4-BE49-F238E27FC236}">
                <a16:creationId xmlns:a16="http://schemas.microsoft.com/office/drawing/2014/main" id="{40249F10-595B-D58F-BACB-FA45BB8A96F2}"/>
              </a:ext>
            </a:extLst>
          </p:cNvPr>
          <p:cNvSpPr>
            <a:spLocks noGrp="1"/>
          </p:cNvSpPr>
          <p:nvPr>
            <p:ph type="body" orient="vert" sz="quarter" idx="18"/>
          </p:nvPr>
        </p:nvSpPr>
        <p:spPr/>
        <p:txBody>
          <a:bodyPr/>
          <a:lstStyle/>
          <a:p>
            <a:endParaRPr lang="de-DE" noProof="1"/>
          </a:p>
        </p:txBody>
      </p:sp>
      <p:sp>
        <p:nvSpPr>
          <p:cNvPr id="6" name="Datumsplatzhalter 5">
            <a:extLst>
              <a:ext uri="{FF2B5EF4-FFF2-40B4-BE49-F238E27FC236}">
                <a16:creationId xmlns:a16="http://schemas.microsoft.com/office/drawing/2014/main" id="{B830D0B0-7252-CA9C-C6D1-A2A6DEE044C2}"/>
              </a:ext>
            </a:extLst>
          </p:cNvPr>
          <p:cNvSpPr>
            <a:spLocks noGrp="1"/>
          </p:cNvSpPr>
          <p:nvPr>
            <p:ph type="dt" sz="half" idx="10"/>
          </p:nvPr>
        </p:nvSpPr>
        <p:spPr/>
        <p:txBody>
          <a:bodyPr/>
          <a:lstStyle/>
          <a:p>
            <a:r>
              <a:rPr lang="en-US" noProof="1"/>
              <a:t>18.08.2025</a:t>
            </a:r>
            <a:endParaRPr lang="de-DE" noProof="1"/>
          </a:p>
        </p:txBody>
      </p:sp>
      <p:sp>
        <p:nvSpPr>
          <p:cNvPr id="7" name="Fußzeilenplatzhalter 6">
            <a:extLst>
              <a:ext uri="{FF2B5EF4-FFF2-40B4-BE49-F238E27FC236}">
                <a16:creationId xmlns:a16="http://schemas.microsoft.com/office/drawing/2014/main" id="{77BFB73C-A455-CB3D-652D-A75BAE29DCB8}"/>
              </a:ext>
            </a:extLst>
          </p:cNvPr>
          <p:cNvSpPr>
            <a:spLocks noGrp="1"/>
          </p:cNvSpPr>
          <p:nvPr>
            <p:ph type="ftr" sz="quarter" idx="11"/>
          </p:nvPr>
        </p:nvSpPr>
        <p:spPr/>
        <p:txBody>
          <a:bodyPr/>
          <a:lstStyle/>
          <a:p>
            <a:r>
              <a:rPr lang="en-US" sz="800" noProof="1"/>
              <a:t>Enhancing model transparency: Effects of DK Integration for Conversational XAI | Feustel</a:t>
            </a:r>
            <a:endParaRPr lang="de-DE" sz="800" noProof="1"/>
          </a:p>
        </p:txBody>
      </p:sp>
      <p:sp>
        <p:nvSpPr>
          <p:cNvPr id="8" name="Foliennummernplatzhalter 7">
            <a:extLst>
              <a:ext uri="{FF2B5EF4-FFF2-40B4-BE49-F238E27FC236}">
                <a16:creationId xmlns:a16="http://schemas.microsoft.com/office/drawing/2014/main" id="{CCCA2BFB-9E80-2F3D-776E-3DDAF2EE131E}"/>
              </a:ext>
            </a:extLst>
          </p:cNvPr>
          <p:cNvSpPr>
            <a:spLocks noGrp="1"/>
          </p:cNvSpPr>
          <p:nvPr>
            <p:ph type="sldNum" sz="quarter" idx="12"/>
          </p:nvPr>
        </p:nvSpPr>
        <p:spPr/>
        <p:txBody>
          <a:bodyPr/>
          <a:lstStyle/>
          <a:p>
            <a:r>
              <a:rPr lang="de-DE" noProof="1">
                <a:latin typeface="+mn-lt"/>
              </a:rPr>
              <a:t> </a:t>
            </a:r>
            <a:fld id="{FE120BDC-5456-EC41-8BB6-7A3B726EA19B}" type="slidenum">
              <a:rPr lang="de-DE" noProof="1" smtClean="0">
                <a:latin typeface="+mn-lt"/>
              </a:rPr>
              <a:pPr/>
              <a:t>13</a:t>
            </a:fld>
            <a:endParaRPr lang="de-DE" noProof="1">
              <a:latin typeface="+mn-lt"/>
            </a:endParaRPr>
          </a:p>
        </p:txBody>
      </p:sp>
      <p:sp>
        <p:nvSpPr>
          <p:cNvPr id="4" name="Textfeld 3">
            <a:extLst>
              <a:ext uri="{FF2B5EF4-FFF2-40B4-BE49-F238E27FC236}">
                <a16:creationId xmlns:a16="http://schemas.microsoft.com/office/drawing/2014/main" id="{C4032A02-F194-0E2B-0CF0-C31A30A2DE56}"/>
              </a:ext>
            </a:extLst>
          </p:cNvPr>
          <p:cNvSpPr txBox="1"/>
          <p:nvPr/>
        </p:nvSpPr>
        <p:spPr>
          <a:xfrm>
            <a:off x="6836673" y="2582319"/>
            <a:ext cx="1280495" cy="369332"/>
          </a:xfrm>
          <a:prstGeom prst="rect">
            <a:avLst/>
          </a:prstGeom>
          <a:noFill/>
        </p:spPr>
        <p:txBody>
          <a:bodyPr wrap="square" lIns="91440" tIns="45720" rIns="91440" bIns="45720" rtlCol="0" anchor="t">
            <a:spAutoFit/>
          </a:bodyPr>
          <a:lstStyle/>
          <a:p>
            <a:r>
              <a:rPr lang="de-DE" noProof="1">
                <a:cs typeface="Arial" panose="020B0604020202020204" pitchFamily="34" charset="0"/>
              </a:rPr>
              <a:t>purpose</a:t>
            </a:r>
          </a:p>
        </p:txBody>
      </p:sp>
      <p:sp>
        <p:nvSpPr>
          <p:cNvPr id="14" name="Textfeld 13">
            <a:extLst>
              <a:ext uri="{FF2B5EF4-FFF2-40B4-BE49-F238E27FC236}">
                <a16:creationId xmlns:a16="http://schemas.microsoft.com/office/drawing/2014/main" id="{17B6F83F-D75B-2811-42B7-477BAF775A99}"/>
              </a:ext>
            </a:extLst>
          </p:cNvPr>
          <p:cNvSpPr txBox="1"/>
          <p:nvPr/>
        </p:nvSpPr>
        <p:spPr>
          <a:xfrm>
            <a:off x="3586729" y="2594734"/>
            <a:ext cx="1379991" cy="646331"/>
          </a:xfrm>
          <a:prstGeom prst="rect">
            <a:avLst/>
          </a:prstGeom>
          <a:noFill/>
        </p:spPr>
        <p:txBody>
          <a:bodyPr wrap="square" lIns="91440" tIns="45720" rIns="91440" bIns="45720" rtlCol="0" anchor="t">
            <a:spAutoFit/>
          </a:bodyPr>
          <a:lstStyle/>
          <a:p>
            <a:pPr algn="ctr"/>
            <a:r>
              <a:rPr lang="de-DE" noProof="1">
                <a:solidFill>
                  <a:srgbClr val="000000"/>
                </a:solidFill>
                <a:ea typeface="Calibri"/>
                <a:cs typeface="Arial" panose="020B0604020202020204" pitchFamily="34" charset="0"/>
              </a:rPr>
              <a:t>checking</a:t>
            </a:r>
            <a:r>
              <a:rPr lang="de-DE" noProof="1">
                <a:ea typeface="Calibri"/>
                <a:cs typeface="Arial" panose="020B0604020202020204" pitchFamily="34" charset="0"/>
              </a:rPr>
              <a:t> account</a:t>
            </a:r>
            <a:endParaRPr lang="de-DE" noProof="1">
              <a:cs typeface="Arial" panose="020B0604020202020204" pitchFamily="34" charset="0"/>
            </a:endParaRPr>
          </a:p>
        </p:txBody>
      </p:sp>
      <p:sp>
        <p:nvSpPr>
          <p:cNvPr id="15" name="Textfeld 14">
            <a:extLst>
              <a:ext uri="{FF2B5EF4-FFF2-40B4-BE49-F238E27FC236}">
                <a16:creationId xmlns:a16="http://schemas.microsoft.com/office/drawing/2014/main" id="{7FE91288-4CD4-501B-0DE3-634FB51BCDA5}"/>
              </a:ext>
            </a:extLst>
          </p:cNvPr>
          <p:cNvSpPr txBox="1"/>
          <p:nvPr/>
        </p:nvSpPr>
        <p:spPr>
          <a:xfrm>
            <a:off x="5284890" y="4063359"/>
            <a:ext cx="1181193" cy="369332"/>
          </a:xfrm>
          <a:prstGeom prst="rect">
            <a:avLst/>
          </a:prstGeom>
          <a:noFill/>
        </p:spPr>
        <p:txBody>
          <a:bodyPr wrap="square" lIns="91440" tIns="45720" rIns="91440" bIns="45720" rtlCol="0" anchor="t">
            <a:spAutoFit/>
          </a:bodyPr>
          <a:lstStyle/>
          <a:p>
            <a:r>
              <a:rPr lang="de-DE" noProof="1">
                <a:cs typeface="Arial" panose="020B0604020202020204" pitchFamily="34" charset="0"/>
              </a:rPr>
              <a:t>amount</a:t>
            </a:r>
          </a:p>
        </p:txBody>
      </p:sp>
      <p:sp>
        <p:nvSpPr>
          <p:cNvPr id="16" name="Textfeld 15">
            <a:extLst>
              <a:ext uri="{FF2B5EF4-FFF2-40B4-BE49-F238E27FC236}">
                <a16:creationId xmlns:a16="http://schemas.microsoft.com/office/drawing/2014/main" id="{90E266CA-9EE6-BFB5-DFCE-6765525B5555}"/>
              </a:ext>
            </a:extLst>
          </p:cNvPr>
          <p:cNvSpPr txBox="1"/>
          <p:nvPr/>
        </p:nvSpPr>
        <p:spPr>
          <a:xfrm>
            <a:off x="637044" y="2519603"/>
            <a:ext cx="999263" cy="369332"/>
          </a:xfrm>
          <a:prstGeom prst="rect">
            <a:avLst/>
          </a:prstGeom>
          <a:noFill/>
        </p:spPr>
        <p:txBody>
          <a:bodyPr wrap="square" lIns="91440" tIns="45720" rIns="91440" bIns="45720" rtlCol="0" anchor="t">
            <a:spAutoFit/>
          </a:bodyPr>
          <a:lstStyle/>
          <a:p>
            <a:pPr algn="ctr"/>
            <a:r>
              <a:rPr lang="de-DE" noProof="1">
                <a:cs typeface="Arial" panose="020B0604020202020204" pitchFamily="34" charset="0"/>
              </a:rPr>
              <a:t>savings</a:t>
            </a:r>
          </a:p>
        </p:txBody>
      </p:sp>
      <p:pic>
        <p:nvPicPr>
          <p:cNvPr id="13" name="Bildplatzhalter 12" descr="Ein Bild, das Clipart, Symbol, Grafiken, Logo enthält.&#10;&#10;KI-generierte Inhalte können fehlerhaft sein.">
            <a:extLst>
              <a:ext uri="{FF2B5EF4-FFF2-40B4-BE49-F238E27FC236}">
                <a16:creationId xmlns:a16="http://schemas.microsoft.com/office/drawing/2014/main" id="{4F83412D-55A0-C6D9-5ABF-07E5548FA857}"/>
              </a:ext>
            </a:extLst>
          </p:cNvPr>
          <p:cNvPicPr>
            <a:picLocks noGrp="1" noChangeAspect="1"/>
          </p:cNvPicPr>
          <p:nvPr>
            <p:ph type="pic" sz="quarter" idx="17"/>
          </p:nvPr>
        </p:nvPicPr>
        <p:blipFill>
          <a:blip r:embed="rId3"/>
          <a:srcRect t="5261" b="5261"/>
          <a:stretch/>
        </p:blipFill>
        <p:spPr>
          <a:xfrm>
            <a:off x="3912393" y="1905876"/>
            <a:ext cx="728664" cy="728663"/>
          </a:xfrm>
        </p:spPr>
      </p:pic>
      <p:pic>
        <p:nvPicPr>
          <p:cNvPr id="17" name="Grafik 16" descr="Ein Bild, das Logo, Grafiken, Screenshot, Grafikdesign enthält.&#10;&#10;KI-generierte Inhalte können fehlerhaft sein.">
            <a:extLst>
              <a:ext uri="{FF2B5EF4-FFF2-40B4-BE49-F238E27FC236}">
                <a16:creationId xmlns:a16="http://schemas.microsoft.com/office/drawing/2014/main" id="{72D00CE7-C242-BA06-EBFD-C5704F29BFAE}"/>
              </a:ext>
            </a:extLst>
          </p:cNvPr>
          <p:cNvPicPr>
            <a:picLocks noChangeAspect="1"/>
          </p:cNvPicPr>
          <p:nvPr/>
        </p:nvPicPr>
        <p:blipFill>
          <a:blip r:embed="rId4"/>
          <a:stretch>
            <a:fillRect/>
          </a:stretch>
        </p:blipFill>
        <p:spPr>
          <a:xfrm>
            <a:off x="6964639" y="1799499"/>
            <a:ext cx="834270" cy="834270"/>
          </a:xfrm>
          <a:prstGeom prst="rect">
            <a:avLst/>
          </a:prstGeom>
        </p:spPr>
      </p:pic>
      <p:pic>
        <p:nvPicPr>
          <p:cNvPr id="19" name="Grafik 18" descr="Ein Bild, das Grafiken, Clipart, Symbol, Cartoon enthält.&#10;&#10;KI-generierte Inhalte können fehlerhaft sein.">
            <a:extLst>
              <a:ext uri="{FF2B5EF4-FFF2-40B4-BE49-F238E27FC236}">
                <a16:creationId xmlns:a16="http://schemas.microsoft.com/office/drawing/2014/main" id="{D2B2E13A-B0C8-C0FC-9B4A-0448652B2A05}"/>
              </a:ext>
            </a:extLst>
          </p:cNvPr>
          <p:cNvPicPr>
            <a:picLocks noChangeAspect="1"/>
          </p:cNvPicPr>
          <p:nvPr/>
        </p:nvPicPr>
        <p:blipFill>
          <a:blip r:embed="rId5"/>
          <a:stretch>
            <a:fillRect/>
          </a:stretch>
        </p:blipFill>
        <p:spPr>
          <a:xfrm>
            <a:off x="809473" y="1843328"/>
            <a:ext cx="676275" cy="676275"/>
          </a:xfrm>
          <a:prstGeom prst="rect">
            <a:avLst/>
          </a:prstGeom>
        </p:spPr>
      </p:pic>
      <p:pic>
        <p:nvPicPr>
          <p:cNvPr id="20" name="Grafik 19" descr="Ein Bild, das Clipart, Cartoon, Darstellung enthält.&#10;&#10;KI-generierte Inhalte können fehlerhaft sein.">
            <a:extLst>
              <a:ext uri="{FF2B5EF4-FFF2-40B4-BE49-F238E27FC236}">
                <a16:creationId xmlns:a16="http://schemas.microsoft.com/office/drawing/2014/main" id="{AA8BB4B1-41E0-1051-5164-069E345334B7}"/>
              </a:ext>
            </a:extLst>
          </p:cNvPr>
          <p:cNvPicPr>
            <a:picLocks noChangeAspect="1"/>
          </p:cNvPicPr>
          <p:nvPr/>
        </p:nvPicPr>
        <p:blipFill>
          <a:blip r:embed="rId6"/>
          <a:stretch>
            <a:fillRect/>
          </a:stretch>
        </p:blipFill>
        <p:spPr>
          <a:xfrm>
            <a:off x="5335645" y="3262313"/>
            <a:ext cx="811884" cy="802929"/>
          </a:xfrm>
          <a:prstGeom prst="rect">
            <a:avLst/>
          </a:prstGeom>
        </p:spPr>
      </p:pic>
      <p:pic>
        <p:nvPicPr>
          <p:cNvPr id="22" name="Grafik 21" descr="Ein Bild, das Symbol, Screenshot, Kreis, Logo enthält.&#10;&#10;KI-generierte Inhalte können fehlerhaft sein.">
            <a:extLst>
              <a:ext uri="{FF2B5EF4-FFF2-40B4-BE49-F238E27FC236}">
                <a16:creationId xmlns:a16="http://schemas.microsoft.com/office/drawing/2014/main" id="{D9632A65-F1A7-E61C-F474-44256D8A4DAD}"/>
              </a:ext>
            </a:extLst>
          </p:cNvPr>
          <p:cNvPicPr>
            <a:picLocks noChangeAspect="1"/>
          </p:cNvPicPr>
          <p:nvPr/>
        </p:nvPicPr>
        <p:blipFill>
          <a:blip r:embed="rId7"/>
          <a:stretch>
            <a:fillRect/>
          </a:stretch>
        </p:blipFill>
        <p:spPr>
          <a:xfrm>
            <a:off x="2263047" y="3293388"/>
            <a:ext cx="733426" cy="790575"/>
          </a:xfrm>
          <a:prstGeom prst="rect">
            <a:avLst/>
          </a:prstGeom>
        </p:spPr>
      </p:pic>
      <p:sp>
        <p:nvSpPr>
          <p:cNvPr id="23" name="Textfeld 22">
            <a:extLst>
              <a:ext uri="{FF2B5EF4-FFF2-40B4-BE49-F238E27FC236}">
                <a16:creationId xmlns:a16="http://schemas.microsoft.com/office/drawing/2014/main" id="{2B741617-E75F-6AD6-293A-3ECD65B6946C}"/>
              </a:ext>
            </a:extLst>
          </p:cNvPr>
          <p:cNvSpPr txBox="1"/>
          <p:nvPr/>
        </p:nvSpPr>
        <p:spPr>
          <a:xfrm>
            <a:off x="2032588" y="4066034"/>
            <a:ext cx="1040313" cy="369332"/>
          </a:xfrm>
          <a:prstGeom prst="rect">
            <a:avLst/>
          </a:prstGeom>
          <a:noFill/>
        </p:spPr>
        <p:txBody>
          <a:bodyPr wrap="square" lIns="91440" tIns="45720" rIns="91440" bIns="45720" rtlCol="0" anchor="t">
            <a:spAutoFit/>
          </a:bodyPr>
          <a:lstStyle/>
          <a:p>
            <a:r>
              <a:rPr lang="de-DE" noProof="1">
                <a:solidFill>
                  <a:srgbClr val="000000"/>
                </a:solidFill>
                <a:ea typeface="Calibri"/>
                <a:cs typeface="Arial" panose="020B0604020202020204" pitchFamily="34" charset="0"/>
              </a:rPr>
              <a:t>duration</a:t>
            </a:r>
            <a:endParaRPr lang="de-DE" noProof="1">
              <a:cs typeface="Arial" panose="020B0604020202020204" pitchFamily="34" charset="0"/>
            </a:endParaRPr>
          </a:p>
        </p:txBody>
      </p:sp>
      <p:sp>
        <p:nvSpPr>
          <p:cNvPr id="9" name="Textfeld 8">
            <a:extLst>
              <a:ext uri="{FF2B5EF4-FFF2-40B4-BE49-F238E27FC236}">
                <a16:creationId xmlns:a16="http://schemas.microsoft.com/office/drawing/2014/main" id="{16DE37ED-9FC1-B002-D735-DD49AE575E63}"/>
              </a:ext>
            </a:extLst>
          </p:cNvPr>
          <p:cNvSpPr txBox="1"/>
          <p:nvPr/>
        </p:nvSpPr>
        <p:spPr>
          <a:xfrm>
            <a:off x="7851895" y="134610"/>
            <a:ext cx="1124923" cy="276999"/>
          </a:xfrm>
          <a:prstGeom prst="rect">
            <a:avLst/>
          </a:prstGeom>
          <a:noFill/>
        </p:spPr>
        <p:txBody>
          <a:bodyPr wrap="none" rtlCol="0">
            <a:spAutoFit/>
          </a:bodyPr>
          <a:lstStyle/>
          <a:p>
            <a:r>
              <a:rPr lang="de-DE" sz="1200" dirty="0"/>
              <a:t>Concept </a:t>
            </a:r>
            <a:r>
              <a:rPr lang="de-DE" sz="1200" dirty="0" err="1"/>
              <a:t>for</a:t>
            </a:r>
            <a:r>
              <a:rPr lang="de-DE" sz="1200" dirty="0"/>
              <a:t> DK</a:t>
            </a:r>
            <a:endParaRPr lang="en-US" sz="1200" dirty="0"/>
          </a:p>
        </p:txBody>
      </p:sp>
      <p:sp>
        <p:nvSpPr>
          <p:cNvPr id="10" name="Rechteck 9" descr="Lichter an mit einfarbiger Füllung">
            <a:extLst>
              <a:ext uri="{FF2B5EF4-FFF2-40B4-BE49-F238E27FC236}">
                <a16:creationId xmlns:a16="http://schemas.microsoft.com/office/drawing/2014/main" id="{36C7A7D7-C10C-C6A4-F624-68FF4D6122B5}"/>
              </a:ext>
            </a:extLst>
          </p:cNvPr>
          <p:cNvSpPr/>
          <p:nvPr/>
        </p:nvSpPr>
        <p:spPr>
          <a:xfrm>
            <a:off x="8804352" y="664349"/>
            <a:ext cx="277969" cy="277969"/>
          </a:xfrm>
          <a:prstGeom prst="rect">
            <a:avLst/>
          </a:prstGeom>
          <a:blipFill>
            <a:blip r:embed="rId8">
              <a:extLst>
                <a:ext uri="{96DAC541-7B7A-43D3-8B79-37D633B846F1}">
                  <asvg:svgBlip xmlns:asvg="http://schemas.microsoft.com/office/drawing/2016/SVG/main" r:embed="rId9"/>
                </a:ext>
              </a:extLst>
            </a:blip>
            <a:srcRect/>
            <a:stretch>
              <a:fillRect/>
            </a:stretch>
          </a:blipFill>
          <a:ln>
            <a:noFill/>
          </a:ln>
        </p:spPr>
        <p:style>
          <a:lnRef idx="2">
            <a:scrgbClr r="0" g="0" b="0"/>
          </a:lnRef>
          <a:fillRef idx="1">
            <a:scrgbClr r="0" g="0" b="0"/>
          </a:fillRef>
          <a:effectRef idx="0">
            <a:schemeClr val="accent2">
              <a:hueOff val="0"/>
              <a:satOff val="0"/>
              <a:lumOff val="0"/>
              <a:alphaOff val="0"/>
            </a:schemeClr>
          </a:effectRef>
          <a:fontRef idx="minor">
            <a:schemeClr val="lt1"/>
          </a:fontRef>
        </p:style>
        <p:txBody>
          <a:bodyPr/>
          <a:lstStyle/>
          <a:p>
            <a:endParaRPr lang="en-US"/>
          </a:p>
        </p:txBody>
      </p:sp>
      <p:sp>
        <p:nvSpPr>
          <p:cNvPr id="11" name="Rechteck 10" descr="Geschlossenes Buch mit einfarbiger Füllung">
            <a:extLst>
              <a:ext uri="{FF2B5EF4-FFF2-40B4-BE49-F238E27FC236}">
                <a16:creationId xmlns:a16="http://schemas.microsoft.com/office/drawing/2014/main" id="{6AC018A2-7649-4C91-C0A3-8CFBCD1A9D0E}"/>
              </a:ext>
            </a:extLst>
          </p:cNvPr>
          <p:cNvSpPr/>
          <p:nvPr/>
        </p:nvSpPr>
        <p:spPr>
          <a:xfrm>
            <a:off x="8804352" y="1043547"/>
            <a:ext cx="277969" cy="277969"/>
          </a:xfrm>
          <a:prstGeom prst="rect">
            <a:avLst/>
          </a:prstGeom>
          <a:blipFill>
            <a:blip r:embed="rId10">
              <a:extLst>
                <a:ext uri="{96DAC541-7B7A-43D3-8B79-37D633B846F1}">
                  <asvg:svgBlip xmlns:asvg="http://schemas.microsoft.com/office/drawing/2016/SVG/main" r:embed="rId11"/>
                </a:ext>
              </a:extLst>
            </a:blip>
            <a:srcRect/>
            <a:stretch>
              <a:fillRect/>
            </a:stretch>
          </a:blipFill>
          <a:ln>
            <a:noFill/>
          </a:ln>
        </p:spPr>
        <p:style>
          <a:lnRef idx="2">
            <a:scrgbClr r="0" g="0" b="0"/>
          </a:lnRef>
          <a:fillRef idx="1">
            <a:scrgbClr r="0" g="0" b="0"/>
          </a:fillRef>
          <a:effectRef idx="0">
            <a:schemeClr val="accent3">
              <a:hueOff val="0"/>
              <a:satOff val="0"/>
              <a:lumOff val="0"/>
              <a:alphaOff val="0"/>
            </a:schemeClr>
          </a:effectRef>
          <a:fontRef idx="minor">
            <a:schemeClr val="lt1"/>
          </a:fontRef>
        </p:style>
        <p:txBody>
          <a:bodyPr/>
          <a:lstStyle/>
          <a:p>
            <a:endParaRPr lang="en-US"/>
          </a:p>
        </p:txBody>
      </p:sp>
      <p:sp>
        <p:nvSpPr>
          <p:cNvPr id="12" name="Rechteck 11" descr="Netzwerk">
            <a:extLst>
              <a:ext uri="{FF2B5EF4-FFF2-40B4-BE49-F238E27FC236}">
                <a16:creationId xmlns:a16="http://schemas.microsoft.com/office/drawing/2014/main" id="{2E9AC5C8-433A-20EC-2DE4-3BF26298F038}"/>
              </a:ext>
            </a:extLst>
          </p:cNvPr>
          <p:cNvSpPr/>
          <p:nvPr/>
        </p:nvSpPr>
        <p:spPr>
          <a:xfrm>
            <a:off x="8804352" y="1379208"/>
            <a:ext cx="277969" cy="277969"/>
          </a:xfrm>
          <a:prstGeom prst="rect">
            <a:avLst/>
          </a:prstGeom>
          <a: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a:blipFill>
          <a:ln>
            <a:noFill/>
          </a:ln>
        </p:spPr>
        <p:style>
          <a:lnRef idx="2">
            <a:scrgbClr r="0" g="0" b="0"/>
          </a:lnRef>
          <a:fillRef idx="1">
            <a:scrgbClr r="0" g="0" b="0"/>
          </a:fillRef>
          <a:effectRef idx="0">
            <a:schemeClr val="accent4">
              <a:hueOff val="0"/>
              <a:satOff val="0"/>
              <a:lumOff val="0"/>
              <a:alphaOff val="0"/>
            </a:schemeClr>
          </a:effectRef>
          <a:fontRef idx="minor">
            <a:schemeClr val="lt1"/>
          </a:fontRef>
        </p:style>
        <p:txBody>
          <a:bodyPr/>
          <a:lstStyle/>
          <a:p>
            <a:endParaRPr lang="en-US"/>
          </a:p>
        </p:txBody>
      </p:sp>
      <p:sp>
        <p:nvSpPr>
          <p:cNvPr id="21" name="Rechteck 20" descr="Kreise mit Pfeilen mit einfarbiger Füllung">
            <a:extLst>
              <a:ext uri="{FF2B5EF4-FFF2-40B4-BE49-F238E27FC236}">
                <a16:creationId xmlns:a16="http://schemas.microsoft.com/office/drawing/2014/main" id="{A45B3C52-FF3C-E404-5DB1-92F4DD78D0F2}"/>
              </a:ext>
            </a:extLst>
          </p:cNvPr>
          <p:cNvSpPr/>
          <p:nvPr/>
        </p:nvSpPr>
        <p:spPr>
          <a:xfrm>
            <a:off x="8804352" y="1688740"/>
            <a:ext cx="277969" cy="277969"/>
          </a:xfrm>
          <a:prstGeom prst="rect">
            <a:avLst/>
          </a:prstGeom>
          <a:blipFill>
            <a:blip r:embed="rId14">
              <a:extLst>
                <a:ext uri="{96DAC541-7B7A-43D3-8B79-37D633B846F1}">
                  <asvg:svgBlip xmlns:asvg="http://schemas.microsoft.com/office/drawing/2016/SVG/main" r:embed="rId15"/>
                </a:ext>
              </a:extLst>
            </a:blip>
            <a:srcRect/>
            <a:stretch>
              <a:fillRect/>
            </a:stretch>
          </a:blipFill>
          <a:ln>
            <a:noFill/>
          </a:ln>
        </p:spPr>
        <p:style>
          <a:lnRef idx="2">
            <a:scrgbClr r="0" g="0" b="0"/>
          </a:lnRef>
          <a:fillRef idx="1">
            <a:scrgbClr r="0" g="0" b="0"/>
          </a:fillRef>
          <a:effectRef idx="0">
            <a:schemeClr val="accent5">
              <a:hueOff val="0"/>
              <a:satOff val="0"/>
              <a:lumOff val="0"/>
              <a:alphaOff val="0"/>
            </a:schemeClr>
          </a:effectRef>
          <a:fontRef idx="minor">
            <a:schemeClr val="lt1"/>
          </a:fontRef>
        </p:style>
        <p:txBody>
          <a:bodyPr/>
          <a:lstStyle/>
          <a:p>
            <a:endParaRPr lang="en-US"/>
          </a:p>
        </p:txBody>
      </p:sp>
      <p:sp>
        <p:nvSpPr>
          <p:cNvPr id="24" name="Rechteck 23" descr="Prüfliste">
            <a:extLst>
              <a:ext uri="{FF2B5EF4-FFF2-40B4-BE49-F238E27FC236}">
                <a16:creationId xmlns:a16="http://schemas.microsoft.com/office/drawing/2014/main" id="{7B870B60-7401-218E-CB63-17A01C4B5DE6}"/>
              </a:ext>
            </a:extLst>
          </p:cNvPr>
          <p:cNvSpPr/>
          <p:nvPr/>
        </p:nvSpPr>
        <p:spPr>
          <a:xfrm>
            <a:off x="8804352" y="2006980"/>
            <a:ext cx="277969" cy="277969"/>
          </a:xfrm>
          <a:prstGeom prst="rect">
            <a:avLst/>
          </a:prstGeom>
          <a: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a:blipFill>
          <a:ln>
            <a:noFill/>
          </a:ln>
        </p:spPr>
        <p:style>
          <a:lnRef idx="2">
            <a:scrgbClr r="0" g="0" b="0"/>
          </a:lnRef>
          <a:fillRef idx="1">
            <a:scrgbClr r="0" g="0" b="0"/>
          </a:fillRef>
          <a:effectRef idx="0">
            <a:schemeClr val="accent6">
              <a:hueOff val="0"/>
              <a:satOff val="0"/>
              <a:lumOff val="0"/>
              <a:alphaOff val="0"/>
            </a:schemeClr>
          </a:effectRef>
          <a:fontRef idx="minor">
            <a:schemeClr val="lt1"/>
          </a:fontRef>
        </p:style>
        <p:txBody>
          <a:bodyPr/>
          <a:lstStyle/>
          <a:p>
            <a:endParaRPr lang="en-US"/>
          </a:p>
        </p:txBody>
      </p:sp>
      <p:sp>
        <p:nvSpPr>
          <p:cNvPr id="25" name="Rechteck 24" descr="Auktionshammer">
            <a:extLst>
              <a:ext uri="{FF2B5EF4-FFF2-40B4-BE49-F238E27FC236}">
                <a16:creationId xmlns:a16="http://schemas.microsoft.com/office/drawing/2014/main" id="{A82AEB22-91B6-0BE4-73F9-40777474D95E}"/>
              </a:ext>
            </a:extLst>
          </p:cNvPr>
          <p:cNvSpPr/>
          <p:nvPr/>
        </p:nvSpPr>
        <p:spPr>
          <a:xfrm>
            <a:off x="8804352" y="2316507"/>
            <a:ext cx="277969" cy="277969"/>
          </a:xfrm>
          <a:prstGeom prst="rect">
            <a:avLst/>
          </a:prstGeom>
          <a: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a:blipFill>
          <a:ln>
            <a:noFill/>
          </a:ln>
        </p:spPr>
        <p:style>
          <a:lnRef idx="2">
            <a:scrgbClr r="0" g="0" b="0"/>
          </a:lnRef>
          <a:fillRef idx="1">
            <a:scrgbClr r="0" g="0" b="0"/>
          </a:fillRef>
          <a:effectRef idx="0">
            <a:schemeClr val="accent2">
              <a:hueOff val="0"/>
              <a:satOff val="0"/>
              <a:lumOff val="0"/>
              <a:alphaOff val="0"/>
            </a:schemeClr>
          </a:effectRef>
          <a:fontRef idx="minor">
            <a:schemeClr val="lt1"/>
          </a:fontRef>
        </p:style>
        <p:txBody>
          <a:bodyPr/>
          <a:lstStyle/>
          <a:p>
            <a:endParaRPr lang="en-US"/>
          </a:p>
        </p:txBody>
      </p:sp>
      <p:sp>
        <p:nvSpPr>
          <p:cNvPr id="28" name="Rechteck 27" descr="Netzwerk">
            <a:extLst>
              <a:ext uri="{FF2B5EF4-FFF2-40B4-BE49-F238E27FC236}">
                <a16:creationId xmlns:a16="http://schemas.microsoft.com/office/drawing/2014/main" id="{10540A0C-9F70-E87F-3720-428ED56B87CD}"/>
              </a:ext>
            </a:extLst>
          </p:cNvPr>
          <p:cNvSpPr/>
          <p:nvPr/>
        </p:nvSpPr>
        <p:spPr>
          <a:xfrm>
            <a:off x="7601428" y="127192"/>
            <a:ext cx="277969" cy="277969"/>
          </a:xfrm>
          <a:prstGeom prst="rect">
            <a:avLst/>
          </a:prstGeom>
          <a: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a:blipFill>
          <a:ln>
            <a:noFill/>
          </a:ln>
        </p:spPr>
        <p:style>
          <a:lnRef idx="2">
            <a:scrgbClr r="0" g="0" b="0"/>
          </a:lnRef>
          <a:fillRef idx="1">
            <a:scrgbClr r="0" g="0" b="0"/>
          </a:fillRef>
          <a:effectRef idx="0">
            <a:schemeClr val="accent4">
              <a:hueOff val="0"/>
              <a:satOff val="0"/>
              <a:lumOff val="0"/>
              <a:alphaOff val="0"/>
            </a:schemeClr>
          </a:effectRef>
          <a:fontRef idx="minor">
            <a:schemeClr val="lt1"/>
          </a:fontRef>
        </p:style>
        <p:txBody>
          <a:bodyPr/>
          <a:lstStyle/>
          <a:p>
            <a:endParaRPr lang="en-US"/>
          </a:p>
        </p:txBody>
      </p:sp>
    </p:spTree>
    <p:extLst>
      <p:ext uri="{BB962C8B-B14F-4D97-AF65-F5344CB8AC3E}">
        <p14:creationId xmlns:p14="http://schemas.microsoft.com/office/powerpoint/2010/main" val="1528418893"/>
      </p:ext>
    </p:extLst>
  </p:cSld>
  <p:clrMapOvr>
    <a:masterClrMapping/>
  </p:clrMapOvr>
  <p:transition spd="slow">
    <p:push dir="u"/>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Rechteck 32">
            <a:extLst>
              <a:ext uri="{FF2B5EF4-FFF2-40B4-BE49-F238E27FC236}">
                <a16:creationId xmlns:a16="http://schemas.microsoft.com/office/drawing/2014/main" id="{F3852DDE-9E5A-8683-F8B7-D70538344B73}"/>
              </a:ext>
            </a:extLst>
          </p:cNvPr>
          <p:cNvSpPr/>
          <p:nvPr/>
        </p:nvSpPr>
        <p:spPr>
          <a:xfrm>
            <a:off x="2858013" y="719811"/>
            <a:ext cx="3427974" cy="4231436"/>
          </a:xfrm>
          <a:prstGeom prst="rect">
            <a:avLst/>
          </a:prstGeom>
          <a:gradFill flip="none" rotWithShape="1">
            <a:gsLst>
              <a:gs pos="0">
                <a:schemeClr val="accent1">
                  <a:tint val="66000"/>
                  <a:satMod val="160000"/>
                  <a:alpha val="50000"/>
                </a:schemeClr>
              </a:gs>
              <a:gs pos="50000">
                <a:schemeClr val="accent1">
                  <a:tint val="44500"/>
                  <a:satMod val="160000"/>
                  <a:alpha val="50000"/>
                </a:schemeClr>
              </a:gs>
              <a:gs pos="100000">
                <a:schemeClr val="accent1">
                  <a:tint val="23500"/>
                  <a:satMod val="160000"/>
                  <a:alpha val="50000"/>
                </a:schemeClr>
              </a:gs>
            </a:gsLst>
            <a:path path="circle">
              <a:fillToRect l="100000" t="100000"/>
            </a:path>
            <a:tileRect r="-100000" b="-100000"/>
          </a:grad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endParaRPr lang="de-DE" sz="1600" noProof="1">
              <a:solidFill>
                <a:schemeClr val="tx1"/>
              </a:solidFill>
              <a:latin typeface="Arial" panose="020B0604020202020204" pitchFamily="34" charset="0"/>
              <a:cs typeface="Arial" panose="020B0604020202020204" pitchFamily="34" charset="0"/>
            </a:endParaRPr>
          </a:p>
        </p:txBody>
      </p:sp>
      <p:sp>
        <p:nvSpPr>
          <p:cNvPr id="23" name="Rechteck 22">
            <a:extLst>
              <a:ext uri="{FF2B5EF4-FFF2-40B4-BE49-F238E27FC236}">
                <a16:creationId xmlns:a16="http://schemas.microsoft.com/office/drawing/2014/main" id="{60220AE7-6489-8CF2-E8EC-88BDC4243915}"/>
              </a:ext>
            </a:extLst>
          </p:cNvPr>
          <p:cNvSpPr/>
          <p:nvPr/>
        </p:nvSpPr>
        <p:spPr>
          <a:xfrm>
            <a:off x="6462349" y="719950"/>
            <a:ext cx="2359710" cy="4231436"/>
          </a:xfrm>
          <a:prstGeom prst="rect">
            <a:avLst/>
          </a:prstGeom>
          <a:gradFill flip="none" rotWithShape="1">
            <a:gsLst>
              <a:gs pos="0">
                <a:schemeClr val="accent3">
                  <a:lumMod val="20000"/>
                  <a:lumOff val="80000"/>
                </a:schemeClr>
              </a:gs>
              <a:gs pos="50000">
                <a:schemeClr val="accent1">
                  <a:tint val="44500"/>
                  <a:satMod val="160000"/>
                  <a:alpha val="50000"/>
                </a:schemeClr>
              </a:gs>
              <a:gs pos="100000">
                <a:schemeClr val="accent1">
                  <a:tint val="23500"/>
                  <a:satMod val="160000"/>
                  <a:alpha val="50000"/>
                </a:schemeClr>
              </a:gs>
            </a:gsLst>
            <a:path path="circle">
              <a:fillToRect l="100000" t="100000"/>
            </a:path>
            <a:tileRect r="-100000" b="-100000"/>
          </a:grad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de-DE" sz="1400" noProof="1">
                <a:solidFill>
                  <a:schemeClr val="tx1">
                    <a:lumMod val="75000"/>
                    <a:lumOff val="25000"/>
                  </a:schemeClr>
                </a:solidFill>
                <a:latin typeface="Arial" panose="020B0604020202020204" pitchFamily="34" charset="0"/>
                <a:cs typeface="Arial" panose="020B0604020202020204" pitchFamily="34" charset="0"/>
              </a:rPr>
              <a:t>External Knowledge</a:t>
            </a:r>
            <a:endParaRPr lang="de-DE" noProof="1">
              <a:solidFill>
                <a:schemeClr val="tx1">
                  <a:lumMod val="75000"/>
                  <a:lumOff val="25000"/>
                </a:schemeClr>
              </a:solidFill>
              <a:latin typeface="Arial" panose="020B0604020202020204" pitchFamily="34" charset="0"/>
              <a:cs typeface="Arial" panose="020B0604020202020204" pitchFamily="34" charset="0"/>
            </a:endParaRPr>
          </a:p>
        </p:txBody>
      </p:sp>
      <p:sp>
        <p:nvSpPr>
          <p:cNvPr id="22" name="Rechteck 21">
            <a:extLst>
              <a:ext uri="{FF2B5EF4-FFF2-40B4-BE49-F238E27FC236}">
                <a16:creationId xmlns:a16="http://schemas.microsoft.com/office/drawing/2014/main" id="{403CAC57-BF31-393C-EFE3-702175E7DE78}"/>
              </a:ext>
            </a:extLst>
          </p:cNvPr>
          <p:cNvSpPr/>
          <p:nvPr/>
        </p:nvSpPr>
        <p:spPr>
          <a:xfrm>
            <a:off x="300294" y="719950"/>
            <a:ext cx="2359710" cy="4231436"/>
          </a:xfrm>
          <a:prstGeom prst="rect">
            <a:avLst/>
          </a:prstGeom>
          <a:gradFill flip="none" rotWithShape="1">
            <a:gsLst>
              <a:gs pos="0">
                <a:schemeClr val="accent3">
                  <a:lumMod val="20000"/>
                  <a:lumOff val="80000"/>
                </a:schemeClr>
              </a:gs>
              <a:gs pos="50000">
                <a:schemeClr val="accent1">
                  <a:tint val="44500"/>
                  <a:satMod val="160000"/>
                  <a:alpha val="50000"/>
                </a:schemeClr>
              </a:gs>
              <a:gs pos="100000">
                <a:schemeClr val="accent1">
                  <a:tint val="23500"/>
                  <a:satMod val="160000"/>
                  <a:alpha val="50000"/>
                </a:schemeClr>
              </a:gs>
            </a:gsLst>
            <a:path path="circle">
              <a:fillToRect l="100000" t="100000"/>
            </a:path>
            <a:tileRect r="-100000" b="-100000"/>
          </a:grad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de-DE" sz="1400" noProof="1">
                <a:solidFill>
                  <a:schemeClr val="tx1">
                    <a:lumMod val="75000"/>
                    <a:lumOff val="25000"/>
                  </a:schemeClr>
                </a:solidFill>
                <a:latin typeface="Arial" panose="020B0604020202020204" pitchFamily="34" charset="0"/>
                <a:cs typeface="Arial" panose="020B0604020202020204" pitchFamily="34" charset="0"/>
              </a:rPr>
              <a:t>XAI</a:t>
            </a:r>
            <a:endParaRPr lang="de-DE" noProof="1">
              <a:solidFill>
                <a:schemeClr val="tx1">
                  <a:lumMod val="75000"/>
                  <a:lumOff val="25000"/>
                </a:schemeClr>
              </a:solidFill>
              <a:latin typeface="Arial" panose="020B0604020202020204" pitchFamily="34" charset="0"/>
              <a:cs typeface="Arial" panose="020B0604020202020204" pitchFamily="34" charset="0"/>
            </a:endParaRPr>
          </a:p>
        </p:txBody>
      </p:sp>
      <p:sp>
        <p:nvSpPr>
          <p:cNvPr id="2" name="Titel 1"/>
          <p:cNvSpPr>
            <a:spLocks noGrp="1"/>
          </p:cNvSpPr>
          <p:nvPr>
            <p:ph type="ctrTitle"/>
          </p:nvPr>
        </p:nvSpPr>
        <p:spPr>
          <a:xfrm>
            <a:off x="403380" y="303213"/>
            <a:ext cx="7432604" cy="374293"/>
          </a:xfrm>
        </p:spPr>
        <p:txBody>
          <a:bodyPr/>
          <a:lstStyle/>
          <a:p>
            <a:r>
              <a:rPr lang="de-DE" sz="2000" noProof="1"/>
              <a:t>Unified Explanations</a:t>
            </a:r>
          </a:p>
        </p:txBody>
      </p:sp>
      <p:sp>
        <p:nvSpPr>
          <p:cNvPr id="4" name="Datumsplatzhalter 3"/>
          <p:cNvSpPr>
            <a:spLocks noGrp="1"/>
          </p:cNvSpPr>
          <p:nvPr>
            <p:ph type="dt" sz="half" idx="10"/>
          </p:nvPr>
        </p:nvSpPr>
        <p:spPr/>
        <p:txBody>
          <a:bodyPr/>
          <a:lstStyle/>
          <a:p>
            <a:r>
              <a:rPr lang="en-US" noProof="1"/>
              <a:t>18.08.2025</a:t>
            </a:r>
            <a:endParaRPr lang="de-DE" noProof="1"/>
          </a:p>
        </p:txBody>
      </p:sp>
      <p:sp>
        <p:nvSpPr>
          <p:cNvPr id="5" name="Fußzeilenplatzhalter 4"/>
          <p:cNvSpPr>
            <a:spLocks noGrp="1"/>
          </p:cNvSpPr>
          <p:nvPr>
            <p:ph type="ftr" sz="quarter" idx="11"/>
          </p:nvPr>
        </p:nvSpPr>
        <p:spPr/>
        <p:txBody>
          <a:bodyPr/>
          <a:lstStyle/>
          <a:p>
            <a:r>
              <a:rPr lang="en-US" noProof="1"/>
              <a:t>Enhancing model transparency: Effects of DK Integration for Conversational XAI | Feustel</a:t>
            </a:r>
            <a:endParaRPr lang="de-DE" noProof="1"/>
          </a:p>
        </p:txBody>
      </p:sp>
      <p:sp>
        <p:nvSpPr>
          <p:cNvPr id="6" name="Foliennummernplatzhalter 5"/>
          <p:cNvSpPr>
            <a:spLocks noGrp="1"/>
          </p:cNvSpPr>
          <p:nvPr>
            <p:ph type="sldNum" sz="quarter" idx="12"/>
          </p:nvPr>
        </p:nvSpPr>
        <p:spPr/>
        <p:txBody>
          <a:bodyPr/>
          <a:lstStyle/>
          <a:p>
            <a:r>
              <a:rPr lang="de-DE" noProof="1"/>
              <a:t> </a:t>
            </a:r>
            <a:fld id="{FE120BDC-5456-EC41-8BB6-7A3B726EA19B}" type="slidenum">
              <a:rPr lang="de-DE" noProof="1" smtClean="0"/>
              <a:pPr/>
              <a:t>14</a:t>
            </a:fld>
            <a:endParaRPr lang="de-DE" noProof="1"/>
          </a:p>
        </p:txBody>
      </p:sp>
      <p:sp>
        <p:nvSpPr>
          <p:cNvPr id="3" name="Rechteck 2">
            <a:extLst>
              <a:ext uri="{FF2B5EF4-FFF2-40B4-BE49-F238E27FC236}">
                <a16:creationId xmlns:a16="http://schemas.microsoft.com/office/drawing/2014/main" id="{CE593D7E-5D47-C879-2E34-6CEAC94E812F}"/>
              </a:ext>
            </a:extLst>
          </p:cNvPr>
          <p:cNvSpPr/>
          <p:nvPr/>
        </p:nvSpPr>
        <p:spPr>
          <a:xfrm>
            <a:off x="403380" y="1067219"/>
            <a:ext cx="2144868" cy="1196877"/>
          </a:xfrm>
          <a:prstGeom prst="rect">
            <a:avLst/>
          </a:prstGeom>
          <a:ln>
            <a:no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de-DE" sz="1400" noProof="1">
                <a:latin typeface="Arial" panose="020B0604020202020204" pitchFamily="34" charset="0"/>
                <a:cs typeface="Arial" panose="020B0604020202020204" pitchFamily="34" charset="0"/>
              </a:rPr>
              <a:t>For the given case, purpose is the most influential feature.</a:t>
            </a:r>
          </a:p>
        </p:txBody>
      </p:sp>
      <p:sp>
        <p:nvSpPr>
          <p:cNvPr id="7" name="Rechteck 6">
            <a:extLst>
              <a:ext uri="{FF2B5EF4-FFF2-40B4-BE49-F238E27FC236}">
                <a16:creationId xmlns:a16="http://schemas.microsoft.com/office/drawing/2014/main" id="{F090E60C-84AD-ABA8-57B2-6E150A5EA9E1}"/>
              </a:ext>
            </a:extLst>
          </p:cNvPr>
          <p:cNvSpPr/>
          <p:nvPr/>
        </p:nvSpPr>
        <p:spPr>
          <a:xfrm>
            <a:off x="397156" y="3712064"/>
            <a:ext cx="2144868" cy="1196877"/>
          </a:xfrm>
          <a:prstGeom prst="rect">
            <a:avLst/>
          </a:prstGeom>
          <a:ln>
            <a:noFill/>
          </a:ln>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de-DE" sz="1400" noProof="1">
                <a:latin typeface="Arial" panose="020B0604020202020204" pitchFamily="34" charset="0"/>
                <a:cs typeface="Arial" panose="020B0604020202020204" pitchFamily="34" charset="0"/>
              </a:rPr>
              <a:t>Credit applications for used cars have a higher acceptance rate (83%) compared to those for new cars (62%).</a:t>
            </a:r>
          </a:p>
        </p:txBody>
      </p:sp>
      <p:sp>
        <p:nvSpPr>
          <p:cNvPr id="9" name="Rechteck 8">
            <a:extLst>
              <a:ext uri="{FF2B5EF4-FFF2-40B4-BE49-F238E27FC236}">
                <a16:creationId xmlns:a16="http://schemas.microsoft.com/office/drawing/2014/main" id="{7003F233-7350-CE97-DAFB-F1056B2B2BF5}"/>
              </a:ext>
            </a:extLst>
          </p:cNvPr>
          <p:cNvSpPr/>
          <p:nvPr/>
        </p:nvSpPr>
        <p:spPr>
          <a:xfrm>
            <a:off x="6601976" y="1056595"/>
            <a:ext cx="2144868" cy="1196877"/>
          </a:xfrm>
          <a:prstGeom prst="rect">
            <a:avLst/>
          </a:prstGeom>
          <a:solidFill>
            <a:schemeClr val="accent4"/>
          </a:solidFill>
          <a:ln>
            <a:noFill/>
          </a:ln>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de-DE" sz="1400" noProof="1">
                <a:latin typeface="Arial" panose="020B0604020202020204" pitchFamily="34" charset="0"/>
                <a:cs typeface="Arial" panose="020B0604020202020204" pitchFamily="34" charset="0"/>
              </a:rPr>
              <a:t>Used cars typically cost less than new cars. This leads to smaller loan amounts, reducing the lender's risk.</a:t>
            </a:r>
          </a:p>
        </p:txBody>
      </p:sp>
      <p:sp>
        <p:nvSpPr>
          <p:cNvPr id="11" name="Rechteck 10">
            <a:extLst>
              <a:ext uri="{FF2B5EF4-FFF2-40B4-BE49-F238E27FC236}">
                <a16:creationId xmlns:a16="http://schemas.microsoft.com/office/drawing/2014/main" id="{3D6592A4-12AB-ADB0-4D70-0B20BB9A4047}"/>
              </a:ext>
            </a:extLst>
          </p:cNvPr>
          <p:cNvSpPr/>
          <p:nvPr/>
        </p:nvSpPr>
        <p:spPr>
          <a:xfrm>
            <a:off x="6601976" y="3712063"/>
            <a:ext cx="2144868" cy="1196877"/>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de-DE" sz="1400" noProof="1">
                <a:latin typeface="Arial" panose="020B0604020202020204" pitchFamily="34" charset="0"/>
                <a:cs typeface="Arial" panose="020B0604020202020204" pitchFamily="34" charset="0"/>
              </a:rPr>
              <a:t>New cars often serve as status symbols, while used cars are primarily viewed as a means of transportation.</a:t>
            </a:r>
          </a:p>
        </p:txBody>
      </p:sp>
      <p:sp>
        <p:nvSpPr>
          <p:cNvPr id="13" name="Ellipse 12">
            <a:extLst>
              <a:ext uri="{FF2B5EF4-FFF2-40B4-BE49-F238E27FC236}">
                <a16:creationId xmlns:a16="http://schemas.microsoft.com/office/drawing/2014/main" id="{4A4E6889-AC86-9A6F-F3B5-1FAD66F630C2}"/>
              </a:ext>
            </a:extLst>
          </p:cNvPr>
          <p:cNvSpPr/>
          <p:nvPr/>
        </p:nvSpPr>
        <p:spPr>
          <a:xfrm>
            <a:off x="6939887" y="2358965"/>
            <a:ext cx="1555143" cy="587439"/>
          </a:xfrm>
          <a:prstGeom prst="ellipse">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400" noProof="1">
                <a:latin typeface="Arial" panose="020B0604020202020204" pitchFamily="34" charset="0"/>
                <a:cs typeface="Arial" panose="020B0604020202020204" pitchFamily="34" charset="0"/>
              </a:rPr>
              <a:t>Domain Knowledge</a:t>
            </a:r>
          </a:p>
        </p:txBody>
      </p:sp>
      <p:sp>
        <p:nvSpPr>
          <p:cNvPr id="16" name="Ellipse 15">
            <a:extLst>
              <a:ext uri="{FF2B5EF4-FFF2-40B4-BE49-F238E27FC236}">
                <a16:creationId xmlns:a16="http://schemas.microsoft.com/office/drawing/2014/main" id="{4CC16A71-0DB0-C51C-E3F0-E052B07C9759}"/>
              </a:ext>
            </a:extLst>
          </p:cNvPr>
          <p:cNvSpPr/>
          <p:nvPr/>
        </p:nvSpPr>
        <p:spPr>
          <a:xfrm>
            <a:off x="6939887" y="3028678"/>
            <a:ext cx="1555143" cy="587439"/>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400" noProof="1">
                <a:latin typeface="Arial" panose="020B0604020202020204" pitchFamily="34" charset="0"/>
                <a:cs typeface="Arial" panose="020B0604020202020204" pitchFamily="34" charset="0"/>
              </a:rPr>
              <a:t>World Knowledge</a:t>
            </a:r>
          </a:p>
        </p:txBody>
      </p:sp>
      <p:sp>
        <p:nvSpPr>
          <p:cNvPr id="18" name="Ellipse 17">
            <a:extLst>
              <a:ext uri="{FF2B5EF4-FFF2-40B4-BE49-F238E27FC236}">
                <a16:creationId xmlns:a16="http://schemas.microsoft.com/office/drawing/2014/main" id="{418350F8-E8C8-5ABE-6DC2-2AFBBC7430B8}"/>
              </a:ext>
            </a:extLst>
          </p:cNvPr>
          <p:cNvSpPr/>
          <p:nvPr/>
        </p:nvSpPr>
        <p:spPr>
          <a:xfrm>
            <a:off x="686385" y="2400640"/>
            <a:ext cx="1587528" cy="587439"/>
          </a:xfrm>
          <a:prstGeom prst="ellipse">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400" noProof="1">
                <a:latin typeface="Arial" panose="020B0604020202020204" pitchFamily="34" charset="0"/>
                <a:cs typeface="Arial" panose="020B0604020202020204" pitchFamily="34" charset="0"/>
              </a:rPr>
              <a:t>Model</a:t>
            </a:r>
          </a:p>
        </p:txBody>
      </p:sp>
      <p:sp>
        <p:nvSpPr>
          <p:cNvPr id="19" name="Ellipse 18">
            <a:extLst>
              <a:ext uri="{FF2B5EF4-FFF2-40B4-BE49-F238E27FC236}">
                <a16:creationId xmlns:a16="http://schemas.microsoft.com/office/drawing/2014/main" id="{8D65F967-D806-879A-A602-11C045F0ECAF}"/>
              </a:ext>
            </a:extLst>
          </p:cNvPr>
          <p:cNvSpPr/>
          <p:nvPr/>
        </p:nvSpPr>
        <p:spPr>
          <a:xfrm>
            <a:off x="686385" y="3049649"/>
            <a:ext cx="1587528" cy="587439"/>
          </a:xfrm>
          <a:prstGeom prst="ellipse">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400" noProof="1">
                <a:latin typeface="Arial" panose="020B0604020202020204" pitchFamily="34" charset="0"/>
                <a:cs typeface="Arial" panose="020B0604020202020204" pitchFamily="34" charset="0"/>
              </a:rPr>
              <a:t>Data</a:t>
            </a:r>
          </a:p>
        </p:txBody>
      </p:sp>
      <p:sp>
        <p:nvSpPr>
          <p:cNvPr id="37" name="Rechteck 36">
            <a:extLst>
              <a:ext uri="{FF2B5EF4-FFF2-40B4-BE49-F238E27FC236}">
                <a16:creationId xmlns:a16="http://schemas.microsoft.com/office/drawing/2014/main" id="{4DE0EF2E-6BBE-363E-1BF2-873ECCA5D513}"/>
              </a:ext>
            </a:extLst>
          </p:cNvPr>
          <p:cNvSpPr/>
          <p:nvPr/>
        </p:nvSpPr>
        <p:spPr>
          <a:xfrm>
            <a:off x="2964800" y="813581"/>
            <a:ext cx="3251755" cy="507276"/>
          </a:xfrm>
          <a:prstGeom prst="rect">
            <a:avLst/>
          </a:prstGeom>
          <a:solidFill>
            <a:srgbClr val="70AD47">
              <a:alpha val="89804"/>
            </a:srgbClr>
          </a:solidFill>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de-DE" noProof="1"/>
          </a:p>
        </p:txBody>
      </p:sp>
      <p:sp>
        <p:nvSpPr>
          <p:cNvPr id="38" name="Rechteck 37">
            <a:extLst>
              <a:ext uri="{FF2B5EF4-FFF2-40B4-BE49-F238E27FC236}">
                <a16:creationId xmlns:a16="http://schemas.microsoft.com/office/drawing/2014/main" id="{58D8629D-8274-B81A-EF8C-1A735EA50B69}"/>
              </a:ext>
            </a:extLst>
          </p:cNvPr>
          <p:cNvSpPr/>
          <p:nvPr/>
        </p:nvSpPr>
        <p:spPr>
          <a:xfrm>
            <a:off x="2951834" y="1474394"/>
            <a:ext cx="3264721" cy="926246"/>
          </a:xfrm>
          <a:prstGeom prst="rect">
            <a:avLst/>
          </a:prstGeom>
          <a:solidFill>
            <a:srgbClr val="5B9BD5">
              <a:alpha val="89804"/>
            </a:srgbClr>
          </a:solidFill>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de-DE" noProof="1"/>
          </a:p>
        </p:txBody>
      </p:sp>
      <p:sp>
        <p:nvSpPr>
          <p:cNvPr id="39" name="Rechteck 38">
            <a:extLst>
              <a:ext uri="{FF2B5EF4-FFF2-40B4-BE49-F238E27FC236}">
                <a16:creationId xmlns:a16="http://schemas.microsoft.com/office/drawing/2014/main" id="{C5167029-8FC3-2448-D6E1-CCEAC416EB05}"/>
              </a:ext>
            </a:extLst>
          </p:cNvPr>
          <p:cNvSpPr/>
          <p:nvPr/>
        </p:nvSpPr>
        <p:spPr>
          <a:xfrm>
            <a:off x="2964800" y="2483738"/>
            <a:ext cx="3251755" cy="2292978"/>
          </a:xfrm>
          <a:prstGeom prst="rect">
            <a:avLst/>
          </a:prstGeom>
          <a:gradFill>
            <a:gsLst>
              <a:gs pos="0">
                <a:schemeClr val="accent4">
                  <a:alpha val="80000"/>
                </a:schemeClr>
              </a:gs>
              <a:gs pos="100000">
                <a:schemeClr val="accent2">
                  <a:alpha val="80000"/>
                </a:schemeClr>
              </a:gs>
            </a:gsLst>
            <a:lin ang="5400000" scaled="1"/>
          </a:gradFill>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de-DE" noProof="1"/>
          </a:p>
        </p:txBody>
      </p:sp>
      <p:sp>
        <p:nvSpPr>
          <p:cNvPr id="36" name="Textfeld 35">
            <a:extLst>
              <a:ext uri="{FF2B5EF4-FFF2-40B4-BE49-F238E27FC236}">
                <a16:creationId xmlns:a16="http://schemas.microsoft.com/office/drawing/2014/main" id="{7E1486A0-4B52-C47D-D824-769B567238C8}"/>
              </a:ext>
            </a:extLst>
          </p:cNvPr>
          <p:cNvSpPr txBox="1"/>
          <p:nvPr/>
        </p:nvSpPr>
        <p:spPr>
          <a:xfrm>
            <a:off x="2927193" y="802909"/>
            <a:ext cx="3149066" cy="4185761"/>
          </a:xfrm>
          <a:prstGeom prst="rect">
            <a:avLst/>
          </a:prstGeom>
          <a:noFill/>
        </p:spPr>
        <p:txBody>
          <a:bodyPr wrap="square">
            <a:spAutoFit/>
          </a:bodyPr>
          <a:lstStyle/>
          <a:p>
            <a:r>
              <a:rPr lang="de-DE" sz="1400" noProof="1">
                <a:solidFill>
                  <a:srgbClr val="000000"/>
                </a:solidFill>
                <a:latin typeface="Arial" panose="020B0604020202020204" pitchFamily="34" charset="0"/>
                <a:cs typeface="Arial" panose="020B0604020202020204" pitchFamily="34" charset="0"/>
              </a:rPr>
              <a:t>In this case, the purpose influenced the loan approval decision.</a:t>
            </a:r>
          </a:p>
          <a:p>
            <a:r>
              <a:rPr lang="de-DE" sz="1400" noProof="1">
                <a:solidFill>
                  <a:srgbClr val="000000"/>
                </a:solidFill>
                <a:latin typeface="Arial" panose="020B0604020202020204" pitchFamily="34" charset="0"/>
                <a:cs typeface="Arial" panose="020B0604020202020204" pitchFamily="34" charset="0"/>
              </a:rPr>
              <a:t> </a:t>
            </a:r>
          </a:p>
          <a:p>
            <a:r>
              <a:rPr lang="de-DE" sz="1400" noProof="1">
                <a:solidFill>
                  <a:srgbClr val="000000"/>
                </a:solidFill>
                <a:latin typeface="Arial" panose="020B0604020202020204" pitchFamily="34" charset="0"/>
                <a:cs typeface="Arial" panose="020B0604020202020204" pitchFamily="34" charset="0"/>
              </a:rPr>
              <a:t>This can be explained by the disparity between used car and new car loans, with acceptance rates of 83% and 62% respectively. </a:t>
            </a:r>
          </a:p>
          <a:p>
            <a:r>
              <a:rPr lang="de-DE" sz="1400" noProof="1">
                <a:solidFill>
                  <a:srgbClr val="000000"/>
                </a:solidFill>
                <a:latin typeface="Arial" panose="020B0604020202020204" pitchFamily="34" charset="0"/>
                <a:cs typeface="Arial" panose="020B0604020202020204" pitchFamily="34" charset="0"/>
              </a:rPr>
              <a:t> </a:t>
            </a:r>
          </a:p>
          <a:p>
            <a:r>
              <a:rPr lang="de-DE" sz="1400" noProof="1">
                <a:solidFill>
                  <a:srgbClr val="000000"/>
                </a:solidFill>
                <a:latin typeface="Arial" panose="020B0604020202020204" pitchFamily="34" charset="0"/>
                <a:cs typeface="Arial" panose="020B0604020202020204" pitchFamily="34" charset="0"/>
              </a:rPr>
              <a:t>Further, used cars, primarily viewed as a means of transportation, often involve lower loan amounts due to their lower purchase price. </a:t>
            </a:r>
            <a:br>
              <a:rPr lang="de-DE" sz="1400" noProof="1">
                <a:solidFill>
                  <a:srgbClr val="000000"/>
                </a:solidFill>
                <a:latin typeface="Arial" panose="020B0604020202020204" pitchFamily="34" charset="0"/>
                <a:cs typeface="Arial" panose="020B0604020202020204" pitchFamily="34" charset="0"/>
              </a:rPr>
            </a:br>
            <a:r>
              <a:rPr lang="de-DE" sz="1400" noProof="1">
                <a:solidFill>
                  <a:srgbClr val="000000"/>
                </a:solidFill>
                <a:latin typeface="Arial" panose="020B0604020202020204" pitchFamily="34" charset="0"/>
                <a:cs typeface="Arial" panose="020B0604020202020204" pitchFamily="34" charset="0"/>
              </a:rPr>
              <a:t> </a:t>
            </a:r>
          </a:p>
          <a:p>
            <a:r>
              <a:rPr lang="de-DE" sz="1400" noProof="1">
                <a:solidFill>
                  <a:srgbClr val="000000"/>
                </a:solidFill>
                <a:latin typeface="Arial" panose="020B0604020202020204" pitchFamily="34" charset="0"/>
                <a:cs typeface="Arial" panose="020B0604020202020204" pitchFamily="34" charset="0"/>
              </a:rPr>
              <a:t>In contrast, new cars, frequently seen as status symbols, may be perceived as higher-risk purchases, potentially influenced by factors beyond essential transportation needs.</a:t>
            </a:r>
            <a:endParaRPr lang="de-DE" sz="1400" noProof="1">
              <a:latin typeface="Arial" panose="020B0604020202020204" pitchFamily="34" charset="0"/>
              <a:cs typeface="Arial" panose="020B0604020202020204" pitchFamily="34" charset="0"/>
            </a:endParaRPr>
          </a:p>
          <a:p>
            <a:pPr algn="ctr"/>
            <a:endParaRPr lang="de-DE" sz="1400" noProof="1">
              <a:solidFill>
                <a:schemeClr val="tx1"/>
              </a:solidFill>
              <a:latin typeface="Arial" panose="020B0604020202020204" pitchFamily="34" charset="0"/>
              <a:cs typeface="Arial" panose="020B0604020202020204" pitchFamily="34" charset="0"/>
            </a:endParaRPr>
          </a:p>
        </p:txBody>
      </p:sp>
      <p:sp>
        <p:nvSpPr>
          <p:cNvPr id="8" name="Textfeld 7">
            <a:extLst>
              <a:ext uri="{FF2B5EF4-FFF2-40B4-BE49-F238E27FC236}">
                <a16:creationId xmlns:a16="http://schemas.microsoft.com/office/drawing/2014/main" id="{EC24C096-30C3-25F7-0F0E-3F4F99060812}"/>
              </a:ext>
            </a:extLst>
          </p:cNvPr>
          <p:cNvSpPr txBox="1"/>
          <p:nvPr/>
        </p:nvSpPr>
        <p:spPr>
          <a:xfrm>
            <a:off x="7851895" y="134610"/>
            <a:ext cx="1124923" cy="276999"/>
          </a:xfrm>
          <a:prstGeom prst="rect">
            <a:avLst/>
          </a:prstGeom>
          <a:noFill/>
        </p:spPr>
        <p:txBody>
          <a:bodyPr wrap="none" rtlCol="0">
            <a:spAutoFit/>
          </a:bodyPr>
          <a:lstStyle/>
          <a:p>
            <a:r>
              <a:rPr lang="de-DE" sz="1200" dirty="0"/>
              <a:t>Concept </a:t>
            </a:r>
            <a:r>
              <a:rPr lang="de-DE" sz="1200" dirty="0" err="1"/>
              <a:t>for</a:t>
            </a:r>
            <a:r>
              <a:rPr lang="de-DE" sz="1200" dirty="0"/>
              <a:t> DK</a:t>
            </a:r>
            <a:endParaRPr lang="en-US" sz="1200" dirty="0"/>
          </a:p>
        </p:txBody>
      </p:sp>
      <p:sp>
        <p:nvSpPr>
          <p:cNvPr id="12" name="Rechteck 11" descr="Lichter an mit einfarbiger Füllung">
            <a:extLst>
              <a:ext uri="{FF2B5EF4-FFF2-40B4-BE49-F238E27FC236}">
                <a16:creationId xmlns:a16="http://schemas.microsoft.com/office/drawing/2014/main" id="{AE92E342-5B6A-7EAF-27BD-0C81A8FE81A2}"/>
              </a:ext>
            </a:extLst>
          </p:cNvPr>
          <p:cNvSpPr/>
          <p:nvPr/>
        </p:nvSpPr>
        <p:spPr>
          <a:xfrm>
            <a:off x="8847897" y="664349"/>
            <a:ext cx="277969" cy="277969"/>
          </a:xfrm>
          <a:prstGeom prst="rect">
            <a:avLst/>
          </a:prstGeom>
          <a:blipFill>
            <a:blip r:embed="rId3">
              <a:extLst>
                <a:ext uri="{96DAC541-7B7A-43D3-8B79-37D633B846F1}">
                  <asvg:svgBlip xmlns:asvg="http://schemas.microsoft.com/office/drawing/2016/SVG/main" r:embed="rId4"/>
                </a:ext>
              </a:extLst>
            </a:blip>
            <a:srcRect/>
            <a:stretch>
              <a:fillRect/>
            </a:stretch>
          </a:blipFill>
          <a:ln>
            <a:noFill/>
          </a:ln>
        </p:spPr>
        <p:style>
          <a:lnRef idx="2">
            <a:scrgbClr r="0" g="0" b="0"/>
          </a:lnRef>
          <a:fillRef idx="1">
            <a:scrgbClr r="0" g="0" b="0"/>
          </a:fillRef>
          <a:effectRef idx="0">
            <a:schemeClr val="accent2">
              <a:hueOff val="0"/>
              <a:satOff val="0"/>
              <a:lumOff val="0"/>
              <a:alphaOff val="0"/>
            </a:schemeClr>
          </a:effectRef>
          <a:fontRef idx="minor">
            <a:schemeClr val="lt1"/>
          </a:fontRef>
        </p:style>
        <p:txBody>
          <a:bodyPr/>
          <a:lstStyle/>
          <a:p>
            <a:endParaRPr lang="en-US"/>
          </a:p>
        </p:txBody>
      </p:sp>
      <p:sp>
        <p:nvSpPr>
          <p:cNvPr id="14" name="Rechteck 13" descr="Geschlossenes Buch mit einfarbiger Füllung">
            <a:extLst>
              <a:ext uri="{FF2B5EF4-FFF2-40B4-BE49-F238E27FC236}">
                <a16:creationId xmlns:a16="http://schemas.microsoft.com/office/drawing/2014/main" id="{09D73A40-1DDA-E2EE-ADAF-6BE575F7D4E2}"/>
              </a:ext>
            </a:extLst>
          </p:cNvPr>
          <p:cNvSpPr/>
          <p:nvPr/>
        </p:nvSpPr>
        <p:spPr>
          <a:xfrm>
            <a:off x="8847897" y="1043547"/>
            <a:ext cx="277969" cy="277969"/>
          </a:xfrm>
          <a:prstGeom prst="rect">
            <a:avLst/>
          </a:prstGeom>
          <a:blipFill>
            <a:blip r:embed="rId5">
              <a:extLst>
                <a:ext uri="{96DAC541-7B7A-43D3-8B79-37D633B846F1}">
                  <asvg:svgBlip xmlns:asvg="http://schemas.microsoft.com/office/drawing/2016/SVG/main" r:embed="rId6"/>
                </a:ext>
              </a:extLst>
            </a:blip>
            <a:srcRect/>
            <a:stretch>
              <a:fillRect/>
            </a:stretch>
          </a:blipFill>
          <a:ln>
            <a:noFill/>
          </a:ln>
        </p:spPr>
        <p:style>
          <a:lnRef idx="2">
            <a:scrgbClr r="0" g="0" b="0"/>
          </a:lnRef>
          <a:fillRef idx="1">
            <a:scrgbClr r="0" g="0" b="0"/>
          </a:fillRef>
          <a:effectRef idx="0">
            <a:schemeClr val="accent3">
              <a:hueOff val="0"/>
              <a:satOff val="0"/>
              <a:lumOff val="0"/>
              <a:alphaOff val="0"/>
            </a:schemeClr>
          </a:effectRef>
          <a:fontRef idx="minor">
            <a:schemeClr val="lt1"/>
          </a:fontRef>
        </p:style>
        <p:txBody>
          <a:bodyPr/>
          <a:lstStyle/>
          <a:p>
            <a:endParaRPr lang="en-US"/>
          </a:p>
        </p:txBody>
      </p:sp>
      <p:sp>
        <p:nvSpPr>
          <p:cNvPr id="15" name="Rechteck 14" descr="Netzwerk">
            <a:extLst>
              <a:ext uri="{FF2B5EF4-FFF2-40B4-BE49-F238E27FC236}">
                <a16:creationId xmlns:a16="http://schemas.microsoft.com/office/drawing/2014/main" id="{CEDC4A06-4011-1265-17D7-DFB5C4C8BFA1}"/>
              </a:ext>
            </a:extLst>
          </p:cNvPr>
          <p:cNvSpPr/>
          <p:nvPr/>
        </p:nvSpPr>
        <p:spPr>
          <a:xfrm>
            <a:off x="8847897" y="1379208"/>
            <a:ext cx="277969" cy="277969"/>
          </a:xfrm>
          <a:prstGeom prst="rect">
            <a:avLst/>
          </a:prstGeom>
          <a: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p:spPr>
        <p:style>
          <a:lnRef idx="2">
            <a:scrgbClr r="0" g="0" b="0"/>
          </a:lnRef>
          <a:fillRef idx="1">
            <a:scrgbClr r="0" g="0" b="0"/>
          </a:fillRef>
          <a:effectRef idx="0">
            <a:schemeClr val="accent4">
              <a:hueOff val="0"/>
              <a:satOff val="0"/>
              <a:lumOff val="0"/>
              <a:alphaOff val="0"/>
            </a:schemeClr>
          </a:effectRef>
          <a:fontRef idx="minor">
            <a:schemeClr val="lt1"/>
          </a:fontRef>
        </p:style>
        <p:txBody>
          <a:bodyPr/>
          <a:lstStyle/>
          <a:p>
            <a:endParaRPr lang="en-US"/>
          </a:p>
        </p:txBody>
      </p:sp>
      <p:sp>
        <p:nvSpPr>
          <p:cNvPr id="17" name="Rechteck 16" descr="Kreise mit Pfeilen mit einfarbiger Füllung">
            <a:extLst>
              <a:ext uri="{FF2B5EF4-FFF2-40B4-BE49-F238E27FC236}">
                <a16:creationId xmlns:a16="http://schemas.microsoft.com/office/drawing/2014/main" id="{C680DD8E-45DA-FA21-1212-F41E71A0153C}"/>
              </a:ext>
            </a:extLst>
          </p:cNvPr>
          <p:cNvSpPr/>
          <p:nvPr/>
        </p:nvSpPr>
        <p:spPr>
          <a:xfrm>
            <a:off x="8847897" y="1688740"/>
            <a:ext cx="277969" cy="277969"/>
          </a:xfrm>
          <a:prstGeom prst="rect">
            <a:avLst/>
          </a:prstGeom>
          <a:blipFill>
            <a:blip r:embed="rId9">
              <a:extLst>
                <a:ext uri="{96DAC541-7B7A-43D3-8B79-37D633B846F1}">
                  <asvg:svgBlip xmlns:asvg="http://schemas.microsoft.com/office/drawing/2016/SVG/main" r:embed="rId10"/>
                </a:ext>
              </a:extLst>
            </a:blip>
            <a:srcRect/>
            <a:stretch>
              <a:fillRect/>
            </a:stretch>
          </a:blipFill>
          <a:ln>
            <a:noFill/>
          </a:ln>
        </p:spPr>
        <p:style>
          <a:lnRef idx="2">
            <a:scrgbClr r="0" g="0" b="0"/>
          </a:lnRef>
          <a:fillRef idx="1">
            <a:scrgbClr r="0" g="0" b="0"/>
          </a:fillRef>
          <a:effectRef idx="0">
            <a:schemeClr val="accent5">
              <a:hueOff val="0"/>
              <a:satOff val="0"/>
              <a:lumOff val="0"/>
              <a:alphaOff val="0"/>
            </a:schemeClr>
          </a:effectRef>
          <a:fontRef idx="minor">
            <a:schemeClr val="lt1"/>
          </a:fontRef>
        </p:style>
        <p:txBody>
          <a:bodyPr/>
          <a:lstStyle/>
          <a:p>
            <a:endParaRPr lang="en-US"/>
          </a:p>
        </p:txBody>
      </p:sp>
      <p:sp>
        <p:nvSpPr>
          <p:cNvPr id="20" name="Rechteck 19" descr="Prüfliste">
            <a:extLst>
              <a:ext uri="{FF2B5EF4-FFF2-40B4-BE49-F238E27FC236}">
                <a16:creationId xmlns:a16="http://schemas.microsoft.com/office/drawing/2014/main" id="{8CD80DCE-E1D1-678D-CEA9-E12866975BE0}"/>
              </a:ext>
            </a:extLst>
          </p:cNvPr>
          <p:cNvSpPr/>
          <p:nvPr/>
        </p:nvSpPr>
        <p:spPr>
          <a:xfrm>
            <a:off x="8847897" y="2006980"/>
            <a:ext cx="277969" cy="277969"/>
          </a:xfrm>
          <a:prstGeom prst="rect">
            <a:avLst/>
          </a:prstGeom>
          <a: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a:noFill/>
          </a:ln>
        </p:spPr>
        <p:style>
          <a:lnRef idx="2">
            <a:scrgbClr r="0" g="0" b="0"/>
          </a:lnRef>
          <a:fillRef idx="1">
            <a:scrgbClr r="0" g="0" b="0"/>
          </a:fillRef>
          <a:effectRef idx="0">
            <a:schemeClr val="accent6">
              <a:hueOff val="0"/>
              <a:satOff val="0"/>
              <a:lumOff val="0"/>
              <a:alphaOff val="0"/>
            </a:schemeClr>
          </a:effectRef>
          <a:fontRef idx="minor">
            <a:schemeClr val="lt1"/>
          </a:fontRef>
        </p:style>
        <p:txBody>
          <a:bodyPr/>
          <a:lstStyle/>
          <a:p>
            <a:endParaRPr lang="en-US"/>
          </a:p>
        </p:txBody>
      </p:sp>
      <p:sp>
        <p:nvSpPr>
          <p:cNvPr id="21" name="Rechteck 20" descr="Auktionshammer">
            <a:extLst>
              <a:ext uri="{FF2B5EF4-FFF2-40B4-BE49-F238E27FC236}">
                <a16:creationId xmlns:a16="http://schemas.microsoft.com/office/drawing/2014/main" id="{51F84794-8DBB-990A-A1DB-9FAE4E2089C2}"/>
              </a:ext>
            </a:extLst>
          </p:cNvPr>
          <p:cNvSpPr/>
          <p:nvPr/>
        </p:nvSpPr>
        <p:spPr>
          <a:xfrm>
            <a:off x="8847897" y="2316507"/>
            <a:ext cx="277969" cy="277969"/>
          </a:xfrm>
          <a:prstGeom prst="rect">
            <a:avLst/>
          </a:prstGeom>
          <a: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a:blipFill>
          <a:ln>
            <a:noFill/>
          </a:ln>
        </p:spPr>
        <p:style>
          <a:lnRef idx="2">
            <a:scrgbClr r="0" g="0" b="0"/>
          </a:lnRef>
          <a:fillRef idx="1">
            <a:scrgbClr r="0" g="0" b="0"/>
          </a:fillRef>
          <a:effectRef idx="0">
            <a:schemeClr val="accent2">
              <a:hueOff val="0"/>
              <a:satOff val="0"/>
              <a:lumOff val="0"/>
              <a:alphaOff val="0"/>
            </a:schemeClr>
          </a:effectRef>
          <a:fontRef idx="minor">
            <a:schemeClr val="lt1"/>
          </a:fontRef>
        </p:style>
        <p:txBody>
          <a:bodyPr/>
          <a:lstStyle/>
          <a:p>
            <a:endParaRPr lang="en-US"/>
          </a:p>
        </p:txBody>
      </p:sp>
      <p:sp>
        <p:nvSpPr>
          <p:cNvPr id="24" name="Rechteck 23" descr="Netzwerk">
            <a:extLst>
              <a:ext uri="{FF2B5EF4-FFF2-40B4-BE49-F238E27FC236}">
                <a16:creationId xmlns:a16="http://schemas.microsoft.com/office/drawing/2014/main" id="{22C0CCE2-CA83-60AA-A073-3C94EA357656}"/>
              </a:ext>
            </a:extLst>
          </p:cNvPr>
          <p:cNvSpPr/>
          <p:nvPr/>
        </p:nvSpPr>
        <p:spPr>
          <a:xfrm>
            <a:off x="7601428" y="127192"/>
            <a:ext cx="277969" cy="277969"/>
          </a:xfrm>
          <a:prstGeom prst="rect">
            <a:avLst/>
          </a:prstGeom>
          <a: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p:spPr>
        <p:style>
          <a:lnRef idx="2">
            <a:scrgbClr r="0" g="0" b="0"/>
          </a:lnRef>
          <a:fillRef idx="1">
            <a:scrgbClr r="0" g="0" b="0"/>
          </a:fillRef>
          <a:effectRef idx="0">
            <a:schemeClr val="accent4">
              <a:hueOff val="0"/>
              <a:satOff val="0"/>
              <a:lumOff val="0"/>
              <a:alphaOff val="0"/>
            </a:schemeClr>
          </a:effectRef>
          <a:fontRef idx="minor">
            <a:schemeClr val="lt1"/>
          </a:fontRef>
        </p:style>
        <p:txBody>
          <a:bodyPr/>
          <a:lstStyle/>
          <a:p>
            <a:endParaRPr lang="en-US"/>
          </a:p>
        </p:txBody>
      </p:sp>
    </p:spTree>
    <p:extLst>
      <p:ext uri="{BB962C8B-B14F-4D97-AF65-F5344CB8AC3E}">
        <p14:creationId xmlns:p14="http://schemas.microsoft.com/office/powerpoint/2010/main" val="790935412"/>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fade">
                                      <p:cBhvr>
                                        <p:cTn id="7" dur="500"/>
                                        <p:tgtEl>
                                          <p:spTgt spid="3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6"/>
                                        </p:tgtEl>
                                        <p:attrNameLst>
                                          <p:attrName>style.visibility</p:attrName>
                                        </p:attrNameLst>
                                      </p:cBhvr>
                                      <p:to>
                                        <p:strVal val="visible"/>
                                      </p:to>
                                    </p:set>
                                    <p:animEffect transition="in" filter="fade">
                                      <p:cBhvr>
                                        <p:cTn id="10" dur="500"/>
                                        <p:tgtEl>
                                          <p:spTgt spid="36"/>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22"/>
                                        </p:tgtEl>
                                        <p:attrNameLst>
                                          <p:attrName>style.visibility</p:attrName>
                                        </p:attrNameLst>
                                      </p:cBhvr>
                                      <p:to>
                                        <p:strVal val="visible"/>
                                      </p:to>
                                    </p:set>
                                    <p:animEffect transition="in" filter="fade">
                                      <p:cBhvr>
                                        <p:cTn id="15" dur="500"/>
                                        <p:tgtEl>
                                          <p:spTgt spid="22"/>
                                        </p:tgtEl>
                                      </p:cBhvr>
                                    </p:animEffect>
                                  </p:childTnLst>
                                </p:cTn>
                              </p:par>
                            </p:childTnLst>
                          </p:cTn>
                        </p:par>
                        <p:par>
                          <p:cTn id="16" fill="hold">
                            <p:stCondLst>
                              <p:cond delay="500"/>
                            </p:stCondLst>
                            <p:childTnLst>
                              <p:par>
                                <p:cTn id="17" presetID="10" presetClass="entr" presetSubtype="0" fill="hold" grpId="0" nodeType="afterEffect">
                                  <p:stCondLst>
                                    <p:cond delay="0"/>
                                  </p:stCondLst>
                                  <p:childTnLst>
                                    <p:set>
                                      <p:cBhvr>
                                        <p:cTn id="18" dur="1" fill="hold">
                                          <p:stCondLst>
                                            <p:cond delay="0"/>
                                          </p:stCondLst>
                                        </p:cTn>
                                        <p:tgtEl>
                                          <p:spTgt spid="18"/>
                                        </p:tgtEl>
                                        <p:attrNameLst>
                                          <p:attrName>style.visibility</p:attrName>
                                        </p:attrNameLst>
                                      </p:cBhvr>
                                      <p:to>
                                        <p:strVal val="visible"/>
                                      </p:to>
                                    </p:set>
                                    <p:animEffect transition="in" filter="fade">
                                      <p:cBhvr>
                                        <p:cTn id="19" dur="500"/>
                                        <p:tgtEl>
                                          <p:spTgt spid="18"/>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9"/>
                                        </p:tgtEl>
                                        <p:attrNameLst>
                                          <p:attrName>style.visibility</p:attrName>
                                        </p:attrNameLst>
                                      </p:cBhvr>
                                      <p:to>
                                        <p:strVal val="visible"/>
                                      </p:to>
                                    </p:set>
                                    <p:animEffect transition="in" filter="fade">
                                      <p:cBhvr>
                                        <p:cTn id="22" dur="500"/>
                                        <p:tgtEl>
                                          <p:spTgt spid="19"/>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7"/>
                                        </p:tgtEl>
                                        <p:attrNameLst>
                                          <p:attrName>style.visibility</p:attrName>
                                        </p:attrNameLst>
                                      </p:cBhvr>
                                      <p:to>
                                        <p:strVal val="visible"/>
                                      </p:to>
                                    </p:set>
                                    <p:animEffect transition="in" filter="fade">
                                      <p:cBhvr>
                                        <p:cTn id="27" dur="500"/>
                                        <p:tgtEl>
                                          <p:spTgt spid="37"/>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3"/>
                                        </p:tgtEl>
                                        <p:attrNameLst>
                                          <p:attrName>style.visibility</p:attrName>
                                        </p:attrNameLst>
                                      </p:cBhvr>
                                      <p:to>
                                        <p:strVal val="visible"/>
                                      </p:to>
                                    </p:set>
                                    <p:animEffect transition="in" filter="fade">
                                      <p:cBhvr>
                                        <p:cTn id="30" dur="500"/>
                                        <p:tgtEl>
                                          <p:spTgt spid="3"/>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38"/>
                                        </p:tgtEl>
                                        <p:attrNameLst>
                                          <p:attrName>style.visibility</p:attrName>
                                        </p:attrNameLst>
                                      </p:cBhvr>
                                      <p:to>
                                        <p:strVal val="visible"/>
                                      </p:to>
                                    </p:set>
                                    <p:animEffect transition="in" filter="fade">
                                      <p:cBhvr>
                                        <p:cTn id="35" dur="500"/>
                                        <p:tgtEl>
                                          <p:spTgt spid="38"/>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7"/>
                                        </p:tgtEl>
                                        <p:attrNameLst>
                                          <p:attrName>style.visibility</p:attrName>
                                        </p:attrNameLst>
                                      </p:cBhvr>
                                      <p:to>
                                        <p:strVal val="visible"/>
                                      </p:to>
                                    </p:set>
                                    <p:animEffect transition="in" filter="fade">
                                      <p:cBhvr>
                                        <p:cTn id="38" dur="500"/>
                                        <p:tgtEl>
                                          <p:spTgt spid="7"/>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grpId="0" nodeType="clickEffect">
                                  <p:stCondLst>
                                    <p:cond delay="0"/>
                                  </p:stCondLst>
                                  <p:childTnLst>
                                    <p:set>
                                      <p:cBhvr>
                                        <p:cTn id="42" dur="1" fill="hold">
                                          <p:stCondLst>
                                            <p:cond delay="0"/>
                                          </p:stCondLst>
                                        </p:cTn>
                                        <p:tgtEl>
                                          <p:spTgt spid="23"/>
                                        </p:tgtEl>
                                        <p:attrNameLst>
                                          <p:attrName>style.visibility</p:attrName>
                                        </p:attrNameLst>
                                      </p:cBhvr>
                                      <p:to>
                                        <p:strVal val="visible"/>
                                      </p:to>
                                    </p:set>
                                    <p:animEffect transition="in" filter="fade">
                                      <p:cBhvr>
                                        <p:cTn id="43" dur="500"/>
                                        <p:tgtEl>
                                          <p:spTgt spid="23"/>
                                        </p:tgtEl>
                                      </p:cBhvr>
                                    </p:animEffect>
                                  </p:childTnLst>
                                </p:cTn>
                              </p:par>
                            </p:childTnLst>
                          </p:cTn>
                        </p:par>
                      </p:childTnLst>
                    </p:cTn>
                  </p:par>
                  <p:par>
                    <p:cTn id="44" fill="hold">
                      <p:stCondLst>
                        <p:cond delay="indefinite"/>
                      </p:stCondLst>
                      <p:childTnLst>
                        <p:par>
                          <p:cTn id="45" fill="hold">
                            <p:stCondLst>
                              <p:cond delay="0"/>
                            </p:stCondLst>
                            <p:childTnLst>
                              <p:par>
                                <p:cTn id="46" presetID="10" presetClass="entr" presetSubtype="0" fill="hold" grpId="0" nodeType="clickEffect">
                                  <p:stCondLst>
                                    <p:cond delay="0"/>
                                  </p:stCondLst>
                                  <p:childTnLst>
                                    <p:set>
                                      <p:cBhvr>
                                        <p:cTn id="47" dur="1" fill="hold">
                                          <p:stCondLst>
                                            <p:cond delay="0"/>
                                          </p:stCondLst>
                                        </p:cTn>
                                        <p:tgtEl>
                                          <p:spTgt spid="13"/>
                                        </p:tgtEl>
                                        <p:attrNameLst>
                                          <p:attrName>style.visibility</p:attrName>
                                        </p:attrNameLst>
                                      </p:cBhvr>
                                      <p:to>
                                        <p:strVal val="visible"/>
                                      </p:to>
                                    </p:set>
                                    <p:animEffect transition="in" filter="fade">
                                      <p:cBhvr>
                                        <p:cTn id="48" dur="500"/>
                                        <p:tgtEl>
                                          <p:spTgt spid="13"/>
                                        </p:tgtEl>
                                      </p:cBhvr>
                                    </p:animEffect>
                                  </p:childTnLst>
                                </p:cTn>
                              </p:par>
                            </p:childTnLst>
                          </p:cTn>
                        </p:par>
                      </p:childTnLst>
                    </p:cTn>
                  </p:par>
                  <p:par>
                    <p:cTn id="49" fill="hold">
                      <p:stCondLst>
                        <p:cond delay="indefinite"/>
                      </p:stCondLst>
                      <p:childTnLst>
                        <p:par>
                          <p:cTn id="50" fill="hold">
                            <p:stCondLst>
                              <p:cond delay="0"/>
                            </p:stCondLst>
                            <p:childTnLst>
                              <p:par>
                                <p:cTn id="51" presetID="10" presetClass="entr" presetSubtype="0" fill="hold" grpId="0" nodeType="clickEffect">
                                  <p:stCondLst>
                                    <p:cond delay="0"/>
                                  </p:stCondLst>
                                  <p:childTnLst>
                                    <p:set>
                                      <p:cBhvr>
                                        <p:cTn id="52" dur="1" fill="hold">
                                          <p:stCondLst>
                                            <p:cond delay="0"/>
                                          </p:stCondLst>
                                        </p:cTn>
                                        <p:tgtEl>
                                          <p:spTgt spid="16"/>
                                        </p:tgtEl>
                                        <p:attrNameLst>
                                          <p:attrName>style.visibility</p:attrName>
                                        </p:attrNameLst>
                                      </p:cBhvr>
                                      <p:to>
                                        <p:strVal val="visible"/>
                                      </p:to>
                                    </p:set>
                                    <p:animEffect transition="in" filter="fade">
                                      <p:cBhvr>
                                        <p:cTn id="53" dur="500"/>
                                        <p:tgtEl>
                                          <p:spTgt spid="16"/>
                                        </p:tgtEl>
                                      </p:cBhvr>
                                    </p:animEffect>
                                  </p:childTnLst>
                                </p:cTn>
                              </p:par>
                            </p:childTnLst>
                          </p:cTn>
                        </p:par>
                      </p:childTnLst>
                    </p:cTn>
                  </p:par>
                  <p:par>
                    <p:cTn id="54" fill="hold">
                      <p:stCondLst>
                        <p:cond delay="indefinite"/>
                      </p:stCondLst>
                      <p:childTnLst>
                        <p:par>
                          <p:cTn id="55" fill="hold">
                            <p:stCondLst>
                              <p:cond delay="0"/>
                            </p:stCondLst>
                            <p:childTnLst>
                              <p:par>
                                <p:cTn id="56" presetID="10" presetClass="entr" presetSubtype="0" fill="hold" grpId="0" nodeType="clickEffect">
                                  <p:stCondLst>
                                    <p:cond delay="0"/>
                                  </p:stCondLst>
                                  <p:childTnLst>
                                    <p:set>
                                      <p:cBhvr>
                                        <p:cTn id="57" dur="1" fill="hold">
                                          <p:stCondLst>
                                            <p:cond delay="0"/>
                                          </p:stCondLst>
                                        </p:cTn>
                                        <p:tgtEl>
                                          <p:spTgt spid="9"/>
                                        </p:tgtEl>
                                        <p:attrNameLst>
                                          <p:attrName>style.visibility</p:attrName>
                                        </p:attrNameLst>
                                      </p:cBhvr>
                                      <p:to>
                                        <p:strVal val="visible"/>
                                      </p:to>
                                    </p:set>
                                    <p:animEffect transition="in" filter="fade">
                                      <p:cBhvr>
                                        <p:cTn id="58" dur="500"/>
                                        <p:tgtEl>
                                          <p:spTgt spid="9"/>
                                        </p:tgtEl>
                                      </p:cBhvr>
                                    </p:animEffect>
                                  </p:childTnLst>
                                </p:cTn>
                              </p:par>
                            </p:childTnLst>
                          </p:cTn>
                        </p:par>
                      </p:childTnLst>
                    </p:cTn>
                  </p:par>
                  <p:par>
                    <p:cTn id="59" fill="hold">
                      <p:stCondLst>
                        <p:cond delay="indefinite"/>
                      </p:stCondLst>
                      <p:childTnLst>
                        <p:par>
                          <p:cTn id="60" fill="hold">
                            <p:stCondLst>
                              <p:cond delay="0"/>
                            </p:stCondLst>
                            <p:childTnLst>
                              <p:par>
                                <p:cTn id="61" presetID="10" presetClass="entr" presetSubtype="0" fill="hold" grpId="0" nodeType="clickEffect">
                                  <p:stCondLst>
                                    <p:cond delay="0"/>
                                  </p:stCondLst>
                                  <p:childTnLst>
                                    <p:set>
                                      <p:cBhvr>
                                        <p:cTn id="62" dur="1" fill="hold">
                                          <p:stCondLst>
                                            <p:cond delay="0"/>
                                          </p:stCondLst>
                                        </p:cTn>
                                        <p:tgtEl>
                                          <p:spTgt spid="39"/>
                                        </p:tgtEl>
                                        <p:attrNameLst>
                                          <p:attrName>style.visibility</p:attrName>
                                        </p:attrNameLst>
                                      </p:cBhvr>
                                      <p:to>
                                        <p:strVal val="visible"/>
                                      </p:to>
                                    </p:set>
                                    <p:animEffect transition="in" filter="fade">
                                      <p:cBhvr>
                                        <p:cTn id="63" dur="500"/>
                                        <p:tgtEl>
                                          <p:spTgt spid="39"/>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11"/>
                                        </p:tgtEl>
                                        <p:attrNameLst>
                                          <p:attrName>style.visibility</p:attrName>
                                        </p:attrNameLst>
                                      </p:cBhvr>
                                      <p:to>
                                        <p:strVal val="visible"/>
                                      </p:to>
                                    </p:set>
                                    <p:animEffect transition="in" filter="fade">
                                      <p:cBhvr>
                                        <p:cTn id="66"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animBg="1"/>
      <p:bldP spid="23" grpId="0" animBg="1"/>
      <p:bldP spid="22" grpId="0" animBg="1"/>
      <p:bldP spid="3" grpId="0" animBg="1"/>
      <p:bldP spid="7" grpId="0" animBg="1"/>
      <p:bldP spid="9" grpId="0" animBg="1"/>
      <p:bldP spid="11" grpId="0" animBg="1"/>
      <p:bldP spid="13" grpId="0" animBg="1"/>
      <p:bldP spid="16" grpId="0" animBg="1"/>
      <p:bldP spid="18" grpId="0" animBg="1"/>
      <p:bldP spid="19" grpId="0" animBg="1"/>
      <p:bldP spid="37" grpId="0" animBg="1"/>
      <p:bldP spid="38" grpId="0" animBg="1"/>
      <p:bldP spid="39" grpId="0" animBg="1"/>
      <p:bldP spid="36"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3BC00B5-5F57-9FAF-792B-26FF62DD178C}"/>
              </a:ext>
            </a:extLst>
          </p:cNvPr>
          <p:cNvSpPr>
            <a:spLocks noGrp="1"/>
          </p:cNvSpPr>
          <p:nvPr>
            <p:ph type="ctrTitle"/>
          </p:nvPr>
        </p:nvSpPr>
        <p:spPr/>
        <p:txBody>
          <a:bodyPr/>
          <a:lstStyle/>
          <a:p>
            <a:r>
              <a:rPr lang="de-DE" sz="2000" noProof="1"/>
              <a:t>Leveraging</a:t>
            </a:r>
            <a:r>
              <a:rPr lang="de-DE" noProof="1"/>
              <a:t> Argumentation to Enhance XAI Explanations</a:t>
            </a:r>
          </a:p>
        </p:txBody>
      </p:sp>
      <p:sp>
        <p:nvSpPr>
          <p:cNvPr id="3" name="Inhaltsplatzhalter 2">
            <a:extLst>
              <a:ext uri="{FF2B5EF4-FFF2-40B4-BE49-F238E27FC236}">
                <a16:creationId xmlns:a16="http://schemas.microsoft.com/office/drawing/2014/main" id="{BC8FEC2C-9C99-151C-270D-2D52A83CB718}"/>
              </a:ext>
            </a:extLst>
          </p:cNvPr>
          <p:cNvSpPr>
            <a:spLocks noGrp="1"/>
          </p:cNvSpPr>
          <p:nvPr>
            <p:ph sz="quarter" idx="15"/>
          </p:nvPr>
        </p:nvSpPr>
        <p:spPr>
          <a:xfrm>
            <a:off x="403380" y="1131888"/>
            <a:ext cx="4233204" cy="3671887"/>
          </a:xfrm>
        </p:spPr>
        <p:txBody>
          <a:bodyPr/>
          <a:lstStyle/>
          <a:p>
            <a:r>
              <a:rPr lang="de-DE" sz="1800" noProof="1"/>
              <a:t>Explanations and reasoning of humans are argumentative </a:t>
            </a:r>
            <a:r>
              <a:rPr lang="de-DE" sz="1800" i="1" noProof="1"/>
              <a:t>(Mercier et al., 2011; </a:t>
            </a:r>
            <a:r>
              <a:rPr lang="de-DE" sz="1800" i="1" noProof="1">
                <a:solidFill>
                  <a:srgbClr val="222222"/>
                </a:solidFill>
              </a:rPr>
              <a:t>Antaki et al., 1992</a:t>
            </a:r>
            <a:r>
              <a:rPr lang="de-DE" sz="1800" i="1" noProof="1"/>
              <a:t>)</a:t>
            </a:r>
          </a:p>
          <a:p>
            <a:r>
              <a:rPr lang="de-DE" sz="1800" noProof="1"/>
              <a:t>Argumentation frameworks as basis </a:t>
            </a:r>
            <a:r>
              <a:rPr lang="de-DE" sz="1800" i="1" noProof="1"/>
              <a:t>(Stab et. al, 2014)</a:t>
            </a:r>
          </a:p>
          <a:p>
            <a:pPr lvl="1"/>
            <a:r>
              <a:rPr lang="de-DE" sz="1800" noProof="1"/>
              <a:t>Argument Components</a:t>
            </a:r>
          </a:p>
          <a:p>
            <a:pPr lvl="1"/>
            <a:r>
              <a:rPr lang="de-DE" sz="1800" noProof="1"/>
              <a:t>Argumentative Relations</a:t>
            </a:r>
          </a:p>
          <a:p>
            <a:r>
              <a:rPr lang="de-DE" sz="1800" noProof="1"/>
              <a:t>Argumentation Trees offer dialogical access</a:t>
            </a:r>
          </a:p>
        </p:txBody>
      </p:sp>
      <p:sp>
        <p:nvSpPr>
          <p:cNvPr id="8" name="Vertikaler Textplatzhalter 7">
            <a:extLst>
              <a:ext uri="{FF2B5EF4-FFF2-40B4-BE49-F238E27FC236}">
                <a16:creationId xmlns:a16="http://schemas.microsoft.com/office/drawing/2014/main" id="{C8F17518-586B-8174-688C-CFE0F274E226}"/>
              </a:ext>
            </a:extLst>
          </p:cNvPr>
          <p:cNvSpPr>
            <a:spLocks noGrp="1"/>
          </p:cNvSpPr>
          <p:nvPr>
            <p:ph type="body" orient="vert" sz="quarter" idx="18"/>
          </p:nvPr>
        </p:nvSpPr>
        <p:spPr/>
        <p:txBody>
          <a:bodyPr/>
          <a:lstStyle/>
          <a:p>
            <a:endParaRPr lang="de-DE" noProof="1"/>
          </a:p>
        </p:txBody>
      </p:sp>
      <p:sp>
        <p:nvSpPr>
          <p:cNvPr id="4" name="Datumsplatzhalter 3">
            <a:extLst>
              <a:ext uri="{FF2B5EF4-FFF2-40B4-BE49-F238E27FC236}">
                <a16:creationId xmlns:a16="http://schemas.microsoft.com/office/drawing/2014/main" id="{8F15D85A-74B3-5E5D-5EAD-2C45B423DC8E}"/>
              </a:ext>
            </a:extLst>
          </p:cNvPr>
          <p:cNvSpPr>
            <a:spLocks noGrp="1"/>
          </p:cNvSpPr>
          <p:nvPr>
            <p:ph type="dt" sz="half" idx="10"/>
          </p:nvPr>
        </p:nvSpPr>
        <p:spPr/>
        <p:txBody>
          <a:bodyPr/>
          <a:lstStyle/>
          <a:p>
            <a:r>
              <a:rPr lang="en-US" noProof="1"/>
              <a:t>18.08.2025</a:t>
            </a:r>
            <a:endParaRPr lang="de-DE" noProof="1"/>
          </a:p>
        </p:txBody>
      </p:sp>
      <p:sp>
        <p:nvSpPr>
          <p:cNvPr id="5" name="Fußzeilenplatzhalter 4">
            <a:extLst>
              <a:ext uri="{FF2B5EF4-FFF2-40B4-BE49-F238E27FC236}">
                <a16:creationId xmlns:a16="http://schemas.microsoft.com/office/drawing/2014/main" id="{490FDCDE-16F1-3E7C-46C5-1D089A65983E}"/>
              </a:ext>
            </a:extLst>
          </p:cNvPr>
          <p:cNvSpPr>
            <a:spLocks noGrp="1"/>
          </p:cNvSpPr>
          <p:nvPr>
            <p:ph type="ftr" sz="quarter" idx="11"/>
          </p:nvPr>
        </p:nvSpPr>
        <p:spPr/>
        <p:txBody>
          <a:bodyPr/>
          <a:lstStyle/>
          <a:p>
            <a:r>
              <a:rPr lang="en-US" noProof="1"/>
              <a:t>Enhancing model transparency: Effects of DK Integration for Conversational XAI | Feustel</a:t>
            </a:r>
            <a:endParaRPr lang="de-DE" noProof="1"/>
          </a:p>
        </p:txBody>
      </p:sp>
      <p:sp>
        <p:nvSpPr>
          <p:cNvPr id="6" name="Foliennummernplatzhalter 5">
            <a:extLst>
              <a:ext uri="{FF2B5EF4-FFF2-40B4-BE49-F238E27FC236}">
                <a16:creationId xmlns:a16="http://schemas.microsoft.com/office/drawing/2014/main" id="{FDAD575C-00EC-194E-9B82-E91F484BE78E}"/>
              </a:ext>
            </a:extLst>
          </p:cNvPr>
          <p:cNvSpPr>
            <a:spLocks noGrp="1"/>
          </p:cNvSpPr>
          <p:nvPr>
            <p:ph type="sldNum" sz="quarter" idx="12"/>
          </p:nvPr>
        </p:nvSpPr>
        <p:spPr/>
        <p:txBody>
          <a:bodyPr/>
          <a:lstStyle/>
          <a:p>
            <a:r>
              <a:rPr lang="de-DE" noProof="1"/>
              <a:t> </a:t>
            </a:r>
            <a:fld id="{FE120BDC-5456-EC41-8BB6-7A3B726EA19B}" type="slidenum">
              <a:rPr lang="de-DE" noProof="1" smtClean="0"/>
              <a:pPr/>
              <a:t>15</a:t>
            </a:fld>
            <a:endParaRPr lang="de-DE" noProof="1"/>
          </a:p>
        </p:txBody>
      </p:sp>
      <p:sp>
        <p:nvSpPr>
          <p:cNvPr id="9" name="Ellipse 8"/>
          <p:cNvSpPr/>
          <p:nvPr/>
        </p:nvSpPr>
        <p:spPr>
          <a:xfrm>
            <a:off x="5219368" y="2464291"/>
            <a:ext cx="1593068" cy="5640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noProof="1"/>
              <a:t>Argument</a:t>
            </a:r>
          </a:p>
        </p:txBody>
      </p:sp>
      <p:sp>
        <p:nvSpPr>
          <p:cNvPr id="11" name="Ellipse 10"/>
          <p:cNvSpPr/>
          <p:nvPr/>
        </p:nvSpPr>
        <p:spPr>
          <a:xfrm>
            <a:off x="6226129" y="1314081"/>
            <a:ext cx="1593066" cy="5640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noProof="1"/>
              <a:t>Claim</a:t>
            </a:r>
          </a:p>
        </p:txBody>
      </p:sp>
      <p:sp>
        <p:nvSpPr>
          <p:cNvPr id="12" name="Ellipse 11"/>
          <p:cNvSpPr/>
          <p:nvPr/>
        </p:nvSpPr>
        <p:spPr>
          <a:xfrm>
            <a:off x="5219368" y="3700526"/>
            <a:ext cx="1593068" cy="5640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noProof="1"/>
              <a:t>Argument</a:t>
            </a:r>
          </a:p>
        </p:txBody>
      </p:sp>
      <p:cxnSp>
        <p:nvCxnSpPr>
          <p:cNvPr id="13" name="Gerade Verbindung mit Pfeil 12"/>
          <p:cNvCxnSpPr>
            <a:cxnSpLocks/>
            <a:stCxn id="9" idx="0"/>
            <a:endCxn id="11" idx="3"/>
          </p:cNvCxnSpPr>
          <p:nvPr/>
        </p:nvCxnSpPr>
        <p:spPr>
          <a:xfrm flipV="1">
            <a:off x="6015902" y="1795522"/>
            <a:ext cx="443526" cy="668769"/>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15" name="Gerade Verbindung mit Pfeil 14"/>
          <p:cNvCxnSpPr>
            <a:cxnSpLocks/>
            <a:stCxn id="12" idx="0"/>
            <a:endCxn id="9" idx="4"/>
          </p:cNvCxnSpPr>
          <p:nvPr/>
        </p:nvCxnSpPr>
        <p:spPr>
          <a:xfrm flipV="1">
            <a:off x="6015902" y="3028334"/>
            <a:ext cx="0" cy="672192"/>
          </a:xfrm>
          <a:prstGeom prst="straightConnector1">
            <a:avLst/>
          </a:prstGeom>
          <a:ln>
            <a:tailEnd type="triangle"/>
          </a:ln>
        </p:spPr>
        <p:style>
          <a:lnRef idx="3">
            <a:schemeClr val="accent6"/>
          </a:lnRef>
          <a:fillRef idx="0">
            <a:schemeClr val="accent6"/>
          </a:fillRef>
          <a:effectRef idx="2">
            <a:schemeClr val="accent6"/>
          </a:effectRef>
          <a:fontRef idx="minor">
            <a:schemeClr val="tx1"/>
          </a:fontRef>
        </p:style>
      </p:cxnSp>
      <p:sp>
        <p:nvSpPr>
          <p:cNvPr id="20" name="Ellipse 19">
            <a:extLst>
              <a:ext uri="{FF2B5EF4-FFF2-40B4-BE49-F238E27FC236}">
                <a16:creationId xmlns:a16="http://schemas.microsoft.com/office/drawing/2014/main" id="{8BB3AF4D-D429-F013-0E5B-0E5DB409B43C}"/>
              </a:ext>
            </a:extLst>
          </p:cNvPr>
          <p:cNvSpPr/>
          <p:nvPr/>
        </p:nvSpPr>
        <p:spPr>
          <a:xfrm>
            <a:off x="7112994" y="2464290"/>
            <a:ext cx="1589185" cy="5640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noProof="1"/>
              <a:t>Argument</a:t>
            </a:r>
          </a:p>
        </p:txBody>
      </p:sp>
      <p:cxnSp>
        <p:nvCxnSpPr>
          <p:cNvPr id="7" name="Gerade Verbindung mit Pfeil 6">
            <a:extLst>
              <a:ext uri="{FF2B5EF4-FFF2-40B4-BE49-F238E27FC236}">
                <a16:creationId xmlns:a16="http://schemas.microsoft.com/office/drawing/2014/main" id="{C0EEE1EF-FA91-D3F9-C2DC-E9D724ADB430}"/>
              </a:ext>
            </a:extLst>
          </p:cNvPr>
          <p:cNvCxnSpPr>
            <a:cxnSpLocks/>
            <a:stCxn id="20" idx="0"/>
            <a:endCxn id="11" idx="5"/>
          </p:cNvCxnSpPr>
          <p:nvPr/>
        </p:nvCxnSpPr>
        <p:spPr>
          <a:xfrm flipH="1" flipV="1">
            <a:off x="7585896" y="1795522"/>
            <a:ext cx="321691" cy="668768"/>
          </a:xfrm>
          <a:prstGeom prst="straightConnector1">
            <a:avLst/>
          </a:prstGeom>
          <a:ln>
            <a:tailEnd type="triangle"/>
          </a:ln>
        </p:spPr>
        <p:style>
          <a:lnRef idx="3">
            <a:schemeClr val="accent6"/>
          </a:lnRef>
          <a:fillRef idx="0">
            <a:schemeClr val="accent6"/>
          </a:fillRef>
          <a:effectRef idx="2">
            <a:schemeClr val="accent6"/>
          </a:effectRef>
          <a:fontRef idx="minor">
            <a:schemeClr val="tx1"/>
          </a:fontRef>
        </p:style>
      </p:cxnSp>
      <p:sp>
        <p:nvSpPr>
          <p:cNvPr id="10" name="Textfeld 9">
            <a:extLst>
              <a:ext uri="{FF2B5EF4-FFF2-40B4-BE49-F238E27FC236}">
                <a16:creationId xmlns:a16="http://schemas.microsoft.com/office/drawing/2014/main" id="{EFB0A3D6-504F-B436-E9F5-47591C65F2EF}"/>
              </a:ext>
            </a:extLst>
          </p:cNvPr>
          <p:cNvSpPr txBox="1"/>
          <p:nvPr/>
        </p:nvSpPr>
        <p:spPr>
          <a:xfrm>
            <a:off x="7851895" y="134610"/>
            <a:ext cx="1124923" cy="276999"/>
          </a:xfrm>
          <a:prstGeom prst="rect">
            <a:avLst/>
          </a:prstGeom>
          <a:noFill/>
        </p:spPr>
        <p:txBody>
          <a:bodyPr wrap="none" rtlCol="0">
            <a:spAutoFit/>
          </a:bodyPr>
          <a:lstStyle/>
          <a:p>
            <a:r>
              <a:rPr lang="de-DE" sz="1200" dirty="0"/>
              <a:t>Concept </a:t>
            </a:r>
            <a:r>
              <a:rPr lang="de-DE" sz="1200" dirty="0" err="1"/>
              <a:t>for</a:t>
            </a:r>
            <a:r>
              <a:rPr lang="de-DE" sz="1200" dirty="0"/>
              <a:t> DK</a:t>
            </a:r>
            <a:endParaRPr lang="en-US" sz="1200" dirty="0"/>
          </a:p>
        </p:txBody>
      </p:sp>
      <p:sp>
        <p:nvSpPr>
          <p:cNvPr id="14" name="Rechteck 13" descr="Lichter an mit einfarbiger Füllung">
            <a:extLst>
              <a:ext uri="{FF2B5EF4-FFF2-40B4-BE49-F238E27FC236}">
                <a16:creationId xmlns:a16="http://schemas.microsoft.com/office/drawing/2014/main" id="{A2B46623-F172-DFFA-9CD8-E922B0083D9B}"/>
              </a:ext>
            </a:extLst>
          </p:cNvPr>
          <p:cNvSpPr/>
          <p:nvPr/>
        </p:nvSpPr>
        <p:spPr>
          <a:xfrm>
            <a:off x="8804352" y="664349"/>
            <a:ext cx="277969" cy="277969"/>
          </a:xfrm>
          <a:prstGeom prst="rect">
            <a:avLst/>
          </a:prstGeom>
          <a:blipFill>
            <a:blip r:embed="rId3">
              <a:extLst>
                <a:ext uri="{96DAC541-7B7A-43D3-8B79-37D633B846F1}">
                  <asvg:svgBlip xmlns:asvg="http://schemas.microsoft.com/office/drawing/2016/SVG/main" r:embed="rId4"/>
                </a:ext>
              </a:extLst>
            </a:blip>
            <a:srcRect/>
            <a:stretch>
              <a:fillRect/>
            </a:stretch>
          </a:blipFill>
          <a:ln>
            <a:noFill/>
          </a:ln>
        </p:spPr>
        <p:style>
          <a:lnRef idx="2">
            <a:scrgbClr r="0" g="0" b="0"/>
          </a:lnRef>
          <a:fillRef idx="1">
            <a:scrgbClr r="0" g="0" b="0"/>
          </a:fillRef>
          <a:effectRef idx="0">
            <a:schemeClr val="accent2">
              <a:hueOff val="0"/>
              <a:satOff val="0"/>
              <a:lumOff val="0"/>
              <a:alphaOff val="0"/>
            </a:schemeClr>
          </a:effectRef>
          <a:fontRef idx="minor">
            <a:schemeClr val="lt1"/>
          </a:fontRef>
        </p:style>
        <p:txBody>
          <a:bodyPr/>
          <a:lstStyle/>
          <a:p>
            <a:endParaRPr lang="en-US"/>
          </a:p>
        </p:txBody>
      </p:sp>
      <p:sp>
        <p:nvSpPr>
          <p:cNvPr id="17" name="Rechteck 16" descr="Geschlossenes Buch mit einfarbiger Füllung">
            <a:extLst>
              <a:ext uri="{FF2B5EF4-FFF2-40B4-BE49-F238E27FC236}">
                <a16:creationId xmlns:a16="http://schemas.microsoft.com/office/drawing/2014/main" id="{364EA83B-A3C6-4678-D984-BE9EFC1DACB1}"/>
              </a:ext>
            </a:extLst>
          </p:cNvPr>
          <p:cNvSpPr/>
          <p:nvPr/>
        </p:nvSpPr>
        <p:spPr>
          <a:xfrm>
            <a:off x="8804352" y="1043547"/>
            <a:ext cx="277969" cy="277969"/>
          </a:xfrm>
          <a:prstGeom prst="rect">
            <a:avLst/>
          </a:prstGeom>
          <a:blipFill>
            <a:blip r:embed="rId5">
              <a:extLst>
                <a:ext uri="{96DAC541-7B7A-43D3-8B79-37D633B846F1}">
                  <asvg:svgBlip xmlns:asvg="http://schemas.microsoft.com/office/drawing/2016/SVG/main" r:embed="rId6"/>
                </a:ext>
              </a:extLst>
            </a:blip>
            <a:srcRect/>
            <a:stretch>
              <a:fillRect/>
            </a:stretch>
          </a:blipFill>
          <a:ln>
            <a:noFill/>
          </a:ln>
        </p:spPr>
        <p:style>
          <a:lnRef idx="2">
            <a:scrgbClr r="0" g="0" b="0"/>
          </a:lnRef>
          <a:fillRef idx="1">
            <a:scrgbClr r="0" g="0" b="0"/>
          </a:fillRef>
          <a:effectRef idx="0">
            <a:schemeClr val="accent3">
              <a:hueOff val="0"/>
              <a:satOff val="0"/>
              <a:lumOff val="0"/>
              <a:alphaOff val="0"/>
            </a:schemeClr>
          </a:effectRef>
          <a:fontRef idx="minor">
            <a:schemeClr val="lt1"/>
          </a:fontRef>
        </p:style>
        <p:txBody>
          <a:bodyPr/>
          <a:lstStyle/>
          <a:p>
            <a:endParaRPr lang="en-US"/>
          </a:p>
        </p:txBody>
      </p:sp>
      <p:sp>
        <p:nvSpPr>
          <p:cNvPr id="18" name="Rechteck 17" descr="Netzwerk">
            <a:extLst>
              <a:ext uri="{FF2B5EF4-FFF2-40B4-BE49-F238E27FC236}">
                <a16:creationId xmlns:a16="http://schemas.microsoft.com/office/drawing/2014/main" id="{9BF65699-B7C9-5B93-B930-F75E10102597}"/>
              </a:ext>
            </a:extLst>
          </p:cNvPr>
          <p:cNvSpPr/>
          <p:nvPr/>
        </p:nvSpPr>
        <p:spPr>
          <a:xfrm>
            <a:off x="8804352" y="1379208"/>
            <a:ext cx="277969" cy="277969"/>
          </a:xfrm>
          <a:prstGeom prst="rect">
            <a:avLst/>
          </a:prstGeom>
          <a: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p:spPr>
        <p:style>
          <a:lnRef idx="2">
            <a:scrgbClr r="0" g="0" b="0"/>
          </a:lnRef>
          <a:fillRef idx="1">
            <a:scrgbClr r="0" g="0" b="0"/>
          </a:fillRef>
          <a:effectRef idx="0">
            <a:schemeClr val="accent4">
              <a:hueOff val="0"/>
              <a:satOff val="0"/>
              <a:lumOff val="0"/>
              <a:alphaOff val="0"/>
            </a:schemeClr>
          </a:effectRef>
          <a:fontRef idx="minor">
            <a:schemeClr val="lt1"/>
          </a:fontRef>
        </p:style>
        <p:txBody>
          <a:bodyPr/>
          <a:lstStyle/>
          <a:p>
            <a:endParaRPr lang="en-US"/>
          </a:p>
        </p:txBody>
      </p:sp>
      <p:sp>
        <p:nvSpPr>
          <p:cNvPr id="19" name="Rechteck 18" descr="Kreise mit Pfeilen mit einfarbiger Füllung">
            <a:extLst>
              <a:ext uri="{FF2B5EF4-FFF2-40B4-BE49-F238E27FC236}">
                <a16:creationId xmlns:a16="http://schemas.microsoft.com/office/drawing/2014/main" id="{083C0CDA-C6A6-5B92-B4BD-2528B44920CA}"/>
              </a:ext>
            </a:extLst>
          </p:cNvPr>
          <p:cNvSpPr/>
          <p:nvPr/>
        </p:nvSpPr>
        <p:spPr>
          <a:xfrm>
            <a:off x="8804352" y="1688740"/>
            <a:ext cx="277969" cy="277969"/>
          </a:xfrm>
          <a:prstGeom prst="rect">
            <a:avLst/>
          </a:prstGeom>
          <a:blipFill>
            <a:blip r:embed="rId9">
              <a:extLst>
                <a:ext uri="{96DAC541-7B7A-43D3-8B79-37D633B846F1}">
                  <asvg:svgBlip xmlns:asvg="http://schemas.microsoft.com/office/drawing/2016/SVG/main" r:embed="rId10"/>
                </a:ext>
              </a:extLst>
            </a:blip>
            <a:srcRect/>
            <a:stretch>
              <a:fillRect/>
            </a:stretch>
          </a:blipFill>
          <a:ln>
            <a:noFill/>
          </a:ln>
        </p:spPr>
        <p:style>
          <a:lnRef idx="2">
            <a:scrgbClr r="0" g="0" b="0"/>
          </a:lnRef>
          <a:fillRef idx="1">
            <a:scrgbClr r="0" g="0" b="0"/>
          </a:fillRef>
          <a:effectRef idx="0">
            <a:schemeClr val="accent5">
              <a:hueOff val="0"/>
              <a:satOff val="0"/>
              <a:lumOff val="0"/>
              <a:alphaOff val="0"/>
            </a:schemeClr>
          </a:effectRef>
          <a:fontRef idx="minor">
            <a:schemeClr val="lt1"/>
          </a:fontRef>
        </p:style>
        <p:txBody>
          <a:bodyPr/>
          <a:lstStyle/>
          <a:p>
            <a:endParaRPr lang="en-US"/>
          </a:p>
        </p:txBody>
      </p:sp>
      <p:sp>
        <p:nvSpPr>
          <p:cNvPr id="21" name="Rechteck 20" descr="Prüfliste">
            <a:extLst>
              <a:ext uri="{FF2B5EF4-FFF2-40B4-BE49-F238E27FC236}">
                <a16:creationId xmlns:a16="http://schemas.microsoft.com/office/drawing/2014/main" id="{FFE2F6AA-742F-3B4E-29BF-C90F3A5F883F}"/>
              </a:ext>
            </a:extLst>
          </p:cNvPr>
          <p:cNvSpPr/>
          <p:nvPr/>
        </p:nvSpPr>
        <p:spPr>
          <a:xfrm>
            <a:off x="8804352" y="2006980"/>
            <a:ext cx="277969" cy="277969"/>
          </a:xfrm>
          <a:prstGeom prst="rect">
            <a:avLst/>
          </a:prstGeom>
          <a: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a:noFill/>
          </a:ln>
        </p:spPr>
        <p:style>
          <a:lnRef idx="2">
            <a:scrgbClr r="0" g="0" b="0"/>
          </a:lnRef>
          <a:fillRef idx="1">
            <a:scrgbClr r="0" g="0" b="0"/>
          </a:fillRef>
          <a:effectRef idx="0">
            <a:schemeClr val="accent6">
              <a:hueOff val="0"/>
              <a:satOff val="0"/>
              <a:lumOff val="0"/>
              <a:alphaOff val="0"/>
            </a:schemeClr>
          </a:effectRef>
          <a:fontRef idx="minor">
            <a:schemeClr val="lt1"/>
          </a:fontRef>
        </p:style>
        <p:txBody>
          <a:bodyPr/>
          <a:lstStyle/>
          <a:p>
            <a:endParaRPr lang="en-US"/>
          </a:p>
        </p:txBody>
      </p:sp>
      <p:sp>
        <p:nvSpPr>
          <p:cNvPr id="22" name="Rechteck 21" descr="Auktionshammer">
            <a:extLst>
              <a:ext uri="{FF2B5EF4-FFF2-40B4-BE49-F238E27FC236}">
                <a16:creationId xmlns:a16="http://schemas.microsoft.com/office/drawing/2014/main" id="{364E1C33-514C-05C0-7369-EA08863F8ACD}"/>
              </a:ext>
            </a:extLst>
          </p:cNvPr>
          <p:cNvSpPr/>
          <p:nvPr/>
        </p:nvSpPr>
        <p:spPr>
          <a:xfrm>
            <a:off x="8804352" y="2316507"/>
            <a:ext cx="277969" cy="277969"/>
          </a:xfrm>
          <a:prstGeom prst="rect">
            <a:avLst/>
          </a:prstGeom>
          <a: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a:blipFill>
          <a:ln>
            <a:noFill/>
          </a:ln>
        </p:spPr>
        <p:style>
          <a:lnRef idx="2">
            <a:scrgbClr r="0" g="0" b="0"/>
          </a:lnRef>
          <a:fillRef idx="1">
            <a:scrgbClr r="0" g="0" b="0"/>
          </a:fillRef>
          <a:effectRef idx="0">
            <a:schemeClr val="accent2">
              <a:hueOff val="0"/>
              <a:satOff val="0"/>
              <a:lumOff val="0"/>
              <a:alphaOff val="0"/>
            </a:schemeClr>
          </a:effectRef>
          <a:fontRef idx="minor">
            <a:schemeClr val="lt1"/>
          </a:fontRef>
        </p:style>
        <p:txBody>
          <a:bodyPr/>
          <a:lstStyle/>
          <a:p>
            <a:endParaRPr lang="en-US"/>
          </a:p>
        </p:txBody>
      </p:sp>
      <p:sp>
        <p:nvSpPr>
          <p:cNvPr id="23" name="Rechteck 22" descr="Netzwerk">
            <a:extLst>
              <a:ext uri="{FF2B5EF4-FFF2-40B4-BE49-F238E27FC236}">
                <a16:creationId xmlns:a16="http://schemas.microsoft.com/office/drawing/2014/main" id="{73884E17-27B5-E922-43B1-59CE1605BFC0}"/>
              </a:ext>
            </a:extLst>
          </p:cNvPr>
          <p:cNvSpPr/>
          <p:nvPr/>
        </p:nvSpPr>
        <p:spPr>
          <a:xfrm>
            <a:off x="7601428" y="127192"/>
            <a:ext cx="277969" cy="277969"/>
          </a:xfrm>
          <a:prstGeom prst="rect">
            <a:avLst/>
          </a:prstGeom>
          <a: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p:spPr>
        <p:style>
          <a:lnRef idx="2">
            <a:scrgbClr r="0" g="0" b="0"/>
          </a:lnRef>
          <a:fillRef idx="1">
            <a:scrgbClr r="0" g="0" b="0"/>
          </a:fillRef>
          <a:effectRef idx="0">
            <a:schemeClr val="accent4">
              <a:hueOff val="0"/>
              <a:satOff val="0"/>
              <a:lumOff val="0"/>
              <a:alphaOff val="0"/>
            </a:schemeClr>
          </a:effectRef>
          <a:fontRef idx="minor">
            <a:schemeClr val="lt1"/>
          </a:fontRef>
        </p:style>
        <p:txBody>
          <a:bodyPr/>
          <a:lstStyle/>
          <a:p>
            <a:endParaRPr lang="en-US"/>
          </a:p>
        </p:txBody>
      </p:sp>
    </p:spTree>
    <p:extLst>
      <p:ext uri="{BB962C8B-B14F-4D97-AF65-F5344CB8AC3E}">
        <p14:creationId xmlns:p14="http://schemas.microsoft.com/office/powerpoint/2010/main" val="691174943"/>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par>
                                <p:cTn id="18" presetID="1" presetClass="entr" presetSubtype="0" fill="hold" grpId="0" nodeType="withEffect">
                                  <p:stCondLst>
                                    <p:cond delay="0"/>
                                  </p:stCondLst>
                                  <p:childTnLst>
                                    <p:set>
                                      <p:cBhvr>
                                        <p:cTn id="19" dur="1" fill="hold">
                                          <p:stCondLst>
                                            <p:cond delay="0"/>
                                          </p:stCondLst>
                                        </p:cTn>
                                        <p:tgtEl>
                                          <p:spTgt spid="9"/>
                                        </p:tgtEl>
                                        <p:attrNameLst>
                                          <p:attrName>style.visibility</p:attrName>
                                        </p:attrNameLst>
                                      </p:cBhvr>
                                      <p:to>
                                        <p:strVal val="visible"/>
                                      </p:to>
                                    </p:set>
                                  </p:childTnLst>
                                </p:cTn>
                              </p:par>
                              <p:par>
                                <p:cTn id="20" presetID="1" presetClass="entr" presetSubtype="0"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childTnLst>
                                </p:cTn>
                              </p:par>
                              <p:par>
                                <p:cTn id="22" presetID="1" presetClass="entr" presetSubtype="0" fill="hold" grpId="0" nodeType="withEffect">
                                  <p:stCondLst>
                                    <p:cond delay="0"/>
                                  </p:stCondLst>
                                  <p:childTnLst>
                                    <p:set>
                                      <p:cBhvr>
                                        <p:cTn id="23" dur="1" fill="hold">
                                          <p:stCondLst>
                                            <p:cond delay="0"/>
                                          </p:stCondLst>
                                        </p:cTn>
                                        <p:tgtEl>
                                          <p:spTgt spid="12"/>
                                        </p:tgtEl>
                                        <p:attrNameLst>
                                          <p:attrName>style.visibility</p:attrName>
                                        </p:attrNameLst>
                                      </p:cBhvr>
                                      <p:to>
                                        <p:strVal val="visible"/>
                                      </p:to>
                                    </p:set>
                                  </p:childTnLst>
                                </p:cTn>
                              </p:par>
                              <p:par>
                                <p:cTn id="24" presetID="1" presetClass="entr" presetSubtype="0" fill="hold" grpId="0" nodeType="withEffect">
                                  <p:stCondLst>
                                    <p:cond delay="0"/>
                                  </p:stCondLst>
                                  <p:childTnLst>
                                    <p:set>
                                      <p:cBhvr>
                                        <p:cTn id="25" dur="1" fill="hold">
                                          <p:stCondLst>
                                            <p:cond delay="0"/>
                                          </p:stCondLst>
                                        </p:cTn>
                                        <p:tgtEl>
                                          <p:spTgt spid="20"/>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3">
                                            <p:txEl>
                                              <p:pRg st="3" end="3"/>
                                            </p:txEl>
                                          </p:spTgt>
                                        </p:tgtEl>
                                        <p:attrNameLst>
                                          <p:attrName>style.visibility</p:attrName>
                                        </p:attrNameLst>
                                      </p:cBhvr>
                                      <p:to>
                                        <p:strVal val="visible"/>
                                      </p:to>
                                    </p:set>
                                    <p:animEffect transition="in" filter="fade">
                                      <p:cBhvr>
                                        <p:cTn id="30" dur="500"/>
                                        <p:tgtEl>
                                          <p:spTgt spid="3">
                                            <p:txEl>
                                              <p:pRg st="3" end="3"/>
                                            </p:txEl>
                                          </p:spTgt>
                                        </p:tgtEl>
                                      </p:cBhvr>
                                    </p:animEffect>
                                  </p:childTnLst>
                                </p:cTn>
                              </p:par>
                              <p:par>
                                <p:cTn id="31" presetID="10" presetClass="entr" presetSubtype="0" fill="hold" nodeType="withEffect">
                                  <p:stCondLst>
                                    <p:cond delay="0"/>
                                  </p:stCondLst>
                                  <p:childTnLst>
                                    <p:set>
                                      <p:cBhvr>
                                        <p:cTn id="32" dur="1" fill="hold">
                                          <p:stCondLst>
                                            <p:cond delay="0"/>
                                          </p:stCondLst>
                                        </p:cTn>
                                        <p:tgtEl>
                                          <p:spTgt spid="15"/>
                                        </p:tgtEl>
                                        <p:attrNameLst>
                                          <p:attrName>style.visibility</p:attrName>
                                        </p:attrNameLst>
                                      </p:cBhvr>
                                      <p:to>
                                        <p:strVal val="visible"/>
                                      </p:to>
                                    </p:set>
                                    <p:animEffect transition="in" filter="fade">
                                      <p:cBhvr>
                                        <p:cTn id="33" dur="500"/>
                                        <p:tgtEl>
                                          <p:spTgt spid="15"/>
                                        </p:tgtEl>
                                      </p:cBhvr>
                                    </p:animEffect>
                                  </p:childTnLst>
                                </p:cTn>
                              </p:par>
                              <p:par>
                                <p:cTn id="34" presetID="10" presetClass="entr" presetSubtype="0" fill="hold" nodeType="withEffect">
                                  <p:stCondLst>
                                    <p:cond delay="0"/>
                                  </p:stCondLst>
                                  <p:childTnLst>
                                    <p:set>
                                      <p:cBhvr>
                                        <p:cTn id="35" dur="1" fill="hold">
                                          <p:stCondLst>
                                            <p:cond delay="0"/>
                                          </p:stCondLst>
                                        </p:cTn>
                                        <p:tgtEl>
                                          <p:spTgt spid="13"/>
                                        </p:tgtEl>
                                        <p:attrNameLst>
                                          <p:attrName>style.visibility</p:attrName>
                                        </p:attrNameLst>
                                      </p:cBhvr>
                                      <p:to>
                                        <p:strVal val="visible"/>
                                      </p:to>
                                    </p:set>
                                    <p:animEffect transition="in" filter="fade">
                                      <p:cBhvr>
                                        <p:cTn id="36" dur="500"/>
                                        <p:tgtEl>
                                          <p:spTgt spid="13"/>
                                        </p:tgtEl>
                                      </p:cBhvr>
                                    </p:animEffect>
                                  </p:childTnLst>
                                </p:cTn>
                              </p:par>
                              <p:par>
                                <p:cTn id="37" presetID="10" presetClass="entr" presetSubtype="0" fill="hold" nodeType="withEffect">
                                  <p:stCondLst>
                                    <p:cond delay="0"/>
                                  </p:stCondLst>
                                  <p:childTnLst>
                                    <p:set>
                                      <p:cBhvr>
                                        <p:cTn id="38" dur="1" fill="hold">
                                          <p:stCondLst>
                                            <p:cond delay="0"/>
                                          </p:stCondLst>
                                        </p:cTn>
                                        <p:tgtEl>
                                          <p:spTgt spid="7"/>
                                        </p:tgtEl>
                                        <p:attrNameLst>
                                          <p:attrName>style.visibility</p:attrName>
                                        </p:attrNameLst>
                                      </p:cBhvr>
                                      <p:to>
                                        <p:strVal val="visible"/>
                                      </p:to>
                                    </p:set>
                                    <p:animEffect transition="in" filter="fade">
                                      <p:cBhvr>
                                        <p:cTn id="39" dur="500"/>
                                        <p:tgtEl>
                                          <p:spTgt spid="7"/>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grpId="0" nodeType="clickEffect">
                                  <p:stCondLst>
                                    <p:cond delay="0"/>
                                  </p:stCondLst>
                                  <p:childTnLst>
                                    <p:set>
                                      <p:cBhvr>
                                        <p:cTn id="43" dur="1" fill="hold">
                                          <p:stCondLst>
                                            <p:cond delay="0"/>
                                          </p:stCondLst>
                                        </p:cTn>
                                        <p:tgtEl>
                                          <p:spTgt spid="3">
                                            <p:txEl>
                                              <p:pRg st="4" end="4"/>
                                            </p:txEl>
                                          </p:spTgt>
                                        </p:tgtEl>
                                        <p:attrNameLst>
                                          <p:attrName>style.visibility</p:attrName>
                                        </p:attrNameLst>
                                      </p:cBhvr>
                                      <p:to>
                                        <p:strVal val="visible"/>
                                      </p:to>
                                    </p:set>
                                    <p:animEffect transition="in" filter="fade">
                                      <p:cBhvr>
                                        <p:cTn id="44"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9" grpId="0" animBg="1"/>
      <p:bldP spid="11" grpId="0" animBg="1"/>
      <p:bldP spid="12" grpId="0" animBg="1"/>
      <p:bldP spid="20"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26B9E1-8E2B-0B1E-E292-3A45D4F5F68C}"/>
            </a:ext>
          </a:extLst>
        </p:cNvPr>
        <p:cNvGrpSpPr/>
        <p:nvPr/>
      </p:nvGrpSpPr>
      <p:grpSpPr>
        <a:xfrm>
          <a:off x="0" y="0"/>
          <a:ext cx="0" cy="0"/>
          <a:chOff x="0" y="0"/>
          <a:chExt cx="0" cy="0"/>
        </a:xfrm>
      </p:grpSpPr>
      <p:sp>
        <p:nvSpPr>
          <p:cNvPr id="92" name="Rechteck 91">
            <a:extLst>
              <a:ext uri="{FF2B5EF4-FFF2-40B4-BE49-F238E27FC236}">
                <a16:creationId xmlns:a16="http://schemas.microsoft.com/office/drawing/2014/main" id="{96D4DED4-3226-48DF-7B8C-9F7942AE989E}"/>
              </a:ext>
            </a:extLst>
          </p:cNvPr>
          <p:cNvSpPr/>
          <p:nvPr/>
        </p:nvSpPr>
        <p:spPr>
          <a:xfrm>
            <a:off x="4737056" y="1066422"/>
            <a:ext cx="4210094" cy="3764839"/>
          </a:xfrm>
          <a:prstGeom prst="rect">
            <a:avLst/>
          </a:prstGeom>
          <a:gradFill flip="none" rotWithShape="1">
            <a:gsLst>
              <a:gs pos="0">
                <a:schemeClr val="accent3">
                  <a:lumMod val="20000"/>
                  <a:lumOff val="80000"/>
                  <a:alpha val="50000"/>
                </a:schemeClr>
              </a:gs>
              <a:gs pos="50000">
                <a:schemeClr val="accent1">
                  <a:tint val="44500"/>
                  <a:satMod val="160000"/>
                  <a:alpha val="50000"/>
                </a:schemeClr>
              </a:gs>
              <a:gs pos="100000">
                <a:schemeClr val="accent1">
                  <a:tint val="23500"/>
                  <a:satMod val="160000"/>
                  <a:alpha val="50000"/>
                </a:schemeClr>
              </a:gs>
            </a:gsLst>
            <a:path path="circle">
              <a:fillToRect l="100000" t="100000"/>
            </a:path>
            <a:tileRect r="-100000" b="-100000"/>
          </a:grad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de-DE" noProof="1">
                <a:solidFill>
                  <a:schemeClr val="tx1"/>
                </a:solidFill>
                <a:latin typeface="Arial" panose="020B0604020202020204" pitchFamily="34" charset="0"/>
                <a:cs typeface="Arial" panose="020B0604020202020204" pitchFamily="34" charset="0"/>
              </a:rPr>
              <a:t>Argumentation Tree</a:t>
            </a:r>
          </a:p>
        </p:txBody>
      </p:sp>
      <p:sp>
        <p:nvSpPr>
          <p:cNvPr id="2" name="Titel 1">
            <a:extLst>
              <a:ext uri="{FF2B5EF4-FFF2-40B4-BE49-F238E27FC236}">
                <a16:creationId xmlns:a16="http://schemas.microsoft.com/office/drawing/2014/main" id="{4BFE3819-83A1-6C87-18A8-E77F1D7F487E}"/>
              </a:ext>
            </a:extLst>
          </p:cNvPr>
          <p:cNvSpPr>
            <a:spLocks noGrp="1"/>
          </p:cNvSpPr>
          <p:nvPr>
            <p:ph type="ctrTitle"/>
          </p:nvPr>
        </p:nvSpPr>
        <p:spPr/>
        <p:txBody>
          <a:bodyPr/>
          <a:lstStyle/>
          <a:p>
            <a:r>
              <a:rPr lang="de-DE" sz="2000" noProof="1"/>
              <a:t>The Bridge – Linking XAI and Argumentation</a:t>
            </a:r>
          </a:p>
        </p:txBody>
      </p:sp>
      <p:sp>
        <p:nvSpPr>
          <p:cNvPr id="4" name="Datumsplatzhalter 3">
            <a:extLst>
              <a:ext uri="{FF2B5EF4-FFF2-40B4-BE49-F238E27FC236}">
                <a16:creationId xmlns:a16="http://schemas.microsoft.com/office/drawing/2014/main" id="{11BFFA41-269B-857D-C4A8-6FC9A5130C23}"/>
              </a:ext>
            </a:extLst>
          </p:cNvPr>
          <p:cNvSpPr>
            <a:spLocks noGrp="1"/>
          </p:cNvSpPr>
          <p:nvPr>
            <p:ph type="dt" sz="half" idx="10"/>
          </p:nvPr>
        </p:nvSpPr>
        <p:spPr>
          <a:xfrm>
            <a:off x="7701332" y="4978682"/>
            <a:ext cx="826083" cy="122236"/>
          </a:xfrm>
        </p:spPr>
        <p:txBody>
          <a:bodyPr/>
          <a:lstStyle/>
          <a:p>
            <a:r>
              <a:rPr lang="en-US" noProof="1">
                <a:cs typeface="Arial" panose="020B0604020202020204" pitchFamily="34" charset="0"/>
              </a:rPr>
              <a:t>18.08.2025</a:t>
            </a:r>
            <a:endParaRPr lang="de-DE" noProof="1">
              <a:cs typeface="Arial" panose="020B0604020202020204" pitchFamily="34" charset="0"/>
            </a:endParaRPr>
          </a:p>
        </p:txBody>
      </p:sp>
      <p:sp>
        <p:nvSpPr>
          <p:cNvPr id="5" name="Fußzeilenplatzhalter 4">
            <a:extLst>
              <a:ext uri="{FF2B5EF4-FFF2-40B4-BE49-F238E27FC236}">
                <a16:creationId xmlns:a16="http://schemas.microsoft.com/office/drawing/2014/main" id="{521CCF8D-CEDE-6819-29AF-1DD4F9612EF7}"/>
              </a:ext>
            </a:extLst>
          </p:cNvPr>
          <p:cNvSpPr>
            <a:spLocks noGrp="1"/>
          </p:cNvSpPr>
          <p:nvPr>
            <p:ph type="ftr" sz="quarter" idx="11"/>
          </p:nvPr>
        </p:nvSpPr>
        <p:spPr/>
        <p:txBody>
          <a:bodyPr/>
          <a:lstStyle/>
          <a:p>
            <a:r>
              <a:rPr lang="en-US" noProof="1"/>
              <a:t>Enhancing model transparency: Effects of DK Integration for Conversational XAI | Feustel</a:t>
            </a:r>
            <a:endParaRPr lang="de-DE" noProof="1"/>
          </a:p>
        </p:txBody>
      </p:sp>
      <p:sp>
        <p:nvSpPr>
          <p:cNvPr id="6" name="Foliennummernplatzhalter 5">
            <a:extLst>
              <a:ext uri="{FF2B5EF4-FFF2-40B4-BE49-F238E27FC236}">
                <a16:creationId xmlns:a16="http://schemas.microsoft.com/office/drawing/2014/main" id="{C81ED3C2-BD97-C0D5-4D51-953DBD1C1B0E}"/>
              </a:ext>
            </a:extLst>
          </p:cNvPr>
          <p:cNvSpPr>
            <a:spLocks noGrp="1"/>
          </p:cNvSpPr>
          <p:nvPr>
            <p:ph type="sldNum" sz="quarter" idx="12"/>
          </p:nvPr>
        </p:nvSpPr>
        <p:spPr/>
        <p:txBody>
          <a:bodyPr/>
          <a:lstStyle/>
          <a:p>
            <a:r>
              <a:rPr lang="de-DE" noProof="1"/>
              <a:t> </a:t>
            </a:r>
            <a:fld id="{FE120BDC-5456-EC41-8BB6-7A3B726EA19B}" type="slidenum">
              <a:rPr lang="de-DE" noProof="1" smtClean="0"/>
              <a:pPr/>
              <a:t>16</a:t>
            </a:fld>
            <a:endParaRPr lang="de-DE" noProof="1"/>
          </a:p>
        </p:txBody>
      </p:sp>
      <p:sp>
        <p:nvSpPr>
          <p:cNvPr id="9" name="Rechteck 8">
            <a:extLst>
              <a:ext uri="{FF2B5EF4-FFF2-40B4-BE49-F238E27FC236}">
                <a16:creationId xmlns:a16="http://schemas.microsoft.com/office/drawing/2014/main" id="{82AB37B6-7203-F308-BBF8-69F47B8E908E}"/>
              </a:ext>
            </a:extLst>
          </p:cNvPr>
          <p:cNvSpPr/>
          <p:nvPr/>
        </p:nvSpPr>
        <p:spPr>
          <a:xfrm>
            <a:off x="298450" y="1064367"/>
            <a:ext cx="2024430" cy="3766894"/>
          </a:xfrm>
          <a:prstGeom prst="rect">
            <a:avLst/>
          </a:prstGeom>
          <a:gradFill flip="none" rotWithShape="1">
            <a:gsLst>
              <a:gs pos="0">
                <a:schemeClr val="accent3">
                  <a:lumMod val="20000"/>
                  <a:lumOff val="80000"/>
                </a:schemeClr>
              </a:gs>
              <a:gs pos="50000">
                <a:schemeClr val="accent1">
                  <a:tint val="44500"/>
                  <a:satMod val="160000"/>
                  <a:alpha val="50000"/>
                </a:schemeClr>
              </a:gs>
              <a:gs pos="100000">
                <a:schemeClr val="accent1">
                  <a:tint val="23500"/>
                  <a:satMod val="160000"/>
                  <a:alpha val="50000"/>
                </a:schemeClr>
              </a:gs>
            </a:gsLst>
            <a:path path="circle">
              <a:fillToRect l="100000" t="100000"/>
            </a:path>
            <a:tileRect r="-100000" b="-100000"/>
          </a:grad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de-DE" noProof="1">
                <a:solidFill>
                  <a:schemeClr val="tx1"/>
                </a:solidFill>
                <a:latin typeface="Arial" panose="020B0604020202020204" pitchFamily="34" charset="0"/>
                <a:cs typeface="Arial" panose="020B0604020202020204" pitchFamily="34" charset="0"/>
              </a:rPr>
              <a:t>XAI</a:t>
            </a:r>
            <a:endParaRPr lang="de-DE" sz="2400" noProof="1">
              <a:solidFill>
                <a:schemeClr val="tx1"/>
              </a:solidFill>
              <a:latin typeface="Arial" panose="020B0604020202020204" pitchFamily="34" charset="0"/>
              <a:cs typeface="Arial" panose="020B0604020202020204" pitchFamily="34" charset="0"/>
            </a:endParaRPr>
          </a:p>
        </p:txBody>
      </p:sp>
      <p:grpSp>
        <p:nvGrpSpPr>
          <p:cNvPr id="20" name="Gruppieren 19">
            <a:extLst>
              <a:ext uri="{FF2B5EF4-FFF2-40B4-BE49-F238E27FC236}">
                <a16:creationId xmlns:a16="http://schemas.microsoft.com/office/drawing/2014/main" id="{DB72B2F7-2B97-F2DF-7203-4BEAB92E2E29}"/>
              </a:ext>
            </a:extLst>
          </p:cNvPr>
          <p:cNvGrpSpPr/>
          <p:nvPr/>
        </p:nvGrpSpPr>
        <p:grpSpPr>
          <a:xfrm>
            <a:off x="382633" y="1628918"/>
            <a:ext cx="1789750" cy="918639"/>
            <a:chOff x="3105393" y="3794558"/>
            <a:chExt cx="1789750" cy="918639"/>
          </a:xfrm>
        </p:grpSpPr>
        <p:sp>
          <p:nvSpPr>
            <p:cNvPr id="15" name="Rechteck 14">
              <a:extLst>
                <a:ext uri="{FF2B5EF4-FFF2-40B4-BE49-F238E27FC236}">
                  <a16:creationId xmlns:a16="http://schemas.microsoft.com/office/drawing/2014/main" id="{4D6694E4-5BA4-E3A5-4055-5CAC3C7EFA83}"/>
                </a:ext>
              </a:extLst>
            </p:cNvPr>
            <p:cNvSpPr/>
            <p:nvPr/>
          </p:nvSpPr>
          <p:spPr>
            <a:xfrm>
              <a:off x="3105393" y="3794558"/>
              <a:ext cx="349793" cy="914400"/>
            </a:xfrm>
            <a:prstGeom prst="rect">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vert="vert270" rtlCol="0" anchor="ctr"/>
            <a:lstStyle/>
            <a:p>
              <a:pPr algn="ctr"/>
              <a:r>
                <a:rPr lang="de-DE" sz="1200" noProof="1">
                  <a:latin typeface="Arial" panose="020B0604020202020204" pitchFamily="34" charset="0"/>
                  <a:cs typeface="Arial" panose="020B0604020202020204" pitchFamily="34" charset="0"/>
                </a:rPr>
                <a:t>Shapley Values</a:t>
              </a:r>
            </a:p>
          </p:txBody>
        </p:sp>
        <p:sp>
          <p:nvSpPr>
            <p:cNvPr id="19" name="Rechteck 18">
              <a:extLst>
                <a:ext uri="{FF2B5EF4-FFF2-40B4-BE49-F238E27FC236}">
                  <a16:creationId xmlns:a16="http://schemas.microsoft.com/office/drawing/2014/main" id="{5DA6E27E-97D9-E9DD-4DCE-52E983B85A4F}"/>
                </a:ext>
              </a:extLst>
            </p:cNvPr>
            <p:cNvSpPr/>
            <p:nvPr/>
          </p:nvSpPr>
          <p:spPr>
            <a:xfrm>
              <a:off x="3455185" y="3798797"/>
              <a:ext cx="1439958" cy="914400"/>
            </a:xfrm>
            <a:prstGeom prst="rect">
              <a:avLst/>
            </a:prstGeom>
            <a:solidFill>
              <a:srgbClr val="92D050">
                <a:alpha val="80000"/>
              </a:srgbClr>
            </a:solidFill>
          </p:spPr>
          <p:style>
            <a:lnRef idx="2">
              <a:schemeClr val="accent1">
                <a:shade val="15000"/>
              </a:schemeClr>
            </a:lnRef>
            <a:fillRef idx="1">
              <a:schemeClr val="accent1"/>
            </a:fillRef>
            <a:effectRef idx="0">
              <a:schemeClr val="accent1"/>
            </a:effectRef>
            <a:fontRef idx="minor">
              <a:schemeClr val="lt1"/>
            </a:fontRef>
          </p:style>
          <p:txBody>
            <a:bodyPr vert="horz" rtlCol="0" anchor="ctr"/>
            <a:lstStyle/>
            <a:p>
              <a:pPr algn="ctr"/>
              <a:r>
                <a:rPr lang="de-DE" sz="1100" b="0" i="0" u="none" strike="noStrike" baseline="0" noProof="1">
                  <a:solidFill>
                    <a:schemeClr val="tx1"/>
                  </a:solidFill>
                  <a:latin typeface="Arial" panose="020B0604020202020204" pitchFamily="34" charset="0"/>
                  <a:cs typeface="Arial" panose="020B0604020202020204" pitchFamily="34" charset="0"/>
                </a:rPr>
                <a:t>For the given case, purpose is the most influential feature.</a:t>
              </a:r>
              <a:endParaRPr lang="de-DE" sz="1100" noProof="1">
                <a:solidFill>
                  <a:schemeClr val="tx1"/>
                </a:solidFill>
                <a:latin typeface="Arial" panose="020B0604020202020204" pitchFamily="34" charset="0"/>
                <a:cs typeface="Arial" panose="020B0604020202020204" pitchFamily="34" charset="0"/>
              </a:endParaRPr>
            </a:p>
          </p:txBody>
        </p:sp>
      </p:grpSp>
      <p:grpSp>
        <p:nvGrpSpPr>
          <p:cNvPr id="21" name="Gruppieren 20">
            <a:extLst>
              <a:ext uri="{FF2B5EF4-FFF2-40B4-BE49-F238E27FC236}">
                <a16:creationId xmlns:a16="http://schemas.microsoft.com/office/drawing/2014/main" id="{1BAE701E-733D-D717-3C98-888CF9DFBD60}"/>
              </a:ext>
            </a:extLst>
          </p:cNvPr>
          <p:cNvGrpSpPr/>
          <p:nvPr/>
        </p:nvGrpSpPr>
        <p:grpSpPr>
          <a:xfrm>
            <a:off x="376992" y="2648340"/>
            <a:ext cx="1795392" cy="916316"/>
            <a:chOff x="3099752" y="3792642"/>
            <a:chExt cx="1985968" cy="916316"/>
          </a:xfrm>
        </p:grpSpPr>
        <p:sp>
          <p:nvSpPr>
            <p:cNvPr id="22" name="Rechteck 21">
              <a:extLst>
                <a:ext uri="{FF2B5EF4-FFF2-40B4-BE49-F238E27FC236}">
                  <a16:creationId xmlns:a16="http://schemas.microsoft.com/office/drawing/2014/main" id="{30472339-FF9E-B59F-785B-AF1FD65FD2FE}"/>
                </a:ext>
              </a:extLst>
            </p:cNvPr>
            <p:cNvSpPr/>
            <p:nvPr/>
          </p:nvSpPr>
          <p:spPr>
            <a:xfrm>
              <a:off x="3099752" y="3794558"/>
              <a:ext cx="386923" cy="914400"/>
            </a:xfrm>
            <a:prstGeom prst="rect">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vert="vert270" rtlCol="0" anchor="ctr"/>
            <a:lstStyle/>
            <a:p>
              <a:pPr algn="ctr"/>
              <a:r>
                <a:rPr lang="de-DE" sz="1200" noProof="1">
                  <a:latin typeface="Arial" panose="020B0604020202020204" pitchFamily="34" charset="0"/>
                  <a:cs typeface="Arial" panose="020B0604020202020204" pitchFamily="34" charset="0"/>
                </a:rPr>
                <a:t>Counter-</a:t>
              </a:r>
            </a:p>
            <a:p>
              <a:pPr algn="ctr"/>
              <a:r>
                <a:rPr lang="de-DE" sz="1200" noProof="1">
                  <a:latin typeface="Arial" panose="020B0604020202020204" pitchFamily="34" charset="0"/>
                  <a:cs typeface="Arial" panose="020B0604020202020204" pitchFamily="34" charset="0"/>
                </a:rPr>
                <a:t>factuals</a:t>
              </a:r>
            </a:p>
          </p:txBody>
        </p:sp>
        <p:sp>
          <p:nvSpPr>
            <p:cNvPr id="23" name="Rechteck 22">
              <a:extLst>
                <a:ext uri="{FF2B5EF4-FFF2-40B4-BE49-F238E27FC236}">
                  <a16:creationId xmlns:a16="http://schemas.microsoft.com/office/drawing/2014/main" id="{73C4AAB2-2126-C0F1-9A55-057E32556DB7}"/>
                </a:ext>
              </a:extLst>
            </p:cNvPr>
            <p:cNvSpPr/>
            <p:nvPr/>
          </p:nvSpPr>
          <p:spPr>
            <a:xfrm>
              <a:off x="3492914" y="3792642"/>
              <a:ext cx="1592806" cy="914400"/>
            </a:xfrm>
            <a:prstGeom prst="rect">
              <a:avLst/>
            </a:prstGeom>
            <a:solidFill>
              <a:srgbClr val="92D050">
                <a:alpha val="80000"/>
              </a:srgbClr>
            </a:solidFill>
          </p:spPr>
          <p:style>
            <a:lnRef idx="2">
              <a:schemeClr val="accent1">
                <a:shade val="15000"/>
              </a:schemeClr>
            </a:lnRef>
            <a:fillRef idx="1">
              <a:schemeClr val="accent1"/>
            </a:fillRef>
            <a:effectRef idx="0">
              <a:schemeClr val="accent1"/>
            </a:effectRef>
            <a:fontRef idx="minor">
              <a:schemeClr val="lt1"/>
            </a:fontRef>
          </p:style>
          <p:txBody>
            <a:bodyPr vert="horz" rtlCol="0" anchor="ctr"/>
            <a:lstStyle/>
            <a:p>
              <a:pPr algn="ctr"/>
              <a:r>
                <a:rPr lang="de-DE" sz="1100" b="0" i="0" u="none" strike="noStrike" baseline="0" noProof="1">
                  <a:solidFill>
                    <a:schemeClr val="tx1"/>
                  </a:solidFill>
                  <a:latin typeface="Arial" panose="020B0604020202020204" pitchFamily="34" charset="0"/>
                  <a:cs typeface="Arial" panose="020B0604020202020204" pitchFamily="34" charset="0"/>
                </a:rPr>
                <a:t>If you change purpose to used car, you will be accepted.</a:t>
              </a:r>
              <a:endParaRPr lang="de-DE" sz="1100" noProof="1">
                <a:solidFill>
                  <a:schemeClr val="tx1"/>
                </a:solidFill>
                <a:latin typeface="Arial" panose="020B0604020202020204" pitchFamily="34" charset="0"/>
                <a:cs typeface="Arial" panose="020B0604020202020204" pitchFamily="34" charset="0"/>
              </a:endParaRPr>
            </a:p>
          </p:txBody>
        </p:sp>
      </p:grpSp>
      <p:grpSp>
        <p:nvGrpSpPr>
          <p:cNvPr id="24" name="Gruppieren 23">
            <a:extLst>
              <a:ext uri="{FF2B5EF4-FFF2-40B4-BE49-F238E27FC236}">
                <a16:creationId xmlns:a16="http://schemas.microsoft.com/office/drawing/2014/main" id="{A3187A90-E130-FC68-4AC6-850F7B4B49E4}"/>
              </a:ext>
            </a:extLst>
          </p:cNvPr>
          <p:cNvGrpSpPr/>
          <p:nvPr/>
        </p:nvGrpSpPr>
        <p:grpSpPr>
          <a:xfrm>
            <a:off x="376992" y="3675816"/>
            <a:ext cx="1795391" cy="929800"/>
            <a:chOff x="3099752" y="3794558"/>
            <a:chExt cx="1795391" cy="917052"/>
          </a:xfrm>
        </p:grpSpPr>
        <p:sp>
          <p:nvSpPr>
            <p:cNvPr id="25" name="Rechteck 24">
              <a:extLst>
                <a:ext uri="{FF2B5EF4-FFF2-40B4-BE49-F238E27FC236}">
                  <a16:creationId xmlns:a16="http://schemas.microsoft.com/office/drawing/2014/main" id="{9D768C2D-AEC7-EF0C-651E-4C6BFCFC6656}"/>
                </a:ext>
              </a:extLst>
            </p:cNvPr>
            <p:cNvSpPr/>
            <p:nvPr/>
          </p:nvSpPr>
          <p:spPr>
            <a:xfrm>
              <a:off x="3099752" y="3794558"/>
              <a:ext cx="349793" cy="914400"/>
            </a:xfrm>
            <a:prstGeom prst="rect">
              <a:avLst/>
            </a:prstGeom>
            <a:solidFill>
              <a:schemeClr val="accent5">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vert="vert270" rtlCol="0" anchor="ctr"/>
            <a:lstStyle/>
            <a:p>
              <a:pPr algn="ctr"/>
              <a:r>
                <a:rPr lang="de-DE" sz="1200" noProof="1">
                  <a:latin typeface="Arial" panose="020B0604020202020204" pitchFamily="34" charset="0"/>
                  <a:cs typeface="Arial" panose="020B0604020202020204" pitchFamily="34" charset="0"/>
                </a:rPr>
                <a:t>Data</a:t>
              </a:r>
            </a:p>
          </p:txBody>
        </p:sp>
        <p:sp>
          <p:nvSpPr>
            <p:cNvPr id="26" name="Rechteck 25">
              <a:extLst>
                <a:ext uri="{FF2B5EF4-FFF2-40B4-BE49-F238E27FC236}">
                  <a16:creationId xmlns:a16="http://schemas.microsoft.com/office/drawing/2014/main" id="{DE684EE5-E12A-D387-1ACB-5CC01460C5A2}"/>
                </a:ext>
              </a:extLst>
            </p:cNvPr>
            <p:cNvSpPr/>
            <p:nvPr/>
          </p:nvSpPr>
          <p:spPr>
            <a:xfrm>
              <a:off x="3455184" y="3797210"/>
              <a:ext cx="1439959" cy="914400"/>
            </a:xfrm>
            <a:prstGeom prst="rect">
              <a:avLst/>
            </a:prstGeom>
            <a:solidFill>
              <a:srgbClr val="3484CC">
                <a:alpha val="80000"/>
              </a:srgbClr>
            </a:solidFill>
          </p:spPr>
          <p:style>
            <a:lnRef idx="2">
              <a:schemeClr val="accent1">
                <a:shade val="15000"/>
              </a:schemeClr>
            </a:lnRef>
            <a:fillRef idx="1">
              <a:schemeClr val="accent1"/>
            </a:fillRef>
            <a:effectRef idx="0">
              <a:schemeClr val="accent1"/>
            </a:effectRef>
            <a:fontRef idx="minor">
              <a:schemeClr val="lt1"/>
            </a:fontRef>
          </p:style>
          <p:txBody>
            <a:bodyPr vert="horz" rtlCol="0" anchor="ctr"/>
            <a:lstStyle/>
            <a:p>
              <a:pPr algn="ctr"/>
              <a:r>
                <a:rPr lang="de-DE" sz="1100" i="0" u="none" strike="noStrike" baseline="0" noProof="1">
                  <a:solidFill>
                    <a:schemeClr val="tx1"/>
                  </a:solidFill>
                  <a:latin typeface="Arial" panose="020B0604020202020204" pitchFamily="34" charset="0"/>
                  <a:cs typeface="Arial" panose="020B0604020202020204" pitchFamily="34" charset="0"/>
                </a:rPr>
                <a:t>The acceptance rate for used cars is 83%, in comparison to 62% for new cars.</a:t>
              </a:r>
              <a:endParaRPr lang="de-DE" sz="1100" noProof="1">
                <a:solidFill>
                  <a:schemeClr val="tx1"/>
                </a:solidFill>
                <a:latin typeface="Arial" panose="020B0604020202020204" pitchFamily="34" charset="0"/>
                <a:cs typeface="Arial" panose="020B0604020202020204" pitchFamily="34" charset="0"/>
              </a:endParaRPr>
            </a:p>
          </p:txBody>
        </p:sp>
      </p:grpSp>
      <p:sp>
        <p:nvSpPr>
          <p:cNvPr id="27" name="Rechteck 26">
            <a:extLst>
              <a:ext uri="{FF2B5EF4-FFF2-40B4-BE49-F238E27FC236}">
                <a16:creationId xmlns:a16="http://schemas.microsoft.com/office/drawing/2014/main" id="{FA9BCB31-2242-D2A1-0422-1696679D5A1F}"/>
              </a:ext>
            </a:extLst>
          </p:cNvPr>
          <p:cNvSpPr/>
          <p:nvPr/>
        </p:nvSpPr>
        <p:spPr>
          <a:xfrm>
            <a:off x="2459840" y="1067019"/>
            <a:ext cx="2135449" cy="2686541"/>
          </a:xfrm>
          <a:prstGeom prst="rect">
            <a:avLst/>
          </a:prstGeom>
          <a:gradFill flip="none" rotWithShape="1">
            <a:gsLst>
              <a:gs pos="0">
                <a:schemeClr val="accent1">
                  <a:tint val="66000"/>
                  <a:satMod val="160000"/>
                  <a:alpha val="50000"/>
                </a:schemeClr>
              </a:gs>
              <a:gs pos="50000">
                <a:schemeClr val="accent1">
                  <a:tint val="44500"/>
                  <a:satMod val="160000"/>
                  <a:alpha val="50000"/>
                </a:schemeClr>
              </a:gs>
              <a:gs pos="100000">
                <a:schemeClr val="accent1">
                  <a:tint val="23500"/>
                  <a:satMod val="160000"/>
                  <a:alpha val="50000"/>
                </a:schemeClr>
              </a:gs>
            </a:gsLst>
            <a:path path="circle">
              <a:fillToRect l="100000" t="100000"/>
            </a:path>
            <a:tileRect r="-100000" b="-100000"/>
          </a:grad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de-DE" noProof="1">
                <a:solidFill>
                  <a:schemeClr val="tx1"/>
                </a:solidFill>
                <a:latin typeface="Arial" panose="020B0604020202020204" pitchFamily="34" charset="0"/>
                <a:cs typeface="Arial" panose="020B0604020202020204" pitchFamily="34" charset="0"/>
              </a:rPr>
              <a:t>Features</a:t>
            </a:r>
            <a:endParaRPr lang="de-DE" sz="1400" noProof="1">
              <a:solidFill>
                <a:schemeClr val="tx1"/>
              </a:solidFill>
              <a:latin typeface="Arial" panose="020B0604020202020204" pitchFamily="34" charset="0"/>
              <a:cs typeface="Arial" panose="020B0604020202020204" pitchFamily="34" charset="0"/>
            </a:endParaRPr>
          </a:p>
        </p:txBody>
      </p:sp>
      <p:grpSp>
        <p:nvGrpSpPr>
          <p:cNvPr id="35" name="Gruppieren 34">
            <a:extLst>
              <a:ext uri="{FF2B5EF4-FFF2-40B4-BE49-F238E27FC236}">
                <a16:creationId xmlns:a16="http://schemas.microsoft.com/office/drawing/2014/main" id="{B0FFA114-CFBE-C693-B84D-EB0F29014569}"/>
              </a:ext>
            </a:extLst>
          </p:cNvPr>
          <p:cNvGrpSpPr/>
          <p:nvPr/>
        </p:nvGrpSpPr>
        <p:grpSpPr>
          <a:xfrm>
            <a:off x="2476348" y="1394601"/>
            <a:ext cx="707293" cy="716246"/>
            <a:chOff x="2575565" y="1692084"/>
            <a:chExt cx="707293" cy="716246"/>
          </a:xfrm>
        </p:grpSpPr>
        <p:sp>
          <p:nvSpPr>
            <p:cNvPr id="33" name="Textfeld 32">
              <a:extLst>
                <a:ext uri="{FF2B5EF4-FFF2-40B4-BE49-F238E27FC236}">
                  <a16:creationId xmlns:a16="http://schemas.microsoft.com/office/drawing/2014/main" id="{300EE6CF-0D7A-7E62-620B-1B0C93DC5A19}"/>
                </a:ext>
              </a:extLst>
            </p:cNvPr>
            <p:cNvSpPr txBox="1"/>
            <p:nvPr/>
          </p:nvSpPr>
          <p:spPr>
            <a:xfrm>
              <a:off x="2575565" y="2146720"/>
              <a:ext cx="707293" cy="261610"/>
            </a:xfrm>
            <a:prstGeom prst="rect">
              <a:avLst/>
            </a:prstGeom>
            <a:noFill/>
          </p:spPr>
          <p:txBody>
            <a:bodyPr wrap="square" lIns="91440" tIns="45720" rIns="91440" bIns="45720" rtlCol="0" anchor="t">
              <a:spAutoFit/>
            </a:bodyPr>
            <a:lstStyle/>
            <a:p>
              <a:pPr algn="ctr"/>
              <a:r>
                <a:rPr lang="de-DE" sz="1100" noProof="1">
                  <a:latin typeface="Arial" panose="020B0604020202020204" pitchFamily="34" charset="0"/>
                  <a:cs typeface="Arial" panose="020B0604020202020204" pitchFamily="34" charset="0"/>
                </a:rPr>
                <a:t>savings</a:t>
              </a:r>
            </a:p>
          </p:txBody>
        </p:sp>
        <p:pic>
          <p:nvPicPr>
            <p:cNvPr id="34" name="Grafik 33" descr="Ein Bild, das Grafiken, Clipart, Symbol, Cartoon enthält.&#10;&#10;KI-generierte Inhalte können fehlerhaft sein.">
              <a:extLst>
                <a:ext uri="{FF2B5EF4-FFF2-40B4-BE49-F238E27FC236}">
                  <a16:creationId xmlns:a16="http://schemas.microsoft.com/office/drawing/2014/main" id="{5C7AD9B8-699A-8982-D95E-8F90794F90D6}"/>
                </a:ext>
              </a:extLst>
            </p:cNvPr>
            <p:cNvPicPr>
              <a:picLocks noChangeAspect="1"/>
            </p:cNvPicPr>
            <p:nvPr/>
          </p:nvPicPr>
          <p:blipFill>
            <a:blip r:embed="rId3"/>
            <a:stretch>
              <a:fillRect/>
            </a:stretch>
          </p:blipFill>
          <p:spPr>
            <a:xfrm>
              <a:off x="2689155" y="1692084"/>
              <a:ext cx="490233" cy="490233"/>
            </a:xfrm>
            <a:prstGeom prst="rect">
              <a:avLst/>
            </a:prstGeom>
          </p:spPr>
        </p:pic>
      </p:grpSp>
      <p:grpSp>
        <p:nvGrpSpPr>
          <p:cNvPr id="38" name="Gruppieren 37">
            <a:extLst>
              <a:ext uri="{FF2B5EF4-FFF2-40B4-BE49-F238E27FC236}">
                <a16:creationId xmlns:a16="http://schemas.microsoft.com/office/drawing/2014/main" id="{1F397D7D-F780-BBA5-9EA5-43AC54917CA8}"/>
              </a:ext>
            </a:extLst>
          </p:cNvPr>
          <p:cNvGrpSpPr/>
          <p:nvPr/>
        </p:nvGrpSpPr>
        <p:grpSpPr>
          <a:xfrm>
            <a:off x="3859170" y="3002681"/>
            <a:ext cx="707929" cy="724904"/>
            <a:chOff x="3420812" y="1726896"/>
            <a:chExt cx="707929" cy="724904"/>
          </a:xfrm>
        </p:grpSpPr>
        <p:sp>
          <p:nvSpPr>
            <p:cNvPr id="36" name="Textfeld 35">
              <a:extLst>
                <a:ext uri="{FF2B5EF4-FFF2-40B4-BE49-F238E27FC236}">
                  <a16:creationId xmlns:a16="http://schemas.microsoft.com/office/drawing/2014/main" id="{A4C94FE5-B96E-7AF0-A7CE-E74E7A3DEDD2}"/>
                </a:ext>
              </a:extLst>
            </p:cNvPr>
            <p:cNvSpPr txBox="1"/>
            <p:nvPr/>
          </p:nvSpPr>
          <p:spPr>
            <a:xfrm>
              <a:off x="3420812" y="2190190"/>
              <a:ext cx="707929" cy="261610"/>
            </a:xfrm>
            <a:prstGeom prst="rect">
              <a:avLst/>
            </a:prstGeom>
            <a:noFill/>
          </p:spPr>
          <p:txBody>
            <a:bodyPr wrap="square" lIns="91440" tIns="45720" rIns="91440" bIns="45720" rtlCol="0" anchor="t">
              <a:spAutoFit/>
            </a:bodyPr>
            <a:lstStyle/>
            <a:p>
              <a:pPr algn="ctr"/>
              <a:r>
                <a:rPr lang="de-DE" sz="1100" noProof="1">
                  <a:latin typeface="Arial" panose="020B0604020202020204" pitchFamily="34" charset="0"/>
                  <a:cs typeface="Arial" panose="020B0604020202020204" pitchFamily="34" charset="0"/>
                </a:rPr>
                <a:t>amount</a:t>
              </a:r>
            </a:p>
          </p:txBody>
        </p:sp>
        <p:pic>
          <p:nvPicPr>
            <p:cNvPr id="37" name="Grafik 36" descr="Ein Bild, das Clipart, Cartoon, Darstellung enthält.&#10;&#10;KI-generierte Inhalte können fehlerhaft sein.">
              <a:extLst>
                <a:ext uri="{FF2B5EF4-FFF2-40B4-BE49-F238E27FC236}">
                  <a16:creationId xmlns:a16="http://schemas.microsoft.com/office/drawing/2014/main" id="{39E05D26-387E-C17E-6351-F928C3590729}"/>
                </a:ext>
              </a:extLst>
            </p:cNvPr>
            <p:cNvPicPr>
              <a:picLocks noChangeAspect="1"/>
            </p:cNvPicPr>
            <p:nvPr/>
          </p:nvPicPr>
          <p:blipFill>
            <a:blip r:embed="rId4"/>
            <a:stretch>
              <a:fillRect/>
            </a:stretch>
          </p:blipFill>
          <p:spPr>
            <a:xfrm>
              <a:off x="3518466" y="1726896"/>
              <a:ext cx="490234" cy="484827"/>
            </a:xfrm>
            <a:prstGeom prst="rect">
              <a:avLst/>
            </a:prstGeom>
          </p:spPr>
        </p:pic>
      </p:grpSp>
      <p:grpSp>
        <p:nvGrpSpPr>
          <p:cNvPr id="43" name="Gruppieren 42">
            <a:extLst>
              <a:ext uri="{FF2B5EF4-FFF2-40B4-BE49-F238E27FC236}">
                <a16:creationId xmlns:a16="http://schemas.microsoft.com/office/drawing/2014/main" id="{45E3FFEB-EB66-5367-1ACF-14D6D09885C4}"/>
              </a:ext>
            </a:extLst>
          </p:cNvPr>
          <p:cNvGrpSpPr/>
          <p:nvPr/>
        </p:nvGrpSpPr>
        <p:grpSpPr>
          <a:xfrm>
            <a:off x="3842270" y="1390228"/>
            <a:ext cx="776675" cy="904407"/>
            <a:chOff x="2548756" y="2245625"/>
            <a:chExt cx="776675" cy="904407"/>
          </a:xfrm>
        </p:grpSpPr>
        <p:sp>
          <p:nvSpPr>
            <p:cNvPr id="39" name="Textfeld 38">
              <a:extLst>
                <a:ext uri="{FF2B5EF4-FFF2-40B4-BE49-F238E27FC236}">
                  <a16:creationId xmlns:a16="http://schemas.microsoft.com/office/drawing/2014/main" id="{53D68CA5-0159-3E34-4D97-DA00A6A8EA3D}"/>
                </a:ext>
              </a:extLst>
            </p:cNvPr>
            <p:cNvSpPr txBox="1"/>
            <p:nvPr/>
          </p:nvSpPr>
          <p:spPr>
            <a:xfrm>
              <a:off x="2548756" y="2719145"/>
              <a:ext cx="776675" cy="430887"/>
            </a:xfrm>
            <a:prstGeom prst="rect">
              <a:avLst/>
            </a:prstGeom>
            <a:noFill/>
          </p:spPr>
          <p:txBody>
            <a:bodyPr wrap="square" lIns="91440" tIns="45720" rIns="91440" bIns="45720" rtlCol="0" anchor="t">
              <a:spAutoFit/>
            </a:bodyPr>
            <a:lstStyle/>
            <a:p>
              <a:pPr algn="ctr"/>
              <a:r>
                <a:rPr lang="de-DE" sz="1100" noProof="1">
                  <a:solidFill>
                    <a:srgbClr val="000000"/>
                  </a:solidFill>
                  <a:latin typeface="Arial" panose="020B0604020202020204" pitchFamily="34" charset="0"/>
                  <a:ea typeface="Calibri"/>
                  <a:cs typeface="Arial" panose="020B0604020202020204" pitchFamily="34" charset="0"/>
                </a:rPr>
                <a:t>checking</a:t>
              </a:r>
              <a:r>
                <a:rPr lang="de-DE" sz="1100" noProof="1">
                  <a:latin typeface="Arial" panose="020B0604020202020204" pitchFamily="34" charset="0"/>
                  <a:ea typeface="Calibri"/>
                  <a:cs typeface="Arial" panose="020B0604020202020204" pitchFamily="34" charset="0"/>
                </a:rPr>
                <a:t> account</a:t>
              </a:r>
              <a:endParaRPr lang="de-DE" sz="1100" noProof="1">
                <a:latin typeface="Arial" panose="020B0604020202020204" pitchFamily="34" charset="0"/>
                <a:cs typeface="Arial" panose="020B0604020202020204" pitchFamily="34" charset="0"/>
              </a:endParaRPr>
            </a:p>
          </p:txBody>
        </p:sp>
        <p:pic>
          <p:nvPicPr>
            <p:cNvPr id="40" name="Bildplatzhalter 12" descr="Ein Bild, das Clipart, Symbol, Grafiken, Logo enthält.&#10;&#10;KI-generierte Inhalte können fehlerhaft sein.">
              <a:extLst>
                <a:ext uri="{FF2B5EF4-FFF2-40B4-BE49-F238E27FC236}">
                  <a16:creationId xmlns:a16="http://schemas.microsoft.com/office/drawing/2014/main" id="{3225731B-8F3C-3C03-98DB-A57E1E3CB464}"/>
                </a:ext>
              </a:extLst>
            </p:cNvPr>
            <p:cNvPicPr>
              <a:picLocks noChangeAspect="1"/>
            </p:cNvPicPr>
            <p:nvPr/>
          </p:nvPicPr>
          <p:blipFill>
            <a:blip r:embed="rId5"/>
            <a:srcRect t="5261" b="5261"/>
            <a:stretch/>
          </p:blipFill>
          <p:spPr>
            <a:xfrm>
              <a:off x="2690523" y="2245625"/>
              <a:ext cx="503231" cy="503230"/>
            </a:xfrm>
            <a:prstGeom prst="rect">
              <a:avLst/>
            </a:prstGeom>
          </p:spPr>
        </p:pic>
      </p:grpSp>
      <p:grpSp>
        <p:nvGrpSpPr>
          <p:cNvPr id="44" name="Gruppieren 43">
            <a:extLst>
              <a:ext uri="{FF2B5EF4-FFF2-40B4-BE49-F238E27FC236}">
                <a16:creationId xmlns:a16="http://schemas.microsoft.com/office/drawing/2014/main" id="{F1DDED11-3D3F-725D-AD4C-23D5A0F25A0F}"/>
              </a:ext>
            </a:extLst>
          </p:cNvPr>
          <p:cNvGrpSpPr/>
          <p:nvPr/>
        </p:nvGrpSpPr>
        <p:grpSpPr>
          <a:xfrm>
            <a:off x="2485817" y="3002681"/>
            <a:ext cx="732515" cy="734247"/>
            <a:chOff x="2583394" y="2297131"/>
            <a:chExt cx="732515" cy="734247"/>
          </a:xfrm>
        </p:grpSpPr>
        <p:pic>
          <p:nvPicPr>
            <p:cNvPr id="41" name="Grafik 40" descr="Ein Bild, das Symbol, Screenshot, Kreis, Logo enthält.&#10;&#10;KI-generierte Inhalte können fehlerhaft sein.">
              <a:extLst>
                <a:ext uri="{FF2B5EF4-FFF2-40B4-BE49-F238E27FC236}">
                  <a16:creationId xmlns:a16="http://schemas.microsoft.com/office/drawing/2014/main" id="{DFB57F29-BD15-293A-E0A1-CA06AC96EA86}"/>
                </a:ext>
              </a:extLst>
            </p:cNvPr>
            <p:cNvPicPr>
              <a:picLocks noChangeAspect="1"/>
            </p:cNvPicPr>
            <p:nvPr/>
          </p:nvPicPr>
          <p:blipFill>
            <a:blip r:embed="rId6"/>
            <a:stretch>
              <a:fillRect/>
            </a:stretch>
          </p:blipFill>
          <p:spPr>
            <a:xfrm>
              <a:off x="2717287" y="2297131"/>
              <a:ext cx="510660" cy="550451"/>
            </a:xfrm>
            <a:prstGeom prst="rect">
              <a:avLst/>
            </a:prstGeom>
          </p:spPr>
        </p:pic>
        <p:sp>
          <p:nvSpPr>
            <p:cNvPr id="42" name="Textfeld 41">
              <a:extLst>
                <a:ext uri="{FF2B5EF4-FFF2-40B4-BE49-F238E27FC236}">
                  <a16:creationId xmlns:a16="http://schemas.microsoft.com/office/drawing/2014/main" id="{A70DF7E8-57ED-9026-C7CC-22EF466D5F68}"/>
                </a:ext>
              </a:extLst>
            </p:cNvPr>
            <p:cNvSpPr txBox="1"/>
            <p:nvPr/>
          </p:nvSpPr>
          <p:spPr>
            <a:xfrm>
              <a:off x="2583394" y="2769768"/>
              <a:ext cx="732515" cy="261610"/>
            </a:xfrm>
            <a:prstGeom prst="rect">
              <a:avLst/>
            </a:prstGeom>
            <a:noFill/>
          </p:spPr>
          <p:txBody>
            <a:bodyPr wrap="square" lIns="91440" tIns="45720" rIns="91440" bIns="45720" rtlCol="0" anchor="t">
              <a:spAutoFit/>
            </a:bodyPr>
            <a:lstStyle/>
            <a:p>
              <a:pPr algn="ctr"/>
              <a:r>
                <a:rPr lang="de-DE" sz="1100" noProof="1">
                  <a:solidFill>
                    <a:srgbClr val="000000"/>
                  </a:solidFill>
                  <a:latin typeface="Arial" panose="020B0604020202020204" pitchFamily="34" charset="0"/>
                  <a:ea typeface="Calibri"/>
                  <a:cs typeface="Arial" panose="020B0604020202020204" pitchFamily="34" charset="0"/>
                </a:rPr>
                <a:t>duration</a:t>
              </a:r>
              <a:endParaRPr lang="de-DE" sz="1100" noProof="1">
                <a:latin typeface="Arial" panose="020B0604020202020204" pitchFamily="34" charset="0"/>
                <a:cs typeface="Arial" panose="020B0604020202020204" pitchFamily="34" charset="0"/>
              </a:endParaRPr>
            </a:p>
          </p:txBody>
        </p:sp>
      </p:grpSp>
      <p:sp>
        <p:nvSpPr>
          <p:cNvPr id="57" name="Rechteck 56">
            <a:extLst>
              <a:ext uri="{FF2B5EF4-FFF2-40B4-BE49-F238E27FC236}">
                <a16:creationId xmlns:a16="http://schemas.microsoft.com/office/drawing/2014/main" id="{104F992F-C4D0-1060-6088-70B4592C41B9}"/>
              </a:ext>
            </a:extLst>
          </p:cNvPr>
          <p:cNvSpPr/>
          <p:nvPr/>
        </p:nvSpPr>
        <p:spPr>
          <a:xfrm>
            <a:off x="7283724" y="3354025"/>
            <a:ext cx="1563822" cy="1424472"/>
          </a:xfrm>
          <a:prstGeom prst="rect">
            <a:avLst/>
          </a:prstGeom>
          <a:solidFill>
            <a:schemeClr val="accent4">
              <a:alpha val="70000"/>
            </a:schemeClr>
          </a:solidFill>
          <a:ln>
            <a:solidFill>
              <a:schemeClr val="accent4">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vert="horz" rtlCol="0" anchor="ctr"/>
          <a:lstStyle/>
          <a:p>
            <a:pPr algn="ctr"/>
            <a:r>
              <a:rPr lang="de-DE" sz="900" b="0" i="0" u="none" strike="noStrike" baseline="0" noProof="1">
                <a:solidFill>
                  <a:schemeClr val="tx1"/>
                </a:solidFill>
                <a:latin typeface="Arial" panose="020B0604020202020204" pitchFamily="34" charset="0"/>
                <a:cs typeface="Arial" panose="020B0604020202020204" pitchFamily="34" charset="0"/>
              </a:rPr>
              <a:t>The purpose for which a credit is sought influences its acceptance as certain types of loans, such as mortgages or business loans, may be viewed more favorably by lenders due to their potential for generating income or investment returns.</a:t>
            </a:r>
            <a:endParaRPr lang="de-DE" sz="900" noProof="1">
              <a:solidFill>
                <a:schemeClr val="tx1"/>
              </a:solidFill>
              <a:latin typeface="Arial" panose="020B0604020202020204" pitchFamily="34" charset="0"/>
              <a:cs typeface="Arial" panose="020B0604020202020204" pitchFamily="34" charset="0"/>
            </a:endParaRPr>
          </a:p>
        </p:txBody>
      </p:sp>
      <p:sp>
        <p:nvSpPr>
          <p:cNvPr id="58" name="Rechteck 57">
            <a:extLst>
              <a:ext uri="{FF2B5EF4-FFF2-40B4-BE49-F238E27FC236}">
                <a16:creationId xmlns:a16="http://schemas.microsoft.com/office/drawing/2014/main" id="{34C328FB-6837-E37A-5F3D-4607803BD6AC}"/>
              </a:ext>
            </a:extLst>
          </p:cNvPr>
          <p:cNvSpPr/>
          <p:nvPr/>
        </p:nvSpPr>
        <p:spPr>
          <a:xfrm>
            <a:off x="7281728" y="2301043"/>
            <a:ext cx="1563822" cy="1008557"/>
          </a:xfrm>
          <a:prstGeom prst="rect">
            <a:avLst/>
          </a:prstGeom>
          <a:solidFill>
            <a:schemeClr val="accent4">
              <a:alpha val="70000"/>
            </a:schemeClr>
          </a:solidFill>
          <a:ln>
            <a:solidFill>
              <a:schemeClr val="accent4">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vert="horz" rtlCol="0" anchor="ctr"/>
          <a:lstStyle/>
          <a:p>
            <a:pPr algn="ctr"/>
            <a:r>
              <a:rPr lang="de-DE" sz="900" b="0" i="0" u="none" strike="noStrike" baseline="0" noProof="1">
                <a:solidFill>
                  <a:schemeClr val="tx1"/>
                </a:solidFill>
                <a:latin typeface="Arial" panose="020B0604020202020204" pitchFamily="34" charset="0"/>
                <a:cs typeface="Arial" panose="020B0604020202020204" pitchFamily="34" charset="0"/>
              </a:rPr>
              <a:t>Essential purchases, such as a home or education, are typically considered investments in the borrower's future financial stability.</a:t>
            </a:r>
            <a:endParaRPr lang="de-DE" sz="900" noProof="1">
              <a:solidFill>
                <a:schemeClr val="tx1"/>
              </a:solidFill>
              <a:latin typeface="Arial" panose="020B0604020202020204" pitchFamily="34" charset="0"/>
              <a:cs typeface="Arial" panose="020B0604020202020204" pitchFamily="34" charset="0"/>
            </a:endParaRPr>
          </a:p>
        </p:txBody>
      </p:sp>
      <p:sp>
        <p:nvSpPr>
          <p:cNvPr id="59" name="Rechteck 58">
            <a:extLst>
              <a:ext uri="{FF2B5EF4-FFF2-40B4-BE49-F238E27FC236}">
                <a16:creationId xmlns:a16="http://schemas.microsoft.com/office/drawing/2014/main" id="{0719FF5E-1E7C-9B3B-B67D-D33E78A5712D}"/>
              </a:ext>
            </a:extLst>
          </p:cNvPr>
          <p:cNvSpPr/>
          <p:nvPr/>
        </p:nvSpPr>
        <p:spPr>
          <a:xfrm>
            <a:off x="7283723" y="1516531"/>
            <a:ext cx="1570792" cy="733455"/>
          </a:xfrm>
          <a:prstGeom prst="rect">
            <a:avLst/>
          </a:prstGeom>
          <a:solidFill>
            <a:schemeClr val="accent4">
              <a:alpha val="70000"/>
            </a:schemeClr>
          </a:solidFill>
          <a:ln>
            <a:solidFill>
              <a:schemeClr val="accent4">
                <a:lumMod val="75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vert="horz" rtlCol="0" anchor="ctr"/>
          <a:lstStyle/>
          <a:p>
            <a:pPr algn="ctr"/>
            <a:r>
              <a:rPr lang="de-DE" sz="900" noProof="1">
                <a:solidFill>
                  <a:schemeClr val="tx1"/>
                </a:solidFill>
                <a:latin typeface="Arial" panose="020B0604020202020204" pitchFamily="34" charset="0"/>
                <a:cs typeface="Arial" panose="020B0604020202020204" pitchFamily="34" charset="0"/>
              </a:rPr>
              <a:t>Used cars typically cost less than new cars. This leads to smaller loan amounts, reducing the lender's risk.</a:t>
            </a:r>
          </a:p>
        </p:txBody>
      </p:sp>
      <p:sp>
        <p:nvSpPr>
          <p:cNvPr id="60" name="Rechteck 59">
            <a:extLst>
              <a:ext uri="{FF2B5EF4-FFF2-40B4-BE49-F238E27FC236}">
                <a16:creationId xmlns:a16="http://schemas.microsoft.com/office/drawing/2014/main" id="{BE740888-BCC7-5316-4513-B36222BBABF5}"/>
              </a:ext>
            </a:extLst>
          </p:cNvPr>
          <p:cNvSpPr/>
          <p:nvPr/>
        </p:nvSpPr>
        <p:spPr>
          <a:xfrm>
            <a:off x="5797551" y="1509444"/>
            <a:ext cx="1235570" cy="747628"/>
          </a:xfrm>
          <a:prstGeom prst="rect">
            <a:avLst/>
          </a:prstGeom>
          <a:solidFill>
            <a:schemeClr val="accent4">
              <a:alpha val="70000"/>
            </a:schemeClr>
          </a:solidFill>
          <a:ln>
            <a:solidFill>
              <a:schemeClr val="accent4">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vert="horz" rtlCol="0" anchor="ctr"/>
          <a:lstStyle/>
          <a:p>
            <a:pPr algn="ctr"/>
            <a:r>
              <a:rPr lang="de-DE" sz="900" b="0" i="0" u="none" strike="noStrike" baseline="0" noProof="1">
                <a:solidFill>
                  <a:schemeClr val="tx1"/>
                </a:solidFill>
                <a:latin typeface="Arial" panose="020B0604020202020204" pitchFamily="34" charset="0"/>
                <a:cs typeface="Arial" panose="020B0604020202020204" pitchFamily="34" charset="0"/>
              </a:rPr>
              <a:t>Loans for specific purposes (car, house) have unique considerations.</a:t>
            </a:r>
            <a:endParaRPr lang="de-DE" sz="900" noProof="1">
              <a:solidFill>
                <a:schemeClr val="tx1"/>
              </a:solidFill>
              <a:latin typeface="Arial" panose="020B0604020202020204" pitchFamily="34" charset="0"/>
              <a:cs typeface="Arial" panose="020B0604020202020204" pitchFamily="34" charset="0"/>
            </a:endParaRPr>
          </a:p>
        </p:txBody>
      </p:sp>
      <p:sp>
        <p:nvSpPr>
          <p:cNvPr id="61" name="Rechteck 60">
            <a:extLst>
              <a:ext uri="{FF2B5EF4-FFF2-40B4-BE49-F238E27FC236}">
                <a16:creationId xmlns:a16="http://schemas.microsoft.com/office/drawing/2014/main" id="{DE8333EB-A749-DA3E-A1AB-A1AECE536FB5}"/>
              </a:ext>
            </a:extLst>
          </p:cNvPr>
          <p:cNvSpPr/>
          <p:nvPr/>
        </p:nvSpPr>
        <p:spPr>
          <a:xfrm>
            <a:off x="5797551" y="3682331"/>
            <a:ext cx="1233746" cy="665713"/>
          </a:xfrm>
          <a:prstGeom prst="rect">
            <a:avLst/>
          </a:prstGeom>
          <a:solidFill>
            <a:schemeClr val="accent4">
              <a:alpha val="70000"/>
            </a:schemeClr>
          </a:solidFill>
          <a:ln>
            <a:solidFill>
              <a:schemeClr val="accent4">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vert="horz" rtlCol="0" anchor="ctr"/>
          <a:lstStyle/>
          <a:p>
            <a:pPr algn="ctr"/>
            <a:r>
              <a:rPr lang="de-DE" sz="900" b="0" i="0" u="none" strike="noStrike" baseline="0" noProof="1">
                <a:solidFill>
                  <a:schemeClr val="tx1"/>
                </a:solidFill>
                <a:latin typeface="Arial" panose="020B0604020202020204" pitchFamily="34" charset="0"/>
                <a:cs typeface="Arial" panose="020B0604020202020204" pitchFamily="34" charset="0"/>
              </a:rPr>
              <a:t>Loans for necessary expenses are generally viewed more favorably.</a:t>
            </a:r>
            <a:endParaRPr lang="de-DE" sz="900" noProof="1">
              <a:solidFill>
                <a:schemeClr val="tx1"/>
              </a:solidFill>
              <a:latin typeface="Arial" panose="020B0604020202020204" pitchFamily="34" charset="0"/>
              <a:cs typeface="Arial" panose="020B0604020202020204" pitchFamily="34" charset="0"/>
            </a:endParaRPr>
          </a:p>
        </p:txBody>
      </p:sp>
      <p:sp>
        <p:nvSpPr>
          <p:cNvPr id="64" name="Rechteck 63">
            <a:extLst>
              <a:ext uri="{FF2B5EF4-FFF2-40B4-BE49-F238E27FC236}">
                <a16:creationId xmlns:a16="http://schemas.microsoft.com/office/drawing/2014/main" id="{F96A3F10-2C85-7449-629C-231645F3050E}"/>
              </a:ext>
            </a:extLst>
          </p:cNvPr>
          <p:cNvSpPr/>
          <p:nvPr/>
        </p:nvSpPr>
        <p:spPr>
          <a:xfrm>
            <a:off x="4836939" y="2374900"/>
            <a:ext cx="1244808" cy="1091075"/>
          </a:xfrm>
          <a:prstGeom prst="rect">
            <a:avLst/>
          </a:prstGeom>
          <a:solidFill>
            <a:schemeClr val="accent4">
              <a:alpha val="80000"/>
            </a:schemeClr>
          </a:solidFill>
          <a:ln>
            <a:solidFill>
              <a:schemeClr val="accent4">
                <a:lumMod val="75000"/>
              </a:schemeClr>
            </a:solidFill>
          </a:ln>
        </p:spPr>
        <p:style>
          <a:lnRef idx="0">
            <a:scrgbClr r="0" g="0" b="0"/>
          </a:lnRef>
          <a:fillRef idx="0">
            <a:scrgbClr r="0" g="0" b="0"/>
          </a:fillRef>
          <a:effectRef idx="0">
            <a:scrgbClr r="0" g="0" b="0"/>
          </a:effectRef>
          <a:fontRef idx="minor">
            <a:schemeClr val="lt1"/>
          </a:fontRef>
        </p:style>
        <p:txBody>
          <a:bodyPr vert="horz" rtlCol="0" anchor="ctr"/>
          <a:lstStyle/>
          <a:p>
            <a:pPr algn="ctr"/>
            <a:r>
              <a:rPr lang="de-DE" sz="1000" noProof="1">
                <a:solidFill>
                  <a:schemeClr val="tx1"/>
                </a:solidFill>
                <a:latin typeface="Arial" panose="020B0604020202020204" pitchFamily="34" charset="0"/>
                <a:cs typeface="Arial" panose="020B0604020202020204" pitchFamily="34" charset="0"/>
              </a:rPr>
              <a:t>The purpose of a loan impacts the likelihood of credit approval.</a:t>
            </a:r>
          </a:p>
        </p:txBody>
      </p:sp>
      <p:cxnSp>
        <p:nvCxnSpPr>
          <p:cNvPr id="68" name="Verbinder: gewinkelt 67">
            <a:extLst>
              <a:ext uri="{FF2B5EF4-FFF2-40B4-BE49-F238E27FC236}">
                <a16:creationId xmlns:a16="http://schemas.microsoft.com/office/drawing/2014/main" id="{BC4ECBFB-03BE-9A85-5BA9-2FEA26200825}"/>
              </a:ext>
            </a:extLst>
          </p:cNvPr>
          <p:cNvCxnSpPr>
            <a:cxnSpLocks/>
            <a:stCxn id="61" idx="1"/>
            <a:endCxn id="64" idx="2"/>
          </p:cNvCxnSpPr>
          <p:nvPr/>
        </p:nvCxnSpPr>
        <p:spPr>
          <a:xfrm rot="10800000">
            <a:off x="5459343" y="3465976"/>
            <a:ext cx="338208" cy="549213"/>
          </a:xfrm>
          <a:prstGeom prst="bentConnector2">
            <a:avLst/>
          </a:prstGeom>
          <a:ln w="19050" cap="flat" cmpd="sng" algn="ctr">
            <a:solidFill>
              <a:schemeClr val="accent6"/>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69" name="Verbinder: gewinkelt 68">
            <a:extLst>
              <a:ext uri="{FF2B5EF4-FFF2-40B4-BE49-F238E27FC236}">
                <a16:creationId xmlns:a16="http://schemas.microsoft.com/office/drawing/2014/main" id="{FD93A767-2216-A017-69C8-64E6B7FB9107}"/>
              </a:ext>
            </a:extLst>
          </p:cNvPr>
          <p:cNvCxnSpPr>
            <a:cxnSpLocks/>
            <a:stCxn id="60" idx="1"/>
            <a:endCxn id="64" idx="0"/>
          </p:cNvCxnSpPr>
          <p:nvPr/>
        </p:nvCxnSpPr>
        <p:spPr>
          <a:xfrm rot="10800000" flipV="1">
            <a:off x="5459343" y="1883258"/>
            <a:ext cx="338208" cy="491642"/>
          </a:xfrm>
          <a:prstGeom prst="bentConnector2">
            <a:avLst/>
          </a:prstGeom>
          <a:ln w="19050" cap="flat" cmpd="sng" algn="ctr">
            <a:solidFill>
              <a:schemeClr val="accent6"/>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72" name="Verbinder: gewinkelt 71">
            <a:extLst>
              <a:ext uri="{FF2B5EF4-FFF2-40B4-BE49-F238E27FC236}">
                <a16:creationId xmlns:a16="http://schemas.microsoft.com/office/drawing/2014/main" id="{6A9FD6A1-A963-841C-271F-2D5DCBABC461}"/>
              </a:ext>
            </a:extLst>
          </p:cNvPr>
          <p:cNvCxnSpPr>
            <a:cxnSpLocks/>
            <a:stCxn id="58" idx="1"/>
            <a:endCxn id="61" idx="0"/>
          </p:cNvCxnSpPr>
          <p:nvPr/>
        </p:nvCxnSpPr>
        <p:spPr>
          <a:xfrm rot="10800000" flipV="1">
            <a:off x="6414424" y="2805321"/>
            <a:ext cx="867304" cy="877009"/>
          </a:xfrm>
          <a:prstGeom prst="bentConnector2">
            <a:avLst/>
          </a:prstGeom>
          <a:ln w="19050" cap="flat" cmpd="sng" algn="ctr">
            <a:solidFill>
              <a:schemeClr val="accent6"/>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75" name="Verbinder: gewinkelt 74">
            <a:extLst>
              <a:ext uri="{FF2B5EF4-FFF2-40B4-BE49-F238E27FC236}">
                <a16:creationId xmlns:a16="http://schemas.microsoft.com/office/drawing/2014/main" id="{0DD7729C-5688-E64E-CEB5-CB90739EADF5}"/>
              </a:ext>
            </a:extLst>
          </p:cNvPr>
          <p:cNvCxnSpPr>
            <a:cxnSpLocks/>
            <a:endCxn id="61" idx="3"/>
          </p:cNvCxnSpPr>
          <p:nvPr/>
        </p:nvCxnSpPr>
        <p:spPr>
          <a:xfrm rot="10800000">
            <a:off x="7031298" y="4015188"/>
            <a:ext cx="250431" cy="2"/>
          </a:xfrm>
          <a:prstGeom prst="bentConnector3">
            <a:avLst>
              <a:gd name="adj1" fmla="val 50000"/>
            </a:avLst>
          </a:prstGeom>
          <a:ln w="19050" cap="flat" cmpd="sng" algn="ctr">
            <a:solidFill>
              <a:schemeClr val="accent6"/>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80" name="Verbinder: gewinkelt 79">
            <a:extLst>
              <a:ext uri="{FF2B5EF4-FFF2-40B4-BE49-F238E27FC236}">
                <a16:creationId xmlns:a16="http://schemas.microsoft.com/office/drawing/2014/main" id="{ABBCA204-882D-DAAB-55C3-4FE46D5A1D89}"/>
              </a:ext>
            </a:extLst>
          </p:cNvPr>
          <p:cNvCxnSpPr>
            <a:cxnSpLocks/>
            <a:stCxn id="59" idx="1"/>
            <a:endCxn id="60" idx="3"/>
          </p:cNvCxnSpPr>
          <p:nvPr/>
        </p:nvCxnSpPr>
        <p:spPr>
          <a:xfrm rot="10800000">
            <a:off x="7033121" y="1883259"/>
            <a:ext cx="250602" cy="1"/>
          </a:xfrm>
          <a:prstGeom prst="bentConnector3">
            <a:avLst>
              <a:gd name="adj1" fmla="val 50000"/>
            </a:avLst>
          </a:prstGeom>
          <a:ln w="19050" cap="flat" cmpd="sng" algn="ctr">
            <a:solidFill>
              <a:schemeClr val="accent6"/>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17" name="Rechteck 116">
            <a:extLst>
              <a:ext uri="{FF2B5EF4-FFF2-40B4-BE49-F238E27FC236}">
                <a16:creationId xmlns:a16="http://schemas.microsoft.com/office/drawing/2014/main" id="{7E0A7BA3-3446-C2F6-2F4B-CDCE5A609D39}"/>
              </a:ext>
            </a:extLst>
          </p:cNvPr>
          <p:cNvSpPr/>
          <p:nvPr/>
        </p:nvSpPr>
        <p:spPr>
          <a:xfrm>
            <a:off x="2503223" y="1377695"/>
            <a:ext cx="2038708" cy="2300774"/>
          </a:xfrm>
          <a:prstGeom prst="rect">
            <a:avLst/>
          </a:prstGeom>
          <a:solidFill>
            <a:srgbClr val="B2B2B2">
              <a:alpha val="50196"/>
            </a:srgbClr>
          </a:solidFill>
          <a:ln>
            <a:solidFill>
              <a:srgbClr val="CBD7DC"/>
            </a:solidFill>
          </a:ln>
          <a:effectLst>
            <a:softEdge rad="3175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noProof="1">
              <a:latin typeface="Arial" panose="020B0604020202020204" pitchFamily="34" charset="0"/>
              <a:cs typeface="Arial" panose="020B0604020202020204" pitchFamily="34" charset="0"/>
            </a:endParaRPr>
          </a:p>
        </p:txBody>
      </p:sp>
      <p:sp>
        <p:nvSpPr>
          <p:cNvPr id="103" name="Ellipse 102">
            <a:extLst>
              <a:ext uri="{FF2B5EF4-FFF2-40B4-BE49-F238E27FC236}">
                <a16:creationId xmlns:a16="http://schemas.microsoft.com/office/drawing/2014/main" id="{BA1ACE9C-FEB8-ABB4-CE0B-88286D2F0C0B}"/>
              </a:ext>
            </a:extLst>
          </p:cNvPr>
          <p:cNvSpPr/>
          <p:nvPr/>
        </p:nvSpPr>
        <p:spPr>
          <a:xfrm>
            <a:off x="3054361" y="2049587"/>
            <a:ext cx="895772" cy="938213"/>
          </a:xfrm>
          <a:prstGeom prst="ellipse">
            <a:avLst/>
          </a:prstGeom>
          <a:solidFill>
            <a:schemeClr val="accent1">
              <a:lumMod val="20000"/>
              <a:lumOff val="80000"/>
              <a:alpha val="50196"/>
            </a:schemeClr>
          </a:solidFill>
          <a:ln>
            <a:solidFill>
              <a:srgbClr val="313E45">
                <a:alpha val="30196"/>
              </a:srgbClr>
            </a:solidFill>
          </a:ln>
          <a:effectLst>
            <a:softEdge rad="3175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noProof="1">
              <a:latin typeface="Arial" panose="020B0604020202020204" pitchFamily="34" charset="0"/>
              <a:cs typeface="Arial" panose="020B0604020202020204" pitchFamily="34" charset="0"/>
            </a:endParaRPr>
          </a:p>
        </p:txBody>
      </p:sp>
      <p:cxnSp>
        <p:nvCxnSpPr>
          <p:cNvPr id="104" name="Verbinder: gewinkelt 103">
            <a:extLst>
              <a:ext uri="{FF2B5EF4-FFF2-40B4-BE49-F238E27FC236}">
                <a16:creationId xmlns:a16="http://schemas.microsoft.com/office/drawing/2014/main" id="{2F4CEBE2-9B11-DBDB-9F99-6FE59936E32F}"/>
              </a:ext>
            </a:extLst>
          </p:cNvPr>
          <p:cNvCxnSpPr>
            <a:cxnSpLocks/>
            <a:endCxn id="103" idx="2"/>
          </p:cNvCxnSpPr>
          <p:nvPr/>
        </p:nvCxnSpPr>
        <p:spPr>
          <a:xfrm>
            <a:off x="2178721" y="2028913"/>
            <a:ext cx="875640" cy="489781"/>
          </a:xfrm>
          <a:prstGeom prst="bentConnector3">
            <a:avLst>
              <a:gd name="adj1" fmla="val 40935"/>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08" name="Verbinder: gewinkelt 107">
            <a:extLst>
              <a:ext uri="{FF2B5EF4-FFF2-40B4-BE49-F238E27FC236}">
                <a16:creationId xmlns:a16="http://schemas.microsoft.com/office/drawing/2014/main" id="{84DA47E5-5247-8687-5272-95E7F4346905}"/>
              </a:ext>
            </a:extLst>
          </p:cNvPr>
          <p:cNvCxnSpPr>
            <a:cxnSpLocks/>
            <a:endCxn id="103" idx="2"/>
          </p:cNvCxnSpPr>
          <p:nvPr/>
        </p:nvCxnSpPr>
        <p:spPr>
          <a:xfrm flipV="1">
            <a:off x="2157845" y="2518694"/>
            <a:ext cx="896516" cy="450639"/>
          </a:xfrm>
          <a:prstGeom prst="bentConnector3">
            <a:avLst>
              <a:gd name="adj1" fmla="val 42032"/>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18" name="Verbinder: gewinkelt 117">
            <a:extLst>
              <a:ext uri="{FF2B5EF4-FFF2-40B4-BE49-F238E27FC236}">
                <a16:creationId xmlns:a16="http://schemas.microsoft.com/office/drawing/2014/main" id="{2F3A9D93-B1CF-8D4F-9942-7E54EDC173A8}"/>
              </a:ext>
            </a:extLst>
          </p:cNvPr>
          <p:cNvCxnSpPr>
            <a:cxnSpLocks/>
            <a:stCxn id="103" idx="6"/>
            <a:endCxn id="64" idx="1"/>
          </p:cNvCxnSpPr>
          <p:nvPr/>
        </p:nvCxnSpPr>
        <p:spPr>
          <a:xfrm>
            <a:off x="3950133" y="2518694"/>
            <a:ext cx="886806" cy="401744"/>
          </a:xfrm>
          <a:prstGeom prst="bentConnector3">
            <a:avLst>
              <a:gd name="adj1" fmla="val 50000"/>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37" name="Verbinder: gewinkelt 136">
            <a:extLst>
              <a:ext uri="{FF2B5EF4-FFF2-40B4-BE49-F238E27FC236}">
                <a16:creationId xmlns:a16="http://schemas.microsoft.com/office/drawing/2014/main" id="{637E07CC-E75A-BAB7-1330-4B0CC447AD08}"/>
              </a:ext>
            </a:extLst>
          </p:cNvPr>
          <p:cNvCxnSpPr>
            <a:cxnSpLocks/>
            <a:stCxn id="23" idx="3"/>
            <a:endCxn id="50" idx="1"/>
          </p:cNvCxnSpPr>
          <p:nvPr/>
        </p:nvCxnSpPr>
        <p:spPr>
          <a:xfrm>
            <a:off x="2172384" y="3105540"/>
            <a:ext cx="596594" cy="1542152"/>
          </a:xfrm>
          <a:prstGeom prst="bentConnector3">
            <a:avLst>
              <a:gd name="adj1" fmla="val 39223"/>
            </a:avLst>
          </a:prstGeom>
          <a:ln w="19050" cap="flat" cmpd="sng" algn="ctr">
            <a:solidFill>
              <a:srgbClr val="C00000"/>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59" name="Textfeld 158">
            <a:extLst>
              <a:ext uri="{FF2B5EF4-FFF2-40B4-BE49-F238E27FC236}">
                <a16:creationId xmlns:a16="http://schemas.microsoft.com/office/drawing/2014/main" id="{56B60A19-11BF-C263-F731-44714A976E87}"/>
              </a:ext>
            </a:extLst>
          </p:cNvPr>
          <p:cNvSpPr txBox="1"/>
          <p:nvPr/>
        </p:nvSpPr>
        <p:spPr>
          <a:xfrm>
            <a:off x="5108040" y="3204365"/>
            <a:ext cx="639919" cy="261610"/>
          </a:xfrm>
          <a:prstGeom prst="rect">
            <a:avLst/>
          </a:prstGeom>
          <a:noFill/>
        </p:spPr>
        <p:txBody>
          <a:bodyPr wrap="none" rtlCol="0">
            <a:spAutoFit/>
          </a:bodyPr>
          <a:lstStyle/>
          <a:p>
            <a:r>
              <a:rPr lang="de-DE" sz="1100" noProof="1">
                <a:latin typeface="Arial" panose="020B0604020202020204" pitchFamily="34" charset="0"/>
                <a:cs typeface="Arial" panose="020B0604020202020204" pitchFamily="34" charset="0"/>
              </a:rPr>
              <a:t>(Claim)</a:t>
            </a:r>
          </a:p>
        </p:txBody>
      </p:sp>
      <p:grpSp>
        <p:nvGrpSpPr>
          <p:cNvPr id="45" name="Gruppieren 44">
            <a:extLst>
              <a:ext uri="{FF2B5EF4-FFF2-40B4-BE49-F238E27FC236}">
                <a16:creationId xmlns:a16="http://schemas.microsoft.com/office/drawing/2014/main" id="{2CFA82F0-B573-C064-D8F1-3CC8C10B115D}"/>
              </a:ext>
            </a:extLst>
          </p:cNvPr>
          <p:cNvGrpSpPr/>
          <p:nvPr/>
        </p:nvGrpSpPr>
        <p:grpSpPr>
          <a:xfrm>
            <a:off x="3112024" y="2107143"/>
            <a:ext cx="735322" cy="795458"/>
            <a:chOff x="3129643" y="2855883"/>
            <a:chExt cx="735322" cy="795458"/>
          </a:xfrm>
        </p:grpSpPr>
        <p:sp>
          <p:nvSpPr>
            <p:cNvPr id="31" name="Textfeld 30">
              <a:extLst>
                <a:ext uri="{FF2B5EF4-FFF2-40B4-BE49-F238E27FC236}">
                  <a16:creationId xmlns:a16="http://schemas.microsoft.com/office/drawing/2014/main" id="{F8A2A226-79D2-12F8-117C-2F4567967DA2}"/>
                </a:ext>
              </a:extLst>
            </p:cNvPr>
            <p:cNvSpPr txBox="1"/>
            <p:nvPr/>
          </p:nvSpPr>
          <p:spPr>
            <a:xfrm>
              <a:off x="3129643" y="3389731"/>
              <a:ext cx="735322" cy="261610"/>
            </a:xfrm>
            <a:prstGeom prst="rect">
              <a:avLst/>
            </a:prstGeom>
            <a:noFill/>
          </p:spPr>
          <p:txBody>
            <a:bodyPr wrap="square" lIns="91440" tIns="45720" rIns="91440" bIns="45720" rtlCol="0" anchor="t">
              <a:spAutoFit/>
            </a:bodyPr>
            <a:lstStyle/>
            <a:p>
              <a:pPr algn="ctr"/>
              <a:r>
                <a:rPr lang="de-DE" sz="1100" noProof="1">
                  <a:latin typeface="Arial" panose="020B0604020202020204" pitchFamily="34" charset="0"/>
                  <a:cs typeface="Arial" panose="020B0604020202020204" pitchFamily="34" charset="0"/>
                </a:rPr>
                <a:t>purpose</a:t>
              </a:r>
            </a:p>
          </p:txBody>
        </p:sp>
        <p:pic>
          <p:nvPicPr>
            <p:cNvPr id="32" name="Grafik 31" descr="Ein Bild, das Logo, Grafiken, Screenshot, Grafikdesign enthält.&#10;&#10;KI-generierte Inhalte können fehlerhaft sein.">
              <a:extLst>
                <a:ext uri="{FF2B5EF4-FFF2-40B4-BE49-F238E27FC236}">
                  <a16:creationId xmlns:a16="http://schemas.microsoft.com/office/drawing/2014/main" id="{CD447DA5-67BA-5012-1432-5E0EE64AD6F3}"/>
                </a:ext>
              </a:extLst>
            </p:cNvPr>
            <p:cNvPicPr>
              <a:picLocks noChangeAspect="1"/>
            </p:cNvPicPr>
            <p:nvPr/>
          </p:nvPicPr>
          <p:blipFill>
            <a:blip r:embed="rId7"/>
            <a:stretch>
              <a:fillRect/>
            </a:stretch>
          </p:blipFill>
          <p:spPr>
            <a:xfrm>
              <a:off x="3247135" y="2855883"/>
              <a:ext cx="587417" cy="587417"/>
            </a:xfrm>
            <a:prstGeom prst="rect">
              <a:avLst/>
            </a:prstGeom>
          </p:spPr>
        </p:pic>
      </p:grpSp>
      <p:sp>
        <p:nvSpPr>
          <p:cNvPr id="30" name="Rechteck 29">
            <a:extLst>
              <a:ext uri="{FF2B5EF4-FFF2-40B4-BE49-F238E27FC236}">
                <a16:creationId xmlns:a16="http://schemas.microsoft.com/office/drawing/2014/main" id="{06446820-0B4C-3B31-968F-703588336C32}"/>
              </a:ext>
            </a:extLst>
          </p:cNvPr>
          <p:cNvSpPr/>
          <p:nvPr/>
        </p:nvSpPr>
        <p:spPr>
          <a:xfrm>
            <a:off x="2442428" y="3807255"/>
            <a:ext cx="2124671" cy="1020574"/>
          </a:xfrm>
          <a:prstGeom prst="rect">
            <a:avLst/>
          </a:prstGeom>
          <a:gradFill flip="none" rotWithShape="1">
            <a:gsLst>
              <a:gs pos="0">
                <a:schemeClr val="accent1">
                  <a:tint val="66000"/>
                  <a:satMod val="160000"/>
                  <a:alpha val="50000"/>
                </a:schemeClr>
              </a:gs>
              <a:gs pos="50000">
                <a:schemeClr val="accent1">
                  <a:tint val="44500"/>
                  <a:satMod val="160000"/>
                  <a:alpha val="50000"/>
                </a:schemeClr>
              </a:gs>
              <a:gs pos="100000">
                <a:schemeClr val="accent1">
                  <a:tint val="23500"/>
                  <a:satMod val="160000"/>
                  <a:alpha val="50000"/>
                </a:schemeClr>
              </a:gs>
            </a:gsLst>
            <a:path path="circle">
              <a:fillToRect l="100000" t="100000"/>
            </a:path>
            <a:tileRect r="-100000" b="-100000"/>
          </a:grad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de-DE" noProof="1">
                <a:solidFill>
                  <a:schemeClr val="tx1"/>
                </a:solidFill>
                <a:latin typeface="Arial" panose="020B0604020202020204" pitchFamily="34" charset="0"/>
                <a:cs typeface="Arial" panose="020B0604020202020204" pitchFamily="34" charset="0"/>
              </a:rPr>
              <a:t>Outcomes</a:t>
            </a:r>
            <a:endParaRPr lang="de-DE" sz="1400" noProof="1">
              <a:solidFill>
                <a:schemeClr val="tx1"/>
              </a:solidFill>
              <a:latin typeface="Arial" panose="020B0604020202020204" pitchFamily="34" charset="0"/>
              <a:cs typeface="Arial" panose="020B0604020202020204" pitchFamily="34" charset="0"/>
            </a:endParaRPr>
          </a:p>
        </p:txBody>
      </p:sp>
      <p:grpSp>
        <p:nvGrpSpPr>
          <p:cNvPr id="63" name="Gruppieren 62">
            <a:extLst>
              <a:ext uri="{FF2B5EF4-FFF2-40B4-BE49-F238E27FC236}">
                <a16:creationId xmlns:a16="http://schemas.microsoft.com/office/drawing/2014/main" id="{9AF23C6F-B494-23D5-E1F1-056DF9D9814F}"/>
              </a:ext>
            </a:extLst>
          </p:cNvPr>
          <p:cNvGrpSpPr/>
          <p:nvPr/>
        </p:nvGrpSpPr>
        <p:grpSpPr>
          <a:xfrm>
            <a:off x="2768978" y="4150011"/>
            <a:ext cx="599844" cy="628486"/>
            <a:chOff x="2642881" y="4090614"/>
            <a:chExt cx="599844" cy="628486"/>
          </a:xfrm>
        </p:grpSpPr>
        <p:pic>
          <p:nvPicPr>
            <p:cNvPr id="49" name="Grafik 48">
              <a:extLst>
                <a:ext uri="{FF2B5EF4-FFF2-40B4-BE49-F238E27FC236}">
                  <a16:creationId xmlns:a16="http://schemas.microsoft.com/office/drawing/2014/main" id="{4146E0D5-43F3-99DF-8E70-ABDF63755740}"/>
                </a:ext>
              </a:extLst>
            </p:cNvPr>
            <p:cNvPicPr>
              <a:picLocks noChangeAspect="1"/>
            </p:cNvPicPr>
            <p:nvPr/>
          </p:nvPicPr>
          <p:blipFill>
            <a:blip r:embed="rId8"/>
            <a:stretch>
              <a:fillRect/>
            </a:stretch>
          </p:blipFill>
          <p:spPr>
            <a:xfrm>
              <a:off x="2704536" y="4090614"/>
              <a:ext cx="438062" cy="438062"/>
            </a:xfrm>
            <a:prstGeom prst="rect">
              <a:avLst/>
            </a:prstGeom>
          </p:spPr>
        </p:pic>
        <p:sp>
          <p:nvSpPr>
            <p:cNvPr id="50" name="Textfeld 49">
              <a:extLst>
                <a:ext uri="{FF2B5EF4-FFF2-40B4-BE49-F238E27FC236}">
                  <a16:creationId xmlns:a16="http://schemas.microsoft.com/office/drawing/2014/main" id="{60619D1E-2144-6DA9-894C-3B1E9873E68B}"/>
                </a:ext>
              </a:extLst>
            </p:cNvPr>
            <p:cNvSpPr txBox="1"/>
            <p:nvPr/>
          </p:nvSpPr>
          <p:spPr>
            <a:xfrm>
              <a:off x="2642881" y="4457490"/>
              <a:ext cx="599844" cy="261610"/>
            </a:xfrm>
            <a:prstGeom prst="rect">
              <a:avLst/>
            </a:prstGeom>
            <a:noFill/>
          </p:spPr>
          <p:txBody>
            <a:bodyPr wrap="none" rtlCol="0">
              <a:spAutoFit/>
            </a:bodyPr>
            <a:lstStyle/>
            <a:p>
              <a:r>
                <a:rPr lang="de-DE" sz="1100" noProof="1">
                  <a:latin typeface="Arial" panose="020B0604020202020204" pitchFamily="34" charset="0"/>
                  <a:cs typeface="Arial" panose="020B0604020202020204" pitchFamily="34" charset="0"/>
                </a:rPr>
                <a:t>accept</a:t>
              </a:r>
            </a:p>
          </p:txBody>
        </p:sp>
      </p:grpSp>
      <p:grpSp>
        <p:nvGrpSpPr>
          <p:cNvPr id="62" name="Gruppieren 61">
            <a:extLst>
              <a:ext uri="{FF2B5EF4-FFF2-40B4-BE49-F238E27FC236}">
                <a16:creationId xmlns:a16="http://schemas.microsoft.com/office/drawing/2014/main" id="{867B1DB7-89DC-C46B-DD9B-51D947841840}"/>
              </a:ext>
            </a:extLst>
          </p:cNvPr>
          <p:cNvGrpSpPr/>
          <p:nvPr/>
        </p:nvGrpSpPr>
        <p:grpSpPr>
          <a:xfrm>
            <a:off x="3739773" y="4090309"/>
            <a:ext cx="534858" cy="684812"/>
            <a:chOff x="3718167" y="4053371"/>
            <a:chExt cx="534858" cy="684812"/>
          </a:xfrm>
        </p:grpSpPr>
        <p:pic>
          <p:nvPicPr>
            <p:cNvPr id="47" name="Grafik 46">
              <a:extLst>
                <a:ext uri="{FF2B5EF4-FFF2-40B4-BE49-F238E27FC236}">
                  <a16:creationId xmlns:a16="http://schemas.microsoft.com/office/drawing/2014/main" id="{CAFF27E3-FEAF-FFBB-A1D0-F48363C9BDC6}"/>
                </a:ext>
              </a:extLst>
            </p:cNvPr>
            <p:cNvPicPr>
              <a:picLocks noChangeAspect="1"/>
            </p:cNvPicPr>
            <p:nvPr/>
          </p:nvPicPr>
          <p:blipFill>
            <a:blip r:embed="rId9"/>
            <a:stretch>
              <a:fillRect/>
            </a:stretch>
          </p:blipFill>
          <p:spPr>
            <a:xfrm>
              <a:off x="3718167" y="4053371"/>
              <a:ext cx="528007" cy="528007"/>
            </a:xfrm>
            <a:prstGeom prst="rect">
              <a:avLst/>
            </a:prstGeom>
          </p:spPr>
        </p:pic>
        <p:sp>
          <p:nvSpPr>
            <p:cNvPr id="53" name="Textfeld 52">
              <a:extLst>
                <a:ext uri="{FF2B5EF4-FFF2-40B4-BE49-F238E27FC236}">
                  <a16:creationId xmlns:a16="http://schemas.microsoft.com/office/drawing/2014/main" id="{65C99F87-574D-6597-D86E-0455D5324C3D}"/>
                </a:ext>
              </a:extLst>
            </p:cNvPr>
            <p:cNvSpPr txBox="1"/>
            <p:nvPr/>
          </p:nvSpPr>
          <p:spPr>
            <a:xfrm>
              <a:off x="3723713" y="4476573"/>
              <a:ext cx="529312" cy="261610"/>
            </a:xfrm>
            <a:prstGeom prst="rect">
              <a:avLst/>
            </a:prstGeom>
            <a:noFill/>
          </p:spPr>
          <p:txBody>
            <a:bodyPr wrap="none" rtlCol="0">
              <a:spAutoFit/>
            </a:bodyPr>
            <a:lstStyle/>
            <a:p>
              <a:r>
                <a:rPr lang="de-DE" sz="1100" noProof="1">
                  <a:latin typeface="Arial" panose="020B0604020202020204" pitchFamily="34" charset="0"/>
                  <a:cs typeface="Arial" panose="020B0604020202020204" pitchFamily="34" charset="0"/>
                </a:rPr>
                <a:t>reject</a:t>
              </a:r>
            </a:p>
          </p:txBody>
        </p:sp>
      </p:grpSp>
      <p:cxnSp>
        <p:nvCxnSpPr>
          <p:cNvPr id="133" name="Verbinder: gewinkelt 132">
            <a:extLst>
              <a:ext uri="{FF2B5EF4-FFF2-40B4-BE49-F238E27FC236}">
                <a16:creationId xmlns:a16="http://schemas.microsoft.com/office/drawing/2014/main" id="{52CB7282-F9A1-B32B-51D3-23DD7C4AA615}"/>
              </a:ext>
            </a:extLst>
          </p:cNvPr>
          <p:cNvCxnSpPr>
            <a:cxnSpLocks/>
            <a:endCxn id="50" idx="1"/>
          </p:cNvCxnSpPr>
          <p:nvPr/>
        </p:nvCxnSpPr>
        <p:spPr>
          <a:xfrm>
            <a:off x="2172384" y="4369042"/>
            <a:ext cx="596594" cy="278650"/>
          </a:xfrm>
          <a:prstGeom prst="bentConnector3">
            <a:avLst>
              <a:gd name="adj1" fmla="val 38824"/>
            </a:avLst>
          </a:prstGeom>
          <a:ln w="19050" cap="flat" cmpd="sng" algn="ctr">
            <a:solidFill>
              <a:srgbClr val="C00000"/>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13" name="Verbinder: gewinkelt 112">
            <a:extLst>
              <a:ext uri="{FF2B5EF4-FFF2-40B4-BE49-F238E27FC236}">
                <a16:creationId xmlns:a16="http://schemas.microsoft.com/office/drawing/2014/main" id="{7C1D7339-51C9-0E7A-D91C-8C693AC3D29B}"/>
              </a:ext>
            </a:extLst>
          </p:cNvPr>
          <p:cNvCxnSpPr>
            <a:cxnSpLocks/>
            <a:stCxn id="26" idx="3"/>
            <a:endCxn id="103" idx="2"/>
          </p:cNvCxnSpPr>
          <p:nvPr/>
        </p:nvCxnSpPr>
        <p:spPr>
          <a:xfrm flipV="1">
            <a:off x="2172383" y="2518694"/>
            <a:ext cx="881978" cy="1623367"/>
          </a:xfrm>
          <a:prstGeom prst="bentConnector3">
            <a:avLst>
              <a:gd name="adj1" fmla="val 41360"/>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46" name="Verbinder: gewinkelt 145">
            <a:extLst>
              <a:ext uri="{FF2B5EF4-FFF2-40B4-BE49-F238E27FC236}">
                <a16:creationId xmlns:a16="http://schemas.microsoft.com/office/drawing/2014/main" id="{A09F056E-A474-1BD5-956A-604A01375BC3}"/>
              </a:ext>
            </a:extLst>
          </p:cNvPr>
          <p:cNvCxnSpPr>
            <a:cxnSpLocks/>
            <a:stCxn id="50" idx="2"/>
            <a:endCxn id="64" idx="1"/>
          </p:cNvCxnSpPr>
          <p:nvPr/>
        </p:nvCxnSpPr>
        <p:spPr>
          <a:xfrm rot="5400000" flipH="1" flipV="1">
            <a:off x="3023889" y="2965448"/>
            <a:ext cx="1858059" cy="1768039"/>
          </a:xfrm>
          <a:prstGeom prst="bentConnector4">
            <a:avLst>
              <a:gd name="adj1" fmla="val -7177"/>
              <a:gd name="adj2" fmla="val 81109"/>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3" name="Verbinder: gewinkelt 2">
            <a:extLst>
              <a:ext uri="{FF2B5EF4-FFF2-40B4-BE49-F238E27FC236}">
                <a16:creationId xmlns:a16="http://schemas.microsoft.com/office/drawing/2014/main" id="{713626F8-3B7F-6E9B-FDD7-C3E541586A26}"/>
              </a:ext>
            </a:extLst>
          </p:cNvPr>
          <p:cNvCxnSpPr>
            <a:cxnSpLocks/>
            <a:stCxn id="19" idx="3"/>
            <a:endCxn id="50" idx="1"/>
          </p:cNvCxnSpPr>
          <p:nvPr/>
        </p:nvCxnSpPr>
        <p:spPr>
          <a:xfrm>
            <a:off x="2172383" y="2090357"/>
            <a:ext cx="596595" cy="2557335"/>
          </a:xfrm>
          <a:prstGeom prst="bentConnector3">
            <a:avLst>
              <a:gd name="adj1" fmla="val 39223"/>
            </a:avLst>
          </a:prstGeom>
          <a:ln w="19050" cap="flat" cmpd="sng" algn="ctr">
            <a:solidFill>
              <a:srgbClr val="C00000"/>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8" name="Textfeld 7">
            <a:extLst>
              <a:ext uri="{FF2B5EF4-FFF2-40B4-BE49-F238E27FC236}">
                <a16:creationId xmlns:a16="http://schemas.microsoft.com/office/drawing/2014/main" id="{83FC48E1-04E1-1563-1C80-DEF2DECF9AFA}"/>
              </a:ext>
            </a:extLst>
          </p:cNvPr>
          <p:cNvSpPr txBox="1"/>
          <p:nvPr/>
        </p:nvSpPr>
        <p:spPr>
          <a:xfrm>
            <a:off x="7851895" y="134610"/>
            <a:ext cx="1124923" cy="276999"/>
          </a:xfrm>
          <a:prstGeom prst="rect">
            <a:avLst/>
          </a:prstGeom>
          <a:noFill/>
        </p:spPr>
        <p:txBody>
          <a:bodyPr wrap="none" rtlCol="0">
            <a:spAutoFit/>
          </a:bodyPr>
          <a:lstStyle/>
          <a:p>
            <a:r>
              <a:rPr lang="de-DE" sz="1200" dirty="0"/>
              <a:t>Concept </a:t>
            </a:r>
            <a:r>
              <a:rPr lang="de-DE" sz="1200" dirty="0" err="1"/>
              <a:t>for</a:t>
            </a:r>
            <a:r>
              <a:rPr lang="de-DE" sz="1200" dirty="0"/>
              <a:t> DK</a:t>
            </a:r>
            <a:endParaRPr lang="en-US" sz="1200" dirty="0"/>
          </a:p>
        </p:txBody>
      </p:sp>
      <p:sp>
        <p:nvSpPr>
          <p:cNvPr id="17" name="Rechteck 16" descr="Netzwerk">
            <a:extLst>
              <a:ext uri="{FF2B5EF4-FFF2-40B4-BE49-F238E27FC236}">
                <a16:creationId xmlns:a16="http://schemas.microsoft.com/office/drawing/2014/main" id="{7A7997A6-524D-B775-4A43-1413A41678B1}"/>
              </a:ext>
            </a:extLst>
          </p:cNvPr>
          <p:cNvSpPr/>
          <p:nvPr/>
        </p:nvSpPr>
        <p:spPr>
          <a:xfrm>
            <a:off x="7601428" y="127192"/>
            <a:ext cx="277969" cy="277969"/>
          </a:xfrm>
          <a:prstGeom prst="rect">
            <a:avLst/>
          </a:prstGeom>
          <a: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a:blipFill>
          <a:ln>
            <a:noFill/>
          </a:ln>
        </p:spPr>
        <p:style>
          <a:lnRef idx="2">
            <a:scrgbClr r="0" g="0" b="0"/>
          </a:lnRef>
          <a:fillRef idx="1">
            <a:scrgbClr r="0" g="0" b="0"/>
          </a:fillRef>
          <a:effectRef idx="0">
            <a:schemeClr val="accent4">
              <a:hueOff val="0"/>
              <a:satOff val="0"/>
              <a:lumOff val="0"/>
              <a:alphaOff val="0"/>
            </a:schemeClr>
          </a:effectRef>
          <a:fontRef idx="minor">
            <a:schemeClr val="lt1"/>
          </a:fontRef>
        </p:style>
        <p:txBody>
          <a:bodyPr/>
          <a:lstStyle/>
          <a:p>
            <a:endParaRPr lang="en-US"/>
          </a:p>
        </p:txBody>
      </p:sp>
    </p:spTree>
    <p:extLst>
      <p:ext uri="{BB962C8B-B14F-4D97-AF65-F5344CB8AC3E}">
        <p14:creationId xmlns:p14="http://schemas.microsoft.com/office/powerpoint/2010/main" val="978644633"/>
      </p:ext>
    </p:extLst>
  </p:cSld>
  <p:clrMapOvr>
    <a:masterClrMapping/>
  </p:clrMapOvr>
  <p:transition spd="slow" advTm="1023">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50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par>
                                <p:cTn id="8" presetID="10" presetClass="entr" presetSubtype="0" fill="hold" nodeType="withEffect">
                                  <p:stCondLst>
                                    <p:cond delay="0"/>
                                  </p:stCondLst>
                                  <p:childTnLst>
                                    <p:set>
                                      <p:cBhvr>
                                        <p:cTn id="9" dur="1" fill="hold">
                                          <p:stCondLst>
                                            <p:cond delay="0"/>
                                          </p:stCondLst>
                                        </p:cTn>
                                        <p:tgtEl>
                                          <p:spTgt spid="20"/>
                                        </p:tgtEl>
                                        <p:attrNameLst>
                                          <p:attrName>style.visibility</p:attrName>
                                        </p:attrNameLst>
                                      </p:cBhvr>
                                      <p:to>
                                        <p:strVal val="visible"/>
                                      </p:to>
                                    </p:set>
                                    <p:animEffect transition="in" filter="fade">
                                      <p:cBhvr>
                                        <p:cTn id="10" dur="500"/>
                                        <p:tgtEl>
                                          <p:spTgt spid="20"/>
                                        </p:tgtEl>
                                      </p:cBhvr>
                                    </p:animEffect>
                                  </p:childTnLst>
                                </p:cTn>
                              </p:par>
                              <p:par>
                                <p:cTn id="11" presetID="10" presetClass="entr" presetSubtype="0" fill="hold" nodeType="withEffect">
                                  <p:stCondLst>
                                    <p:cond delay="0"/>
                                  </p:stCondLst>
                                  <p:childTnLst>
                                    <p:set>
                                      <p:cBhvr>
                                        <p:cTn id="12" dur="1" fill="hold">
                                          <p:stCondLst>
                                            <p:cond delay="0"/>
                                          </p:stCondLst>
                                        </p:cTn>
                                        <p:tgtEl>
                                          <p:spTgt spid="21"/>
                                        </p:tgtEl>
                                        <p:attrNameLst>
                                          <p:attrName>style.visibility</p:attrName>
                                        </p:attrNameLst>
                                      </p:cBhvr>
                                      <p:to>
                                        <p:strVal val="visible"/>
                                      </p:to>
                                    </p:set>
                                    <p:animEffect transition="in" filter="fade">
                                      <p:cBhvr>
                                        <p:cTn id="13" dur="500"/>
                                        <p:tgtEl>
                                          <p:spTgt spid="21"/>
                                        </p:tgtEl>
                                      </p:cBhvr>
                                    </p:animEffect>
                                  </p:childTnLst>
                                </p:cTn>
                              </p:par>
                              <p:par>
                                <p:cTn id="14" presetID="10" presetClass="entr" presetSubtype="0" fill="hold" nodeType="withEffect">
                                  <p:stCondLst>
                                    <p:cond delay="0"/>
                                  </p:stCondLst>
                                  <p:childTnLst>
                                    <p:set>
                                      <p:cBhvr>
                                        <p:cTn id="15" dur="1" fill="hold">
                                          <p:stCondLst>
                                            <p:cond delay="0"/>
                                          </p:stCondLst>
                                        </p:cTn>
                                        <p:tgtEl>
                                          <p:spTgt spid="24"/>
                                        </p:tgtEl>
                                        <p:attrNameLst>
                                          <p:attrName>style.visibility</p:attrName>
                                        </p:attrNameLst>
                                      </p:cBhvr>
                                      <p:to>
                                        <p:strVal val="visible"/>
                                      </p:to>
                                    </p:set>
                                    <p:animEffect transition="in" filter="fade">
                                      <p:cBhvr>
                                        <p:cTn id="16" dur="500"/>
                                        <p:tgtEl>
                                          <p:spTgt spid="24"/>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35"/>
                                        </p:tgtEl>
                                        <p:attrNameLst>
                                          <p:attrName>style.visibility</p:attrName>
                                        </p:attrNameLst>
                                      </p:cBhvr>
                                      <p:to>
                                        <p:strVal val="visible"/>
                                      </p:to>
                                    </p:set>
                                    <p:animEffect transition="in" filter="fade">
                                      <p:cBhvr>
                                        <p:cTn id="21" dur="500"/>
                                        <p:tgtEl>
                                          <p:spTgt spid="35"/>
                                        </p:tgtEl>
                                      </p:cBhvr>
                                    </p:animEffect>
                                  </p:childTnLst>
                                  <p:subTnLst>
                                    <p:animClr clrSpc="rgb" dir="cw">
                                      <p:cBhvr override="childStyle">
                                        <p:cTn dur="1" fill="hold" display="0" masterRel="nextClick" afterEffect="1"/>
                                        <p:tgtEl>
                                          <p:spTgt spid="35"/>
                                        </p:tgtEl>
                                        <p:attrNameLst>
                                          <p:attrName>ppt_c</p:attrName>
                                        </p:attrNameLst>
                                      </p:cBhvr>
                                      <p:to>
                                        <a:schemeClr val="bg1"/>
                                      </p:to>
                                    </p:animClr>
                                  </p:subTnLst>
                                </p:cTn>
                              </p:par>
                              <p:par>
                                <p:cTn id="22" presetID="10" presetClass="entr" presetSubtype="0" fill="hold" nodeType="withEffect">
                                  <p:stCondLst>
                                    <p:cond delay="0"/>
                                  </p:stCondLst>
                                  <p:childTnLst>
                                    <p:set>
                                      <p:cBhvr>
                                        <p:cTn id="23" dur="1" fill="hold">
                                          <p:stCondLst>
                                            <p:cond delay="0"/>
                                          </p:stCondLst>
                                        </p:cTn>
                                        <p:tgtEl>
                                          <p:spTgt spid="44"/>
                                        </p:tgtEl>
                                        <p:attrNameLst>
                                          <p:attrName>style.visibility</p:attrName>
                                        </p:attrNameLst>
                                      </p:cBhvr>
                                      <p:to>
                                        <p:strVal val="visible"/>
                                      </p:to>
                                    </p:set>
                                    <p:animEffect transition="in" filter="fade">
                                      <p:cBhvr>
                                        <p:cTn id="24" dur="500"/>
                                        <p:tgtEl>
                                          <p:spTgt spid="44"/>
                                        </p:tgtEl>
                                      </p:cBhvr>
                                    </p:animEffect>
                                  </p:childTnLst>
                                </p:cTn>
                              </p:par>
                              <p:par>
                                <p:cTn id="25" presetID="10" presetClass="entr" presetSubtype="0" fill="hold" nodeType="withEffect">
                                  <p:stCondLst>
                                    <p:cond delay="0"/>
                                  </p:stCondLst>
                                  <p:childTnLst>
                                    <p:set>
                                      <p:cBhvr>
                                        <p:cTn id="26" dur="1" fill="hold">
                                          <p:stCondLst>
                                            <p:cond delay="0"/>
                                          </p:stCondLst>
                                        </p:cTn>
                                        <p:tgtEl>
                                          <p:spTgt spid="38"/>
                                        </p:tgtEl>
                                        <p:attrNameLst>
                                          <p:attrName>style.visibility</p:attrName>
                                        </p:attrNameLst>
                                      </p:cBhvr>
                                      <p:to>
                                        <p:strVal val="visible"/>
                                      </p:to>
                                    </p:set>
                                    <p:animEffect transition="in" filter="fade">
                                      <p:cBhvr>
                                        <p:cTn id="27" dur="500"/>
                                        <p:tgtEl>
                                          <p:spTgt spid="38"/>
                                        </p:tgtEl>
                                      </p:cBhvr>
                                    </p:animEffect>
                                  </p:childTnLst>
                                </p:cTn>
                              </p:par>
                              <p:par>
                                <p:cTn id="28" presetID="10" presetClass="entr" presetSubtype="0" fill="hold" nodeType="withEffect">
                                  <p:stCondLst>
                                    <p:cond delay="0"/>
                                  </p:stCondLst>
                                  <p:childTnLst>
                                    <p:set>
                                      <p:cBhvr>
                                        <p:cTn id="29" dur="1" fill="hold">
                                          <p:stCondLst>
                                            <p:cond delay="0"/>
                                          </p:stCondLst>
                                        </p:cTn>
                                        <p:tgtEl>
                                          <p:spTgt spid="43"/>
                                        </p:tgtEl>
                                        <p:attrNameLst>
                                          <p:attrName>style.visibility</p:attrName>
                                        </p:attrNameLst>
                                      </p:cBhvr>
                                      <p:to>
                                        <p:strVal val="visible"/>
                                      </p:to>
                                    </p:set>
                                    <p:animEffect transition="in" filter="fade">
                                      <p:cBhvr>
                                        <p:cTn id="30" dur="500"/>
                                        <p:tgtEl>
                                          <p:spTgt spid="43"/>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27"/>
                                        </p:tgtEl>
                                        <p:attrNameLst>
                                          <p:attrName>style.visibility</p:attrName>
                                        </p:attrNameLst>
                                      </p:cBhvr>
                                      <p:to>
                                        <p:strVal val="visible"/>
                                      </p:to>
                                    </p:set>
                                    <p:animEffect transition="in" filter="fade">
                                      <p:cBhvr>
                                        <p:cTn id="33" dur="500"/>
                                        <p:tgtEl>
                                          <p:spTgt spid="27"/>
                                        </p:tgtEl>
                                      </p:cBhvr>
                                    </p:animEffect>
                                  </p:childTnLst>
                                </p:cTn>
                              </p:par>
                              <p:par>
                                <p:cTn id="34" presetID="10" presetClass="entr" presetSubtype="0" fill="hold" nodeType="withEffect">
                                  <p:stCondLst>
                                    <p:cond delay="0"/>
                                  </p:stCondLst>
                                  <p:childTnLst>
                                    <p:set>
                                      <p:cBhvr>
                                        <p:cTn id="35" dur="1" fill="hold">
                                          <p:stCondLst>
                                            <p:cond delay="0"/>
                                          </p:stCondLst>
                                        </p:cTn>
                                        <p:tgtEl>
                                          <p:spTgt spid="45"/>
                                        </p:tgtEl>
                                        <p:attrNameLst>
                                          <p:attrName>style.visibility</p:attrName>
                                        </p:attrNameLst>
                                      </p:cBhvr>
                                      <p:to>
                                        <p:strVal val="visible"/>
                                      </p:to>
                                    </p:set>
                                    <p:animEffect transition="in" filter="fade">
                                      <p:cBhvr>
                                        <p:cTn id="36" dur="500"/>
                                        <p:tgtEl>
                                          <p:spTgt spid="45"/>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nodeType="clickEffect">
                                  <p:stCondLst>
                                    <p:cond delay="0"/>
                                  </p:stCondLst>
                                  <p:childTnLst>
                                    <p:set>
                                      <p:cBhvr>
                                        <p:cTn id="40" dur="1" fill="hold">
                                          <p:stCondLst>
                                            <p:cond delay="0"/>
                                          </p:stCondLst>
                                        </p:cTn>
                                        <p:tgtEl>
                                          <p:spTgt spid="62"/>
                                        </p:tgtEl>
                                        <p:attrNameLst>
                                          <p:attrName>style.visibility</p:attrName>
                                        </p:attrNameLst>
                                      </p:cBhvr>
                                      <p:to>
                                        <p:strVal val="visible"/>
                                      </p:to>
                                    </p:set>
                                    <p:animEffect transition="in" filter="fade">
                                      <p:cBhvr>
                                        <p:cTn id="41" dur="500"/>
                                        <p:tgtEl>
                                          <p:spTgt spid="62"/>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30"/>
                                        </p:tgtEl>
                                        <p:attrNameLst>
                                          <p:attrName>style.visibility</p:attrName>
                                        </p:attrNameLst>
                                      </p:cBhvr>
                                      <p:to>
                                        <p:strVal val="visible"/>
                                      </p:to>
                                    </p:set>
                                    <p:animEffect transition="in" filter="fade">
                                      <p:cBhvr>
                                        <p:cTn id="44" dur="500"/>
                                        <p:tgtEl>
                                          <p:spTgt spid="30"/>
                                        </p:tgtEl>
                                      </p:cBhvr>
                                    </p:animEffect>
                                  </p:childTnLst>
                                </p:cTn>
                              </p:par>
                              <p:par>
                                <p:cTn id="45" presetID="10" presetClass="entr" presetSubtype="0" fill="hold" nodeType="withEffect">
                                  <p:stCondLst>
                                    <p:cond delay="0"/>
                                  </p:stCondLst>
                                  <p:childTnLst>
                                    <p:set>
                                      <p:cBhvr>
                                        <p:cTn id="46" dur="1" fill="hold">
                                          <p:stCondLst>
                                            <p:cond delay="0"/>
                                          </p:stCondLst>
                                        </p:cTn>
                                        <p:tgtEl>
                                          <p:spTgt spid="63"/>
                                        </p:tgtEl>
                                        <p:attrNameLst>
                                          <p:attrName>style.visibility</p:attrName>
                                        </p:attrNameLst>
                                      </p:cBhvr>
                                      <p:to>
                                        <p:strVal val="visible"/>
                                      </p:to>
                                    </p:set>
                                    <p:animEffect transition="in" filter="fade">
                                      <p:cBhvr>
                                        <p:cTn id="47" dur="500"/>
                                        <p:tgtEl>
                                          <p:spTgt spid="63"/>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104"/>
                                        </p:tgtEl>
                                        <p:attrNameLst>
                                          <p:attrName>style.visibility</p:attrName>
                                        </p:attrNameLst>
                                      </p:cBhvr>
                                      <p:to>
                                        <p:strVal val="visible"/>
                                      </p:to>
                                    </p:set>
                                    <p:animEffect transition="in" filter="fade">
                                      <p:cBhvr>
                                        <p:cTn id="52" dur="500"/>
                                        <p:tgtEl>
                                          <p:spTgt spid="104"/>
                                        </p:tgtEl>
                                      </p:cBhvr>
                                    </p:animEffect>
                                  </p:childTnLst>
                                </p:cTn>
                              </p:par>
                              <p:par>
                                <p:cTn id="53" presetID="10" presetClass="entr" presetSubtype="0" fill="hold" nodeType="withEffect">
                                  <p:stCondLst>
                                    <p:cond delay="0"/>
                                  </p:stCondLst>
                                  <p:childTnLst>
                                    <p:set>
                                      <p:cBhvr>
                                        <p:cTn id="54" dur="1" fill="hold">
                                          <p:stCondLst>
                                            <p:cond delay="0"/>
                                          </p:stCondLst>
                                        </p:cTn>
                                        <p:tgtEl>
                                          <p:spTgt spid="108"/>
                                        </p:tgtEl>
                                        <p:attrNameLst>
                                          <p:attrName>style.visibility</p:attrName>
                                        </p:attrNameLst>
                                      </p:cBhvr>
                                      <p:to>
                                        <p:strVal val="visible"/>
                                      </p:to>
                                    </p:set>
                                    <p:animEffect transition="in" filter="fade">
                                      <p:cBhvr>
                                        <p:cTn id="55" dur="500"/>
                                        <p:tgtEl>
                                          <p:spTgt spid="108"/>
                                        </p:tgtEl>
                                      </p:cBhvr>
                                    </p:animEffect>
                                  </p:childTnLst>
                                </p:cTn>
                              </p:par>
                              <p:par>
                                <p:cTn id="56" presetID="10" presetClass="entr" presetSubtype="0" fill="hold" nodeType="withEffect">
                                  <p:stCondLst>
                                    <p:cond delay="0"/>
                                  </p:stCondLst>
                                  <p:childTnLst>
                                    <p:set>
                                      <p:cBhvr>
                                        <p:cTn id="57" dur="1" fill="hold">
                                          <p:stCondLst>
                                            <p:cond delay="0"/>
                                          </p:stCondLst>
                                        </p:cTn>
                                        <p:tgtEl>
                                          <p:spTgt spid="113"/>
                                        </p:tgtEl>
                                        <p:attrNameLst>
                                          <p:attrName>style.visibility</p:attrName>
                                        </p:attrNameLst>
                                      </p:cBhvr>
                                      <p:to>
                                        <p:strVal val="visible"/>
                                      </p:to>
                                    </p:set>
                                    <p:animEffect transition="in" filter="fade">
                                      <p:cBhvr>
                                        <p:cTn id="58" dur="500"/>
                                        <p:tgtEl>
                                          <p:spTgt spid="113"/>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103"/>
                                        </p:tgtEl>
                                        <p:attrNameLst>
                                          <p:attrName>style.visibility</p:attrName>
                                        </p:attrNameLst>
                                      </p:cBhvr>
                                      <p:to>
                                        <p:strVal val="visible"/>
                                      </p:to>
                                    </p:set>
                                    <p:animEffect transition="in" filter="fade">
                                      <p:cBhvr>
                                        <p:cTn id="61" dur="500"/>
                                        <p:tgtEl>
                                          <p:spTgt spid="103"/>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117"/>
                                        </p:tgtEl>
                                        <p:attrNameLst>
                                          <p:attrName>style.visibility</p:attrName>
                                        </p:attrNameLst>
                                      </p:cBhvr>
                                      <p:to>
                                        <p:strVal val="visible"/>
                                      </p:to>
                                    </p:set>
                                    <p:animEffect transition="in" filter="fade">
                                      <p:cBhvr>
                                        <p:cTn id="64" dur="500"/>
                                        <p:tgtEl>
                                          <p:spTgt spid="117"/>
                                        </p:tgtEl>
                                      </p:cBhvr>
                                    </p:animEffect>
                                  </p:childTnLst>
                                </p:cTn>
                              </p:par>
                            </p:childTnLst>
                          </p:cTn>
                        </p:par>
                      </p:childTnLst>
                    </p:cTn>
                  </p:par>
                  <p:par>
                    <p:cTn id="65" fill="hold">
                      <p:stCondLst>
                        <p:cond delay="indefinite"/>
                      </p:stCondLst>
                      <p:childTnLst>
                        <p:par>
                          <p:cTn id="66" fill="hold">
                            <p:stCondLst>
                              <p:cond delay="0"/>
                            </p:stCondLst>
                            <p:childTnLst>
                              <p:par>
                                <p:cTn id="67" presetID="10" presetClass="entr" presetSubtype="0" fill="hold" nodeType="clickEffect">
                                  <p:stCondLst>
                                    <p:cond delay="0"/>
                                  </p:stCondLst>
                                  <p:childTnLst>
                                    <p:set>
                                      <p:cBhvr>
                                        <p:cTn id="68" dur="1" fill="hold">
                                          <p:stCondLst>
                                            <p:cond delay="0"/>
                                          </p:stCondLst>
                                        </p:cTn>
                                        <p:tgtEl>
                                          <p:spTgt spid="133"/>
                                        </p:tgtEl>
                                        <p:attrNameLst>
                                          <p:attrName>style.visibility</p:attrName>
                                        </p:attrNameLst>
                                      </p:cBhvr>
                                      <p:to>
                                        <p:strVal val="visible"/>
                                      </p:to>
                                    </p:set>
                                    <p:animEffect transition="in" filter="fade">
                                      <p:cBhvr>
                                        <p:cTn id="69" dur="500"/>
                                        <p:tgtEl>
                                          <p:spTgt spid="133"/>
                                        </p:tgtEl>
                                      </p:cBhvr>
                                    </p:animEffect>
                                  </p:childTnLst>
                                </p:cTn>
                              </p:par>
                              <p:par>
                                <p:cTn id="70" presetID="10" presetClass="entr" presetSubtype="0" fill="hold" nodeType="withEffect">
                                  <p:stCondLst>
                                    <p:cond delay="0"/>
                                  </p:stCondLst>
                                  <p:childTnLst>
                                    <p:set>
                                      <p:cBhvr>
                                        <p:cTn id="71" dur="1" fill="hold">
                                          <p:stCondLst>
                                            <p:cond delay="0"/>
                                          </p:stCondLst>
                                        </p:cTn>
                                        <p:tgtEl>
                                          <p:spTgt spid="137"/>
                                        </p:tgtEl>
                                        <p:attrNameLst>
                                          <p:attrName>style.visibility</p:attrName>
                                        </p:attrNameLst>
                                      </p:cBhvr>
                                      <p:to>
                                        <p:strVal val="visible"/>
                                      </p:to>
                                    </p:set>
                                    <p:animEffect transition="in" filter="fade">
                                      <p:cBhvr>
                                        <p:cTn id="72" dur="500"/>
                                        <p:tgtEl>
                                          <p:spTgt spid="137"/>
                                        </p:tgtEl>
                                      </p:cBhvr>
                                    </p:animEffect>
                                  </p:childTnLst>
                                </p:cTn>
                              </p:par>
                              <p:par>
                                <p:cTn id="73" presetID="10" presetClass="entr" presetSubtype="0" fill="hold" nodeType="withEffect">
                                  <p:stCondLst>
                                    <p:cond delay="0"/>
                                  </p:stCondLst>
                                  <p:childTnLst>
                                    <p:set>
                                      <p:cBhvr>
                                        <p:cTn id="74" dur="1" fill="hold">
                                          <p:stCondLst>
                                            <p:cond delay="0"/>
                                          </p:stCondLst>
                                        </p:cTn>
                                        <p:tgtEl>
                                          <p:spTgt spid="3"/>
                                        </p:tgtEl>
                                        <p:attrNameLst>
                                          <p:attrName>style.visibility</p:attrName>
                                        </p:attrNameLst>
                                      </p:cBhvr>
                                      <p:to>
                                        <p:strVal val="visible"/>
                                      </p:to>
                                    </p:set>
                                    <p:animEffect transition="in" filter="fade">
                                      <p:cBhvr>
                                        <p:cTn id="75" dur="500"/>
                                        <p:tgtEl>
                                          <p:spTgt spid="3"/>
                                        </p:tgtEl>
                                      </p:cBhvr>
                                    </p:animEffect>
                                  </p:childTnLst>
                                </p:cTn>
                              </p:par>
                            </p:childTnLst>
                          </p:cTn>
                        </p:par>
                      </p:childTnLst>
                    </p:cTn>
                  </p:par>
                  <p:par>
                    <p:cTn id="76" fill="hold">
                      <p:stCondLst>
                        <p:cond delay="indefinite"/>
                      </p:stCondLst>
                      <p:childTnLst>
                        <p:par>
                          <p:cTn id="77" fill="hold">
                            <p:stCondLst>
                              <p:cond delay="0"/>
                            </p:stCondLst>
                            <p:childTnLst>
                              <p:par>
                                <p:cTn id="78" presetID="10" presetClass="entr" presetSubtype="0" fill="hold" grpId="0" nodeType="clickEffect">
                                  <p:stCondLst>
                                    <p:cond delay="0"/>
                                  </p:stCondLst>
                                  <p:childTnLst>
                                    <p:set>
                                      <p:cBhvr>
                                        <p:cTn id="79" dur="1" fill="hold">
                                          <p:stCondLst>
                                            <p:cond delay="0"/>
                                          </p:stCondLst>
                                        </p:cTn>
                                        <p:tgtEl>
                                          <p:spTgt spid="64"/>
                                        </p:tgtEl>
                                        <p:attrNameLst>
                                          <p:attrName>style.visibility</p:attrName>
                                        </p:attrNameLst>
                                      </p:cBhvr>
                                      <p:to>
                                        <p:strVal val="visible"/>
                                      </p:to>
                                    </p:set>
                                    <p:animEffect transition="in" filter="fade">
                                      <p:cBhvr>
                                        <p:cTn id="80" dur="500"/>
                                        <p:tgtEl>
                                          <p:spTgt spid="64"/>
                                        </p:tgtEl>
                                      </p:cBhvr>
                                    </p:animEffect>
                                  </p:childTnLst>
                                </p:cTn>
                              </p:par>
                              <p:par>
                                <p:cTn id="81" presetID="10" presetClass="entr" presetSubtype="0" fill="hold" grpId="0" nodeType="withEffect">
                                  <p:stCondLst>
                                    <p:cond delay="0"/>
                                  </p:stCondLst>
                                  <p:childTnLst>
                                    <p:set>
                                      <p:cBhvr>
                                        <p:cTn id="82" dur="1" fill="hold">
                                          <p:stCondLst>
                                            <p:cond delay="0"/>
                                          </p:stCondLst>
                                        </p:cTn>
                                        <p:tgtEl>
                                          <p:spTgt spid="159"/>
                                        </p:tgtEl>
                                        <p:attrNameLst>
                                          <p:attrName>style.visibility</p:attrName>
                                        </p:attrNameLst>
                                      </p:cBhvr>
                                      <p:to>
                                        <p:strVal val="visible"/>
                                      </p:to>
                                    </p:set>
                                    <p:animEffect transition="in" filter="fade">
                                      <p:cBhvr>
                                        <p:cTn id="83" dur="500"/>
                                        <p:tgtEl>
                                          <p:spTgt spid="159"/>
                                        </p:tgtEl>
                                      </p:cBhvr>
                                    </p:animEffect>
                                  </p:childTnLst>
                                  <p:subTnLst>
                                    <p:set>
                                      <p:cBhvr override="childStyle">
                                        <p:cTn dur="1" fill="hold" display="0" masterRel="nextClick" afterEffect="1"/>
                                        <p:tgtEl>
                                          <p:spTgt spid="159"/>
                                        </p:tgtEl>
                                        <p:attrNameLst>
                                          <p:attrName>style.visibility</p:attrName>
                                        </p:attrNameLst>
                                      </p:cBhvr>
                                      <p:to>
                                        <p:strVal val="hidden"/>
                                      </p:to>
                                    </p:set>
                                  </p:subTnLst>
                                </p:cTn>
                              </p:par>
                              <p:par>
                                <p:cTn id="84" presetID="10" presetClass="entr" presetSubtype="0" fill="hold" nodeType="withEffect">
                                  <p:stCondLst>
                                    <p:cond delay="0"/>
                                  </p:stCondLst>
                                  <p:childTnLst>
                                    <p:set>
                                      <p:cBhvr>
                                        <p:cTn id="85" dur="1" fill="hold">
                                          <p:stCondLst>
                                            <p:cond delay="0"/>
                                          </p:stCondLst>
                                        </p:cTn>
                                        <p:tgtEl>
                                          <p:spTgt spid="146"/>
                                        </p:tgtEl>
                                        <p:attrNameLst>
                                          <p:attrName>style.visibility</p:attrName>
                                        </p:attrNameLst>
                                      </p:cBhvr>
                                      <p:to>
                                        <p:strVal val="visible"/>
                                      </p:to>
                                    </p:set>
                                    <p:animEffect transition="in" filter="fade">
                                      <p:cBhvr>
                                        <p:cTn id="86" dur="500"/>
                                        <p:tgtEl>
                                          <p:spTgt spid="146"/>
                                        </p:tgtEl>
                                      </p:cBhvr>
                                    </p:animEffect>
                                  </p:childTnLst>
                                </p:cTn>
                              </p:par>
                              <p:par>
                                <p:cTn id="87" presetID="10" presetClass="entr" presetSubtype="0" fill="hold" nodeType="withEffect">
                                  <p:stCondLst>
                                    <p:cond delay="0"/>
                                  </p:stCondLst>
                                  <p:childTnLst>
                                    <p:set>
                                      <p:cBhvr>
                                        <p:cTn id="88" dur="1" fill="hold">
                                          <p:stCondLst>
                                            <p:cond delay="0"/>
                                          </p:stCondLst>
                                        </p:cTn>
                                        <p:tgtEl>
                                          <p:spTgt spid="118"/>
                                        </p:tgtEl>
                                        <p:attrNameLst>
                                          <p:attrName>style.visibility</p:attrName>
                                        </p:attrNameLst>
                                      </p:cBhvr>
                                      <p:to>
                                        <p:strVal val="visible"/>
                                      </p:to>
                                    </p:set>
                                    <p:animEffect transition="in" filter="fade">
                                      <p:cBhvr>
                                        <p:cTn id="89" dur="500"/>
                                        <p:tgtEl>
                                          <p:spTgt spid="118"/>
                                        </p:tgtEl>
                                      </p:cBhvr>
                                    </p:animEffect>
                                  </p:childTnLst>
                                </p:cTn>
                              </p:par>
                            </p:childTnLst>
                          </p:cTn>
                        </p:par>
                      </p:childTnLst>
                    </p:cTn>
                  </p:par>
                  <p:par>
                    <p:cTn id="90" fill="hold">
                      <p:stCondLst>
                        <p:cond delay="indefinite"/>
                      </p:stCondLst>
                      <p:childTnLst>
                        <p:par>
                          <p:cTn id="91" fill="hold">
                            <p:stCondLst>
                              <p:cond delay="0"/>
                            </p:stCondLst>
                            <p:childTnLst>
                              <p:par>
                                <p:cTn id="92" presetID="10" presetClass="entr" presetSubtype="0" fill="hold" grpId="0" nodeType="clickEffect">
                                  <p:stCondLst>
                                    <p:cond delay="0"/>
                                  </p:stCondLst>
                                  <p:childTnLst>
                                    <p:set>
                                      <p:cBhvr>
                                        <p:cTn id="93" dur="1" fill="hold">
                                          <p:stCondLst>
                                            <p:cond delay="0"/>
                                          </p:stCondLst>
                                        </p:cTn>
                                        <p:tgtEl>
                                          <p:spTgt spid="60"/>
                                        </p:tgtEl>
                                        <p:attrNameLst>
                                          <p:attrName>style.visibility</p:attrName>
                                        </p:attrNameLst>
                                      </p:cBhvr>
                                      <p:to>
                                        <p:strVal val="visible"/>
                                      </p:to>
                                    </p:set>
                                    <p:animEffect transition="in" filter="fade">
                                      <p:cBhvr>
                                        <p:cTn id="94" dur="500"/>
                                        <p:tgtEl>
                                          <p:spTgt spid="60"/>
                                        </p:tgtEl>
                                      </p:cBhvr>
                                    </p:animEffect>
                                  </p:childTnLst>
                                </p:cTn>
                              </p:par>
                              <p:par>
                                <p:cTn id="95" presetID="10" presetClass="entr" presetSubtype="0" fill="hold" grpId="0" nodeType="withEffect">
                                  <p:stCondLst>
                                    <p:cond delay="0"/>
                                  </p:stCondLst>
                                  <p:childTnLst>
                                    <p:set>
                                      <p:cBhvr>
                                        <p:cTn id="96" dur="1" fill="hold">
                                          <p:stCondLst>
                                            <p:cond delay="0"/>
                                          </p:stCondLst>
                                        </p:cTn>
                                        <p:tgtEl>
                                          <p:spTgt spid="61"/>
                                        </p:tgtEl>
                                        <p:attrNameLst>
                                          <p:attrName>style.visibility</p:attrName>
                                        </p:attrNameLst>
                                      </p:cBhvr>
                                      <p:to>
                                        <p:strVal val="visible"/>
                                      </p:to>
                                    </p:set>
                                    <p:animEffect transition="in" filter="fade">
                                      <p:cBhvr>
                                        <p:cTn id="97" dur="500"/>
                                        <p:tgtEl>
                                          <p:spTgt spid="61"/>
                                        </p:tgtEl>
                                      </p:cBhvr>
                                    </p:animEffect>
                                  </p:childTnLst>
                                </p:cTn>
                              </p:par>
                              <p:par>
                                <p:cTn id="98" presetID="10" presetClass="entr" presetSubtype="0" fill="hold" grpId="0" nodeType="withEffect">
                                  <p:stCondLst>
                                    <p:cond delay="0"/>
                                  </p:stCondLst>
                                  <p:childTnLst>
                                    <p:set>
                                      <p:cBhvr>
                                        <p:cTn id="99" dur="1" fill="hold">
                                          <p:stCondLst>
                                            <p:cond delay="0"/>
                                          </p:stCondLst>
                                        </p:cTn>
                                        <p:tgtEl>
                                          <p:spTgt spid="58"/>
                                        </p:tgtEl>
                                        <p:attrNameLst>
                                          <p:attrName>style.visibility</p:attrName>
                                        </p:attrNameLst>
                                      </p:cBhvr>
                                      <p:to>
                                        <p:strVal val="visible"/>
                                      </p:to>
                                    </p:set>
                                    <p:animEffect transition="in" filter="fade">
                                      <p:cBhvr>
                                        <p:cTn id="100" dur="500"/>
                                        <p:tgtEl>
                                          <p:spTgt spid="58"/>
                                        </p:tgtEl>
                                      </p:cBhvr>
                                    </p:animEffect>
                                  </p:childTnLst>
                                </p:cTn>
                              </p:par>
                              <p:par>
                                <p:cTn id="101" presetID="10" presetClass="entr" presetSubtype="0" fill="hold" grpId="0" nodeType="withEffect">
                                  <p:stCondLst>
                                    <p:cond delay="0"/>
                                  </p:stCondLst>
                                  <p:childTnLst>
                                    <p:set>
                                      <p:cBhvr>
                                        <p:cTn id="102" dur="1" fill="hold">
                                          <p:stCondLst>
                                            <p:cond delay="0"/>
                                          </p:stCondLst>
                                        </p:cTn>
                                        <p:tgtEl>
                                          <p:spTgt spid="59"/>
                                        </p:tgtEl>
                                        <p:attrNameLst>
                                          <p:attrName>style.visibility</p:attrName>
                                        </p:attrNameLst>
                                      </p:cBhvr>
                                      <p:to>
                                        <p:strVal val="visible"/>
                                      </p:to>
                                    </p:set>
                                    <p:animEffect transition="in" filter="fade">
                                      <p:cBhvr>
                                        <p:cTn id="103" dur="500"/>
                                        <p:tgtEl>
                                          <p:spTgt spid="59"/>
                                        </p:tgtEl>
                                      </p:cBhvr>
                                    </p:animEffect>
                                  </p:childTnLst>
                                </p:cTn>
                              </p:par>
                              <p:par>
                                <p:cTn id="104" presetID="10" presetClass="entr" presetSubtype="0" fill="hold" grpId="0" nodeType="withEffect">
                                  <p:stCondLst>
                                    <p:cond delay="0"/>
                                  </p:stCondLst>
                                  <p:childTnLst>
                                    <p:set>
                                      <p:cBhvr>
                                        <p:cTn id="105" dur="1" fill="hold">
                                          <p:stCondLst>
                                            <p:cond delay="0"/>
                                          </p:stCondLst>
                                        </p:cTn>
                                        <p:tgtEl>
                                          <p:spTgt spid="57"/>
                                        </p:tgtEl>
                                        <p:attrNameLst>
                                          <p:attrName>style.visibility</p:attrName>
                                        </p:attrNameLst>
                                      </p:cBhvr>
                                      <p:to>
                                        <p:strVal val="visible"/>
                                      </p:to>
                                    </p:set>
                                    <p:animEffect transition="in" filter="fade">
                                      <p:cBhvr>
                                        <p:cTn id="106" dur="500"/>
                                        <p:tgtEl>
                                          <p:spTgt spid="57"/>
                                        </p:tgtEl>
                                      </p:cBhvr>
                                    </p:animEffect>
                                  </p:childTnLst>
                                </p:cTn>
                              </p:par>
                              <p:par>
                                <p:cTn id="107" presetID="10" presetClass="entr" presetSubtype="0" fill="hold" nodeType="withEffect">
                                  <p:stCondLst>
                                    <p:cond delay="0"/>
                                  </p:stCondLst>
                                  <p:childTnLst>
                                    <p:set>
                                      <p:cBhvr>
                                        <p:cTn id="108" dur="1" fill="hold">
                                          <p:stCondLst>
                                            <p:cond delay="0"/>
                                          </p:stCondLst>
                                        </p:cTn>
                                        <p:tgtEl>
                                          <p:spTgt spid="72"/>
                                        </p:tgtEl>
                                        <p:attrNameLst>
                                          <p:attrName>style.visibility</p:attrName>
                                        </p:attrNameLst>
                                      </p:cBhvr>
                                      <p:to>
                                        <p:strVal val="visible"/>
                                      </p:to>
                                    </p:set>
                                    <p:animEffect transition="in" filter="fade">
                                      <p:cBhvr>
                                        <p:cTn id="109" dur="500"/>
                                        <p:tgtEl>
                                          <p:spTgt spid="72"/>
                                        </p:tgtEl>
                                      </p:cBhvr>
                                    </p:animEffect>
                                  </p:childTnLst>
                                </p:cTn>
                              </p:par>
                              <p:par>
                                <p:cTn id="110" presetID="10" presetClass="entr" presetSubtype="0" fill="hold" nodeType="withEffect">
                                  <p:stCondLst>
                                    <p:cond delay="0"/>
                                  </p:stCondLst>
                                  <p:childTnLst>
                                    <p:set>
                                      <p:cBhvr>
                                        <p:cTn id="111" dur="1" fill="hold">
                                          <p:stCondLst>
                                            <p:cond delay="0"/>
                                          </p:stCondLst>
                                        </p:cTn>
                                        <p:tgtEl>
                                          <p:spTgt spid="69"/>
                                        </p:tgtEl>
                                        <p:attrNameLst>
                                          <p:attrName>style.visibility</p:attrName>
                                        </p:attrNameLst>
                                      </p:cBhvr>
                                      <p:to>
                                        <p:strVal val="visible"/>
                                      </p:to>
                                    </p:set>
                                    <p:animEffect transition="in" filter="fade">
                                      <p:cBhvr>
                                        <p:cTn id="112" dur="500"/>
                                        <p:tgtEl>
                                          <p:spTgt spid="69"/>
                                        </p:tgtEl>
                                      </p:cBhvr>
                                    </p:animEffect>
                                  </p:childTnLst>
                                </p:cTn>
                              </p:par>
                              <p:par>
                                <p:cTn id="113" presetID="10" presetClass="entr" presetSubtype="0" fill="hold" nodeType="withEffect">
                                  <p:stCondLst>
                                    <p:cond delay="0"/>
                                  </p:stCondLst>
                                  <p:childTnLst>
                                    <p:set>
                                      <p:cBhvr>
                                        <p:cTn id="114" dur="1" fill="hold">
                                          <p:stCondLst>
                                            <p:cond delay="0"/>
                                          </p:stCondLst>
                                        </p:cTn>
                                        <p:tgtEl>
                                          <p:spTgt spid="68"/>
                                        </p:tgtEl>
                                        <p:attrNameLst>
                                          <p:attrName>style.visibility</p:attrName>
                                        </p:attrNameLst>
                                      </p:cBhvr>
                                      <p:to>
                                        <p:strVal val="visible"/>
                                      </p:to>
                                    </p:set>
                                    <p:animEffect transition="in" filter="fade">
                                      <p:cBhvr>
                                        <p:cTn id="115" dur="500"/>
                                        <p:tgtEl>
                                          <p:spTgt spid="68"/>
                                        </p:tgtEl>
                                      </p:cBhvr>
                                    </p:animEffect>
                                  </p:childTnLst>
                                </p:cTn>
                              </p:par>
                              <p:par>
                                <p:cTn id="116" presetID="10" presetClass="entr" presetSubtype="0" fill="hold" nodeType="withEffect">
                                  <p:stCondLst>
                                    <p:cond delay="0"/>
                                  </p:stCondLst>
                                  <p:childTnLst>
                                    <p:set>
                                      <p:cBhvr>
                                        <p:cTn id="117" dur="1" fill="hold">
                                          <p:stCondLst>
                                            <p:cond delay="0"/>
                                          </p:stCondLst>
                                        </p:cTn>
                                        <p:tgtEl>
                                          <p:spTgt spid="75"/>
                                        </p:tgtEl>
                                        <p:attrNameLst>
                                          <p:attrName>style.visibility</p:attrName>
                                        </p:attrNameLst>
                                      </p:cBhvr>
                                      <p:to>
                                        <p:strVal val="visible"/>
                                      </p:to>
                                    </p:set>
                                    <p:animEffect transition="in" filter="fade">
                                      <p:cBhvr>
                                        <p:cTn id="118" dur="500"/>
                                        <p:tgtEl>
                                          <p:spTgt spid="75"/>
                                        </p:tgtEl>
                                      </p:cBhvr>
                                    </p:animEffect>
                                  </p:childTnLst>
                                </p:cTn>
                              </p:par>
                              <p:par>
                                <p:cTn id="119" presetID="10" presetClass="entr" presetSubtype="0" fill="hold" nodeType="withEffect">
                                  <p:stCondLst>
                                    <p:cond delay="0"/>
                                  </p:stCondLst>
                                  <p:childTnLst>
                                    <p:set>
                                      <p:cBhvr>
                                        <p:cTn id="120" dur="1" fill="hold">
                                          <p:stCondLst>
                                            <p:cond delay="0"/>
                                          </p:stCondLst>
                                        </p:cTn>
                                        <p:tgtEl>
                                          <p:spTgt spid="80"/>
                                        </p:tgtEl>
                                        <p:attrNameLst>
                                          <p:attrName>style.visibility</p:attrName>
                                        </p:attrNameLst>
                                      </p:cBhvr>
                                      <p:to>
                                        <p:strVal val="visible"/>
                                      </p:to>
                                    </p:set>
                                    <p:animEffect transition="in" filter="fade">
                                      <p:cBhvr>
                                        <p:cTn id="121" dur="500"/>
                                        <p:tgtEl>
                                          <p:spTgt spid="80"/>
                                        </p:tgtEl>
                                      </p:cBhvr>
                                    </p:animEffect>
                                  </p:childTnLst>
                                </p:cTn>
                              </p:par>
                              <p:par>
                                <p:cTn id="122" presetID="10" presetClass="entr" presetSubtype="0" fill="hold" grpId="0" nodeType="withEffect">
                                  <p:stCondLst>
                                    <p:cond delay="0"/>
                                  </p:stCondLst>
                                  <p:childTnLst>
                                    <p:set>
                                      <p:cBhvr>
                                        <p:cTn id="123" dur="1" fill="hold">
                                          <p:stCondLst>
                                            <p:cond delay="0"/>
                                          </p:stCondLst>
                                        </p:cTn>
                                        <p:tgtEl>
                                          <p:spTgt spid="92"/>
                                        </p:tgtEl>
                                        <p:attrNameLst>
                                          <p:attrName>style.visibility</p:attrName>
                                        </p:attrNameLst>
                                      </p:cBhvr>
                                      <p:to>
                                        <p:strVal val="visible"/>
                                      </p:to>
                                    </p:set>
                                    <p:animEffect transition="in" filter="fade">
                                      <p:cBhvr>
                                        <p:cTn id="124" dur="500"/>
                                        <p:tgtEl>
                                          <p:spTgt spid="92"/>
                                        </p:tgtEl>
                                      </p:cBhvr>
                                    </p:animEffect>
                                  </p:childTnLst>
                                </p:cTn>
                              </p:par>
                              <p:par>
                                <p:cTn id="125" presetID="10" presetClass="exit" presetSubtype="0" fill="hold" grpId="1" nodeType="withEffect">
                                  <p:stCondLst>
                                    <p:cond delay="0"/>
                                  </p:stCondLst>
                                  <p:childTnLst>
                                    <p:animEffect transition="out" filter="fade">
                                      <p:cBhvr>
                                        <p:cTn id="126" dur="500"/>
                                        <p:tgtEl>
                                          <p:spTgt spid="159"/>
                                        </p:tgtEl>
                                      </p:cBhvr>
                                    </p:animEffect>
                                    <p:set>
                                      <p:cBhvr>
                                        <p:cTn id="127" dur="1" fill="hold">
                                          <p:stCondLst>
                                            <p:cond delay="499"/>
                                          </p:stCondLst>
                                        </p:cTn>
                                        <p:tgtEl>
                                          <p:spTgt spid="15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 grpId="0" animBg="1"/>
      <p:bldP spid="9" grpId="0" animBg="1"/>
      <p:bldP spid="27" grpId="0" animBg="1"/>
      <p:bldP spid="57" grpId="0" animBg="1"/>
      <p:bldP spid="58" grpId="0" animBg="1"/>
      <p:bldP spid="59" grpId="0" animBg="1"/>
      <p:bldP spid="60" grpId="0" animBg="1"/>
      <p:bldP spid="61" grpId="0" animBg="1"/>
      <p:bldP spid="64" grpId="0" animBg="1"/>
      <p:bldP spid="117" grpId="0" animBg="1"/>
      <p:bldP spid="103" grpId="0" animBg="1"/>
      <p:bldP spid="159" grpId="0"/>
      <p:bldP spid="159" grpId="1"/>
      <p:bldP spid="30"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ctrTitle"/>
          </p:nvPr>
        </p:nvSpPr>
        <p:spPr/>
        <p:txBody>
          <a:bodyPr/>
          <a:lstStyle/>
          <a:p>
            <a:r>
              <a:rPr lang="de-DE" sz="2000" noProof="1"/>
              <a:t>Building</a:t>
            </a:r>
            <a:r>
              <a:rPr lang="de-DE" noProof="1"/>
              <a:t> the Knowledge Base: Constructing Argument Trees</a:t>
            </a:r>
          </a:p>
        </p:txBody>
      </p:sp>
      <p:sp>
        <p:nvSpPr>
          <p:cNvPr id="3" name="Inhaltsplatzhalter 2"/>
          <p:cNvSpPr>
            <a:spLocks noGrp="1"/>
          </p:cNvSpPr>
          <p:nvPr>
            <p:ph sz="quarter" idx="13"/>
          </p:nvPr>
        </p:nvSpPr>
        <p:spPr>
          <a:xfrm>
            <a:off x="395288" y="1131888"/>
            <a:ext cx="5249862" cy="3676282"/>
          </a:xfrm>
        </p:spPr>
        <p:txBody>
          <a:bodyPr>
            <a:normAutofit/>
          </a:bodyPr>
          <a:lstStyle/>
          <a:p>
            <a:r>
              <a:rPr lang="de-DE" sz="1800" noProof="1"/>
              <a:t>Argumentation Tree with support and attacking arguments </a:t>
            </a:r>
          </a:p>
          <a:p>
            <a:r>
              <a:rPr lang="de-DE" noProof="1"/>
              <a:t>3 Types of domain knowledge acquisition</a:t>
            </a:r>
          </a:p>
          <a:p>
            <a:pPr lvl="1"/>
            <a:r>
              <a:rPr lang="de-DE" noProof="1"/>
              <a:t>Handcrafted</a:t>
            </a:r>
          </a:p>
          <a:p>
            <a:pPr lvl="1"/>
            <a:r>
              <a:rPr lang="de-DE" noProof="1"/>
              <a:t>LLM generated</a:t>
            </a:r>
          </a:p>
          <a:p>
            <a:pPr lvl="1"/>
            <a:r>
              <a:rPr lang="de-DE" noProof="1"/>
              <a:t>Pipeline for generation</a:t>
            </a:r>
            <a:endParaRPr lang="de-DE" sz="1800" noProof="1"/>
          </a:p>
          <a:p>
            <a:r>
              <a:rPr lang="de-DE" noProof="1"/>
              <a:t>All 3 types included manual annotation</a:t>
            </a:r>
            <a:br>
              <a:rPr lang="de-DE" noProof="1"/>
            </a:br>
            <a:r>
              <a:rPr lang="de-DE" noProof="1"/>
              <a:t>processes</a:t>
            </a:r>
          </a:p>
          <a:p>
            <a:pPr marL="0" indent="0">
              <a:buNone/>
            </a:pPr>
            <a:endParaRPr lang="de-DE" noProof="1"/>
          </a:p>
          <a:p>
            <a:pPr marL="0" indent="0">
              <a:buNone/>
            </a:pPr>
            <a:endParaRPr lang="de-DE" sz="1800" noProof="1"/>
          </a:p>
        </p:txBody>
      </p:sp>
      <p:sp>
        <p:nvSpPr>
          <p:cNvPr id="4" name="Datumsplatzhalter 3"/>
          <p:cNvSpPr>
            <a:spLocks noGrp="1"/>
          </p:cNvSpPr>
          <p:nvPr>
            <p:ph type="dt" sz="half" idx="10"/>
          </p:nvPr>
        </p:nvSpPr>
        <p:spPr/>
        <p:txBody>
          <a:bodyPr/>
          <a:lstStyle/>
          <a:p>
            <a:r>
              <a:rPr lang="en-US" noProof="1"/>
              <a:t>18.08.2025</a:t>
            </a:r>
            <a:endParaRPr lang="de-DE" noProof="1"/>
          </a:p>
        </p:txBody>
      </p:sp>
      <p:sp>
        <p:nvSpPr>
          <p:cNvPr id="5" name="Fußzeilenplatzhalter 4"/>
          <p:cNvSpPr>
            <a:spLocks noGrp="1"/>
          </p:cNvSpPr>
          <p:nvPr>
            <p:ph type="ftr" sz="quarter" idx="11"/>
          </p:nvPr>
        </p:nvSpPr>
        <p:spPr/>
        <p:txBody>
          <a:bodyPr/>
          <a:lstStyle/>
          <a:p>
            <a:r>
              <a:rPr lang="en-US" noProof="1"/>
              <a:t>Enhancing model transparency: Effects of DK Integration for Conversational XAI | Feustel</a:t>
            </a:r>
            <a:endParaRPr lang="de-DE" noProof="1"/>
          </a:p>
        </p:txBody>
      </p:sp>
      <p:sp>
        <p:nvSpPr>
          <p:cNvPr id="6" name="Foliennummernplatzhalter 5"/>
          <p:cNvSpPr>
            <a:spLocks noGrp="1"/>
          </p:cNvSpPr>
          <p:nvPr>
            <p:ph type="sldNum" sz="quarter" idx="12"/>
          </p:nvPr>
        </p:nvSpPr>
        <p:spPr/>
        <p:txBody>
          <a:bodyPr/>
          <a:lstStyle/>
          <a:p>
            <a:r>
              <a:rPr lang="de-DE" noProof="1"/>
              <a:t> </a:t>
            </a:r>
            <a:fld id="{FE120BDC-5456-EC41-8BB6-7A3B726EA19B}" type="slidenum">
              <a:rPr lang="de-DE" noProof="1" smtClean="0"/>
              <a:pPr/>
              <a:t>17</a:t>
            </a:fld>
            <a:endParaRPr lang="de-DE" noProof="1"/>
          </a:p>
        </p:txBody>
      </p:sp>
      <p:sp>
        <p:nvSpPr>
          <p:cNvPr id="26" name="Ellipse 25"/>
          <p:cNvSpPr/>
          <p:nvPr/>
        </p:nvSpPr>
        <p:spPr>
          <a:xfrm>
            <a:off x="4757332" y="2323294"/>
            <a:ext cx="1861777" cy="5640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noProof="1"/>
              <a:t>Attacking Argument</a:t>
            </a:r>
          </a:p>
        </p:txBody>
      </p:sp>
      <p:sp>
        <p:nvSpPr>
          <p:cNvPr id="27" name="Ellipse 26"/>
          <p:cNvSpPr/>
          <p:nvPr/>
        </p:nvSpPr>
        <p:spPr>
          <a:xfrm>
            <a:off x="5777337" y="1014034"/>
            <a:ext cx="2504999" cy="96057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noProof="1"/>
              <a:t>Claim about feature outcome relation</a:t>
            </a:r>
          </a:p>
        </p:txBody>
      </p:sp>
      <p:sp>
        <p:nvSpPr>
          <p:cNvPr id="38" name="Ellipse 37"/>
          <p:cNvSpPr/>
          <p:nvPr/>
        </p:nvSpPr>
        <p:spPr>
          <a:xfrm>
            <a:off x="3589350" y="3777412"/>
            <a:ext cx="1861777" cy="5640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noProof="1"/>
              <a:t>Supporting Argument </a:t>
            </a:r>
          </a:p>
        </p:txBody>
      </p:sp>
      <p:cxnSp>
        <p:nvCxnSpPr>
          <p:cNvPr id="39" name="Gerade Verbindung mit Pfeil 38"/>
          <p:cNvCxnSpPr>
            <a:cxnSpLocks/>
            <a:stCxn id="26" idx="0"/>
            <a:endCxn id="27" idx="4"/>
          </p:cNvCxnSpPr>
          <p:nvPr/>
        </p:nvCxnSpPr>
        <p:spPr>
          <a:xfrm flipV="1">
            <a:off x="5688221" y="1974608"/>
            <a:ext cx="1341616" cy="348686"/>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40" name="Gerade Verbindung mit Pfeil 39"/>
          <p:cNvCxnSpPr>
            <a:stCxn id="38" idx="0"/>
            <a:endCxn id="26" idx="4"/>
          </p:cNvCxnSpPr>
          <p:nvPr/>
        </p:nvCxnSpPr>
        <p:spPr>
          <a:xfrm flipV="1">
            <a:off x="4520239" y="2887337"/>
            <a:ext cx="1167982" cy="890075"/>
          </a:xfrm>
          <a:prstGeom prst="straightConnector1">
            <a:avLst/>
          </a:prstGeom>
          <a:ln>
            <a:tailEnd type="triangle"/>
          </a:ln>
        </p:spPr>
        <p:style>
          <a:lnRef idx="3">
            <a:schemeClr val="accent6"/>
          </a:lnRef>
          <a:fillRef idx="0">
            <a:schemeClr val="accent6"/>
          </a:fillRef>
          <a:effectRef idx="2">
            <a:schemeClr val="accent6"/>
          </a:effectRef>
          <a:fontRef idx="minor">
            <a:schemeClr val="tx1"/>
          </a:fontRef>
        </p:style>
      </p:cxnSp>
      <p:sp>
        <p:nvSpPr>
          <p:cNvPr id="41" name="Ellipse 40"/>
          <p:cNvSpPr/>
          <p:nvPr/>
        </p:nvSpPr>
        <p:spPr>
          <a:xfrm>
            <a:off x="6787088" y="2349790"/>
            <a:ext cx="1861777" cy="5640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noProof="1"/>
              <a:t>Supporting Argument </a:t>
            </a:r>
          </a:p>
        </p:txBody>
      </p:sp>
      <p:sp>
        <p:nvSpPr>
          <p:cNvPr id="42" name="Ellipse 41"/>
          <p:cNvSpPr/>
          <p:nvPr/>
        </p:nvSpPr>
        <p:spPr>
          <a:xfrm>
            <a:off x="5780427" y="3777412"/>
            <a:ext cx="1861777" cy="5640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noProof="1"/>
              <a:t>Attacking Argument</a:t>
            </a:r>
          </a:p>
        </p:txBody>
      </p:sp>
      <p:cxnSp>
        <p:nvCxnSpPr>
          <p:cNvPr id="25" name="Gerade Verbindung mit Pfeil 24"/>
          <p:cNvCxnSpPr>
            <a:cxnSpLocks/>
            <a:stCxn id="41" idx="0"/>
            <a:endCxn id="27" idx="4"/>
          </p:cNvCxnSpPr>
          <p:nvPr/>
        </p:nvCxnSpPr>
        <p:spPr>
          <a:xfrm flipH="1" flipV="1">
            <a:off x="7029837" y="1974608"/>
            <a:ext cx="688140" cy="375182"/>
          </a:xfrm>
          <a:prstGeom prst="straightConnector1">
            <a:avLst/>
          </a:prstGeom>
          <a:ln>
            <a:tailEnd type="triangle"/>
          </a:ln>
        </p:spPr>
        <p:style>
          <a:lnRef idx="3">
            <a:schemeClr val="accent6"/>
          </a:lnRef>
          <a:fillRef idx="0">
            <a:schemeClr val="accent6"/>
          </a:fillRef>
          <a:effectRef idx="2">
            <a:schemeClr val="accent6"/>
          </a:effectRef>
          <a:fontRef idx="minor">
            <a:schemeClr val="tx1"/>
          </a:fontRef>
        </p:style>
      </p:cxnSp>
      <p:cxnSp>
        <p:nvCxnSpPr>
          <p:cNvPr id="44" name="Gerade Verbindung mit Pfeil 43"/>
          <p:cNvCxnSpPr>
            <a:stCxn id="42" idx="0"/>
            <a:endCxn id="26" idx="4"/>
          </p:cNvCxnSpPr>
          <p:nvPr/>
        </p:nvCxnSpPr>
        <p:spPr>
          <a:xfrm flipH="1" flipV="1">
            <a:off x="5688221" y="2887337"/>
            <a:ext cx="1023095" cy="890075"/>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sp>
        <p:nvSpPr>
          <p:cNvPr id="7" name="Textfeld 6">
            <a:extLst>
              <a:ext uri="{FF2B5EF4-FFF2-40B4-BE49-F238E27FC236}">
                <a16:creationId xmlns:a16="http://schemas.microsoft.com/office/drawing/2014/main" id="{F33BB6DE-6A5C-B30D-764F-4ED9FA058E64}"/>
              </a:ext>
            </a:extLst>
          </p:cNvPr>
          <p:cNvSpPr txBox="1"/>
          <p:nvPr/>
        </p:nvSpPr>
        <p:spPr>
          <a:xfrm>
            <a:off x="319931" y="4708867"/>
            <a:ext cx="8374274" cy="246221"/>
          </a:xfrm>
          <a:prstGeom prst="rect">
            <a:avLst/>
          </a:prstGeom>
          <a:noFill/>
        </p:spPr>
        <p:txBody>
          <a:bodyPr wrap="square">
            <a:spAutoFit/>
          </a:bodyPr>
          <a:lstStyle/>
          <a:p>
            <a:pPr algn="r"/>
            <a:r>
              <a:rPr lang="de-DE" sz="1000" i="1" noProof="1"/>
              <a:t>(Schindler et al., 2025)</a:t>
            </a:r>
          </a:p>
        </p:txBody>
      </p:sp>
      <p:sp>
        <p:nvSpPr>
          <p:cNvPr id="8" name="Textfeld 7">
            <a:extLst>
              <a:ext uri="{FF2B5EF4-FFF2-40B4-BE49-F238E27FC236}">
                <a16:creationId xmlns:a16="http://schemas.microsoft.com/office/drawing/2014/main" id="{8C97A7FD-821B-B646-CD71-AA89C29949E8}"/>
              </a:ext>
            </a:extLst>
          </p:cNvPr>
          <p:cNvSpPr txBox="1"/>
          <p:nvPr/>
        </p:nvSpPr>
        <p:spPr>
          <a:xfrm>
            <a:off x="7851895" y="47521"/>
            <a:ext cx="1262269" cy="461665"/>
          </a:xfrm>
          <a:prstGeom prst="rect">
            <a:avLst/>
          </a:prstGeom>
          <a:noFill/>
        </p:spPr>
        <p:txBody>
          <a:bodyPr wrap="none" rtlCol="0">
            <a:spAutoFit/>
          </a:bodyPr>
          <a:lstStyle/>
          <a:p>
            <a:r>
              <a:rPr lang="de-DE" sz="1200" dirty="0"/>
              <a:t>Auto. Generation</a:t>
            </a:r>
            <a:endParaRPr lang="en-US" sz="1200" dirty="0"/>
          </a:p>
          <a:p>
            <a:r>
              <a:rPr lang="en-US" sz="1200" dirty="0"/>
              <a:t>of DK</a:t>
            </a:r>
            <a:endParaRPr lang="de-DE" sz="1200" dirty="0"/>
          </a:p>
        </p:txBody>
      </p:sp>
      <p:sp>
        <p:nvSpPr>
          <p:cNvPr id="9" name="Rechteck 8" descr="Lichter an mit einfarbiger Füllung">
            <a:extLst>
              <a:ext uri="{FF2B5EF4-FFF2-40B4-BE49-F238E27FC236}">
                <a16:creationId xmlns:a16="http://schemas.microsoft.com/office/drawing/2014/main" id="{B5E93AF3-C868-8CF1-5DFB-05875577D2AD}"/>
              </a:ext>
            </a:extLst>
          </p:cNvPr>
          <p:cNvSpPr/>
          <p:nvPr/>
        </p:nvSpPr>
        <p:spPr>
          <a:xfrm>
            <a:off x="8804352" y="664349"/>
            <a:ext cx="277969" cy="277969"/>
          </a:xfrm>
          <a:prstGeom prst="rect">
            <a:avLst/>
          </a:prstGeom>
          <a:blipFill>
            <a:blip r:embed="rId3">
              <a:extLst>
                <a:ext uri="{96DAC541-7B7A-43D3-8B79-37D633B846F1}">
                  <asvg:svgBlip xmlns:asvg="http://schemas.microsoft.com/office/drawing/2016/SVG/main" r:embed="rId4"/>
                </a:ext>
              </a:extLst>
            </a:blip>
            <a:srcRect/>
            <a:stretch>
              <a:fillRect/>
            </a:stretch>
          </a:blipFill>
          <a:ln>
            <a:noFill/>
          </a:ln>
        </p:spPr>
        <p:style>
          <a:lnRef idx="2">
            <a:scrgbClr r="0" g="0" b="0"/>
          </a:lnRef>
          <a:fillRef idx="1">
            <a:scrgbClr r="0" g="0" b="0"/>
          </a:fillRef>
          <a:effectRef idx="0">
            <a:schemeClr val="accent2">
              <a:hueOff val="0"/>
              <a:satOff val="0"/>
              <a:lumOff val="0"/>
              <a:alphaOff val="0"/>
            </a:schemeClr>
          </a:effectRef>
          <a:fontRef idx="minor">
            <a:schemeClr val="lt1"/>
          </a:fontRef>
        </p:style>
        <p:txBody>
          <a:bodyPr/>
          <a:lstStyle/>
          <a:p>
            <a:endParaRPr lang="en-US"/>
          </a:p>
        </p:txBody>
      </p:sp>
      <p:sp>
        <p:nvSpPr>
          <p:cNvPr id="10" name="Rechteck 9" descr="Geschlossenes Buch mit einfarbiger Füllung">
            <a:extLst>
              <a:ext uri="{FF2B5EF4-FFF2-40B4-BE49-F238E27FC236}">
                <a16:creationId xmlns:a16="http://schemas.microsoft.com/office/drawing/2014/main" id="{1710D807-68E5-D599-C8AA-305A594AD71E}"/>
              </a:ext>
            </a:extLst>
          </p:cNvPr>
          <p:cNvSpPr/>
          <p:nvPr/>
        </p:nvSpPr>
        <p:spPr>
          <a:xfrm>
            <a:off x="8804352" y="1043547"/>
            <a:ext cx="277969" cy="277969"/>
          </a:xfrm>
          <a:prstGeom prst="rect">
            <a:avLst/>
          </a:prstGeom>
          <a:blipFill>
            <a:blip r:embed="rId5">
              <a:extLst>
                <a:ext uri="{96DAC541-7B7A-43D3-8B79-37D633B846F1}">
                  <asvg:svgBlip xmlns:asvg="http://schemas.microsoft.com/office/drawing/2016/SVG/main" r:embed="rId6"/>
                </a:ext>
              </a:extLst>
            </a:blip>
            <a:srcRect/>
            <a:stretch>
              <a:fillRect/>
            </a:stretch>
          </a:blipFill>
          <a:ln>
            <a:noFill/>
          </a:ln>
        </p:spPr>
        <p:style>
          <a:lnRef idx="2">
            <a:scrgbClr r="0" g="0" b="0"/>
          </a:lnRef>
          <a:fillRef idx="1">
            <a:scrgbClr r="0" g="0" b="0"/>
          </a:fillRef>
          <a:effectRef idx="0">
            <a:schemeClr val="accent3">
              <a:hueOff val="0"/>
              <a:satOff val="0"/>
              <a:lumOff val="0"/>
              <a:alphaOff val="0"/>
            </a:schemeClr>
          </a:effectRef>
          <a:fontRef idx="minor">
            <a:schemeClr val="lt1"/>
          </a:fontRef>
        </p:style>
        <p:txBody>
          <a:bodyPr/>
          <a:lstStyle/>
          <a:p>
            <a:endParaRPr lang="en-US"/>
          </a:p>
        </p:txBody>
      </p:sp>
      <p:sp>
        <p:nvSpPr>
          <p:cNvPr id="11" name="Rechteck 10" descr="Netzwerk">
            <a:extLst>
              <a:ext uri="{FF2B5EF4-FFF2-40B4-BE49-F238E27FC236}">
                <a16:creationId xmlns:a16="http://schemas.microsoft.com/office/drawing/2014/main" id="{34741748-C614-0C7D-E46C-95A977A4B70F}"/>
              </a:ext>
            </a:extLst>
          </p:cNvPr>
          <p:cNvSpPr/>
          <p:nvPr/>
        </p:nvSpPr>
        <p:spPr>
          <a:xfrm>
            <a:off x="8804352" y="1379208"/>
            <a:ext cx="277969" cy="277969"/>
          </a:xfrm>
          <a:prstGeom prst="rect">
            <a:avLst/>
          </a:prstGeom>
          <a: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p:spPr>
        <p:style>
          <a:lnRef idx="2">
            <a:scrgbClr r="0" g="0" b="0"/>
          </a:lnRef>
          <a:fillRef idx="1">
            <a:scrgbClr r="0" g="0" b="0"/>
          </a:fillRef>
          <a:effectRef idx="0">
            <a:schemeClr val="accent4">
              <a:hueOff val="0"/>
              <a:satOff val="0"/>
              <a:lumOff val="0"/>
              <a:alphaOff val="0"/>
            </a:schemeClr>
          </a:effectRef>
          <a:fontRef idx="minor">
            <a:schemeClr val="lt1"/>
          </a:fontRef>
        </p:style>
        <p:txBody>
          <a:bodyPr/>
          <a:lstStyle/>
          <a:p>
            <a:endParaRPr lang="en-US"/>
          </a:p>
        </p:txBody>
      </p:sp>
      <p:sp>
        <p:nvSpPr>
          <p:cNvPr id="12" name="Rechteck 11" descr="Kreise mit Pfeilen mit einfarbiger Füllung">
            <a:extLst>
              <a:ext uri="{FF2B5EF4-FFF2-40B4-BE49-F238E27FC236}">
                <a16:creationId xmlns:a16="http://schemas.microsoft.com/office/drawing/2014/main" id="{A5346F7F-582C-4015-C801-EB969AF760F8}"/>
              </a:ext>
            </a:extLst>
          </p:cNvPr>
          <p:cNvSpPr/>
          <p:nvPr/>
        </p:nvSpPr>
        <p:spPr>
          <a:xfrm>
            <a:off x="8804352" y="1688740"/>
            <a:ext cx="277969" cy="277969"/>
          </a:xfrm>
          <a:prstGeom prst="rect">
            <a:avLst/>
          </a:prstGeom>
          <a:blipFill>
            <a:blip r:embed="rId9">
              <a:extLst>
                <a:ext uri="{96DAC541-7B7A-43D3-8B79-37D633B846F1}">
                  <asvg:svgBlip xmlns:asvg="http://schemas.microsoft.com/office/drawing/2016/SVG/main" r:embed="rId10"/>
                </a:ext>
              </a:extLst>
            </a:blip>
            <a:srcRect/>
            <a:stretch>
              <a:fillRect/>
            </a:stretch>
          </a:blipFill>
          <a:ln>
            <a:noFill/>
          </a:ln>
        </p:spPr>
        <p:style>
          <a:lnRef idx="2">
            <a:scrgbClr r="0" g="0" b="0"/>
          </a:lnRef>
          <a:fillRef idx="1">
            <a:scrgbClr r="0" g="0" b="0"/>
          </a:fillRef>
          <a:effectRef idx="0">
            <a:schemeClr val="accent5">
              <a:hueOff val="0"/>
              <a:satOff val="0"/>
              <a:lumOff val="0"/>
              <a:alphaOff val="0"/>
            </a:schemeClr>
          </a:effectRef>
          <a:fontRef idx="minor">
            <a:schemeClr val="lt1"/>
          </a:fontRef>
        </p:style>
        <p:txBody>
          <a:bodyPr/>
          <a:lstStyle/>
          <a:p>
            <a:endParaRPr lang="en-US"/>
          </a:p>
        </p:txBody>
      </p:sp>
      <p:sp>
        <p:nvSpPr>
          <p:cNvPr id="13" name="Rechteck 12" descr="Prüfliste">
            <a:extLst>
              <a:ext uri="{FF2B5EF4-FFF2-40B4-BE49-F238E27FC236}">
                <a16:creationId xmlns:a16="http://schemas.microsoft.com/office/drawing/2014/main" id="{0023C45E-7DA5-A630-65F7-323FED75CA6F}"/>
              </a:ext>
            </a:extLst>
          </p:cNvPr>
          <p:cNvSpPr/>
          <p:nvPr/>
        </p:nvSpPr>
        <p:spPr>
          <a:xfrm>
            <a:off x="8804352" y="2006980"/>
            <a:ext cx="277969" cy="277969"/>
          </a:xfrm>
          <a:prstGeom prst="rect">
            <a:avLst/>
          </a:prstGeom>
          <a: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a:noFill/>
          </a:ln>
        </p:spPr>
        <p:style>
          <a:lnRef idx="2">
            <a:scrgbClr r="0" g="0" b="0"/>
          </a:lnRef>
          <a:fillRef idx="1">
            <a:scrgbClr r="0" g="0" b="0"/>
          </a:fillRef>
          <a:effectRef idx="0">
            <a:schemeClr val="accent6">
              <a:hueOff val="0"/>
              <a:satOff val="0"/>
              <a:lumOff val="0"/>
              <a:alphaOff val="0"/>
            </a:schemeClr>
          </a:effectRef>
          <a:fontRef idx="minor">
            <a:schemeClr val="lt1"/>
          </a:fontRef>
        </p:style>
        <p:txBody>
          <a:bodyPr/>
          <a:lstStyle/>
          <a:p>
            <a:endParaRPr lang="en-US"/>
          </a:p>
        </p:txBody>
      </p:sp>
      <p:sp>
        <p:nvSpPr>
          <p:cNvPr id="14" name="Rechteck 13" descr="Auktionshammer">
            <a:extLst>
              <a:ext uri="{FF2B5EF4-FFF2-40B4-BE49-F238E27FC236}">
                <a16:creationId xmlns:a16="http://schemas.microsoft.com/office/drawing/2014/main" id="{2E8B17E3-85A7-A686-92FA-C11FDFBA7EF3}"/>
              </a:ext>
            </a:extLst>
          </p:cNvPr>
          <p:cNvSpPr/>
          <p:nvPr/>
        </p:nvSpPr>
        <p:spPr>
          <a:xfrm>
            <a:off x="8804352" y="2316507"/>
            <a:ext cx="277969" cy="277969"/>
          </a:xfrm>
          <a:prstGeom prst="rect">
            <a:avLst/>
          </a:prstGeom>
          <a: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a:blipFill>
          <a:ln>
            <a:noFill/>
          </a:ln>
        </p:spPr>
        <p:style>
          <a:lnRef idx="2">
            <a:scrgbClr r="0" g="0" b="0"/>
          </a:lnRef>
          <a:fillRef idx="1">
            <a:scrgbClr r="0" g="0" b="0"/>
          </a:fillRef>
          <a:effectRef idx="0">
            <a:schemeClr val="accent2">
              <a:hueOff val="0"/>
              <a:satOff val="0"/>
              <a:lumOff val="0"/>
              <a:alphaOff val="0"/>
            </a:schemeClr>
          </a:effectRef>
          <a:fontRef idx="minor">
            <a:schemeClr val="lt1"/>
          </a:fontRef>
        </p:style>
        <p:txBody>
          <a:bodyPr/>
          <a:lstStyle/>
          <a:p>
            <a:endParaRPr lang="en-US"/>
          </a:p>
        </p:txBody>
      </p:sp>
      <p:sp>
        <p:nvSpPr>
          <p:cNvPr id="18" name="Rechteck 17" descr="Kreise mit Pfeilen mit einfarbiger Füllung">
            <a:extLst>
              <a:ext uri="{FF2B5EF4-FFF2-40B4-BE49-F238E27FC236}">
                <a16:creationId xmlns:a16="http://schemas.microsoft.com/office/drawing/2014/main" id="{4D4A7A67-C9A2-3729-E8DE-D1E5320A1976}"/>
              </a:ext>
            </a:extLst>
          </p:cNvPr>
          <p:cNvSpPr/>
          <p:nvPr/>
        </p:nvSpPr>
        <p:spPr>
          <a:xfrm>
            <a:off x="7615359" y="134609"/>
            <a:ext cx="277969" cy="277969"/>
          </a:xfrm>
          <a:prstGeom prst="rect">
            <a:avLst/>
          </a:prstGeom>
          <a:blipFill>
            <a:blip r:embed="rId9">
              <a:extLst>
                <a:ext uri="{96DAC541-7B7A-43D3-8B79-37D633B846F1}">
                  <asvg:svgBlip xmlns:asvg="http://schemas.microsoft.com/office/drawing/2016/SVG/main" r:embed="rId10"/>
                </a:ext>
              </a:extLst>
            </a:blip>
            <a:srcRect/>
            <a:stretch>
              <a:fillRect/>
            </a:stretch>
          </a:blipFill>
          <a:ln>
            <a:noFill/>
          </a:ln>
        </p:spPr>
        <p:style>
          <a:lnRef idx="2">
            <a:scrgbClr r="0" g="0" b="0"/>
          </a:lnRef>
          <a:fillRef idx="1">
            <a:scrgbClr r="0" g="0" b="0"/>
          </a:fillRef>
          <a:effectRef idx="0">
            <a:schemeClr val="accent5">
              <a:hueOff val="0"/>
              <a:satOff val="0"/>
              <a:lumOff val="0"/>
              <a:alphaOff val="0"/>
            </a:schemeClr>
          </a:effectRef>
          <a:fontRef idx="minor">
            <a:schemeClr val="lt1"/>
          </a:fontRef>
        </p:style>
        <p:txBody>
          <a:bodyPr/>
          <a:lstStyle/>
          <a:p>
            <a:endParaRPr lang="en-US"/>
          </a:p>
        </p:txBody>
      </p:sp>
    </p:spTree>
    <p:extLst>
      <p:ext uri="{BB962C8B-B14F-4D97-AF65-F5344CB8AC3E}">
        <p14:creationId xmlns:p14="http://schemas.microsoft.com/office/powerpoint/2010/main" val="1604933364"/>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par>
                          <p:cTn id="8" fill="hold">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27"/>
                                        </p:tgtEl>
                                        <p:attrNameLst>
                                          <p:attrName>style.visibility</p:attrName>
                                        </p:attrNameLst>
                                      </p:cBhvr>
                                      <p:to>
                                        <p:strVal val="visible"/>
                                      </p:to>
                                    </p:set>
                                    <p:animEffect transition="in" filter="wipe(up)">
                                      <p:cBhvr>
                                        <p:cTn id="11" dur="500"/>
                                        <p:tgtEl>
                                          <p:spTgt spid="27"/>
                                        </p:tgtEl>
                                      </p:cBhvr>
                                    </p:animEffect>
                                  </p:childTnLst>
                                </p:cTn>
                              </p:par>
                            </p:childTnLst>
                          </p:cTn>
                        </p:par>
                        <p:par>
                          <p:cTn id="12" fill="hold">
                            <p:stCondLst>
                              <p:cond delay="1000"/>
                            </p:stCondLst>
                            <p:childTnLst>
                              <p:par>
                                <p:cTn id="13" presetID="22" presetClass="entr" presetSubtype="1" fill="hold" nodeType="afterEffect">
                                  <p:stCondLst>
                                    <p:cond delay="0"/>
                                  </p:stCondLst>
                                  <p:childTnLst>
                                    <p:set>
                                      <p:cBhvr>
                                        <p:cTn id="14" dur="1" fill="hold">
                                          <p:stCondLst>
                                            <p:cond delay="0"/>
                                          </p:stCondLst>
                                        </p:cTn>
                                        <p:tgtEl>
                                          <p:spTgt spid="25"/>
                                        </p:tgtEl>
                                        <p:attrNameLst>
                                          <p:attrName>style.visibility</p:attrName>
                                        </p:attrNameLst>
                                      </p:cBhvr>
                                      <p:to>
                                        <p:strVal val="visible"/>
                                      </p:to>
                                    </p:set>
                                    <p:animEffect transition="in" filter="wipe(up)">
                                      <p:cBhvr>
                                        <p:cTn id="15" dur="500"/>
                                        <p:tgtEl>
                                          <p:spTgt spid="25"/>
                                        </p:tgtEl>
                                      </p:cBhvr>
                                    </p:animEffect>
                                  </p:childTnLst>
                                </p:cTn>
                              </p:par>
                              <p:par>
                                <p:cTn id="16" presetID="22" presetClass="entr" presetSubtype="1" fill="hold" nodeType="withEffect">
                                  <p:stCondLst>
                                    <p:cond delay="0"/>
                                  </p:stCondLst>
                                  <p:childTnLst>
                                    <p:set>
                                      <p:cBhvr>
                                        <p:cTn id="17" dur="1" fill="hold">
                                          <p:stCondLst>
                                            <p:cond delay="0"/>
                                          </p:stCondLst>
                                        </p:cTn>
                                        <p:tgtEl>
                                          <p:spTgt spid="39"/>
                                        </p:tgtEl>
                                        <p:attrNameLst>
                                          <p:attrName>style.visibility</p:attrName>
                                        </p:attrNameLst>
                                      </p:cBhvr>
                                      <p:to>
                                        <p:strVal val="visible"/>
                                      </p:to>
                                    </p:set>
                                    <p:animEffect transition="in" filter="wipe(up)">
                                      <p:cBhvr>
                                        <p:cTn id="18" dur="500"/>
                                        <p:tgtEl>
                                          <p:spTgt spid="39"/>
                                        </p:tgtEl>
                                      </p:cBhvr>
                                    </p:animEffect>
                                  </p:childTnLst>
                                </p:cTn>
                              </p:par>
                            </p:childTnLst>
                          </p:cTn>
                        </p:par>
                        <p:par>
                          <p:cTn id="19" fill="hold">
                            <p:stCondLst>
                              <p:cond delay="1500"/>
                            </p:stCondLst>
                            <p:childTnLst>
                              <p:par>
                                <p:cTn id="20" presetID="22" presetClass="entr" presetSubtype="1" fill="hold" grpId="0" nodeType="afterEffect">
                                  <p:stCondLst>
                                    <p:cond delay="0"/>
                                  </p:stCondLst>
                                  <p:childTnLst>
                                    <p:set>
                                      <p:cBhvr>
                                        <p:cTn id="21" dur="1" fill="hold">
                                          <p:stCondLst>
                                            <p:cond delay="0"/>
                                          </p:stCondLst>
                                        </p:cTn>
                                        <p:tgtEl>
                                          <p:spTgt spid="26"/>
                                        </p:tgtEl>
                                        <p:attrNameLst>
                                          <p:attrName>style.visibility</p:attrName>
                                        </p:attrNameLst>
                                      </p:cBhvr>
                                      <p:to>
                                        <p:strVal val="visible"/>
                                      </p:to>
                                    </p:set>
                                    <p:animEffect transition="in" filter="wipe(up)">
                                      <p:cBhvr>
                                        <p:cTn id="22" dur="500"/>
                                        <p:tgtEl>
                                          <p:spTgt spid="26"/>
                                        </p:tgtEl>
                                      </p:cBhvr>
                                    </p:animEffect>
                                  </p:childTnLst>
                                </p:cTn>
                              </p:par>
                              <p:par>
                                <p:cTn id="23" presetID="22" presetClass="entr" presetSubtype="1" fill="hold" grpId="0" nodeType="withEffect">
                                  <p:stCondLst>
                                    <p:cond delay="0"/>
                                  </p:stCondLst>
                                  <p:childTnLst>
                                    <p:set>
                                      <p:cBhvr>
                                        <p:cTn id="24" dur="1" fill="hold">
                                          <p:stCondLst>
                                            <p:cond delay="0"/>
                                          </p:stCondLst>
                                        </p:cTn>
                                        <p:tgtEl>
                                          <p:spTgt spid="41"/>
                                        </p:tgtEl>
                                        <p:attrNameLst>
                                          <p:attrName>style.visibility</p:attrName>
                                        </p:attrNameLst>
                                      </p:cBhvr>
                                      <p:to>
                                        <p:strVal val="visible"/>
                                      </p:to>
                                    </p:set>
                                    <p:animEffect transition="in" filter="wipe(up)">
                                      <p:cBhvr>
                                        <p:cTn id="25" dur="500"/>
                                        <p:tgtEl>
                                          <p:spTgt spid="41"/>
                                        </p:tgtEl>
                                      </p:cBhvr>
                                    </p:animEffect>
                                  </p:childTnLst>
                                </p:cTn>
                              </p:par>
                            </p:childTnLst>
                          </p:cTn>
                        </p:par>
                        <p:par>
                          <p:cTn id="26" fill="hold">
                            <p:stCondLst>
                              <p:cond delay="2000"/>
                            </p:stCondLst>
                            <p:childTnLst>
                              <p:par>
                                <p:cTn id="27" presetID="22" presetClass="entr" presetSubtype="1" fill="hold" nodeType="afterEffect">
                                  <p:stCondLst>
                                    <p:cond delay="0"/>
                                  </p:stCondLst>
                                  <p:childTnLst>
                                    <p:set>
                                      <p:cBhvr>
                                        <p:cTn id="28" dur="1" fill="hold">
                                          <p:stCondLst>
                                            <p:cond delay="0"/>
                                          </p:stCondLst>
                                        </p:cTn>
                                        <p:tgtEl>
                                          <p:spTgt spid="40"/>
                                        </p:tgtEl>
                                        <p:attrNameLst>
                                          <p:attrName>style.visibility</p:attrName>
                                        </p:attrNameLst>
                                      </p:cBhvr>
                                      <p:to>
                                        <p:strVal val="visible"/>
                                      </p:to>
                                    </p:set>
                                    <p:animEffect transition="in" filter="wipe(up)">
                                      <p:cBhvr>
                                        <p:cTn id="29" dur="500"/>
                                        <p:tgtEl>
                                          <p:spTgt spid="40"/>
                                        </p:tgtEl>
                                      </p:cBhvr>
                                    </p:animEffect>
                                  </p:childTnLst>
                                </p:cTn>
                              </p:par>
                              <p:par>
                                <p:cTn id="30" presetID="22" presetClass="entr" presetSubtype="1" fill="hold" nodeType="withEffect">
                                  <p:stCondLst>
                                    <p:cond delay="0"/>
                                  </p:stCondLst>
                                  <p:childTnLst>
                                    <p:set>
                                      <p:cBhvr>
                                        <p:cTn id="31" dur="1" fill="hold">
                                          <p:stCondLst>
                                            <p:cond delay="0"/>
                                          </p:stCondLst>
                                        </p:cTn>
                                        <p:tgtEl>
                                          <p:spTgt spid="44"/>
                                        </p:tgtEl>
                                        <p:attrNameLst>
                                          <p:attrName>style.visibility</p:attrName>
                                        </p:attrNameLst>
                                      </p:cBhvr>
                                      <p:to>
                                        <p:strVal val="visible"/>
                                      </p:to>
                                    </p:set>
                                    <p:animEffect transition="in" filter="wipe(up)">
                                      <p:cBhvr>
                                        <p:cTn id="32" dur="500"/>
                                        <p:tgtEl>
                                          <p:spTgt spid="44"/>
                                        </p:tgtEl>
                                      </p:cBhvr>
                                    </p:animEffect>
                                  </p:childTnLst>
                                </p:cTn>
                              </p:par>
                            </p:childTnLst>
                          </p:cTn>
                        </p:par>
                        <p:par>
                          <p:cTn id="33" fill="hold">
                            <p:stCondLst>
                              <p:cond delay="2500"/>
                            </p:stCondLst>
                            <p:childTnLst>
                              <p:par>
                                <p:cTn id="34" presetID="22" presetClass="entr" presetSubtype="1" fill="hold" grpId="0" nodeType="afterEffect">
                                  <p:stCondLst>
                                    <p:cond delay="0"/>
                                  </p:stCondLst>
                                  <p:childTnLst>
                                    <p:set>
                                      <p:cBhvr>
                                        <p:cTn id="35" dur="1" fill="hold">
                                          <p:stCondLst>
                                            <p:cond delay="0"/>
                                          </p:stCondLst>
                                        </p:cTn>
                                        <p:tgtEl>
                                          <p:spTgt spid="38"/>
                                        </p:tgtEl>
                                        <p:attrNameLst>
                                          <p:attrName>style.visibility</p:attrName>
                                        </p:attrNameLst>
                                      </p:cBhvr>
                                      <p:to>
                                        <p:strVal val="visible"/>
                                      </p:to>
                                    </p:set>
                                    <p:animEffect transition="in" filter="wipe(up)">
                                      <p:cBhvr>
                                        <p:cTn id="36" dur="500"/>
                                        <p:tgtEl>
                                          <p:spTgt spid="38"/>
                                        </p:tgtEl>
                                      </p:cBhvr>
                                    </p:animEffect>
                                  </p:childTnLst>
                                </p:cTn>
                              </p:par>
                              <p:par>
                                <p:cTn id="37" presetID="22" presetClass="entr" presetSubtype="1" fill="hold" grpId="0" nodeType="withEffect">
                                  <p:stCondLst>
                                    <p:cond delay="0"/>
                                  </p:stCondLst>
                                  <p:childTnLst>
                                    <p:set>
                                      <p:cBhvr>
                                        <p:cTn id="38" dur="1" fill="hold">
                                          <p:stCondLst>
                                            <p:cond delay="0"/>
                                          </p:stCondLst>
                                        </p:cTn>
                                        <p:tgtEl>
                                          <p:spTgt spid="42"/>
                                        </p:tgtEl>
                                        <p:attrNameLst>
                                          <p:attrName>style.visibility</p:attrName>
                                        </p:attrNameLst>
                                      </p:cBhvr>
                                      <p:to>
                                        <p:strVal val="visible"/>
                                      </p:to>
                                    </p:set>
                                    <p:animEffect transition="in" filter="wipe(up)">
                                      <p:cBhvr>
                                        <p:cTn id="39" dur="500"/>
                                        <p:tgtEl>
                                          <p:spTgt spid="42"/>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nodeType="clickEffect">
                                  <p:stCondLst>
                                    <p:cond delay="0"/>
                                  </p:stCondLst>
                                  <p:childTnLst>
                                    <p:set>
                                      <p:cBhvr>
                                        <p:cTn id="43" dur="1" fill="hold">
                                          <p:stCondLst>
                                            <p:cond delay="0"/>
                                          </p:stCondLst>
                                        </p:cTn>
                                        <p:tgtEl>
                                          <p:spTgt spid="3">
                                            <p:txEl>
                                              <p:pRg st="1" end="1"/>
                                            </p:txEl>
                                          </p:spTgt>
                                        </p:tgtEl>
                                        <p:attrNameLst>
                                          <p:attrName>style.visibility</p:attrName>
                                        </p:attrNameLst>
                                      </p:cBhvr>
                                      <p:to>
                                        <p:strVal val="visible"/>
                                      </p:to>
                                    </p:set>
                                    <p:animEffect transition="in" filter="fade">
                                      <p:cBhvr>
                                        <p:cTn id="44" dur="500"/>
                                        <p:tgtEl>
                                          <p:spTgt spid="3">
                                            <p:txEl>
                                              <p:pRg st="1" end="1"/>
                                            </p:txEl>
                                          </p:spTgt>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nodeType="clickEffect">
                                  <p:stCondLst>
                                    <p:cond delay="0"/>
                                  </p:stCondLst>
                                  <p:childTnLst>
                                    <p:set>
                                      <p:cBhvr>
                                        <p:cTn id="48" dur="1" fill="hold">
                                          <p:stCondLst>
                                            <p:cond delay="0"/>
                                          </p:stCondLst>
                                        </p:cTn>
                                        <p:tgtEl>
                                          <p:spTgt spid="3">
                                            <p:txEl>
                                              <p:pRg st="2" end="2"/>
                                            </p:txEl>
                                          </p:spTgt>
                                        </p:tgtEl>
                                        <p:attrNameLst>
                                          <p:attrName>style.visibility</p:attrName>
                                        </p:attrNameLst>
                                      </p:cBhvr>
                                      <p:to>
                                        <p:strVal val="visible"/>
                                      </p:to>
                                    </p:set>
                                    <p:animEffect transition="in" filter="fade">
                                      <p:cBhvr>
                                        <p:cTn id="49" dur="500"/>
                                        <p:tgtEl>
                                          <p:spTgt spid="3">
                                            <p:txEl>
                                              <p:pRg st="2" end="2"/>
                                            </p:txEl>
                                          </p:spTgt>
                                        </p:tgtEl>
                                      </p:cBhvr>
                                    </p:animEffect>
                                  </p:childTnLst>
                                </p:cTn>
                              </p:par>
                            </p:childTnLst>
                          </p:cTn>
                        </p:par>
                      </p:childTnLst>
                    </p:cTn>
                  </p:par>
                  <p:par>
                    <p:cTn id="50" fill="hold">
                      <p:stCondLst>
                        <p:cond delay="indefinite"/>
                      </p:stCondLst>
                      <p:childTnLst>
                        <p:par>
                          <p:cTn id="51" fill="hold">
                            <p:stCondLst>
                              <p:cond delay="0"/>
                            </p:stCondLst>
                            <p:childTnLst>
                              <p:par>
                                <p:cTn id="52" presetID="10" presetClass="entr" presetSubtype="0" fill="hold" nodeType="clickEffect">
                                  <p:stCondLst>
                                    <p:cond delay="0"/>
                                  </p:stCondLst>
                                  <p:childTnLst>
                                    <p:set>
                                      <p:cBhvr>
                                        <p:cTn id="53" dur="1" fill="hold">
                                          <p:stCondLst>
                                            <p:cond delay="0"/>
                                          </p:stCondLst>
                                        </p:cTn>
                                        <p:tgtEl>
                                          <p:spTgt spid="3">
                                            <p:txEl>
                                              <p:pRg st="3" end="3"/>
                                            </p:txEl>
                                          </p:spTgt>
                                        </p:tgtEl>
                                        <p:attrNameLst>
                                          <p:attrName>style.visibility</p:attrName>
                                        </p:attrNameLst>
                                      </p:cBhvr>
                                      <p:to>
                                        <p:strVal val="visible"/>
                                      </p:to>
                                    </p:set>
                                    <p:animEffect transition="in" filter="fade">
                                      <p:cBhvr>
                                        <p:cTn id="54" dur="500"/>
                                        <p:tgtEl>
                                          <p:spTgt spid="3">
                                            <p:txEl>
                                              <p:pRg st="3" end="3"/>
                                            </p:txEl>
                                          </p:spTgt>
                                        </p:tgtEl>
                                      </p:cBhvr>
                                    </p:animEffect>
                                  </p:childTnLst>
                                </p:cTn>
                              </p:par>
                            </p:childTnLst>
                          </p:cTn>
                        </p:par>
                      </p:childTnLst>
                    </p:cTn>
                  </p:par>
                  <p:par>
                    <p:cTn id="55" fill="hold">
                      <p:stCondLst>
                        <p:cond delay="indefinite"/>
                      </p:stCondLst>
                      <p:childTnLst>
                        <p:par>
                          <p:cTn id="56" fill="hold">
                            <p:stCondLst>
                              <p:cond delay="0"/>
                            </p:stCondLst>
                            <p:childTnLst>
                              <p:par>
                                <p:cTn id="57" presetID="10" presetClass="entr" presetSubtype="0" fill="hold" nodeType="clickEffect">
                                  <p:stCondLst>
                                    <p:cond delay="0"/>
                                  </p:stCondLst>
                                  <p:childTnLst>
                                    <p:set>
                                      <p:cBhvr>
                                        <p:cTn id="58" dur="1" fill="hold">
                                          <p:stCondLst>
                                            <p:cond delay="0"/>
                                          </p:stCondLst>
                                        </p:cTn>
                                        <p:tgtEl>
                                          <p:spTgt spid="3">
                                            <p:txEl>
                                              <p:pRg st="4" end="4"/>
                                            </p:txEl>
                                          </p:spTgt>
                                        </p:tgtEl>
                                        <p:attrNameLst>
                                          <p:attrName>style.visibility</p:attrName>
                                        </p:attrNameLst>
                                      </p:cBhvr>
                                      <p:to>
                                        <p:strVal val="visible"/>
                                      </p:to>
                                    </p:set>
                                    <p:animEffect transition="in" filter="fade">
                                      <p:cBhvr>
                                        <p:cTn id="59" dur="500"/>
                                        <p:tgtEl>
                                          <p:spTgt spid="3">
                                            <p:txEl>
                                              <p:pRg st="4" end="4"/>
                                            </p:txEl>
                                          </p:spTgt>
                                        </p:tgtEl>
                                      </p:cBhvr>
                                    </p:animEffect>
                                  </p:childTnLst>
                                </p:cTn>
                              </p:par>
                            </p:childTnLst>
                          </p:cTn>
                        </p:par>
                      </p:childTnLst>
                    </p:cTn>
                  </p:par>
                  <p:par>
                    <p:cTn id="60" fill="hold">
                      <p:stCondLst>
                        <p:cond delay="indefinite"/>
                      </p:stCondLst>
                      <p:childTnLst>
                        <p:par>
                          <p:cTn id="61" fill="hold">
                            <p:stCondLst>
                              <p:cond delay="0"/>
                            </p:stCondLst>
                            <p:childTnLst>
                              <p:par>
                                <p:cTn id="62" presetID="10" presetClass="entr" presetSubtype="0" fill="hold" nodeType="clickEffect">
                                  <p:stCondLst>
                                    <p:cond delay="0"/>
                                  </p:stCondLst>
                                  <p:childTnLst>
                                    <p:set>
                                      <p:cBhvr>
                                        <p:cTn id="63" dur="1" fill="hold">
                                          <p:stCondLst>
                                            <p:cond delay="0"/>
                                          </p:stCondLst>
                                        </p:cTn>
                                        <p:tgtEl>
                                          <p:spTgt spid="3">
                                            <p:txEl>
                                              <p:pRg st="5" end="5"/>
                                            </p:txEl>
                                          </p:spTgt>
                                        </p:tgtEl>
                                        <p:attrNameLst>
                                          <p:attrName>style.visibility</p:attrName>
                                        </p:attrNameLst>
                                      </p:cBhvr>
                                      <p:to>
                                        <p:strVal val="visible"/>
                                      </p:to>
                                    </p:set>
                                    <p:animEffect transition="in" filter="fade">
                                      <p:cBhvr>
                                        <p:cTn id="64"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p:bldP spid="27" grpId="0" animBg="1"/>
      <p:bldP spid="38" grpId="0" animBg="1"/>
      <p:bldP spid="41" grpId="0" animBg="1"/>
      <p:bldP spid="42"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E94126-7CDE-1D3E-B6CF-8FBBF2F01347}"/>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2F737D77-613B-CF51-899A-9EA516A23D5A}"/>
              </a:ext>
            </a:extLst>
          </p:cNvPr>
          <p:cNvSpPr>
            <a:spLocks noGrp="1"/>
          </p:cNvSpPr>
          <p:nvPr>
            <p:ph type="ctrTitle"/>
          </p:nvPr>
        </p:nvSpPr>
        <p:spPr/>
        <p:txBody>
          <a:bodyPr/>
          <a:lstStyle/>
          <a:p>
            <a:r>
              <a:rPr lang="de-DE" noProof="1"/>
              <a:t>Automatic generation of argumentation structures</a:t>
            </a:r>
            <a:br>
              <a:rPr lang="de-DE" noProof="1"/>
            </a:br>
            <a:r>
              <a:rPr lang="de-DE" noProof="1"/>
              <a:t>for conversational XAI</a:t>
            </a:r>
          </a:p>
        </p:txBody>
      </p:sp>
      <p:sp>
        <p:nvSpPr>
          <p:cNvPr id="22" name="Inhaltsplatzhalter 21">
            <a:extLst>
              <a:ext uri="{FF2B5EF4-FFF2-40B4-BE49-F238E27FC236}">
                <a16:creationId xmlns:a16="http://schemas.microsoft.com/office/drawing/2014/main" id="{7DF4880A-662D-77FA-DA70-5BF00C2EBFAD}"/>
              </a:ext>
            </a:extLst>
          </p:cNvPr>
          <p:cNvSpPr>
            <a:spLocks noGrp="1"/>
          </p:cNvSpPr>
          <p:nvPr>
            <p:ph sz="quarter" idx="13"/>
          </p:nvPr>
        </p:nvSpPr>
        <p:spPr/>
        <p:txBody>
          <a:bodyPr/>
          <a:lstStyle/>
          <a:p>
            <a:r>
              <a:rPr lang="de-DE" dirty="0" err="1"/>
              <a:t>Two</a:t>
            </a:r>
            <a:r>
              <a:rPr lang="de-DE" dirty="0"/>
              <a:t> </a:t>
            </a:r>
            <a:r>
              <a:rPr lang="de-DE" dirty="0" err="1"/>
              <a:t>iterations</a:t>
            </a:r>
            <a:r>
              <a:rPr lang="de-DE" dirty="0"/>
              <a:t> </a:t>
            </a:r>
            <a:r>
              <a:rPr lang="de-DE" dirty="0" err="1"/>
              <a:t>of</a:t>
            </a:r>
            <a:r>
              <a:rPr lang="de-DE" dirty="0"/>
              <a:t> </a:t>
            </a:r>
            <a:r>
              <a:rPr lang="de-DE" dirty="0" err="1"/>
              <a:t>document</a:t>
            </a:r>
            <a:r>
              <a:rPr lang="de-DE" dirty="0"/>
              <a:t> </a:t>
            </a:r>
            <a:r>
              <a:rPr lang="de-DE" dirty="0" err="1"/>
              <a:t>processing</a:t>
            </a:r>
            <a:endParaRPr lang="de-DE" dirty="0"/>
          </a:p>
          <a:p>
            <a:pPr lvl="1"/>
            <a:r>
              <a:rPr lang="de-DE" dirty="0"/>
              <a:t>List </a:t>
            </a:r>
            <a:r>
              <a:rPr lang="de-DE" dirty="0" err="1"/>
              <a:t>of</a:t>
            </a:r>
            <a:r>
              <a:rPr lang="de-DE" dirty="0"/>
              <a:t> </a:t>
            </a:r>
            <a:r>
              <a:rPr lang="de-DE" dirty="0" err="1"/>
              <a:t>manual</a:t>
            </a:r>
            <a:r>
              <a:rPr lang="de-DE" dirty="0"/>
              <a:t> </a:t>
            </a:r>
            <a:r>
              <a:rPr lang="de-DE" dirty="0" err="1"/>
              <a:t>gathered</a:t>
            </a:r>
            <a:r>
              <a:rPr lang="de-DE" dirty="0"/>
              <a:t> </a:t>
            </a:r>
            <a:r>
              <a:rPr lang="de-DE" dirty="0" err="1"/>
              <a:t>domain</a:t>
            </a:r>
            <a:r>
              <a:rPr lang="de-DE" dirty="0"/>
              <a:t> </a:t>
            </a:r>
            <a:r>
              <a:rPr lang="de-DE" dirty="0" err="1"/>
              <a:t>knowledge</a:t>
            </a:r>
            <a:r>
              <a:rPr lang="de-DE" dirty="0"/>
              <a:t> </a:t>
            </a:r>
            <a:r>
              <a:rPr lang="de-DE" dirty="0" err="1"/>
              <a:t>documents</a:t>
            </a:r>
            <a:endParaRPr lang="de-DE" dirty="0"/>
          </a:p>
          <a:p>
            <a:pPr lvl="1"/>
            <a:r>
              <a:rPr lang="de-DE" dirty="0"/>
              <a:t>LLM </a:t>
            </a:r>
            <a:r>
              <a:rPr lang="de-DE" dirty="0" err="1"/>
              <a:t>summarizations</a:t>
            </a:r>
            <a:r>
              <a:rPr lang="de-DE" dirty="0"/>
              <a:t> </a:t>
            </a:r>
            <a:r>
              <a:rPr lang="de-DE" dirty="0" err="1"/>
              <a:t>for</a:t>
            </a:r>
            <a:r>
              <a:rPr lang="de-DE" dirty="0"/>
              <a:t> </a:t>
            </a:r>
            <a:r>
              <a:rPr lang="de-DE" dirty="0" err="1"/>
              <a:t>specific</a:t>
            </a:r>
            <a:r>
              <a:rPr lang="de-DE" dirty="0"/>
              <a:t> </a:t>
            </a:r>
            <a:r>
              <a:rPr lang="de-DE" dirty="0" err="1"/>
              <a:t>questions</a:t>
            </a:r>
            <a:endParaRPr lang="en-US" dirty="0"/>
          </a:p>
        </p:txBody>
      </p:sp>
      <p:sp>
        <p:nvSpPr>
          <p:cNvPr id="4" name="Datumsplatzhalter 3">
            <a:extLst>
              <a:ext uri="{FF2B5EF4-FFF2-40B4-BE49-F238E27FC236}">
                <a16:creationId xmlns:a16="http://schemas.microsoft.com/office/drawing/2014/main" id="{2E3C3C6E-EC73-2374-E9B1-5736BB45D048}"/>
              </a:ext>
            </a:extLst>
          </p:cNvPr>
          <p:cNvSpPr>
            <a:spLocks noGrp="1"/>
          </p:cNvSpPr>
          <p:nvPr>
            <p:ph type="dt" sz="half" idx="10"/>
          </p:nvPr>
        </p:nvSpPr>
        <p:spPr/>
        <p:txBody>
          <a:bodyPr/>
          <a:lstStyle/>
          <a:p>
            <a:r>
              <a:rPr lang="en-US" noProof="1"/>
              <a:t>18.08.2025</a:t>
            </a:r>
            <a:endParaRPr lang="de-DE" noProof="1"/>
          </a:p>
        </p:txBody>
      </p:sp>
      <p:sp>
        <p:nvSpPr>
          <p:cNvPr id="5" name="Fußzeilenplatzhalter 4">
            <a:extLst>
              <a:ext uri="{FF2B5EF4-FFF2-40B4-BE49-F238E27FC236}">
                <a16:creationId xmlns:a16="http://schemas.microsoft.com/office/drawing/2014/main" id="{4B0140EC-CB0A-DD69-2FF1-53DA0E779686}"/>
              </a:ext>
            </a:extLst>
          </p:cNvPr>
          <p:cNvSpPr>
            <a:spLocks noGrp="1"/>
          </p:cNvSpPr>
          <p:nvPr>
            <p:ph type="ftr" sz="quarter" idx="11"/>
          </p:nvPr>
        </p:nvSpPr>
        <p:spPr/>
        <p:txBody>
          <a:bodyPr/>
          <a:lstStyle/>
          <a:p>
            <a:r>
              <a:rPr lang="en-US" noProof="1"/>
              <a:t>Enhancing model transparency: Effects of DK Integration for Conversational XAI | Feustel</a:t>
            </a:r>
            <a:endParaRPr lang="de-DE" noProof="1"/>
          </a:p>
        </p:txBody>
      </p:sp>
      <p:sp>
        <p:nvSpPr>
          <p:cNvPr id="6" name="Foliennummernplatzhalter 5">
            <a:extLst>
              <a:ext uri="{FF2B5EF4-FFF2-40B4-BE49-F238E27FC236}">
                <a16:creationId xmlns:a16="http://schemas.microsoft.com/office/drawing/2014/main" id="{A79BD17E-9551-3371-0BB8-8BE6B00FA24B}"/>
              </a:ext>
            </a:extLst>
          </p:cNvPr>
          <p:cNvSpPr>
            <a:spLocks noGrp="1"/>
          </p:cNvSpPr>
          <p:nvPr>
            <p:ph type="sldNum" sz="quarter" idx="12"/>
          </p:nvPr>
        </p:nvSpPr>
        <p:spPr/>
        <p:txBody>
          <a:bodyPr/>
          <a:lstStyle/>
          <a:p>
            <a:r>
              <a:rPr lang="de-DE" noProof="1"/>
              <a:t> </a:t>
            </a:r>
            <a:fld id="{FE120BDC-5456-EC41-8BB6-7A3B726EA19B}" type="slidenum">
              <a:rPr lang="de-DE" noProof="1" smtClean="0"/>
              <a:pPr/>
              <a:t>18</a:t>
            </a:fld>
            <a:endParaRPr lang="de-DE" noProof="1"/>
          </a:p>
        </p:txBody>
      </p:sp>
      <p:sp>
        <p:nvSpPr>
          <p:cNvPr id="8" name="Textfeld 7">
            <a:extLst>
              <a:ext uri="{FF2B5EF4-FFF2-40B4-BE49-F238E27FC236}">
                <a16:creationId xmlns:a16="http://schemas.microsoft.com/office/drawing/2014/main" id="{046C60B0-D534-3D82-1AFD-1409B43D36DC}"/>
              </a:ext>
            </a:extLst>
          </p:cNvPr>
          <p:cNvSpPr txBox="1"/>
          <p:nvPr/>
        </p:nvSpPr>
        <p:spPr>
          <a:xfrm>
            <a:off x="7851895" y="47521"/>
            <a:ext cx="1262269" cy="461665"/>
          </a:xfrm>
          <a:prstGeom prst="rect">
            <a:avLst/>
          </a:prstGeom>
          <a:noFill/>
        </p:spPr>
        <p:txBody>
          <a:bodyPr wrap="none" rtlCol="0">
            <a:spAutoFit/>
          </a:bodyPr>
          <a:lstStyle/>
          <a:p>
            <a:r>
              <a:rPr lang="de-DE" sz="1200" dirty="0"/>
              <a:t>Auto. Generation</a:t>
            </a:r>
            <a:endParaRPr lang="en-US" sz="1200" dirty="0"/>
          </a:p>
          <a:p>
            <a:r>
              <a:rPr lang="en-US" sz="1200" dirty="0"/>
              <a:t>of DK</a:t>
            </a:r>
            <a:endParaRPr lang="de-DE" sz="1200" dirty="0"/>
          </a:p>
        </p:txBody>
      </p:sp>
      <p:sp>
        <p:nvSpPr>
          <p:cNvPr id="9" name="Rechteck 8" descr="Lichter an mit einfarbiger Füllung">
            <a:extLst>
              <a:ext uri="{FF2B5EF4-FFF2-40B4-BE49-F238E27FC236}">
                <a16:creationId xmlns:a16="http://schemas.microsoft.com/office/drawing/2014/main" id="{374E761F-A160-E850-D4A8-8BD5B007DD81}"/>
              </a:ext>
            </a:extLst>
          </p:cNvPr>
          <p:cNvSpPr/>
          <p:nvPr/>
        </p:nvSpPr>
        <p:spPr>
          <a:xfrm>
            <a:off x="8804352" y="664349"/>
            <a:ext cx="277969" cy="277969"/>
          </a:xfrm>
          <a:prstGeom prst="rect">
            <a:avLst/>
          </a:prstGeom>
          <a:blipFill>
            <a:blip r:embed="rId3">
              <a:extLst>
                <a:ext uri="{96DAC541-7B7A-43D3-8B79-37D633B846F1}">
                  <asvg:svgBlip xmlns:asvg="http://schemas.microsoft.com/office/drawing/2016/SVG/main" r:embed="rId4"/>
                </a:ext>
              </a:extLst>
            </a:blip>
            <a:srcRect/>
            <a:stretch>
              <a:fillRect/>
            </a:stretch>
          </a:blipFill>
          <a:ln>
            <a:noFill/>
          </a:ln>
        </p:spPr>
        <p:style>
          <a:lnRef idx="2">
            <a:scrgbClr r="0" g="0" b="0"/>
          </a:lnRef>
          <a:fillRef idx="1">
            <a:scrgbClr r="0" g="0" b="0"/>
          </a:fillRef>
          <a:effectRef idx="0">
            <a:schemeClr val="accent2">
              <a:hueOff val="0"/>
              <a:satOff val="0"/>
              <a:lumOff val="0"/>
              <a:alphaOff val="0"/>
            </a:schemeClr>
          </a:effectRef>
          <a:fontRef idx="minor">
            <a:schemeClr val="lt1"/>
          </a:fontRef>
        </p:style>
        <p:txBody>
          <a:bodyPr/>
          <a:lstStyle/>
          <a:p>
            <a:endParaRPr lang="en-US"/>
          </a:p>
        </p:txBody>
      </p:sp>
      <p:sp>
        <p:nvSpPr>
          <p:cNvPr id="10" name="Rechteck 9" descr="Geschlossenes Buch mit einfarbiger Füllung">
            <a:extLst>
              <a:ext uri="{FF2B5EF4-FFF2-40B4-BE49-F238E27FC236}">
                <a16:creationId xmlns:a16="http://schemas.microsoft.com/office/drawing/2014/main" id="{13BC27FC-40EF-1FFF-4B31-E5E59EE58592}"/>
              </a:ext>
            </a:extLst>
          </p:cNvPr>
          <p:cNvSpPr/>
          <p:nvPr/>
        </p:nvSpPr>
        <p:spPr>
          <a:xfrm>
            <a:off x="8804352" y="1043547"/>
            <a:ext cx="277969" cy="277969"/>
          </a:xfrm>
          <a:prstGeom prst="rect">
            <a:avLst/>
          </a:prstGeom>
          <a:blipFill>
            <a:blip r:embed="rId5">
              <a:extLst>
                <a:ext uri="{96DAC541-7B7A-43D3-8B79-37D633B846F1}">
                  <asvg:svgBlip xmlns:asvg="http://schemas.microsoft.com/office/drawing/2016/SVG/main" r:embed="rId6"/>
                </a:ext>
              </a:extLst>
            </a:blip>
            <a:srcRect/>
            <a:stretch>
              <a:fillRect/>
            </a:stretch>
          </a:blipFill>
          <a:ln>
            <a:noFill/>
          </a:ln>
        </p:spPr>
        <p:style>
          <a:lnRef idx="2">
            <a:scrgbClr r="0" g="0" b="0"/>
          </a:lnRef>
          <a:fillRef idx="1">
            <a:scrgbClr r="0" g="0" b="0"/>
          </a:fillRef>
          <a:effectRef idx="0">
            <a:schemeClr val="accent3">
              <a:hueOff val="0"/>
              <a:satOff val="0"/>
              <a:lumOff val="0"/>
              <a:alphaOff val="0"/>
            </a:schemeClr>
          </a:effectRef>
          <a:fontRef idx="minor">
            <a:schemeClr val="lt1"/>
          </a:fontRef>
        </p:style>
        <p:txBody>
          <a:bodyPr/>
          <a:lstStyle/>
          <a:p>
            <a:endParaRPr lang="en-US"/>
          </a:p>
        </p:txBody>
      </p:sp>
      <p:sp>
        <p:nvSpPr>
          <p:cNvPr id="11" name="Rechteck 10" descr="Netzwerk">
            <a:extLst>
              <a:ext uri="{FF2B5EF4-FFF2-40B4-BE49-F238E27FC236}">
                <a16:creationId xmlns:a16="http://schemas.microsoft.com/office/drawing/2014/main" id="{0094FCD8-2A29-8974-B0AC-AF3619C6F9AF}"/>
              </a:ext>
            </a:extLst>
          </p:cNvPr>
          <p:cNvSpPr/>
          <p:nvPr/>
        </p:nvSpPr>
        <p:spPr>
          <a:xfrm>
            <a:off x="8804352" y="1379208"/>
            <a:ext cx="277969" cy="277969"/>
          </a:xfrm>
          <a:prstGeom prst="rect">
            <a:avLst/>
          </a:prstGeom>
          <a: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p:spPr>
        <p:style>
          <a:lnRef idx="2">
            <a:scrgbClr r="0" g="0" b="0"/>
          </a:lnRef>
          <a:fillRef idx="1">
            <a:scrgbClr r="0" g="0" b="0"/>
          </a:fillRef>
          <a:effectRef idx="0">
            <a:schemeClr val="accent4">
              <a:hueOff val="0"/>
              <a:satOff val="0"/>
              <a:lumOff val="0"/>
              <a:alphaOff val="0"/>
            </a:schemeClr>
          </a:effectRef>
          <a:fontRef idx="minor">
            <a:schemeClr val="lt1"/>
          </a:fontRef>
        </p:style>
        <p:txBody>
          <a:bodyPr/>
          <a:lstStyle/>
          <a:p>
            <a:endParaRPr lang="en-US"/>
          </a:p>
        </p:txBody>
      </p:sp>
      <p:sp>
        <p:nvSpPr>
          <p:cNvPr id="12" name="Rechteck 11" descr="Kreise mit Pfeilen mit einfarbiger Füllung">
            <a:extLst>
              <a:ext uri="{FF2B5EF4-FFF2-40B4-BE49-F238E27FC236}">
                <a16:creationId xmlns:a16="http://schemas.microsoft.com/office/drawing/2014/main" id="{1B620E3A-4A11-750E-54BE-1AD3D5640016}"/>
              </a:ext>
            </a:extLst>
          </p:cNvPr>
          <p:cNvSpPr/>
          <p:nvPr/>
        </p:nvSpPr>
        <p:spPr>
          <a:xfrm>
            <a:off x="8804352" y="1688740"/>
            <a:ext cx="277969" cy="277969"/>
          </a:xfrm>
          <a:prstGeom prst="rect">
            <a:avLst/>
          </a:prstGeom>
          <a:blipFill>
            <a:blip r:embed="rId9">
              <a:extLst>
                <a:ext uri="{96DAC541-7B7A-43D3-8B79-37D633B846F1}">
                  <asvg:svgBlip xmlns:asvg="http://schemas.microsoft.com/office/drawing/2016/SVG/main" r:embed="rId10"/>
                </a:ext>
              </a:extLst>
            </a:blip>
            <a:srcRect/>
            <a:stretch>
              <a:fillRect/>
            </a:stretch>
          </a:blipFill>
          <a:ln>
            <a:noFill/>
          </a:ln>
        </p:spPr>
        <p:style>
          <a:lnRef idx="2">
            <a:scrgbClr r="0" g="0" b="0"/>
          </a:lnRef>
          <a:fillRef idx="1">
            <a:scrgbClr r="0" g="0" b="0"/>
          </a:fillRef>
          <a:effectRef idx="0">
            <a:schemeClr val="accent5">
              <a:hueOff val="0"/>
              <a:satOff val="0"/>
              <a:lumOff val="0"/>
              <a:alphaOff val="0"/>
            </a:schemeClr>
          </a:effectRef>
          <a:fontRef idx="minor">
            <a:schemeClr val="lt1"/>
          </a:fontRef>
        </p:style>
        <p:txBody>
          <a:bodyPr/>
          <a:lstStyle/>
          <a:p>
            <a:endParaRPr lang="en-US"/>
          </a:p>
        </p:txBody>
      </p:sp>
      <p:sp>
        <p:nvSpPr>
          <p:cNvPr id="13" name="Rechteck 12" descr="Prüfliste">
            <a:extLst>
              <a:ext uri="{FF2B5EF4-FFF2-40B4-BE49-F238E27FC236}">
                <a16:creationId xmlns:a16="http://schemas.microsoft.com/office/drawing/2014/main" id="{DC240B5B-28BB-FA82-976A-3A04EBC67847}"/>
              </a:ext>
            </a:extLst>
          </p:cNvPr>
          <p:cNvSpPr/>
          <p:nvPr/>
        </p:nvSpPr>
        <p:spPr>
          <a:xfrm>
            <a:off x="8804352" y="2006980"/>
            <a:ext cx="277969" cy="277969"/>
          </a:xfrm>
          <a:prstGeom prst="rect">
            <a:avLst/>
          </a:prstGeom>
          <a: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a:noFill/>
          </a:ln>
        </p:spPr>
        <p:style>
          <a:lnRef idx="2">
            <a:scrgbClr r="0" g="0" b="0"/>
          </a:lnRef>
          <a:fillRef idx="1">
            <a:scrgbClr r="0" g="0" b="0"/>
          </a:fillRef>
          <a:effectRef idx="0">
            <a:schemeClr val="accent6">
              <a:hueOff val="0"/>
              <a:satOff val="0"/>
              <a:lumOff val="0"/>
              <a:alphaOff val="0"/>
            </a:schemeClr>
          </a:effectRef>
          <a:fontRef idx="minor">
            <a:schemeClr val="lt1"/>
          </a:fontRef>
        </p:style>
        <p:txBody>
          <a:bodyPr/>
          <a:lstStyle/>
          <a:p>
            <a:endParaRPr lang="en-US"/>
          </a:p>
        </p:txBody>
      </p:sp>
      <p:sp>
        <p:nvSpPr>
          <p:cNvPr id="14" name="Rechteck 13" descr="Auktionshammer">
            <a:extLst>
              <a:ext uri="{FF2B5EF4-FFF2-40B4-BE49-F238E27FC236}">
                <a16:creationId xmlns:a16="http://schemas.microsoft.com/office/drawing/2014/main" id="{52C51DA4-CD12-DEBB-DAA3-0E295059AD8D}"/>
              </a:ext>
            </a:extLst>
          </p:cNvPr>
          <p:cNvSpPr/>
          <p:nvPr/>
        </p:nvSpPr>
        <p:spPr>
          <a:xfrm>
            <a:off x="8804352" y="2316507"/>
            <a:ext cx="277969" cy="277969"/>
          </a:xfrm>
          <a:prstGeom prst="rect">
            <a:avLst/>
          </a:prstGeom>
          <a: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a:blipFill>
          <a:ln>
            <a:noFill/>
          </a:ln>
        </p:spPr>
        <p:style>
          <a:lnRef idx="2">
            <a:scrgbClr r="0" g="0" b="0"/>
          </a:lnRef>
          <a:fillRef idx="1">
            <a:scrgbClr r="0" g="0" b="0"/>
          </a:fillRef>
          <a:effectRef idx="0">
            <a:schemeClr val="accent2">
              <a:hueOff val="0"/>
              <a:satOff val="0"/>
              <a:lumOff val="0"/>
              <a:alphaOff val="0"/>
            </a:schemeClr>
          </a:effectRef>
          <a:fontRef idx="minor">
            <a:schemeClr val="lt1"/>
          </a:fontRef>
        </p:style>
        <p:txBody>
          <a:bodyPr/>
          <a:lstStyle/>
          <a:p>
            <a:endParaRPr lang="en-US"/>
          </a:p>
        </p:txBody>
      </p:sp>
      <p:sp>
        <p:nvSpPr>
          <p:cNvPr id="18" name="Rechteck 17" descr="Kreise mit Pfeilen mit einfarbiger Füllung">
            <a:extLst>
              <a:ext uri="{FF2B5EF4-FFF2-40B4-BE49-F238E27FC236}">
                <a16:creationId xmlns:a16="http://schemas.microsoft.com/office/drawing/2014/main" id="{2EA669C2-A737-04BF-9F8B-1D62FBFEF01C}"/>
              </a:ext>
            </a:extLst>
          </p:cNvPr>
          <p:cNvSpPr/>
          <p:nvPr/>
        </p:nvSpPr>
        <p:spPr>
          <a:xfrm>
            <a:off x="7615359" y="134609"/>
            <a:ext cx="277969" cy="277969"/>
          </a:xfrm>
          <a:prstGeom prst="rect">
            <a:avLst/>
          </a:prstGeom>
          <a:blipFill>
            <a:blip r:embed="rId9">
              <a:extLst>
                <a:ext uri="{96DAC541-7B7A-43D3-8B79-37D633B846F1}">
                  <asvg:svgBlip xmlns:asvg="http://schemas.microsoft.com/office/drawing/2016/SVG/main" r:embed="rId10"/>
                </a:ext>
              </a:extLst>
            </a:blip>
            <a:srcRect/>
            <a:stretch>
              <a:fillRect/>
            </a:stretch>
          </a:blipFill>
          <a:ln>
            <a:noFill/>
          </a:ln>
        </p:spPr>
        <p:style>
          <a:lnRef idx="2">
            <a:scrgbClr r="0" g="0" b="0"/>
          </a:lnRef>
          <a:fillRef idx="1">
            <a:scrgbClr r="0" g="0" b="0"/>
          </a:fillRef>
          <a:effectRef idx="0">
            <a:schemeClr val="accent5">
              <a:hueOff val="0"/>
              <a:satOff val="0"/>
              <a:lumOff val="0"/>
              <a:alphaOff val="0"/>
            </a:schemeClr>
          </a:effectRef>
          <a:fontRef idx="minor">
            <a:schemeClr val="lt1"/>
          </a:fontRef>
        </p:style>
        <p:txBody>
          <a:bodyPr/>
          <a:lstStyle/>
          <a:p>
            <a:endParaRPr lang="en-US"/>
          </a:p>
        </p:txBody>
      </p:sp>
      <p:pic>
        <p:nvPicPr>
          <p:cNvPr id="19" name="Grafik 18">
            <a:extLst>
              <a:ext uri="{FF2B5EF4-FFF2-40B4-BE49-F238E27FC236}">
                <a16:creationId xmlns:a16="http://schemas.microsoft.com/office/drawing/2014/main" id="{862C201F-FB18-BACC-7EED-67359D21EC7F}"/>
              </a:ext>
            </a:extLst>
          </p:cNvPr>
          <p:cNvPicPr>
            <a:picLocks noChangeAspect="1"/>
          </p:cNvPicPr>
          <p:nvPr/>
        </p:nvPicPr>
        <p:blipFill>
          <a:blip r:embed="rId15"/>
          <a:stretch>
            <a:fillRect/>
          </a:stretch>
        </p:blipFill>
        <p:spPr>
          <a:xfrm>
            <a:off x="695323" y="2518752"/>
            <a:ext cx="7991475" cy="2436336"/>
          </a:xfrm>
          <a:prstGeom prst="rect">
            <a:avLst/>
          </a:prstGeom>
        </p:spPr>
      </p:pic>
      <p:sp>
        <p:nvSpPr>
          <p:cNvPr id="7" name="Textfeld 6">
            <a:extLst>
              <a:ext uri="{FF2B5EF4-FFF2-40B4-BE49-F238E27FC236}">
                <a16:creationId xmlns:a16="http://schemas.microsoft.com/office/drawing/2014/main" id="{48BDDFD4-11D4-CE50-D1E6-68C3B384CA2E}"/>
              </a:ext>
            </a:extLst>
          </p:cNvPr>
          <p:cNvSpPr txBox="1"/>
          <p:nvPr/>
        </p:nvSpPr>
        <p:spPr>
          <a:xfrm>
            <a:off x="319931" y="4708867"/>
            <a:ext cx="8374274" cy="246221"/>
          </a:xfrm>
          <a:prstGeom prst="rect">
            <a:avLst/>
          </a:prstGeom>
          <a:noFill/>
        </p:spPr>
        <p:txBody>
          <a:bodyPr wrap="square">
            <a:spAutoFit/>
          </a:bodyPr>
          <a:lstStyle/>
          <a:p>
            <a:pPr algn="r"/>
            <a:r>
              <a:rPr lang="de-DE" sz="1000" i="1" noProof="1"/>
              <a:t>(Schindler et al., 2025)</a:t>
            </a:r>
          </a:p>
        </p:txBody>
      </p:sp>
    </p:spTree>
    <p:extLst>
      <p:ext uri="{BB962C8B-B14F-4D97-AF65-F5344CB8AC3E}">
        <p14:creationId xmlns:p14="http://schemas.microsoft.com/office/powerpoint/2010/main" val="2602172821"/>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anim calcmode="lin" valueType="num">
                                      <p:cBhvr additive="base">
                                        <p:cTn id="7" dur="500" fill="hold"/>
                                        <p:tgtEl>
                                          <p:spTgt spid="19"/>
                                        </p:tgtEl>
                                        <p:attrNameLst>
                                          <p:attrName>ppt_x</p:attrName>
                                        </p:attrNameLst>
                                      </p:cBhvr>
                                      <p:tavLst>
                                        <p:tav tm="0">
                                          <p:val>
                                            <p:strVal val="#ppt_x"/>
                                          </p:val>
                                        </p:tav>
                                        <p:tav tm="100000">
                                          <p:val>
                                            <p:strVal val="#ppt_x"/>
                                          </p:val>
                                        </p:tav>
                                      </p:tavLst>
                                    </p:anim>
                                    <p:anim calcmode="lin" valueType="num">
                                      <p:cBhvr additive="base">
                                        <p:cTn id="8" dur="500" fill="hold"/>
                                        <p:tgtEl>
                                          <p:spTgt spid="19"/>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anim calcmode="lin" valueType="num">
                                      <p:cBhvr additive="base">
                                        <p:cTn id="11" dur="500" fill="hold"/>
                                        <p:tgtEl>
                                          <p:spTgt spid="7"/>
                                        </p:tgtEl>
                                        <p:attrNameLst>
                                          <p:attrName>ppt_x</p:attrName>
                                        </p:attrNameLst>
                                      </p:cBhvr>
                                      <p:tavLst>
                                        <p:tav tm="0">
                                          <p:val>
                                            <p:strVal val="#ppt_x"/>
                                          </p:val>
                                        </p:tav>
                                        <p:tav tm="100000">
                                          <p:val>
                                            <p:strVal val="#ppt_x"/>
                                          </p:val>
                                        </p:tav>
                                      </p:tavLst>
                                    </p:anim>
                                    <p:anim calcmode="lin" valueType="num">
                                      <p:cBhvr additive="base">
                                        <p:cTn id="12"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22">
                                            <p:txEl>
                                              <p:pRg st="0" end="0"/>
                                            </p:txEl>
                                          </p:spTgt>
                                        </p:tgtEl>
                                        <p:attrNameLst>
                                          <p:attrName>style.visibility</p:attrName>
                                        </p:attrNameLst>
                                      </p:cBhvr>
                                      <p:to>
                                        <p:strVal val="visible"/>
                                      </p:to>
                                    </p:set>
                                    <p:anim calcmode="lin" valueType="num">
                                      <p:cBhvr additive="base">
                                        <p:cTn id="17" dur="500" fill="hold"/>
                                        <p:tgtEl>
                                          <p:spTgt spid="22">
                                            <p:txEl>
                                              <p:pRg st="0" end="0"/>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22">
                                            <p:txEl>
                                              <p:pRg st="0" end="0"/>
                                            </p:txEl>
                                          </p:spTgt>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22">
                                            <p:txEl>
                                              <p:pRg st="1" end="1"/>
                                            </p:txEl>
                                          </p:spTgt>
                                        </p:tgtEl>
                                        <p:attrNameLst>
                                          <p:attrName>style.visibility</p:attrName>
                                        </p:attrNameLst>
                                      </p:cBhvr>
                                      <p:to>
                                        <p:strVal val="visible"/>
                                      </p:to>
                                    </p:set>
                                    <p:anim calcmode="lin" valueType="num">
                                      <p:cBhvr additive="base">
                                        <p:cTn id="21" dur="500" fill="hold"/>
                                        <p:tgtEl>
                                          <p:spTgt spid="22">
                                            <p:txEl>
                                              <p:pRg st="1" end="1"/>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22">
                                            <p:txEl>
                                              <p:pRg st="1" end="1"/>
                                            </p:txEl>
                                          </p:spTgt>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22">
                                            <p:txEl>
                                              <p:pRg st="2" end="2"/>
                                            </p:txEl>
                                          </p:spTgt>
                                        </p:tgtEl>
                                        <p:attrNameLst>
                                          <p:attrName>style.visibility</p:attrName>
                                        </p:attrNameLst>
                                      </p:cBhvr>
                                      <p:to>
                                        <p:strVal val="visible"/>
                                      </p:to>
                                    </p:set>
                                    <p:anim calcmode="lin" valueType="num">
                                      <p:cBhvr additive="base">
                                        <p:cTn id="25" dur="500" fill="hold"/>
                                        <p:tgtEl>
                                          <p:spTgt spid="22">
                                            <p:txEl>
                                              <p:pRg st="2" end="2"/>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22">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uiExpand="1" build="p"/>
      <p:bldP spid="7"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E785B4-7DEB-D326-5C4B-68BE283B0C65}"/>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0AAF41BF-F390-E78C-80AA-3FACD4CD32D8}"/>
              </a:ext>
            </a:extLst>
          </p:cNvPr>
          <p:cNvSpPr>
            <a:spLocks noGrp="1"/>
          </p:cNvSpPr>
          <p:nvPr>
            <p:ph type="ctrTitle"/>
          </p:nvPr>
        </p:nvSpPr>
        <p:spPr/>
        <p:txBody>
          <a:bodyPr/>
          <a:lstStyle/>
          <a:p>
            <a:r>
              <a:rPr lang="de-DE" sz="2000" noProof="1"/>
              <a:t>The Impact of Domain Knowledge in Explanatory Dialogues</a:t>
            </a:r>
          </a:p>
        </p:txBody>
      </p:sp>
      <p:sp>
        <p:nvSpPr>
          <p:cNvPr id="4" name="Datumsplatzhalter 3">
            <a:extLst>
              <a:ext uri="{FF2B5EF4-FFF2-40B4-BE49-F238E27FC236}">
                <a16:creationId xmlns:a16="http://schemas.microsoft.com/office/drawing/2014/main" id="{DA5EB171-FF62-91AD-A2D4-C66D318335AB}"/>
              </a:ext>
            </a:extLst>
          </p:cNvPr>
          <p:cNvSpPr>
            <a:spLocks noGrp="1"/>
          </p:cNvSpPr>
          <p:nvPr>
            <p:ph type="dt" sz="half" idx="10"/>
          </p:nvPr>
        </p:nvSpPr>
        <p:spPr>
          <a:xfrm>
            <a:off x="7701332" y="4978682"/>
            <a:ext cx="826083" cy="122236"/>
          </a:xfrm>
        </p:spPr>
        <p:txBody>
          <a:bodyPr/>
          <a:lstStyle/>
          <a:p>
            <a:r>
              <a:rPr lang="en-US" noProof="1"/>
              <a:t>18.08.2025</a:t>
            </a:r>
            <a:endParaRPr lang="de-DE" noProof="1"/>
          </a:p>
        </p:txBody>
      </p:sp>
      <p:sp>
        <p:nvSpPr>
          <p:cNvPr id="5" name="Fußzeilenplatzhalter 4">
            <a:extLst>
              <a:ext uri="{FF2B5EF4-FFF2-40B4-BE49-F238E27FC236}">
                <a16:creationId xmlns:a16="http://schemas.microsoft.com/office/drawing/2014/main" id="{D5F3C204-D866-04D5-CF67-33E8235EF089}"/>
              </a:ext>
            </a:extLst>
          </p:cNvPr>
          <p:cNvSpPr>
            <a:spLocks noGrp="1"/>
          </p:cNvSpPr>
          <p:nvPr>
            <p:ph type="ftr" sz="quarter" idx="11"/>
          </p:nvPr>
        </p:nvSpPr>
        <p:spPr/>
        <p:txBody>
          <a:bodyPr/>
          <a:lstStyle/>
          <a:p>
            <a:r>
              <a:rPr lang="en-US" noProof="1"/>
              <a:t>Enhancing model transparency: Effects of DK Integration for Conversational XAI | Feustel</a:t>
            </a:r>
            <a:endParaRPr lang="de-DE" noProof="1"/>
          </a:p>
        </p:txBody>
      </p:sp>
      <p:sp>
        <p:nvSpPr>
          <p:cNvPr id="6" name="Foliennummernplatzhalter 5">
            <a:extLst>
              <a:ext uri="{FF2B5EF4-FFF2-40B4-BE49-F238E27FC236}">
                <a16:creationId xmlns:a16="http://schemas.microsoft.com/office/drawing/2014/main" id="{82F0D7B7-BA18-92E3-FBF2-5A88F395D898}"/>
              </a:ext>
            </a:extLst>
          </p:cNvPr>
          <p:cNvSpPr>
            <a:spLocks noGrp="1"/>
          </p:cNvSpPr>
          <p:nvPr>
            <p:ph type="sldNum" sz="quarter" idx="12"/>
          </p:nvPr>
        </p:nvSpPr>
        <p:spPr/>
        <p:txBody>
          <a:bodyPr/>
          <a:lstStyle/>
          <a:p>
            <a:r>
              <a:rPr lang="de-DE" noProof="1"/>
              <a:t> </a:t>
            </a:r>
            <a:fld id="{FE120BDC-5456-EC41-8BB6-7A3B726EA19B}" type="slidenum">
              <a:rPr lang="de-DE" noProof="1" smtClean="0"/>
              <a:pPr/>
              <a:t>19</a:t>
            </a:fld>
            <a:endParaRPr lang="de-DE" noProof="1"/>
          </a:p>
        </p:txBody>
      </p:sp>
      <p:pic>
        <p:nvPicPr>
          <p:cNvPr id="9" name="Grafik 8" descr="Mann in einem Polohemd">
            <a:extLst>
              <a:ext uri="{FF2B5EF4-FFF2-40B4-BE49-F238E27FC236}">
                <a16:creationId xmlns:a16="http://schemas.microsoft.com/office/drawing/2014/main" id="{2E70FA7E-8A3F-51F4-E40C-61141A60296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59795" y="2470662"/>
            <a:ext cx="781626" cy="2452688"/>
          </a:xfrm>
          <a:prstGeom prst="rect">
            <a:avLst/>
          </a:prstGeom>
        </p:spPr>
      </p:pic>
      <p:pic>
        <p:nvPicPr>
          <p:cNvPr id="11" name="Grafik 10" descr="Eine Wolken-Gedankenblase">
            <a:extLst>
              <a:ext uri="{FF2B5EF4-FFF2-40B4-BE49-F238E27FC236}">
                <a16:creationId xmlns:a16="http://schemas.microsoft.com/office/drawing/2014/main" id="{43D25C35-3E90-2EF6-0A4E-33B06FF23C1C}"/>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184283" y="1786166"/>
            <a:ext cx="824123" cy="731470"/>
          </a:xfrm>
          <a:prstGeom prst="rect">
            <a:avLst/>
          </a:prstGeom>
        </p:spPr>
      </p:pic>
      <p:pic>
        <p:nvPicPr>
          <p:cNvPr id="23" name="Grafik 22" descr="Fragezeichen mit einfarbiger Füllung">
            <a:extLst>
              <a:ext uri="{FF2B5EF4-FFF2-40B4-BE49-F238E27FC236}">
                <a16:creationId xmlns:a16="http://schemas.microsoft.com/office/drawing/2014/main" id="{1AF49BE2-7C1B-F0E2-4B07-FE5BC98C73E8}"/>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341421" y="1869376"/>
            <a:ext cx="472821" cy="472821"/>
          </a:xfrm>
          <a:prstGeom prst="rect">
            <a:avLst/>
          </a:prstGeom>
        </p:spPr>
      </p:pic>
      <p:pic>
        <p:nvPicPr>
          <p:cNvPr id="30" name="Grafik 29" descr="Glühbirne und Zahnrad mit einfarbiger Füllung">
            <a:extLst>
              <a:ext uri="{FF2B5EF4-FFF2-40B4-BE49-F238E27FC236}">
                <a16:creationId xmlns:a16="http://schemas.microsoft.com/office/drawing/2014/main" id="{F7DB4D22-9ED1-1C51-0DF3-1217E0CE3A81}"/>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370501" y="1885415"/>
            <a:ext cx="414659" cy="414659"/>
          </a:xfrm>
          <a:prstGeom prst="rect">
            <a:avLst/>
          </a:prstGeom>
        </p:spPr>
      </p:pic>
      <p:pic>
        <p:nvPicPr>
          <p:cNvPr id="32" name="Grafik 31" descr="Bücher mit einfarbiger Füllung">
            <a:extLst>
              <a:ext uri="{FF2B5EF4-FFF2-40B4-BE49-F238E27FC236}">
                <a16:creationId xmlns:a16="http://schemas.microsoft.com/office/drawing/2014/main" id="{7CB3475B-188E-2FF7-961B-5289C2CE8AC7}"/>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2379968" y="3830074"/>
            <a:ext cx="914400" cy="914400"/>
          </a:xfrm>
          <a:prstGeom prst="rect">
            <a:avLst/>
          </a:prstGeom>
        </p:spPr>
      </p:pic>
      <p:grpSp>
        <p:nvGrpSpPr>
          <p:cNvPr id="29" name="Gruppieren 28">
            <a:extLst>
              <a:ext uri="{FF2B5EF4-FFF2-40B4-BE49-F238E27FC236}">
                <a16:creationId xmlns:a16="http://schemas.microsoft.com/office/drawing/2014/main" id="{9316F5BE-CBA5-8A3F-B12E-F8C944CE58C1}"/>
              </a:ext>
            </a:extLst>
          </p:cNvPr>
          <p:cNvGrpSpPr/>
          <p:nvPr/>
        </p:nvGrpSpPr>
        <p:grpSpPr>
          <a:xfrm>
            <a:off x="2026518" y="2007835"/>
            <a:ext cx="1428205" cy="879937"/>
            <a:chOff x="1676416" y="2594833"/>
            <a:chExt cx="1428205" cy="879937"/>
          </a:xfrm>
        </p:grpSpPr>
        <p:pic>
          <p:nvPicPr>
            <p:cNvPr id="17" name="Grafik 16" descr="Ein offener Laptop">
              <a:extLst>
                <a:ext uri="{FF2B5EF4-FFF2-40B4-BE49-F238E27FC236}">
                  <a16:creationId xmlns:a16="http://schemas.microsoft.com/office/drawing/2014/main" id="{384788D0-60EC-DB20-7AE9-E4FC418204FE}"/>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1676416" y="2594833"/>
              <a:ext cx="1428205" cy="879937"/>
            </a:xfrm>
            <a:prstGeom prst="rect">
              <a:avLst/>
            </a:prstGeom>
          </p:spPr>
        </p:pic>
        <p:pic>
          <p:nvPicPr>
            <p:cNvPr id="22" name="Grafik 21" descr="Bank Silhouette">
              <a:extLst>
                <a:ext uri="{FF2B5EF4-FFF2-40B4-BE49-F238E27FC236}">
                  <a16:creationId xmlns:a16="http://schemas.microsoft.com/office/drawing/2014/main" id="{46B911B4-D4C8-0BD0-3DDC-E2B8C2AC6126}"/>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2410043" y="2736318"/>
              <a:ext cx="534223" cy="534223"/>
            </a:xfrm>
            <a:prstGeom prst="rect">
              <a:avLst/>
            </a:prstGeom>
          </p:spPr>
        </p:pic>
      </p:grpSp>
      <p:grpSp>
        <p:nvGrpSpPr>
          <p:cNvPr id="31" name="Gruppieren 30">
            <a:extLst>
              <a:ext uri="{FF2B5EF4-FFF2-40B4-BE49-F238E27FC236}">
                <a16:creationId xmlns:a16="http://schemas.microsoft.com/office/drawing/2014/main" id="{13EF1EF4-FE66-7755-EE79-4FF1EF3D3B00}"/>
              </a:ext>
            </a:extLst>
          </p:cNvPr>
          <p:cNvGrpSpPr/>
          <p:nvPr/>
        </p:nvGrpSpPr>
        <p:grpSpPr>
          <a:xfrm>
            <a:off x="4655356" y="1378324"/>
            <a:ext cx="1428205" cy="879937"/>
            <a:chOff x="6789570" y="2164788"/>
            <a:chExt cx="1428205" cy="879937"/>
          </a:xfrm>
        </p:grpSpPr>
        <p:pic>
          <p:nvPicPr>
            <p:cNvPr id="13" name="Grafik 12" descr="Ein offener Laptop">
              <a:extLst>
                <a:ext uri="{FF2B5EF4-FFF2-40B4-BE49-F238E27FC236}">
                  <a16:creationId xmlns:a16="http://schemas.microsoft.com/office/drawing/2014/main" id="{F6E251F9-CE14-8EDD-6F07-4664631C11C5}"/>
                </a:ext>
              </a:extLst>
            </p:cNvPr>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6789570" y="2164788"/>
              <a:ext cx="1428205" cy="879937"/>
            </a:xfrm>
            <a:prstGeom prst="rect">
              <a:avLst/>
            </a:prstGeom>
          </p:spPr>
        </p:pic>
        <p:pic>
          <p:nvPicPr>
            <p:cNvPr id="25" name="Grafik 24" descr="Bank Silhouette">
              <a:extLst>
                <a:ext uri="{FF2B5EF4-FFF2-40B4-BE49-F238E27FC236}">
                  <a16:creationId xmlns:a16="http://schemas.microsoft.com/office/drawing/2014/main" id="{3BB1E106-6025-D80E-2A28-3F036A5A13B5}"/>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7503672" y="2296323"/>
              <a:ext cx="534223" cy="534223"/>
            </a:xfrm>
            <a:prstGeom prst="rect">
              <a:avLst/>
            </a:prstGeom>
          </p:spPr>
        </p:pic>
      </p:grpSp>
      <p:grpSp>
        <p:nvGrpSpPr>
          <p:cNvPr id="33" name="Gruppieren 32">
            <a:extLst>
              <a:ext uri="{FF2B5EF4-FFF2-40B4-BE49-F238E27FC236}">
                <a16:creationId xmlns:a16="http://schemas.microsoft.com/office/drawing/2014/main" id="{C1FE501A-A1EF-B56E-5BC6-3347828765E6}"/>
              </a:ext>
            </a:extLst>
          </p:cNvPr>
          <p:cNvGrpSpPr/>
          <p:nvPr/>
        </p:nvGrpSpPr>
        <p:grpSpPr>
          <a:xfrm>
            <a:off x="4627511" y="2411291"/>
            <a:ext cx="1428205" cy="879937"/>
            <a:chOff x="6789570" y="3125323"/>
            <a:chExt cx="1428205" cy="879937"/>
          </a:xfrm>
        </p:grpSpPr>
        <p:pic>
          <p:nvPicPr>
            <p:cNvPr id="16" name="Grafik 15" descr="Ein offener Laptop">
              <a:extLst>
                <a:ext uri="{FF2B5EF4-FFF2-40B4-BE49-F238E27FC236}">
                  <a16:creationId xmlns:a16="http://schemas.microsoft.com/office/drawing/2014/main" id="{4B9B8ED9-1E4C-4E3A-8548-502B82EBBB4E}"/>
                </a:ext>
              </a:extLst>
            </p:cNvPr>
            <p:cNvPicPr>
              <a:picLocks noChangeAspect="1"/>
            </p:cNvPicPr>
            <p:nvPr/>
          </p:nvPicPr>
          <p:blipFill>
            <a:blip r:embed="rId19">
              <a:extLst>
                <a:ext uri="{96DAC541-7B7A-43D3-8B79-37D633B846F1}">
                  <asvg:svgBlip xmlns:asvg="http://schemas.microsoft.com/office/drawing/2016/SVG/main" r:embed="rId20"/>
                </a:ext>
              </a:extLst>
            </a:blip>
            <a:stretch>
              <a:fillRect/>
            </a:stretch>
          </p:blipFill>
          <p:spPr>
            <a:xfrm>
              <a:off x="6789570" y="3125323"/>
              <a:ext cx="1428205" cy="879937"/>
            </a:xfrm>
            <a:prstGeom prst="rect">
              <a:avLst/>
            </a:prstGeom>
          </p:spPr>
        </p:pic>
        <p:pic>
          <p:nvPicPr>
            <p:cNvPr id="26" name="Grafik 25" descr="Bank Silhouette">
              <a:extLst>
                <a:ext uri="{FF2B5EF4-FFF2-40B4-BE49-F238E27FC236}">
                  <a16:creationId xmlns:a16="http://schemas.microsoft.com/office/drawing/2014/main" id="{E705974B-BE98-6F7A-7DA6-C3F327A679E8}"/>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7503671" y="3268982"/>
              <a:ext cx="534223" cy="534223"/>
            </a:xfrm>
            <a:prstGeom prst="rect">
              <a:avLst/>
            </a:prstGeom>
          </p:spPr>
        </p:pic>
      </p:grpSp>
      <p:pic>
        <p:nvPicPr>
          <p:cNvPr id="35" name="Grafik 34" descr="Hinzufügen mit einfarbiger Füllung">
            <a:extLst>
              <a:ext uri="{FF2B5EF4-FFF2-40B4-BE49-F238E27FC236}">
                <a16:creationId xmlns:a16="http://schemas.microsoft.com/office/drawing/2014/main" id="{C5C2BE3C-7629-185F-A48C-00A5103E28C2}"/>
              </a:ext>
            </a:extLst>
          </p:cNvPr>
          <p:cNvPicPr>
            <a:picLocks noChangeAspect="1"/>
          </p:cNvPicPr>
          <p:nvPr/>
        </p:nvPicPr>
        <p:blipFill>
          <a:blip r:embed="rId21">
            <a:extLst>
              <a:ext uri="{96DAC541-7B7A-43D3-8B79-37D633B846F1}">
                <asvg:svgBlip xmlns:asvg="http://schemas.microsoft.com/office/drawing/2016/SVG/main" r:embed="rId22"/>
              </a:ext>
            </a:extLst>
          </a:blip>
          <a:stretch>
            <a:fillRect/>
          </a:stretch>
        </p:blipFill>
        <p:spPr>
          <a:xfrm>
            <a:off x="2531574" y="3053329"/>
            <a:ext cx="611187" cy="611187"/>
          </a:xfrm>
          <a:prstGeom prst="rect">
            <a:avLst/>
          </a:prstGeom>
        </p:spPr>
      </p:pic>
      <p:pic>
        <p:nvPicPr>
          <p:cNvPr id="37" name="Grafik 36" descr="Pfeil mit einer Linie: Kurve im Uhrzeigersinn mit einfarbiger Füllung">
            <a:extLst>
              <a:ext uri="{FF2B5EF4-FFF2-40B4-BE49-F238E27FC236}">
                <a16:creationId xmlns:a16="http://schemas.microsoft.com/office/drawing/2014/main" id="{8A069209-D5C0-8B74-2C7C-30E2EF11B151}"/>
              </a:ext>
            </a:extLst>
          </p:cNvPr>
          <p:cNvPicPr>
            <a:picLocks noChangeAspect="1"/>
          </p:cNvPicPr>
          <p:nvPr/>
        </p:nvPicPr>
        <p:blipFill>
          <a:blip r:embed="rId23">
            <a:extLst>
              <a:ext uri="{96DAC541-7B7A-43D3-8B79-37D633B846F1}">
                <asvg:svgBlip xmlns:asvg="http://schemas.microsoft.com/office/drawing/2016/SVG/main" r:embed="rId24"/>
              </a:ext>
            </a:extLst>
          </a:blip>
          <a:stretch>
            <a:fillRect/>
          </a:stretch>
        </p:blipFill>
        <p:spPr>
          <a:xfrm rot="5911190">
            <a:off x="3650424" y="1509771"/>
            <a:ext cx="914400" cy="914400"/>
          </a:xfrm>
          <a:prstGeom prst="rect">
            <a:avLst/>
          </a:prstGeom>
        </p:spPr>
      </p:pic>
      <p:pic>
        <p:nvPicPr>
          <p:cNvPr id="38" name="Grafik 37" descr="Pfeil mit einer Linie: Kurve im Uhrzeigersinn mit einfarbiger Füllung">
            <a:extLst>
              <a:ext uri="{FF2B5EF4-FFF2-40B4-BE49-F238E27FC236}">
                <a16:creationId xmlns:a16="http://schemas.microsoft.com/office/drawing/2014/main" id="{0BA7567D-06DC-465D-0A25-31A69E165E9F}"/>
              </a:ext>
            </a:extLst>
          </p:cNvPr>
          <p:cNvPicPr>
            <a:picLocks noChangeAspect="1"/>
          </p:cNvPicPr>
          <p:nvPr/>
        </p:nvPicPr>
        <p:blipFill>
          <a:blip r:embed="rId23">
            <a:extLst>
              <a:ext uri="{96DAC541-7B7A-43D3-8B79-37D633B846F1}">
                <asvg:svgBlip xmlns:asvg="http://schemas.microsoft.com/office/drawing/2016/SVG/main" r:embed="rId24"/>
              </a:ext>
            </a:extLst>
          </a:blip>
          <a:stretch>
            <a:fillRect/>
          </a:stretch>
        </p:blipFill>
        <p:spPr>
          <a:xfrm rot="4375680" flipH="1">
            <a:off x="3628039" y="2420206"/>
            <a:ext cx="914400" cy="914400"/>
          </a:xfrm>
          <a:prstGeom prst="rect">
            <a:avLst/>
          </a:prstGeom>
        </p:spPr>
      </p:pic>
      <p:sp>
        <p:nvSpPr>
          <p:cNvPr id="3" name="Textfeld 2">
            <a:extLst>
              <a:ext uri="{FF2B5EF4-FFF2-40B4-BE49-F238E27FC236}">
                <a16:creationId xmlns:a16="http://schemas.microsoft.com/office/drawing/2014/main" id="{BEE2B552-CED5-A1EF-40AA-D32682582A41}"/>
              </a:ext>
            </a:extLst>
          </p:cNvPr>
          <p:cNvSpPr txBox="1"/>
          <p:nvPr/>
        </p:nvSpPr>
        <p:spPr>
          <a:xfrm>
            <a:off x="7851895" y="134610"/>
            <a:ext cx="833049" cy="276999"/>
          </a:xfrm>
          <a:prstGeom prst="rect">
            <a:avLst/>
          </a:prstGeom>
          <a:noFill/>
        </p:spPr>
        <p:txBody>
          <a:bodyPr wrap="none" rtlCol="0">
            <a:spAutoFit/>
          </a:bodyPr>
          <a:lstStyle/>
          <a:p>
            <a:r>
              <a:rPr lang="de-DE" sz="1200" dirty="0"/>
              <a:t>Evaluation</a:t>
            </a:r>
            <a:endParaRPr lang="en-US" sz="1200" dirty="0"/>
          </a:p>
        </p:txBody>
      </p:sp>
      <p:sp>
        <p:nvSpPr>
          <p:cNvPr id="7" name="Rechteck 6" descr="Lichter an mit einfarbiger Füllung">
            <a:extLst>
              <a:ext uri="{FF2B5EF4-FFF2-40B4-BE49-F238E27FC236}">
                <a16:creationId xmlns:a16="http://schemas.microsoft.com/office/drawing/2014/main" id="{C8A1DAA9-8C0F-A282-9BED-334FA9DA104A}"/>
              </a:ext>
            </a:extLst>
          </p:cNvPr>
          <p:cNvSpPr/>
          <p:nvPr/>
        </p:nvSpPr>
        <p:spPr>
          <a:xfrm>
            <a:off x="8804352" y="664349"/>
            <a:ext cx="277969" cy="277969"/>
          </a:xfrm>
          <a:prstGeom prst="rect">
            <a:avLst/>
          </a:prstGeom>
          <a:blipFill>
            <a:blip r:embed="rId25">
              <a:extLst>
                <a:ext uri="{96DAC541-7B7A-43D3-8B79-37D633B846F1}">
                  <asvg:svgBlip xmlns:asvg="http://schemas.microsoft.com/office/drawing/2016/SVG/main" r:embed="rId26"/>
                </a:ext>
              </a:extLst>
            </a:blip>
            <a:srcRect/>
            <a:stretch>
              <a:fillRect/>
            </a:stretch>
          </a:blipFill>
          <a:ln>
            <a:noFill/>
          </a:ln>
        </p:spPr>
        <p:style>
          <a:lnRef idx="2">
            <a:scrgbClr r="0" g="0" b="0"/>
          </a:lnRef>
          <a:fillRef idx="1">
            <a:scrgbClr r="0" g="0" b="0"/>
          </a:fillRef>
          <a:effectRef idx="0">
            <a:schemeClr val="accent2">
              <a:hueOff val="0"/>
              <a:satOff val="0"/>
              <a:lumOff val="0"/>
              <a:alphaOff val="0"/>
            </a:schemeClr>
          </a:effectRef>
          <a:fontRef idx="minor">
            <a:schemeClr val="lt1"/>
          </a:fontRef>
        </p:style>
        <p:txBody>
          <a:bodyPr/>
          <a:lstStyle/>
          <a:p>
            <a:endParaRPr lang="en-US"/>
          </a:p>
        </p:txBody>
      </p:sp>
      <p:sp>
        <p:nvSpPr>
          <p:cNvPr id="8" name="Rechteck 7" descr="Geschlossenes Buch mit einfarbiger Füllung">
            <a:extLst>
              <a:ext uri="{FF2B5EF4-FFF2-40B4-BE49-F238E27FC236}">
                <a16:creationId xmlns:a16="http://schemas.microsoft.com/office/drawing/2014/main" id="{99079E52-4F45-FEA3-8B08-5F31B0962A07}"/>
              </a:ext>
            </a:extLst>
          </p:cNvPr>
          <p:cNvSpPr/>
          <p:nvPr/>
        </p:nvSpPr>
        <p:spPr>
          <a:xfrm>
            <a:off x="8804352" y="1043547"/>
            <a:ext cx="277969" cy="277969"/>
          </a:xfrm>
          <a:prstGeom prst="rect">
            <a:avLst/>
          </a:prstGeom>
          <a:blipFill>
            <a:blip r:embed="rId27">
              <a:extLst>
                <a:ext uri="{96DAC541-7B7A-43D3-8B79-37D633B846F1}">
                  <asvg:svgBlip xmlns:asvg="http://schemas.microsoft.com/office/drawing/2016/SVG/main" r:embed="rId28"/>
                </a:ext>
              </a:extLst>
            </a:blip>
            <a:srcRect/>
            <a:stretch>
              <a:fillRect/>
            </a:stretch>
          </a:blipFill>
          <a:ln>
            <a:noFill/>
          </a:ln>
        </p:spPr>
        <p:style>
          <a:lnRef idx="2">
            <a:scrgbClr r="0" g="0" b="0"/>
          </a:lnRef>
          <a:fillRef idx="1">
            <a:scrgbClr r="0" g="0" b="0"/>
          </a:fillRef>
          <a:effectRef idx="0">
            <a:schemeClr val="accent3">
              <a:hueOff val="0"/>
              <a:satOff val="0"/>
              <a:lumOff val="0"/>
              <a:alphaOff val="0"/>
            </a:schemeClr>
          </a:effectRef>
          <a:fontRef idx="minor">
            <a:schemeClr val="lt1"/>
          </a:fontRef>
        </p:style>
        <p:txBody>
          <a:bodyPr/>
          <a:lstStyle/>
          <a:p>
            <a:endParaRPr lang="en-US"/>
          </a:p>
        </p:txBody>
      </p:sp>
      <p:sp>
        <p:nvSpPr>
          <p:cNvPr id="10" name="Rechteck 9" descr="Netzwerk">
            <a:extLst>
              <a:ext uri="{FF2B5EF4-FFF2-40B4-BE49-F238E27FC236}">
                <a16:creationId xmlns:a16="http://schemas.microsoft.com/office/drawing/2014/main" id="{C499A3B4-269D-12B0-655E-21D47C4C1B3F}"/>
              </a:ext>
            </a:extLst>
          </p:cNvPr>
          <p:cNvSpPr/>
          <p:nvPr/>
        </p:nvSpPr>
        <p:spPr>
          <a:xfrm>
            <a:off x="8804352" y="1379208"/>
            <a:ext cx="277969" cy="277969"/>
          </a:xfrm>
          <a:prstGeom prst="rect">
            <a:avLst/>
          </a:prstGeom>
          <a:blipFill>
            <a:blip r:embed="rId29">
              <a:extLst>
                <a:ext uri="{28A0092B-C50C-407E-A947-70E740481C1C}">
                  <a14:useLocalDpi xmlns:a14="http://schemas.microsoft.com/office/drawing/2010/main" val="0"/>
                </a:ext>
                <a:ext uri="{96DAC541-7B7A-43D3-8B79-37D633B846F1}">
                  <asvg:svgBlip xmlns:asvg="http://schemas.microsoft.com/office/drawing/2016/SVG/main" r:embed="rId30"/>
                </a:ext>
              </a:extLst>
            </a:blip>
            <a:stretch>
              <a:fillRect/>
            </a:stretch>
          </a:blipFill>
          <a:ln>
            <a:noFill/>
          </a:ln>
        </p:spPr>
        <p:style>
          <a:lnRef idx="2">
            <a:scrgbClr r="0" g="0" b="0"/>
          </a:lnRef>
          <a:fillRef idx="1">
            <a:scrgbClr r="0" g="0" b="0"/>
          </a:fillRef>
          <a:effectRef idx="0">
            <a:schemeClr val="accent4">
              <a:hueOff val="0"/>
              <a:satOff val="0"/>
              <a:lumOff val="0"/>
              <a:alphaOff val="0"/>
            </a:schemeClr>
          </a:effectRef>
          <a:fontRef idx="minor">
            <a:schemeClr val="lt1"/>
          </a:fontRef>
        </p:style>
        <p:txBody>
          <a:bodyPr/>
          <a:lstStyle/>
          <a:p>
            <a:endParaRPr lang="en-US"/>
          </a:p>
        </p:txBody>
      </p:sp>
      <p:sp>
        <p:nvSpPr>
          <p:cNvPr id="12" name="Rechteck 11" descr="Kreise mit Pfeilen mit einfarbiger Füllung">
            <a:extLst>
              <a:ext uri="{FF2B5EF4-FFF2-40B4-BE49-F238E27FC236}">
                <a16:creationId xmlns:a16="http://schemas.microsoft.com/office/drawing/2014/main" id="{F7C12D79-B1D8-0E5F-0E76-ED6B2CA5BFE3}"/>
              </a:ext>
            </a:extLst>
          </p:cNvPr>
          <p:cNvSpPr/>
          <p:nvPr/>
        </p:nvSpPr>
        <p:spPr>
          <a:xfrm>
            <a:off x="8804352" y="1688740"/>
            <a:ext cx="277969" cy="277969"/>
          </a:xfrm>
          <a:prstGeom prst="rect">
            <a:avLst/>
          </a:prstGeom>
          <a:blipFill>
            <a:blip r:embed="rId31">
              <a:extLst>
                <a:ext uri="{96DAC541-7B7A-43D3-8B79-37D633B846F1}">
                  <asvg:svgBlip xmlns:asvg="http://schemas.microsoft.com/office/drawing/2016/SVG/main" r:embed="rId32"/>
                </a:ext>
              </a:extLst>
            </a:blip>
            <a:srcRect/>
            <a:stretch>
              <a:fillRect/>
            </a:stretch>
          </a:blipFill>
          <a:ln>
            <a:noFill/>
          </a:ln>
        </p:spPr>
        <p:style>
          <a:lnRef idx="2">
            <a:scrgbClr r="0" g="0" b="0"/>
          </a:lnRef>
          <a:fillRef idx="1">
            <a:scrgbClr r="0" g="0" b="0"/>
          </a:fillRef>
          <a:effectRef idx="0">
            <a:schemeClr val="accent5">
              <a:hueOff val="0"/>
              <a:satOff val="0"/>
              <a:lumOff val="0"/>
              <a:alphaOff val="0"/>
            </a:schemeClr>
          </a:effectRef>
          <a:fontRef idx="minor">
            <a:schemeClr val="lt1"/>
          </a:fontRef>
        </p:style>
        <p:txBody>
          <a:bodyPr/>
          <a:lstStyle/>
          <a:p>
            <a:endParaRPr lang="en-US"/>
          </a:p>
        </p:txBody>
      </p:sp>
      <p:sp>
        <p:nvSpPr>
          <p:cNvPr id="14" name="Rechteck 13" descr="Prüfliste">
            <a:extLst>
              <a:ext uri="{FF2B5EF4-FFF2-40B4-BE49-F238E27FC236}">
                <a16:creationId xmlns:a16="http://schemas.microsoft.com/office/drawing/2014/main" id="{E56E6B27-922E-0F40-4FAA-4263139143E7}"/>
              </a:ext>
            </a:extLst>
          </p:cNvPr>
          <p:cNvSpPr/>
          <p:nvPr/>
        </p:nvSpPr>
        <p:spPr>
          <a:xfrm>
            <a:off x="8804352" y="2006980"/>
            <a:ext cx="277969" cy="277969"/>
          </a:xfrm>
          <a:prstGeom prst="rect">
            <a:avLst/>
          </a:prstGeom>
          <a:blipFill>
            <a:blip r:embed="rId33">
              <a:extLst>
                <a:ext uri="{28A0092B-C50C-407E-A947-70E740481C1C}">
                  <a14:useLocalDpi xmlns:a14="http://schemas.microsoft.com/office/drawing/2010/main" val="0"/>
                </a:ext>
                <a:ext uri="{96DAC541-7B7A-43D3-8B79-37D633B846F1}">
                  <asvg:svgBlip xmlns:asvg="http://schemas.microsoft.com/office/drawing/2016/SVG/main" r:embed="rId34"/>
                </a:ext>
              </a:extLst>
            </a:blip>
            <a:stretch>
              <a:fillRect/>
            </a:stretch>
          </a:blipFill>
          <a:ln>
            <a:noFill/>
          </a:ln>
        </p:spPr>
        <p:style>
          <a:lnRef idx="2">
            <a:scrgbClr r="0" g="0" b="0"/>
          </a:lnRef>
          <a:fillRef idx="1">
            <a:scrgbClr r="0" g="0" b="0"/>
          </a:fillRef>
          <a:effectRef idx="0">
            <a:schemeClr val="accent6">
              <a:hueOff val="0"/>
              <a:satOff val="0"/>
              <a:lumOff val="0"/>
              <a:alphaOff val="0"/>
            </a:schemeClr>
          </a:effectRef>
          <a:fontRef idx="minor">
            <a:schemeClr val="lt1"/>
          </a:fontRef>
        </p:style>
        <p:txBody>
          <a:bodyPr/>
          <a:lstStyle/>
          <a:p>
            <a:endParaRPr lang="en-US"/>
          </a:p>
        </p:txBody>
      </p:sp>
      <p:sp>
        <p:nvSpPr>
          <p:cNvPr id="15" name="Rechteck 14" descr="Auktionshammer">
            <a:extLst>
              <a:ext uri="{FF2B5EF4-FFF2-40B4-BE49-F238E27FC236}">
                <a16:creationId xmlns:a16="http://schemas.microsoft.com/office/drawing/2014/main" id="{5172DCEB-75E6-CFC1-A721-693135D94FE0}"/>
              </a:ext>
            </a:extLst>
          </p:cNvPr>
          <p:cNvSpPr/>
          <p:nvPr/>
        </p:nvSpPr>
        <p:spPr>
          <a:xfrm>
            <a:off x="8804352" y="2316507"/>
            <a:ext cx="277969" cy="277969"/>
          </a:xfrm>
          <a:prstGeom prst="rect">
            <a:avLst/>
          </a:prstGeom>
          <a:blipFill>
            <a:blip r:embed="rId35">
              <a:extLst>
                <a:ext uri="{28A0092B-C50C-407E-A947-70E740481C1C}">
                  <a14:useLocalDpi xmlns:a14="http://schemas.microsoft.com/office/drawing/2010/main" val="0"/>
                </a:ext>
                <a:ext uri="{96DAC541-7B7A-43D3-8B79-37D633B846F1}">
                  <asvg:svgBlip xmlns:asvg="http://schemas.microsoft.com/office/drawing/2016/SVG/main" r:embed="rId36"/>
                </a:ext>
              </a:extLst>
            </a:blip>
            <a:stretch>
              <a:fillRect/>
            </a:stretch>
          </a:blipFill>
          <a:ln>
            <a:noFill/>
          </a:ln>
        </p:spPr>
        <p:style>
          <a:lnRef idx="2">
            <a:scrgbClr r="0" g="0" b="0"/>
          </a:lnRef>
          <a:fillRef idx="1">
            <a:scrgbClr r="0" g="0" b="0"/>
          </a:fillRef>
          <a:effectRef idx="0">
            <a:schemeClr val="accent2">
              <a:hueOff val="0"/>
              <a:satOff val="0"/>
              <a:lumOff val="0"/>
              <a:alphaOff val="0"/>
            </a:schemeClr>
          </a:effectRef>
          <a:fontRef idx="minor">
            <a:schemeClr val="lt1"/>
          </a:fontRef>
        </p:style>
        <p:txBody>
          <a:bodyPr/>
          <a:lstStyle/>
          <a:p>
            <a:endParaRPr lang="en-US"/>
          </a:p>
        </p:txBody>
      </p:sp>
      <p:sp>
        <p:nvSpPr>
          <p:cNvPr id="20" name="Rechteck 19" descr="Prüfliste">
            <a:extLst>
              <a:ext uri="{FF2B5EF4-FFF2-40B4-BE49-F238E27FC236}">
                <a16:creationId xmlns:a16="http://schemas.microsoft.com/office/drawing/2014/main" id="{B4A07AAC-12EE-3632-5C11-37E117A461E3}"/>
              </a:ext>
            </a:extLst>
          </p:cNvPr>
          <p:cNvSpPr/>
          <p:nvPr/>
        </p:nvSpPr>
        <p:spPr>
          <a:xfrm>
            <a:off x="7601427" y="148483"/>
            <a:ext cx="277969" cy="277969"/>
          </a:xfrm>
          <a:prstGeom prst="rect">
            <a:avLst/>
          </a:prstGeom>
          <a:blipFill>
            <a:blip r:embed="rId33">
              <a:extLst>
                <a:ext uri="{28A0092B-C50C-407E-A947-70E740481C1C}">
                  <a14:useLocalDpi xmlns:a14="http://schemas.microsoft.com/office/drawing/2010/main" val="0"/>
                </a:ext>
                <a:ext uri="{96DAC541-7B7A-43D3-8B79-37D633B846F1}">
                  <asvg:svgBlip xmlns:asvg="http://schemas.microsoft.com/office/drawing/2016/SVG/main" r:embed="rId34"/>
                </a:ext>
              </a:extLst>
            </a:blip>
            <a:stretch>
              <a:fillRect/>
            </a:stretch>
          </a:blipFill>
          <a:ln>
            <a:noFill/>
          </a:ln>
        </p:spPr>
        <p:style>
          <a:lnRef idx="2">
            <a:scrgbClr r="0" g="0" b="0"/>
          </a:lnRef>
          <a:fillRef idx="1">
            <a:scrgbClr r="0" g="0" b="0"/>
          </a:fillRef>
          <a:effectRef idx="0">
            <a:schemeClr val="accent6">
              <a:hueOff val="0"/>
              <a:satOff val="0"/>
              <a:lumOff val="0"/>
              <a:alphaOff val="0"/>
            </a:schemeClr>
          </a:effectRef>
          <a:fontRef idx="minor">
            <a:schemeClr val="lt1"/>
          </a:fontRef>
        </p:style>
        <p:txBody>
          <a:bodyPr/>
          <a:lstStyle/>
          <a:p>
            <a:endParaRPr lang="en-US"/>
          </a:p>
        </p:txBody>
      </p:sp>
    </p:spTree>
    <p:extLst>
      <p:ext uri="{BB962C8B-B14F-4D97-AF65-F5344CB8AC3E}">
        <p14:creationId xmlns:p14="http://schemas.microsoft.com/office/powerpoint/2010/main" val="1150197801"/>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par>
                                <p:cTn id="8" presetID="10" presetClass="entr" presetSubtype="0" fill="hold" nodeType="withEffect">
                                  <p:stCondLst>
                                    <p:cond delay="0"/>
                                  </p:stCondLst>
                                  <p:childTnLst>
                                    <p:set>
                                      <p:cBhvr>
                                        <p:cTn id="9" dur="1" fill="hold">
                                          <p:stCondLst>
                                            <p:cond delay="0"/>
                                          </p:stCondLst>
                                        </p:cTn>
                                        <p:tgtEl>
                                          <p:spTgt spid="29"/>
                                        </p:tgtEl>
                                        <p:attrNameLst>
                                          <p:attrName>style.visibility</p:attrName>
                                        </p:attrNameLst>
                                      </p:cBhvr>
                                      <p:to>
                                        <p:strVal val="visible"/>
                                      </p:to>
                                    </p:set>
                                    <p:animEffect transition="in" filter="fade">
                                      <p:cBhvr>
                                        <p:cTn id="10" dur="500"/>
                                        <p:tgtEl>
                                          <p:spTgt spid="29"/>
                                        </p:tgtEl>
                                      </p:cBhvr>
                                    </p:animEffect>
                                  </p:childTnLst>
                                </p:cTn>
                              </p:par>
                              <p:par>
                                <p:cTn id="11" presetID="10" presetClass="entr" presetSubtype="0" fill="hold" nodeType="withEffect">
                                  <p:stCondLst>
                                    <p:cond delay="0"/>
                                  </p:stCondLst>
                                  <p:childTnLst>
                                    <p:set>
                                      <p:cBhvr>
                                        <p:cTn id="12" dur="1" fill="hold">
                                          <p:stCondLst>
                                            <p:cond delay="0"/>
                                          </p:stCondLst>
                                        </p:cTn>
                                        <p:tgtEl>
                                          <p:spTgt spid="35"/>
                                        </p:tgtEl>
                                        <p:attrNameLst>
                                          <p:attrName>style.visibility</p:attrName>
                                        </p:attrNameLst>
                                      </p:cBhvr>
                                      <p:to>
                                        <p:strVal val="visible"/>
                                      </p:to>
                                    </p:set>
                                    <p:animEffect transition="in" filter="fade">
                                      <p:cBhvr>
                                        <p:cTn id="13" dur="500"/>
                                        <p:tgtEl>
                                          <p:spTgt spid="35"/>
                                        </p:tgtEl>
                                      </p:cBhvr>
                                    </p:animEffect>
                                  </p:childTnLst>
                                </p:cTn>
                              </p:par>
                              <p:par>
                                <p:cTn id="14" presetID="10" presetClass="entr" presetSubtype="0" fill="hold" nodeType="withEffect">
                                  <p:stCondLst>
                                    <p:cond delay="0"/>
                                  </p:stCondLst>
                                  <p:childTnLst>
                                    <p:set>
                                      <p:cBhvr>
                                        <p:cTn id="15" dur="1" fill="hold">
                                          <p:stCondLst>
                                            <p:cond delay="0"/>
                                          </p:stCondLst>
                                        </p:cTn>
                                        <p:tgtEl>
                                          <p:spTgt spid="32"/>
                                        </p:tgtEl>
                                        <p:attrNameLst>
                                          <p:attrName>style.visibility</p:attrName>
                                        </p:attrNameLst>
                                      </p:cBhvr>
                                      <p:to>
                                        <p:strVal val="visible"/>
                                      </p:to>
                                    </p:set>
                                    <p:animEffect transition="in" filter="fade">
                                      <p:cBhvr>
                                        <p:cTn id="16" dur="500"/>
                                        <p:tgtEl>
                                          <p:spTgt spid="32"/>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11"/>
                                        </p:tgtEl>
                                        <p:attrNameLst>
                                          <p:attrName>style.visibility</p:attrName>
                                        </p:attrNameLst>
                                      </p:cBhvr>
                                      <p:to>
                                        <p:strVal val="visible"/>
                                      </p:to>
                                    </p:set>
                                    <p:animEffect transition="in" filter="fade">
                                      <p:cBhvr>
                                        <p:cTn id="21" dur="500"/>
                                        <p:tgtEl>
                                          <p:spTgt spid="11"/>
                                        </p:tgtEl>
                                      </p:cBhvr>
                                    </p:animEffect>
                                  </p:childTnLst>
                                </p:cTn>
                              </p:par>
                              <p:par>
                                <p:cTn id="22" presetID="10" presetClass="entr" presetSubtype="0" fill="hold" nodeType="withEffect">
                                  <p:stCondLst>
                                    <p:cond delay="0"/>
                                  </p:stCondLst>
                                  <p:childTnLst>
                                    <p:set>
                                      <p:cBhvr>
                                        <p:cTn id="23" dur="1" fill="hold">
                                          <p:stCondLst>
                                            <p:cond delay="0"/>
                                          </p:stCondLst>
                                        </p:cTn>
                                        <p:tgtEl>
                                          <p:spTgt spid="23"/>
                                        </p:tgtEl>
                                        <p:attrNameLst>
                                          <p:attrName>style.visibility</p:attrName>
                                        </p:attrNameLst>
                                      </p:cBhvr>
                                      <p:to>
                                        <p:strVal val="visible"/>
                                      </p:to>
                                    </p:set>
                                    <p:animEffect transition="in" filter="fade">
                                      <p:cBhvr>
                                        <p:cTn id="24" dur="500"/>
                                        <p:tgtEl>
                                          <p:spTgt spid="23"/>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37"/>
                                        </p:tgtEl>
                                        <p:attrNameLst>
                                          <p:attrName>style.visibility</p:attrName>
                                        </p:attrNameLst>
                                      </p:cBhvr>
                                      <p:to>
                                        <p:strVal val="visible"/>
                                      </p:to>
                                    </p:set>
                                    <p:animEffect transition="in" filter="fade">
                                      <p:cBhvr>
                                        <p:cTn id="29" dur="500"/>
                                        <p:tgtEl>
                                          <p:spTgt spid="37"/>
                                        </p:tgtEl>
                                      </p:cBhvr>
                                    </p:animEffect>
                                  </p:childTnLst>
                                </p:cTn>
                              </p:par>
                              <p:par>
                                <p:cTn id="30" presetID="10" presetClass="entr" presetSubtype="0" fill="hold" nodeType="withEffect">
                                  <p:stCondLst>
                                    <p:cond delay="0"/>
                                  </p:stCondLst>
                                  <p:childTnLst>
                                    <p:set>
                                      <p:cBhvr>
                                        <p:cTn id="31" dur="1" fill="hold">
                                          <p:stCondLst>
                                            <p:cond delay="0"/>
                                          </p:stCondLst>
                                        </p:cTn>
                                        <p:tgtEl>
                                          <p:spTgt spid="31"/>
                                        </p:tgtEl>
                                        <p:attrNameLst>
                                          <p:attrName>style.visibility</p:attrName>
                                        </p:attrNameLst>
                                      </p:cBhvr>
                                      <p:to>
                                        <p:strVal val="visible"/>
                                      </p:to>
                                    </p:set>
                                    <p:animEffect transition="in" filter="fade">
                                      <p:cBhvr>
                                        <p:cTn id="32" dur="500"/>
                                        <p:tgtEl>
                                          <p:spTgt spid="31"/>
                                        </p:tgtEl>
                                      </p:cBhvr>
                                    </p:animEffect>
                                  </p:childTnLst>
                                </p:cTn>
                              </p:par>
                            </p:childTnLst>
                          </p:cTn>
                        </p:par>
                        <p:par>
                          <p:cTn id="33" fill="hold">
                            <p:stCondLst>
                              <p:cond delay="500"/>
                            </p:stCondLst>
                            <p:childTnLst>
                              <p:par>
                                <p:cTn id="34" presetID="10" presetClass="entr" presetSubtype="0" fill="hold" nodeType="afterEffect">
                                  <p:stCondLst>
                                    <p:cond delay="0"/>
                                  </p:stCondLst>
                                  <p:childTnLst>
                                    <p:set>
                                      <p:cBhvr>
                                        <p:cTn id="35" dur="1" fill="hold">
                                          <p:stCondLst>
                                            <p:cond delay="0"/>
                                          </p:stCondLst>
                                        </p:cTn>
                                        <p:tgtEl>
                                          <p:spTgt spid="38"/>
                                        </p:tgtEl>
                                        <p:attrNameLst>
                                          <p:attrName>style.visibility</p:attrName>
                                        </p:attrNameLst>
                                      </p:cBhvr>
                                      <p:to>
                                        <p:strVal val="visible"/>
                                      </p:to>
                                    </p:set>
                                    <p:animEffect transition="in" filter="fade">
                                      <p:cBhvr>
                                        <p:cTn id="36" dur="500"/>
                                        <p:tgtEl>
                                          <p:spTgt spid="38"/>
                                        </p:tgtEl>
                                      </p:cBhvr>
                                    </p:animEffect>
                                  </p:childTnLst>
                                </p:cTn>
                              </p:par>
                              <p:par>
                                <p:cTn id="37" presetID="10" presetClass="entr" presetSubtype="0" fill="hold" nodeType="withEffect">
                                  <p:stCondLst>
                                    <p:cond delay="0"/>
                                  </p:stCondLst>
                                  <p:childTnLst>
                                    <p:set>
                                      <p:cBhvr>
                                        <p:cTn id="38" dur="1" fill="hold">
                                          <p:stCondLst>
                                            <p:cond delay="0"/>
                                          </p:stCondLst>
                                        </p:cTn>
                                        <p:tgtEl>
                                          <p:spTgt spid="33"/>
                                        </p:tgtEl>
                                        <p:attrNameLst>
                                          <p:attrName>style.visibility</p:attrName>
                                        </p:attrNameLst>
                                      </p:cBhvr>
                                      <p:to>
                                        <p:strVal val="visible"/>
                                      </p:to>
                                    </p:set>
                                    <p:animEffect transition="in" filter="fade">
                                      <p:cBhvr>
                                        <p:cTn id="39" dur="500"/>
                                        <p:tgtEl>
                                          <p:spTgt spid="33"/>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xit" presetSubtype="0" fill="hold" nodeType="clickEffect">
                                  <p:stCondLst>
                                    <p:cond delay="0"/>
                                  </p:stCondLst>
                                  <p:childTnLst>
                                    <p:animEffect transition="out" filter="fade">
                                      <p:cBhvr>
                                        <p:cTn id="43" dur="500"/>
                                        <p:tgtEl>
                                          <p:spTgt spid="23"/>
                                        </p:tgtEl>
                                      </p:cBhvr>
                                    </p:animEffect>
                                    <p:set>
                                      <p:cBhvr>
                                        <p:cTn id="44" dur="1" fill="hold">
                                          <p:stCondLst>
                                            <p:cond delay="499"/>
                                          </p:stCondLst>
                                        </p:cTn>
                                        <p:tgtEl>
                                          <p:spTgt spid="23"/>
                                        </p:tgtEl>
                                        <p:attrNameLst>
                                          <p:attrName>style.visibility</p:attrName>
                                        </p:attrNameLst>
                                      </p:cBhvr>
                                      <p:to>
                                        <p:strVal val="hidden"/>
                                      </p:to>
                                    </p:set>
                                  </p:childTnLst>
                                </p:cTn>
                              </p:par>
                            </p:childTnLst>
                          </p:cTn>
                        </p:par>
                        <p:par>
                          <p:cTn id="45" fill="hold">
                            <p:stCondLst>
                              <p:cond delay="500"/>
                            </p:stCondLst>
                            <p:childTnLst>
                              <p:par>
                                <p:cTn id="46" presetID="10" presetClass="entr" presetSubtype="0" fill="hold" nodeType="afterEffect">
                                  <p:stCondLst>
                                    <p:cond delay="0"/>
                                  </p:stCondLst>
                                  <p:childTnLst>
                                    <p:set>
                                      <p:cBhvr>
                                        <p:cTn id="47" dur="1" fill="hold">
                                          <p:stCondLst>
                                            <p:cond delay="0"/>
                                          </p:stCondLst>
                                        </p:cTn>
                                        <p:tgtEl>
                                          <p:spTgt spid="30"/>
                                        </p:tgtEl>
                                        <p:attrNameLst>
                                          <p:attrName>style.visibility</p:attrName>
                                        </p:attrNameLst>
                                      </p:cBhvr>
                                      <p:to>
                                        <p:strVal val="visible"/>
                                      </p:to>
                                    </p:set>
                                    <p:animEffect transition="in" filter="fade">
                                      <p:cBhvr>
                                        <p:cTn id="48"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F651791-2569-55DA-BE1B-386D295E17B8}"/>
              </a:ext>
            </a:extLst>
          </p:cNvPr>
          <p:cNvSpPr>
            <a:spLocks noGrp="1"/>
          </p:cNvSpPr>
          <p:nvPr>
            <p:ph type="ctrTitle"/>
          </p:nvPr>
        </p:nvSpPr>
        <p:spPr/>
        <p:txBody>
          <a:bodyPr/>
          <a:lstStyle/>
          <a:p>
            <a:r>
              <a:rPr lang="de-DE" sz="2000" noProof="1"/>
              <a:t>Explanation Strategy</a:t>
            </a:r>
          </a:p>
        </p:txBody>
      </p:sp>
      <p:sp>
        <p:nvSpPr>
          <p:cNvPr id="10" name="Vertikaler Textplatzhalter 9"/>
          <p:cNvSpPr>
            <a:spLocks noGrp="1"/>
          </p:cNvSpPr>
          <p:nvPr>
            <p:ph type="body" orient="vert" sz="quarter" idx="18"/>
          </p:nvPr>
        </p:nvSpPr>
        <p:spPr/>
        <p:txBody>
          <a:bodyPr/>
          <a:lstStyle/>
          <a:p>
            <a:endParaRPr lang="de-DE" noProof="1"/>
          </a:p>
        </p:txBody>
      </p:sp>
      <p:sp>
        <p:nvSpPr>
          <p:cNvPr id="4" name="Datumsplatzhalter 3">
            <a:extLst>
              <a:ext uri="{FF2B5EF4-FFF2-40B4-BE49-F238E27FC236}">
                <a16:creationId xmlns:a16="http://schemas.microsoft.com/office/drawing/2014/main" id="{0150058D-28AE-FE9A-694A-C931A8F38ECF}"/>
              </a:ext>
            </a:extLst>
          </p:cNvPr>
          <p:cNvSpPr>
            <a:spLocks noGrp="1"/>
          </p:cNvSpPr>
          <p:nvPr>
            <p:ph type="dt" sz="half" idx="10"/>
          </p:nvPr>
        </p:nvSpPr>
        <p:spPr/>
        <p:txBody>
          <a:bodyPr/>
          <a:lstStyle/>
          <a:p>
            <a:r>
              <a:rPr lang="en-US" noProof="1"/>
              <a:t>18.08.2025</a:t>
            </a:r>
            <a:endParaRPr lang="de-DE" noProof="1"/>
          </a:p>
        </p:txBody>
      </p:sp>
      <p:sp>
        <p:nvSpPr>
          <p:cNvPr id="5" name="Fußzeilenplatzhalter 4">
            <a:extLst>
              <a:ext uri="{FF2B5EF4-FFF2-40B4-BE49-F238E27FC236}">
                <a16:creationId xmlns:a16="http://schemas.microsoft.com/office/drawing/2014/main" id="{15F3BFC1-4D9C-1675-7DB4-7782195554F4}"/>
              </a:ext>
            </a:extLst>
          </p:cNvPr>
          <p:cNvSpPr>
            <a:spLocks noGrp="1"/>
          </p:cNvSpPr>
          <p:nvPr>
            <p:ph type="ftr" sz="quarter" idx="11"/>
          </p:nvPr>
        </p:nvSpPr>
        <p:spPr/>
        <p:txBody>
          <a:bodyPr/>
          <a:lstStyle/>
          <a:p>
            <a:r>
              <a:rPr lang="en-US" noProof="1"/>
              <a:t>Enhancing model transparency: Effects of DK Integration for Conversational XAI | Feustel</a:t>
            </a:r>
            <a:endParaRPr lang="de-DE" noProof="1"/>
          </a:p>
        </p:txBody>
      </p:sp>
      <p:sp>
        <p:nvSpPr>
          <p:cNvPr id="6" name="Foliennummernplatzhalter 5">
            <a:extLst>
              <a:ext uri="{FF2B5EF4-FFF2-40B4-BE49-F238E27FC236}">
                <a16:creationId xmlns:a16="http://schemas.microsoft.com/office/drawing/2014/main" id="{7D19C287-03B9-7A5D-C280-332116DAFFF8}"/>
              </a:ext>
            </a:extLst>
          </p:cNvPr>
          <p:cNvSpPr>
            <a:spLocks noGrp="1"/>
          </p:cNvSpPr>
          <p:nvPr>
            <p:ph type="sldNum" sz="quarter" idx="12"/>
          </p:nvPr>
        </p:nvSpPr>
        <p:spPr/>
        <p:txBody>
          <a:bodyPr/>
          <a:lstStyle/>
          <a:p>
            <a:r>
              <a:rPr lang="de-DE" noProof="1"/>
              <a:t> </a:t>
            </a:r>
            <a:fld id="{FE120BDC-5456-EC41-8BB6-7A3B726EA19B}" type="slidenum">
              <a:rPr lang="de-DE" noProof="1" smtClean="0"/>
              <a:pPr/>
              <a:t>20</a:t>
            </a:fld>
            <a:endParaRPr lang="de-DE" noProof="1"/>
          </a:p>
        </p:txBody>
      </p:sp>
      <p:sp>
        <p:nvSpPr>
          <p:cNvPr id="12" name="Rechteck 11">
            <a:extLst>
              <a:ext uri="{FF2B5EF4-FFF2-40B4-BE49-F238E27FC236}">
                <a16:creationId xmlns:a16="http://schemas.microsoft.com/office/drawing/2014/main" id="{8DC9BC4A-8964-7793-80F6-33A7347355A8}"/>
              </a:ext>
            </a:extLst>
          </p:cNvPr>
          <p:cNvSpPr/>
          <p:nvPr/>
        </p:nvSpPr>
        <p:spPr>
          <a:xfrm>
            <a:off x="415325" y="985319"/>
            <a:ext cx="1848665" cy="531711"/>
          </a:xfrm>
          <a:prstGeom prst="rect">
            <a:avLst/>
          </a:prstGeom>
          <a:ln>
            <a:noFill/>
          </a:ln>
          <a:effectLst>
            <a:softEdge rad="12700"/>
          </a:effectLst>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de-DE" sz="1600" noProof="1">
                <a:latin typeface="Arial" panose="020B0604020202020204" pitchFamily="34" charset="0"/>
                <a:cs typeface="Arial" panose="020B0604020202020204" pitchFamily="34" charset="0"/>
              </a:rPr>
              <a:t>Request Explanation</a:t>
            </a:r>
          </a:p>
        </p:txBody>
      </p:sp>
      <p:sp>
        <p:nvSpPr>
          <p:cNvPr id="13" name="Rechteck 12">
            <a:extLst>
              <a:ext uri="{FF2B5EF4-FFF2-40B4-BE49-F238E27FC236}">
                <a16:creationId xmlns:a16="http://schemas.microsoft.com/office/drawing/2014/main" id="{4A6AA67D-2A62-7610-34EE-6D7F0CB8E29D}"/>
              </a:ext>
            </a:extLst>
          </p:cNvPr>
          <p:cNvSpPr/>
          <p:nvPr/>
        </p:nvSpPr>
        <p:spPr>
          <a:xfrm>
            <a:off x="3153818" y="983379"/>
            <a:ext cx="1848666" cy="527406"/>
          </a:xfrm>
          <a:prstGeom prst="rect">
            <a:avLst/>
          </a:prstGeom>
          <a:ln>
            <a:noFill/>
          </a:ln>
          <a:effectLst>
            <a:softEdge rad="12700"/>
          </a:effectLst>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de-DE" sz="1600" noProof="1">
                <a:latin typeface="Arial" panose="020B0604020202020204" pitchFamily="34" charset="0"/>
                <a:cs typeface="Arial" panose="020B0604020202020204" pitchFamily="34" charset="0"/>
              </a:rPr>
              <a:t>Request Important Feature</a:t>
            </a:r>
          </a:p>
        </p:txBody>
      </p:sp>
      <p:sp>
        <p:nvSpPr>
          <p:cNvPr id="14" name="Rechteck 13">
            <a:extLst>
              <a:ext uri="{FF2B5EF4-FFF2-40B4-BE49-F238E27FC236}">
                <a16:creationId xmlns:a16="http://schemas.microsoft.com/office/drawing/2014/main" id="{677B7E8F-A65C-4001-590C-D9D5A216D485}"/>
              </a:ext>
            </a:extLst>
          </p:cNvPr>
          <p:cNvSpPr/>
          <p:nvPr/>
        </p:nvSpPr>
        <p:spPr>
          <a:xfrm>
            <a:off x="5877072" y="1023947"/>
            <a:ext cx="1848665" cy="534192"/>
          </a:xfrm>
          <a:prstGeom prst="rect">
            <a:avLst/>
          </a:prstGeom>
          <a:ln>
            <a:noFill/>
          </a:ln>
          <a:effectLst>
            <a:softEdge rad="12700"/>
          </a:effectLst>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de-DE" sz="1600" noProof="1">
                <a:latin typeface="Arial" panose="020B0604020202020204" pitchFamily="34" charset="0"/>
                <a:cs typeface="Arial" panose="020B0604020202020204" pitchFamily="34" charset="0"/>
              </a:rPr>
              <a:t>Request </a:t>
            </a:r>
            <a:br>
              <a:rPr lang="de-DE" sz="1600" noProof="1">
                <a:latin typeface="Arial" panose="020B0604020202020204" pitchFamily="34" charset="0"/>
                <a:cs typeface="Arial" panose="020B0604020202020204" pitchFamily="34" charset="0"/>
              </a:rPr>
            </a:br>
            <a:r>
              <a:rPr lang="de-DE" sz="1600" noProof="1">
                <a:latin typeface="Arial" panose="020B0604020202020204" pitchFamily="34" charset="0"/>
                <a:cs typeface="Arial" panose="020B0604020202020204" pitchFamily="34" charset="0"/>
              </a:rPr>
              <a:t>What If</a:t>
            </a:r>
          </a:p>
        </p:txBody>
      </p:sp>
      <p:sp>
        <p:nvSpPr>
          <p:cNvPr id="16" name="Rechteck 15">
            <a:extLst>
              <a:ext uri="{FF2B5EF4-FFF2-40B4-BE49-F238E27FC236}">
                <a16:creationId xmlns:a16="http://schemas.microsoft.com/office/drawing/2014/main" id="{C47E80F2-4D63-EB54-D3B7-F51D49C03A31}"/>
              </a:ext>
            </a:extLst>
          </p:cNvPr>
          <p:cNvSpPr/>
          <p:nvPr/>
        </p:nvSpPr>
        <p:spPr>
          <a:xfrm>
            <a:off x="3155507" y="1864827"/>
            <a:ext cx="1848665" cy="534191"/>
          </a:xfrm>
          <a:prstGeom prst="rect">
            <a:avLst/>
          </a:prstGeom>
          <a:ln>
            <a:noFill/>
          </a:ln>
          <a:effectLst>
            <a:softEdge rad="12700"/>
          </a:effectLst>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de-DE" sz="1600" noProof="1">
                <a:latin typeface="Arial" panose="020B0604020202020204" pitchFamily="34" charset="0"/>
                <a:cs typeface="Arial" panose="020B0604020202020204" pitchFamily="34" charset="0"/>
              </a:rPr>
              <a:t>Get Feature Importance</a:t>
            </a:r>
          </a:p>
        </p:txBody>
      </p:sp>
      <p:sp>
        <p:nvSpPr>
          <p:cNvPr id="17" name="Rechteck 16">
            <a:extLst>
              <a:ext uri="{FF2B5EF4-FFF2-40B4-BE49-F238E27FC236}">
                <a16:creationId xmlns:a16="http://schemas.microsoft.com/office/drawing/2014/main" id="{C9920D1B-585A-E2A7-D20E-1C94CC95D2D5}"/>
              </a:ext>
            </a:extLst>
          </p:cNvPr>
          <p:cNvSpPr/>
          <p:nvPr/>
        </p:nvSpPr>
        <p:spPr>
          <a:xfrm>
            <a:off x="3155401" y="2715218"/>
            <a:ext cx="1848665" cy="538131"/>
          </a:xfrm>
          <a:prstGeom prst="rect">
            <a:avLst/>
          </a:prstGeom>
          <a:solidFill>
            <a:schemeClr val="accent3"/>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de-DE" sz="1600" noProof="1">
                <a:latin typeface="Arial" panose="020B0604020202020204" pitchFamily="34" charset="0"/>
                <a:cs typeface="Arial" panose="020B0604020202020204" pitchFamily="34" charset="0"/>
              </a:rPr>
              <a:t>Get Domain Knowledge</a:t>
            </a:r>
          </a:p>
        </p:txBody>
      </p:sp>
      <p:sp>
        <p:nvSpPr>
          <p:cNvPr id="18" name="Rechteck 17">
            <a:extLst>
              <a:ext uri="{FF2B5EF4-FFF2-40B4-BE49-F238E27FC236}">
                <a16:creationId xmlns:a16="http://schemas.microsoft.com/office/drawing/2014/main" id="{48879C58-7643-C8BE-39E6-DC44A6838EC3}"/>
              </a:ext>
            </a:extLst>
          </p:cNvPr>
          <p:cNvSpPr/>
          <p:nvPr/>
        </p:nvSpPr>
        <p:spPr>
          <a:xfrm>
            <a:off x="415324" y="3561577"/>
            <a:ext cx="1848665" cy="527406"/>
          </a:xfrm>
          <a:prstGeom prst="rect">
            <a:avLst/>
          </a:prstGeom>
          <a:ln>
            <a:noFill/>
          </a:ln>
          <a:effectLst>
            <a:softEdge rad="12700"/>
          </a:effectLst>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de-DE" sz="1600" noProof="1">
                <a:latin typeface="Arial" panose="020B0604020202020204" pitchFamily="34" charset="0"/>
                <a:cs typeface="Arial" panose="020B0604020202020204" pitchFamily="34" charset="0"/>
              </a:rPr>
              <a:t>No Explanation Found</a:t>
            </a:r>
          </a:p>
        </p:txBody>
      </p:sp>
      <p:sp>
        <p:nvSpPr>
          <p:cNvPr id="19" name="Rechteck 18">
            <a:extLst>
              <a:ext uri="{FF2B5EF4-FFF2-40B4-BE49-F238E27FC236}">
                <a16:creationId xmlns:a16="http://schemas.microsoft.com/office/drawing/2014/main" id="{808ECE2A-E51C-1663-2DEF-087AE6823D13}"/>
              </a:ext>
            </a:extLst>
          </p:cNvPr>
          <p:cNvSpPr/>
          <p:nvPr/>
        </p:nvSpPr>
        <p:spPr>
          <a:xfrm>
            <a:off x="5885407" y="1868069"/>
            <a:ext cx="1848665" cy="530949"/>
          </a:xfrm>
          <a:prstGeom prst="rect">
            <a:avLst/>
          </a:prstGeom>
          <a:ln>
            <a:noFill/>
          </a:ln>
          <a:effectLst>
            <a:softEdge rad="12700"/>
          </a:effectLst>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de-DE" sz="1600" noProof="1">
                <a:latin typeface="Arial" panose="020B0604020202020204" pitchFamily="34" charset="0"/>
                <a:cs typeface="Arial" panose="020B0604020202020204" pitchFamily="34" charset="0"/>
              </a:rPr>
              <a:t>Clarify Argument Topic</a:t>
            </a:r>
          </a:p>
        </p:txBody>
      </p:sp>
      <p:sp>
        <p:nvSpPr>
          <p:cNvPr id="20" name="Rechteck 19">
            <a:extLst>
              <a:ext uri="{FF2B5EF4-FFF2-40B4-BE49-F238E27FC236}">
                <a16:creationId xmlns:a16="http://schemas.microsoft.com/office/drawing/2014/main" id="{98AFA415-6DF6-7129-8C69-6A8DF12A4EE5}"/>
              </a:ext>
            </a:extLst>
          </p:cNvPr>
          <p:cNvSpPr/>
          <p:nvPr/>
        </p:nvSpPr>
        <p:spPr>
          <a:xfrm>
            <a:off x="3155508" y="4372251"/>
            <a:ext cx="1848665" cy="541042"/>
          </a:xfrm>
          <a:prstGeom prst="rect">
            <a:avLst/>
          </a:prstGeom>
          <a:ln>
            <a:noFill/>
          </a:ln>
          <a:effectLst>
            <a:softEdge rad="12700"/>
          </a:effectLst>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de-DE" sz="1600" noProof="1">
                <a:latin typeface="Arial" panose="020B0604020202020204" pitchFamily="34" charset="0"/>
                <a:cs typeface="Arial" panose="020B0604020202020204" pitchFamily="34" charset="0"/>
              </a:rPr>
              <a:t>Confirm</a:t>
            </a:r>
          </a:p>
        </p:txBody>
      </p:sp>
      <p:sp>
        <p:nvSpPr>
          <p:cNvPr id="21" name="Rechteck 20">
            <a:extLst>
              <a:ext uri="{FF2B5EF4-FFF2-40B4-BE49-F238E27FC236}">
                <a16:creationId xmlns:a16="http://schemas.microsoft.com/office/drawing/2014/main" id="{03A8EE03-4BE1-BAB5-D76A-053BC076CB37}"/>
              </a:ext>
            </a:extLst>
          </p:cNvPr>
          <p:cNvSpPr/>
          <p:nvPr/>
        </p:nvSpPr>
        <p:spPr>
          <a:xfrm>
            <a:off x="5894816" y="3556061"/>
            <a:ext cx="1848665" cy="527406"/>
          </a:xfrm>
          <a:prstGeom prst="rect">
            <a:avLst/>
          </a:prstGeom>
          <a:ln>
            <a:noFill/>
          </a:ln>
          <a:effectLst>
            <a:softEdge rad="12700"/>
          </a:effectLst>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de-DE" sz="1600" noProof="1">
                <a:latin typeface="Arial" panose="020B0604020202020204" pitchFamily="34" charset="0"/>
                <a:cs typeface="Arial" panose="020B0604020202020204" pitchFamily="34" charset="0"/>
              </a:rPr>
              <a:t>Provide Support Argument</a:t>
            </a:r>
          </a:p>
        </p:txBody>
      </p:sp>
      <p:sp>
        <p:nvSpPr>
          <p:cNvPr id="22" name="Rechteck 21">
            <a:extLst>
              <a:ext uri="{FF2B5EF4-FFF2-40B4-BE49-F238E27FC236}">
                <a16:creationId xmlns:a16="http://schemas.microsoft.com/office/drawing/2014/main" id="{54744D69-CE82-A122-A3F8-FED9107B4138}"/>
              </a:ext>
            </a:extLst>
          </p:cNvPr>
          <p:cNvSpPr/>
          <p:nvPr/>
        </p:nvSpPr>
        <p:spPr>
          <a:xfrm>
            <a:off x="5885408" y="2717189"/>
            <a:ext cx="1848665" cy="536160"/>
          </a:xfrm>
          <a:prstGeom prst="rect">
            <a:avLst/>
          </a:prstGeom>
          <a:ln>
            <a:noFill/>
          </a:ln>
          <a:effectLst>
            <a:softEdge rad="12700"/>
          </a:effectLst>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de-DE" sz="1600" noProof="1">
                <a:latin typeface="Arial" panose="020B0604020202020204" pitchFamily="34" charset="0"/>
                <a:cs typeface="Arial" panose="020B0604020202020204" pitchFamily="34" charset="0"/>
              </a:rPr>
              <a:t>Provide Claim</a:t>
            </a:r>
          </a:p>
        </p:txBody>
      </p:sp>
      <p:sp>
        <p:nvSpPr>
          <p:cNvPr id="23" name="Rechteck 22">
            <a:extLst>
              <a:ext uri="{FF2B5EF4-FFF2-40B4-BE49-F238E27FC236}">
                <a16:creationId xmlns:a16="http://schemas.microsoft.com/office/drawing/2014/main" id="{A55CA164-CC8A-BB81-8468-2C8924901ED1}"/>
              </a:ext>
            </a:extLst>
          </p:cNvPr>
          <p:cNvSpPr/>
          <p:nvPr/>
        </p:nvSpPr>
        <p:spPr>
          <a:xfrm>
            <a:off x="415325" y="4376052"/>
            <a:ext cx="1848665" cy="541042"/>
          </a:xfrm>
          <a:prstGeom prst="rect">
            <a:avLst/>
          </a:prstGeom>
          <a:ln>
            <a:noFill/>
          </a:ln>
          <a:effectLst>
            <a:softEdge rad="12700"/>
          </a:effectLst>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de-DE" sz="1600" noProof="1">
                <a:latin typeface="Arial" panose="020B0604020202020204" pitchFamily="34" charset="0"/>
                <a:cs typeface="Arial" panose="020B0604020202020204" pitchFamily="34" charset="0"/>
              </a:rPr>
              <a:t>Offer CF</a:t>
            </a:r>
          </a:p>
          <a:p>
            <a:pPr algn="ctr"/>
            <a:r>
              <a:rPr lang="de-DE" sz="1600" noProof="1">
                <a:latin typeface="Arial" panose="020B0604020202020204" pitchFamily="34" charset="0"/>
                <a:cs typeface="Arial" panose="020B0604020202020204" pitchFamily="34" charset="0"/>
              </a:rPr>
              <a:t>Explanation</a:t>
            </a:r>
          </a:p>
        </p:txBody>
      </p:sp>
      <p:sp>
        <p:nvSpPr>
          <p:cNvPr id="24" name="Rechteck 23">
            <a:extLst>
              <a:ext uri="{FF2B5EF4-FFF2-40B4-BE49-F238E27FC236}">
                <a16:creationId xmlns:a16="http://schemas.microsoft.com/office/drawing/2014/main" id="{A04157E9-A38C-B8C6-4092-E97118AE581B}"/>
              </a:ext>
            </a:extLst>
          </p:cNvPr>
          <p:cNvSpPr/>
          <p:nvPr/>
        </p:nvSpPr>
        <p:spPr>
          <a:xfrm>
            <a:off x="5885408" y="4371858"/>
            <a:ext cx="1848665" cy="541042"/>
          </a:xfrm>
          <a:prstGeom prst="rect">
            <a:avLst/>
          </a:prstGeom>
          <a:ln>
            <a:noFill/>
          </a:ln>
          <a:effectLst>
            <a:softEdge rad="12700"/>
          </a:effectLst>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de-DE" sz="1600" noProof="1">
                <a:latin typeface="Arial" panose="020B0604020202020204" pitchFamily="34" charset="0"/>
                <a:cs typeface="Arial" panose="020B0604020202020204" pitchFamily="34" charset="0"/>
              </a:rPr>
              <a:t>Provide Counterfactuals</a:t>
            </a:r>
          </a:p>
        </p:txBody>
      </p:sp>
      <p:cxnSp>
        <p:nvCxnSpPr>
          <p:cNvPr id="26" name="Gerade Verbindung mit Pfeil 25">
            <a:extLst>
              <a:ext uri="{FF2B5EF4-FFF2-40B4-BE49-F238E27FC236}">
                <a16:creationId xmlns:a16="http://schemas.microsoft.com/office/drawing/2014/main" id="{CA88C38F-6D44-08EA-49DE-E2C655FA8C2A}"/>
              </a:ext>
            </a:extLst>
          </p:cNvPr>
          <p:cNvCxnSpPr>
            <a:stCxn id="12" idx="2"/>
            <a:endCxn id="18" idx="0"/>
          </p:cNvCxnSpPr>
          <p:nvPr/>
        </p:nvCxnSpPr>
        <p:spPr>
          <a:xfrm flipH="1">
            <a:off x="1339657" y="1517030"/>
            <a:ext cx="1" cy="2044547"/>
          </a:xfrm>
          <a:prstGeom prst="straightConnector1">
            <a:avLst/>
          </a:prstGeom>
          <a:ln w="19050" cap="flat" cmpd="sng" algn="ctr">
            <a:solidFill>
              <a:schemeClr val="accent2"/>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31" name="Verbinder: gewinkelt 30">
            <a:extLst>
              <a:ext uri="{FF2B5EF4-FFF2-40B4-BE49-F238E27FC236}">
                <a16:creationId xmlns:a16="http://schemas.microsoft.com/office/drawing/2014/main" id="{E50CC4E4-8AB7-BFD1-BCD9-971FF8CAA68E}"/>
              </a:ext>
            </a:extLst>
          </p:cNvPr>
          <p:cNvCxnSpPr>
            <a:stCxn id="12" idx="2"/>
            <a:endCxn id="16" idx="1"/>
          </p:cNvCxnSpPr>
          <p:nvPr/>
        </p:nvCxnSpPr>
        <p:spPr>
          <a:xfrm rot="16200000" flipH="1">
            <a:off x="1940136" y="916551"/>
            <a:ext cx="614893" cy="1815849"/>
          </a:xfrm>
          <a:prstGeom prst="bentConnector2">
            <a:avLst/>
          </a:prstGeom>
          <a:ln w="19050" cap="flat" cmpd="sng" algn="ctr">
            <a:solidFill>
              <a:schemeClr val="accent2"/>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35" name="Verbinder: gewinkelt 34">
            <a:extLst>
              <a:ext uri="{FF2B5EF4-FFF2-40B4-BE49-F238E27FC236}">
                <a16:creationId xmlns:a16="http://schemas.microsoft.com/office/drawing/2014/main" id="{D8C60CFC-46AD-496E-3F22-53FED3408056}"/>
              </a:ext>
            </a:extLst>
          </p:cNvPr>
          <p:cNvCxnSpPr>
            <a:stCxn id="12" idx="2"/>
            <a:endCxn id="17" idx="1"/>
          </p:cNvCxnSpPr>
          <p:nvPr/>
        </p:nvCxnSpPr>
        <p:spPr>
          <a:xfrm rot="16200000" flipH="1">
            <a:off x="1513902" y="1342785"/>
            <a:ext cx="1467254" cy="1815743"/>
          </a:xfrm>
          <a:prstGeom prst="bentConnector2">
            <a:avLst/>
          </a:prstGeom>
          <a:ln w="19050" cap="flat" cmpd="sng" algn="ctr">
            <a:solidFill>
              <a:schemeClr val="accent2"/>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36" name="Verbinder: gewinkelt 35">
            <a:extLst>
              <a:ext uri="{FF2B5EF4-FFF2-40B4-BE49-F238E27FC236}">
                <a16:creationId xmlns:a16="http://schemas.microsoft.com/office/drawing/2014/main" id="{63B64353-6ADA-8772-89E4-790D1BAFD9FE}"/>
              </a:ext>
            </a:extLst>
          </p:cNvPr>
          <p:cNvCxnSpPr>
            <a:cxnSpLocks/>
            <a:stCxn id="17" idx="2"/>
            <a:endCxn id="18" idx="3"/>
          </p:cNvCxnSpPr>
          <p:nvPr/>
        </p:nvCxnSpPr>
        <p:spPr>
          <a:xfrm rot="5400000">
            <a:off x="2885897" y="2631442"/>
            <a:ext cx="571931" cy="1815745"/>
          </a:xfrm>
          <a:prstGeom prst="bentConnector2">
            <a:avLst/>
          </a:prstGeom>
          <a:ln w="19050" cap="flat" cmpd="sng" algn="ctr">
            <a:solidFill>
              <a:schemeClr val="accent2"/>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39" name="Verbinder: gewinkelt 38">
            <a:extLst>
              <a:ext uri="{FF2B5EF4-FFF2-40B4-BE49-F238E27FC236}">
                <a16:creationId xmlns:a16="http://schemas.microsoft.com/office/drawing/2014/main" id="{4C747537-F3B9-A5DB-11BF-BD7F4A2B206D}"/>
              </a:ext>
            </a:extLst>
          </p:cNvPr>
          <p:cNvCxnSpPr>
            <a:cxnSpLocks/>
            <a:stCxn id="17" idx="3"/>
            <a:endCxn id="22" idx="1"/>
          </p:cNvCxnSpPr>
          <p:nvPr/>
        </p:nvCxnSpPr>
        <p:spPr>
          <a:xfrm>
            <a:off x="5004066" y="2984284"/>
            <a:ext cx="881342" cy="985"/>
          </a:xfrm>
          <a:prstGeom prst="bentConnector3">
            <a:avLst>
              <a:gd name="adj1" fmla="val 50000"/>
            </a:avLst>
          </a:prstGeom>
          <a:ln w="19050" cap="flat" cmpd="sng" algn="ctr">
            <a:solidFill>
              <a:schemeClr val="accent2"/>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42" name="Verbinder: gewinkelt 41">
            <a:extLst>
              <a:ext uri="{FF2B5EF4-FFF2-40B4-BE49-F238E27FC236}">
                <a16:creationId xmlns:a16="http://schemas.microsoft.com/office/drawing/2014/main" id="{70C15B69-D67A-BBFD-10A0-AFBE85C00CA9}"/>
              </a:ext>
            </a:extLst>
          </p:cNvPr>
          <p:cNvCxnSpPr>
            <a:cxnSpLocks/>
            <a:stCxn id="17" idx="3"/>
            <a:endCxn id="19" idx="1"/>
          </p:cNvCxnSpPr>
          <p:nvPr/>
        </p:nvCxnSpPr>
        <p:spPr>
          <a:xfrm flipV="1">
            <a:off x="5004066" y="2133544"/>
            <a:ext cx="881341" cy="850740"/>
          </a:xfrm>
          <a:prstGeom prst="bentConnector3">
            <a:avLst>
              <a:gd name="adj1" fmla="val 50000"/>
            </a:avLst>
          </a:prstGeom>
          <a:ln w="19050" cap="flat" cmpd="sng" algn="ctr">
            <a:solidFill>
              <a:schemeClr val="accent2"/>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45" name="Verbinder: gewinkelt 44">
            <a:extLst>
              <a:ext uri="{FF2B5EF4-FFF2-40B4-BE49-F238E27FC236}">
                <a16:creationId xmlns:a16="http://schemas.microsoft.com/office/drawing/2014/main" id="{580895FB-F6F8-696A-7006-F48029DC88EE}"/>
              </a:ext>
            </a:extLst>
          </p:cNvPr>
          <p:cNvCxnSpPr>
            <a:cxnSpLocks/>
            <a:stCxn id="17" idx="3"/>
            <a:endCxn id="21" idx="1"/>
          </p:cNvCxnSpPr>
          <p:nvPr/>
        </p:nvCxnSpPr>
        <p:spPr>
          <a:xfrm>
            <a:off x="5004066" y="2984284"/>
            <a:ext cx="890750" cy="835480"/>
          </a:xfrm>
          <a:prstGeom prst="bentConnector3">
            <a:avLst>
              <a:gd name="adj1" fmla="val 49465"/>
            </a:avLst>
          </a:prstGeom>
          <a:ln w="19050" cap="flat" cmpd="sng" algn="ctr">
            <a:solidFill>
              <a:schemeClr val="accent2"/>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52" name="Verbinder: gewinkelt 51">
            <a:extLst>
              <a:ext uri="{FF2B5EF4-FFF2-40B4-BE49-F238E27FC236}">
                <a16:creationId xmlns:a16="http://schemas.microsoft.com/office/drawing/2014/main" id="{E4A723D6-B449-1636-70D5-AE201BAA9D1A}"/>
              </a:ext>
            </a:extLst>
          </p:cNvPr>
          <p:cNvCxnSpPr>
            <a:cxnSpLocks/>
          </p:cNvCxnSpPr>
          <p:nvPr/>
        </p:nvCxnSpPr>
        <p:spPr>
          <a:xfrm rot="16200000" flipH="1">
            <a:off x="5756405" y="2633925"/>
            <a:ext cx="3084240" cy="932668"/>
          </a:xfrm>
          <a:prstGeom prst="bentConnector4">
            <a:avLst>
              <a:gd name="adj1" fmla="val 4025"/>
              <a:gd name="adj2" fmla="val 135744"/>
            </a:avLst>
          </a:prstGeom>
          <a:ln w="19050" cap="flat" cmpd="sng" algn="ctr">
            <a:solidFill>
              <a:schemeClr val="accent2"/>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56" name="Gerade Verbindung mit Pfeil 55">
            <a:extLst>
              <a:ext uri="{FF2B5EF4-FFF2-40B4-BE49-F238E27FC236}">
                <a16:creationId xmlns:a16="http://schemas.microsoft.com/office/drawing/2014/main" id="{87324C09-F1C1-85C6-8008-DACDD03CD0B5}"/>
              </a:ext>
            </a:extLst>
          </p:cNvPr>
          <p:cNvCxnSpPr>
            <a:cxnSpLocks/>
            <a:stCxn id="18" idx="2"/>
            <a:endCxn id="23" idx="0"/>
          </p:cNvCxnSpPr>
          <p:nvPr/>
        </p:nvCxnSpPr>
        <p:spPr>
          <a:xfrm>
            <a:off x="1339657" y="4088983"/>
            <a:ext cx="1" cy="287069"/>
          </a:xfrm>
          <a:prstGeom prst="straightConnector1">
            <a:avLst/>
          </a:prstGeom>
          <a:ln w="19050" cap="flat" cmpd="sng" algn="ctr">
            <a:solidFill>
              <a:schemeClr val="accent2"/>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59" name="Gerade Verbindung mit Pfeil 58">
            <a:extLst>
              <a:ext uri="{FF2B5EF4-FFF2-40B4-BE49-F238E27FC236}">
                <a16:creationId xmlns:a16="http://schemas.microsoft.com/office/drawing/2014/main" id="{60900BA0-576B-47B4-F2B4-D05E6B2B6934}"/>
              </a:ext>
            </a:extLst>
          </p:cNvPr>
          <p:cNvCxnSpPr>
            <a:cxnSpLocks/>
            <a:stCxn id="23" idx="3"/>
            <a:endCxn id="20" idx="1"/>
          </p:cNvCxnSpPr>
          <p:nvPr/>
        </p:nvCxnSpPr>
        <p:spPr>
          <a:xfrm flipV="1">
            <a:off x="2263990" y="4642772"/>
            <a:ext cx="891518" cy="3801"/>
          </a:xfrm>
          <a:prstGeom prst="straightConnector1">
            <a:avLst/>
          </a:prstGeom>
          <a:ln w="19050" cap="flat" cmpd="sng" algn="ctr">
            <a:solidFill>
              <a:schemeClr val="accent2"/>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62" name="Gerade Verbindung mit Pfeil 61">
            <a:extLst>
              <a:ext uri="{FF2B5EF4-FFF2-40B4-BE49-F238E27FC236}">
                <a16:creationId xmlns:a16="http://schemas.microsoft.com/office/drawing/2014/main" id="{C7BEC1A8-A0A7-0765-BBC1-EFEC2F613EE7}"/>
              </a:ext>
            </a:extLst>
          </p:cNvPr>
          <p:cNvCxnSpPr>
            <a:cxnSpLocks/>
            <a:stCxn id="20" idx="3"/>
            <a:endCxn id="24" idx="1"/>
          </p:cNvCxnSpPr>
          <p:nvPr/>
        </p:nvCxnSpPr>
        <p:spPr>
          <a:xfrm flipV="1">
            <a:off x="5004173" y="4642379"/>
            <a:ext cx="881235" cy="393"/>
          </a:xfrm>
          <a:prstGeom prst="straightConnector1">
            <a:avLst/>
          </a:prstGeom>
          <a:ln w="19050" cap="flat" cmpd="sng" algn="ctr">
            <a:solidFill>
              <a:schemeClr val="accent2"/>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65" name="Gerade Verbindung mit Pfeil 64">
            <a:extLst>
              <a:ext uri="{FF2B5EF4-FFF2-40B4-BE49-F238E27FC236}">
                <a16:creationId xmlns:a16="http://schemas.microsoft.com/office/drawing/2014/main" id="{5A14E59B-63B1-FC2C-D9EF-EBAAA557993F}"/>
              </a:ext>
            </a:extLst>
          </p:cNvPr>
          <p:cNvCxnSpPr>
            <a:cxnSpLocks/>
            <a:stCxn id="13" idx="2"/>
            <a:endCxn id="16" idx="0"/>
          </p:cNvCxnSpPr>
          <p:nvPr/>
        </p:nvCxnSpPr>
        <p:spPr>
          <a:xfrm>
            <a:off x="4078151" y="1510785"/>
            <a:ext cx="1689" cy="354042"/>
          </a:xfrm>
          <a:prstGeom prst="straightConnector1">
            <a:avLst/>
          </a:prstGeom>
          <a:ln w="19050" cap="flat" cmpd="sng" algn="ctr">
            <a:solidFill>
              <a:schemeClr val="accent2"/>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3" name="Textfeld 2">
            <a:extLst>
              <a:ext uri="{FF2B5EF4-FFF2-40B4-BE49-F238E27FC236}">
                <a16:creationId xmlns:a16="http://schemas.microsoft.com/office/drawing/2014/main" id="{9F7BF17D-2344-E0AC-3F33-BCAF16EE7E3A}"/>
              </a:ext>
            </a:extLst>
          </p:cNvPr>
          <p:cNvSpPr txBox="1"/>
          <p:nvPr/>
        </p:nvSpPr>
        <p:spPr>
          <a:xfrm>
            <a:off x="7851895" y="134610"/>
            <a:ext cx="833049" cy="276999"/>
          </a:xfrm>
          <a:prstGeom prst="rect">
            <a:avLst/>
          </a:prstGeom>
          <a:noFill/>
        </p:spPr>
        <p:txBody>
          <a:bodyPr wrap="none" rtlCol="0">
            <a:spAutoFit/>
          </a:bodyPr>
          <a:lstStyle/>
          <a:p>
            <a:r>
              <a:rPr lang="de-DE" sz="1200" dirty="0"/>
              <a:t>Evaluation</a:t>
            </a:r>
            <a:endParaRPr lang="en-US" sz="1200" dirty="0"/>
          </a:p>
        </p:txBody>
      </p:sp>
      <p:sp>
        <p:nvSpPr>
          <p:cNvPr id="7" name="Rechteck 6" descr="Lichter an mit einfarbiger Füllung">
            <a:extLst>
              <a:ext uri="{FF2B5EF4-FFF2-40B4-BE49-F238E27FC236}">
                <a16:creationId xmlns:a16="http://schemas.microsoft.com/office/drawing/2014/main" id="{8B79F399-B716-7EEC-24B1-EADA1B71173E}"/>
              </a:ext>
            </a:extLst>
          </p:cNvPr>
          <p:cNvSpPr/>
          <p:nvPr/>
        </p:nvSpPr>
        <p:spPr>
          <a:xfrm>
            <a:off x="8804352" y="664349"/>
            <a:ext cx="277969" cy="277969"/>
          </a:xfrm>
          <a:prstGeom prst="rect">
            <a:avLst/>
          </a:prstGeom>
          <a:blipFill>
            <a:blip r:embed="rId3">
              <a:extLst>
                <a:ext uri="{96DAC541-7B7A-43D3-8B79-37D633B846F1}">
                  <asvg:svgBlip xmlns:asvg="http://schemas.microsoft.com/office/drawing/2016/SVG/main" r:embed="rId4"/>
                </a:ext>
              </a:extLst>
            </a:blip>
            <a:srcRect/>
            <a:stretch>
              <a:fillRect/>
            </a:stretch>
          </a:blipFill>
          <a:ln>
            <a:noFill/>
          </a:ln>
        </p:spPr>
        <p:style>
          <a:lnRef idx="2">
            <a:scrgbClr r="0" g="0" b="0"/>
          </a:lnRef>
          <a:fillRef idx="1">
            <a:scrgbClr r="0" g="0" b="0"/>
          </a:fillRef>
          <a:effectRef idx="0">
            <a:schemeClr val="accent2">
              <a:hueOff val="0"/>
              <a:satOff val="0"/>
              <a:lumOff val="0"/>
              <a:alphaOff val="0"/>
            </a:schemeClr>
          </a:effectRef>
          <a:fontRef idx="minor">
            <a:schemeClr val="lt1"/>
          </a:fontRef>
        </p:style>
        <p:txBody>
          <a:bodyPr/>
          <a:lstStyle/>
          <a:p>
            <a:endParaRPr lang="en-US"/>
          </a:p>
        </p:txBody>
      </p:sp>
      <p:sp>
        <p:nvSpPr>
          <p:cNvPr id="8" name="Rechteck 7" descr="Geschlossenes Buch mit einfarbiger Füllung">
            <a:extLst>
              <a:ext uri="{FF2B5EF4-FFF2-40B4-BE49-F238E27FC236}">
                <a16:creationId xmlns:a16="http://schemas.microsoft.com/office/drawing/2014/main" id="{543CB0CA-9B48-83A8-E0D8-1C2AECD02761}"/>
              </a:ext>
            </a:extLst>
          </p:cNvPr>
          <p:cNvSpPr/>
          <p:nvPr/>
        </p:nvSpPr>
        <p:spPr>
          <a:xfrm>
            <a:off x="8804352" y="1043547"/>
            <a:ext cx="277969" cy="277969"/>
          </a:xfrm>
          <a:prstGeom prst="rect">
            <a:avLst/>
          </a:prstGeom>
          <a:blipFill>
            <a:blip r:embed="rId5">
              <a:extLst>
                <a:ext uri="{96DAC541-7B7A-43D3-8B79-37D633B846F1}">
                  <asvg:svgBlip xmlns:asvg="http://schemas.microsoft.com/office/drawing/2016/SVG/main" r:embed="rId6"/>
                </a:ext>
              </a:extLst>
            </a:blip>
            <a:srcRect/>
            <a:stretch>
              <a:fillRect/>
            </a:stretch>
          </a:blipFill>
          <a:ln>
            <a:noFill/>
          </a:ln>
        </p:spPr>
        <p:style>
          <a:lnRef idx="2">
            <a:scrgbClr r="0" g="0" b="0"/>
          </a:lnRef>
          <a:fillRef idx="1">
            <a:scrgbClr r="0" g="0" b="0"/>
          </a:fillRef>
          <a:effectRef idx="0">
            <a:schemeClr val="accent3">
              <a:hueOff val="0"/>
              <a:satOff val="0"/>
              <a:lumOff val="0"/>
              <a:alphaOff val="0"/>
            </a:schemeClr>
          </a:effectRef>
          <a:fontRef idx="minor">
            <a:schemeClr val="lt1"/>
          </a:fontRef>
        </p:style>
        <p:txBody>
          <a:bodyPr/>
          <a:lstStyle/>
          <a:p>
            <a:endParaRPr lang="en-US"/>
          </a:p>
        </p:txBody>
      </p:sp>
      <p:sp>
        <p:nvSpPr>
          <p:cNvPr id="9" name="Rechteck 8" descr="Netzwerk">
            <a:extLst>
              <a:ext uri="{FF2B5EF4-FFF2-40B4-BE49-F238E27FC236}">
                <a16:creationId xmlns:a16="http://schemas.microsoft.com/office/drawing/2014/main" id="{FCFED36B-1A1E-D8F7-1D5E-F45C7A1FA38E}"/>
              </a:ext>
            </a:extLst>
          </p:cNvPr>
          <p:cNvSpPr/>
          <p:nvPr/>
        </p:nvSpPr>
        <p:spPr>
          <a:xfrm>
            <a:off x="8804352" y="1379208"/>
            <a:ext cx="277969" cy="277969"/>
          </a:xfrm>
          <a:prstGeom prst="rect">
            <a:avLst/>
          </a:prstGeom>
          <a: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p:spPr>
        <p:style>
          <a:lnRef idx="2">
            <a:scrgbClr r="0" g="0" b="0"/>
          </a:lnRef>
          <a:fillRef idx="1">
            <a:scrgbClr r="0" g="0" b="0"/>
          </a:fillRef>
          <a:effectRef idx="0">
            <a:schemeClr val="accent4">
              <a:hueOff val="0"/>
              <a:satOff val="0"/>
              <a:lumOff val="0"/>
              <a:alphaOff val="0"/>
            </a:schemeClr>
          </a:effectRef>
          <a:fontRef idx="minor">
            <a:schemeClr val="lt1"/>
          </a:fontRef>
        </p:style>
        <p:txBody>
          <a:bodyPr/>
          <a:lstStyle/>
          <a:p>
            <a:endParaRPr lang="en-US"/>
          </a:p>
        </p:txBody>
      </p:sp>
      <p:sp>
        <p:nvSpPr>
          <p:cNvPr id="11" name="Rechteck 10" descr="Kreise mit Pfeilen mit einfarbiger Füllung">
            <a:extLst>
              <a:ext uri="{FF2B5EF4-FFF2-40B4-BE49-F238E27FC236}">
                <a16:creationId xmlns:a16="http://schemas.microsoft.com/office/drawing/2014/main" id="{46FE1F6B-75F3-EE3D-D3B8-4DC54998645E}"/>
              </a:ext>
            </a:extLst>
          </p:cNvPr>
          <p:cNvSpPr/>
          <p:nvPr/>
        </p:nvSpPr>
        <p:spPr>
          <a:xfrm>
            <a:off x="8804352" y="1688740"/>
            <a:ext cx="277969" cy="277969"/>
          </a:xfrm>
          <a:prstGeom prst="rect">
            <a:avLst/>
          </a:prstGeom>
          <a:blipFill>
            <a:blip r:embed="rId9">
              <a:extLst>
                <a:ext uri="{96DAC541-7B7A-43D3-8B79-37D633B846F1}">
                  <asvg:svgBlip xmlns:asvg="http://schemas.microsoft.com/office/drawing/2016/SVG/main" r:embed="rId10"/>
                </a:ext>
              </a:extLst>
            </a:blip>
            <a:srcRect/>
            <a:stretch>
              <a:fillRect/>
            </a:stretch>
          </a:blipFill>
          <a:ln>
            <a:noFill/>
          </a:ln>
        </p:spPr>
        <p:style>
          <a:lnRef idx="2">
            <a:scrgbClr r="0" g="0" b="0"/>
          </a:lnRef>
          <a:fillRef idx="1">
            <a:scrgbClr r="0" g="0" b="0"/>
          </a:fillRef>
          <a:effectRef idx="0">
            <a:schemeClr val="accent5">
              <a:hueOff val="0"/>
              <a:satOff val="0"/>
              <a:lumOff val="0"/>
              <a:alphaOff val="0"/>
            </a:schemeClr>
          </a:effectRef>
          <a:fontRef idx="minor">
            <a:schemeClr val="lt1"/>
          </a:fontRef>
        </p:style>
        <p:txBody>
          <a:bodyPr/>
          <a:lstStyle/>
          <a:p>
            <a:endParaRPr lang="en-US"/>
          </a:p>
        </p:txBody>
      </p:sp>
      <p:sp>
        <p:nvSpPr>
          <p:cNvPr id="25" name="Rechteck 24" descr="Prüfliste">
            <a:extLst>
              <a:ext uri="{FF2B5EF4-FFF2-40B4-BE49-F238E27FC236}">
                <a16:creationId xmlns:a16="http://schemas.microsoft.com/office/drawing/2014/main" id="{63206B95-D39D-A454-A7C7-3A2D78668632}"/>
              </a:ext>
            </a:extLst>
          </p:cNvPr>
          <p:cNvSpPr/>
          <p:nvPr/>
        </p:nvSpPr>
        <p:spPr>
          <a:xfrm>
            <a:off x="8804352" y="2006980"/>
            <a:ext cx="277969" cy="277969"/>
          </a:xfrm>
          <a:prstGeom prst="rect">
            <a:avLst/>
          </a:prstGeom>
          <a: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a:noFill/>
          </a:ln>
        </p:spPr>
        <p:style>
          <a:lnRef idx="2">
            <a:scrgbClr r="0" g="0" b="0"/>
          </a:lnRef>
          <a:fillRef idx="1">
            <a:scrgbClr r="0" g="0" b="0"/>
          </a:fillRef>
          <a:effectRef idx="0">
            <a:schemeClr val="accent6">
              <a:hueOff val="0"/>
              <a:satOff val="0"/>
              <a:lumOff val="0"/>
              <a:alphaOff val="0"/>
            </a:schemeClr>
          </a:effectRef>
          <a:fontRef idx="minor">
            <a:schemeClr val="lt1"/>
          </a:fontRef>
        </p:style>
        <p:txBody>
          <a:bodyPr/>
          <a:lstStyle/>
          <a:p>
            <a:endParaRPr lang="en-US"/>
          </a:p>
        </p:txBody>
      </p:sp>
      <p:sp>
        <p:nvSpPr>
          <p:cNvPr id="27" name="Rechteck 26" descr="Auktionshammer">
            <a:extLst>
              <a:ext uri="{FF2B5EF4-FFF2-40B4-BE49-F238E27FC236}">
                <a16:creationId xmlns:a16="http://schemas.microsoft.com/office/drawing/2014/main" id="{155A46A2-885E-9724-6779-48BDD85584F8}"/>
              </a:ext>
            </a:extLst>
          </p:cNvPr>
          <p:cNvSpPr/>
          <p:nvPr/>
        </p:nvSpPr>
        <p:spPr>
          <a:xfrm>
            <a:off x="8804352" y="2316507"/>
            <a:ext cx="277969" cy="277969"/>
          </a:xfrm>
          <a:prstGeom prst="rect">
            <a:avLst/>
          </a:prstGeom>
          <a: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a:blipFill>
          <a:ln>
            <a:noFill/>
          </a:ln>
        </p:spPr>
        <p:style>
          <a:lnRef idx="2">
            <a:scrgbClr r="0" g="0" b="0"/>
          </a:lnRef>
          <a:fillRef idx="1">
            <a:scrgbClr r="0" g="0" b="0"/>
          </a:fillRef>
          <a:effectRef idx="0">
            <a:schemeClr val="accent2">
              <a:hueOff val="0"/>
              <a:satOff val="0"/>
              <a:lumOff val="0"/>
              <a:alphaOff val="0"/>
            </a:schemeClr>
          </a:effectRef>
          <a:fontRef idx="minor">
            <a:schemeClr val="lt1"/>
          </a:fontRef>
        </p:style>
        <p:txBody>
          <a:bodyPr/>
          <a:lstStyle/>
          <a:p>
            <a:endParaRPr lang="en-US"/>
          </a:p>
        </p:txBody>
      </p:sp>
      <p:sp>
        <p:nvSpPr>
          <p:cNvPr id="28" name="Rechteck 27" descr="Prüfliste">
            <a:extLst>
              <a:ext uri="{FF2B5EF4-FFF2-40B4-BE49-F238E27FC236}">
                <a16:creationId xmlns:a16="http://schemas.microsoft.com/office/drawing/2014/main" id="{F55756F5-6C8A-F22F-84D6-0087AA6467E0}"/>
              </a:ext>
            </a:extLst>
          </p:cNvPr>
          <p:cNvSpPr/>
          <p:nvPr/>
        </p:nvSpPr>
        <p:spPr>
          <a:xfrm>
            <a:off x="7601427" y="148483"/>
            <a:ext cx="277969" cy="277969"/>
          </a:xfrm>
          <a:prstGeom prst="rect">
            <a:avLst/>
          </a:prstGeom>
          <a: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a:noFill/>
          </a:ln>
        </p:spPr>
        <p:style>
          <a:lnRef idx="2">
            <a:scrgbClr r="0" g="0" b="0"/>
          </a:lnRef>
          <a:fillRef idx="1">
            <a:scrgbClr r="0" g="0" b="0"/>
          </a:fillRef>
          <a:effectRef idx="0">
            <a:schemeClr val="accent6">
              <a:hueOff val="0"/>
              <a:satOff val="0"/>
              <a:lumOff val="0"/>
              <a:alphaOff val="0"/>
            </a:schemeClr>
          </a:effectRef>
          <a:fontRef idx="minor">
            <a:schemeClr val="lt1"/>
          </a:fontRef>
        </p:style>
        <p:txBody>
          <a:bodyPr/>
          <a:lstStyle/>
          <a:p>
            <a:endParaRPr lang="en-US"/>
          </a:p>
        </p:txBody>
      </p:sp>
    </p:spTree>
    <p:extLst>
      <p:ext uri="{BB962C8B-B14F-4D97-AF65-F5344CB8AC3E}">
        <p14:creationId xmlns:p14="http://schemas.microsoft.com/office/powerpoint/2010/main" val="838667836"/>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5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1"/>
                                        </p:tgtEl>
                                        <p:attrNameLst>
                                          <p:attrName>style.visibility</p:attrName>
                                        </p:attrNameLst>
                                      </p:cBhvr>
                                      <p:to>
                                        <p:strVal val="visible"/>
                                      </p:to>
                                    </p:set>
                                    <p:animEffect transition="in" filter="fade">
                                      <p:cBhvr>
                                        <p:cTn id="12" dur="500"/>
                                        <p:tgtEl>
                                          <p:spTgt spid="31"/>
                                        </p:tgtEl>
                                      </p:cBhvr>
                                    </p:animEffect>
                                  </p:childTnLst>
                                </p:cTn>
                              </p:par>
                              <p:par>
                                <p:cTn id="13" presetID="1" presetClass="entr" presetSubtype="0" fill="hold" grpId="0" nodeType="with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grpId="0" nodeType="click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fade">
                                      <p:cBhvr>
                                        <p:cTn id="19" dur="500"/>
                                        <p:tgtEl>
                                          <p:spTgt spid="13"/>
                                        </p:tgtEl>
                                      </p:cBhvr>
                                    </p:animEffect>
                                  </p:childTnLst>
                                </p:cTn>
                              </p:par>
                              <p:par>
                                <p:cTn id="20" presetID="1" presetClass="entr" presetSubtype="0" fill="hold" nodeType="withEffect">
                                  <p:stCondLst>
                                    <p:cond delay="0"/>
                                  </p:stCondLst>
                                  <p:childTnLst>
                                    <p:set>
                                      <p:cBhvr>
                                        <p:cTn id="21" dur="1" fill="hold">
                                          <p:stCondLst>
                                            <p:cond delay="0"/>
                                          </p:stCondLst>
                                        </p:cTn>
                                        <p:tgtEl>
                                          <p:spTgt spid="65"/>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35"/>
                                        </p:tgtEl>
                                        <p:attrNameLst>
                                          <p:attrName>style.visibility</p:attrName>
                                        </p:attrNameLst>
                                      </p:cBhvr>
                                      <p:to>
                                        <p:strVal val="visible"/>
                                      </p:to>
                                    </p:set>
                                    <p:animEffect transition="in" filter="fade">
                                      <p:cBhvr>
                                        <p:cTn id="26" dur="500"/>
                                        <p:tgtEl>
                                          <p:spTgt spid="35"/>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7"/>
                                        </p:tgtEl>
                                        <p:attrNameLst>
                                          <p:attrName>style.visibility</p:attrName>
                                        </p:attrNameLst>
                                      </p:cBhvr>
                                      <p:to>
                                        <p:strVal val="visible"/>
                                      </p:to>
                                    </p:set>
                                    <p:animEffect transition="in" filter="fade">
                                      <p:cBhvr>
                                        <p:cTn id="29" dur="500"/>
                                        <p:tgtEl>
                                          <p:spTgt spid="17"/>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nodeType="clickEffect">
                                  <p:stCondLst>
                                    <p:cond delay="0"/>
                                  </p:stCondLst>
                                  <p:childTnLst>
                                    <p:set>
                                      <p:cBhvr>
                                        <p:cTn id="33" dur="1" fill="hold">
                                          <p:stCondLst>
                                            <p:cond delay="0"/>
                                          </p:stCondLst>
                                        </p:cTn>
                                        <p:tgtEl>
                                          <p:spTgt spid="42"/>
                                        </p:tgtEl>
                                        <p:attrNameLst>
                                          <p:attrName>style.visibility</p:attrName>
                                        </p:attrNameLst>
                                      </p:cBhvr>
                                      <p:to>
                                        <p:strVal val="visible"/>
                                      </p:to>
                                    </p:set>
                                    <p:animEffect transition="in" filter="fade">
                                      <p:cBhvr>
                                        <p:cTn id="34" dur="500"/>
                                        <p:tgtEl>
                                          <p:spTgt spid="42"/>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19"/>
                                        </p:tgtEl>
                                        <p:attrNameLst>
                                          <p:attrName>style.visibility</p:attrName>
                                        </p:attrNameLst>
                                      </p:cBhvr>
                                      <p:to>
                                        <p:strVal val="visible"/>
                                      </p:to>
                                    </p:set>
                                    <p:animEffect transition="in" filter="fade">
                                      <p:cBhvr>
                                        <p:cTn id="37" dur="500"/>
                                        <p:tgtEl>
                                          <p:spTgt spid="19"/>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22"/>
                                        </p:tgtEl>
                                        <p:attrNameLst>
                                          <p:attrName>style.visibility</p:attrName>
                                        </p:attrNameLst>
                                      </p:cBhvr>
                                      <p:to>
                                        <p:strVal val="visible"/>
                                      </p:to>
                                    </p:set>
                                    <p:animEffect transition="in" filter="fade">
                                      <p:cBhvr>
                                        <p:cTn id="42" dur="500"/>
                                        <p:tgtEl>
                                          <p:spTgt spid="22"/>
                                        </p:tgtEl>
                                      </p:cBhvr>
                                    </p:animEffect>
                                  </p:childTnLst>
                                </p:cTn>
                              </p:par>
                              <p:par>
                                <p:cTn id="43" presetID="10" presetClass="entr" presetSubtype="0" fill="hold" nodeType="withEffect">
                                  <p:stCondLst>
                                    <p:cond delay="0"/>
                                  </p:stCondLst>
                                  <p:childTnLst>
                                    <p:set>
                                      <p:cBhvr>
                                        <p:cTn id="44" dur="1" fill="hold">
                                          <p:stCondLst>
                                            <p:cond delay="0"/>
                                          </p:stCondLst>
                                        </p:cTn>
                                        <p:tgtEl>
                                          <p:spTgt spid="39"/>
                                        </p:tgtEl>
                                        <p:attrNameLst>
                                          <p:attrName>style.visibility</p:attrName>
                                        </p:attrNameLst>
                                      </p:cBhvr>
                                      <p:to>
                                        <p:strVal val="visible"/>
                                      </p:to>
                                    </p:set>
                                    <p:animEffect transition="in" filter="fade">
                                      <p:cBhvr>
                                        <p:cTn id="45" dur="500"/>
                                        <p:tgtEl>
                                          <p:spTgt spid="39"/>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grpId="0" nodeType="clickEffect">
                                  <p:stCondLst>
                                    <p:cond delay="0"/>
                                  </p:stCondLst>
                                  <p:childTnLst>
                                    <p:set>
                                      <p:cBhvr>
                                        <p:cTn id="49" dur="1" fill="hold">
                                          <p:stCondLst>
                                            <p:cond delay="0"/>
                                          </p:stCondLst>
                                        </p:cTn>
                                        <p:tgtEl>
                                          <p:spTgt spid="21"/>
                                        </p:tgtEl>
                                        <p:attrNameLst>
                                          <p:attrName>style.visibility</p:attrName>
                                        </p:attrNameLst>
                                      </p:cBhvr>
                                      <p:to>
                                        <p:strVal val="visible"/>
                                      </p:to>
                                    </p:set>
                                    <p:animEffect transition="in" filter="fade">
                                      <p:cBhvr>
                                        <p:cTn id="50" dur="500"/>
                                        <p:tgtEl>
                                          <p:spTgt spid="21"/>
                                        </p:tgtEl>
                                      </p:cBhvr>
                                    </p:animEffect>
                                  </p:childTnLst>
                                </p:cTn>
                              </p:par>
                              <p:par>
                                <p:cTn id="51" presetID="10" presetClass="entr" presetSubtype="0" fill="hold" nodeType="withEffect">
                                  <p:stCondLst>
                                    <p:cond delay="0"/>
                                  </p:stCondLst>
                                  <p:childTnLst>
                                    <p:set>
                                      <p:cBhvr>
                                        <p:cTn id="52" dur="1" fill="hold">
                                          <p:stCondLst>
                                            <p:cond delay="0"/>
                                          </p:stCondLst>
                                        </p:cTn>
                                        <p:tgtEl>
                                          <p:spTgt spid="45"/>
                                        </p:tgtEl>
                                        <p:attrNameLst>
                                          <p:attrName>style.visibility</p:attrName>
                                        </p:attrNameLst>
                                      </p:cBhvr>
                                      <p:to>
                                        <p:strVal val="visible"/>
                                      </p:to>
                                    </p:set>
                                    <p:animEffect transition="in" filter="fade">
                                      <p:cBhvr>
                                        <p:cTn id="53" dur="500"/>
                                        <p:tgtEl>
                                          <p:spTgt spid="45"/>
                                        </p:tgtEl>
                                      </p:cBhvr>
                                    </p:animEffect>
                                  </p:childTnLst>
                                </p:cTn>
                              </p:par>
                            </p:childTnLst>
                          </p:cTn>
                        </p:par>
                      </p:childTnLst>
                    </p:cTn>
                  </p:par>
                  <p:par>
                    <p:cTn id="54" fill="hold">
                      <p:stCondLst>
                        <p:cond delay="indefinite"/>
                      </p:stCondLst>
                      <p:childTnLst>
                        <p:par>
                          <p:cTn id="55" fill="hold">
                            <p:stCondLst>
                              <p:cond delay="0"/>
                            </p:stCondLst>
                            <p:childTnLst>
                              <p:par>
                                <p:cTn id="56" presetID="10" presetClass="entr" presetSubtype="0" fill="hold" nodeType="clickEffect">
                                  <p:stCondLst>
                                    <p:cond delay="0"/>
                                  </p:stCondLst>
                                  <p:childTnLst>
                                    <p:set>
                                      <p:cBhvr>
                                        <p:cTn id="57" dur="1" fill="hold">
                                          <p:stCondLst>
                                            <p:cond delay="0"/>
                                          </p:stCondLst>
                                        </p:cTn>
                                        <p:tgtEl>
                                          <p:spTgt spid="26"/>
                                        </p:tgtEl>
                                        <p:attrNameLst>
                                          <p:attrName>style.visibility</p:attrName>
                                        </p:attrNameLst>
                                      </p:cBhvr>
                                      <p:to>
                                        <p:strVal val="visible"/>
                                      </p:to>
                                    </p:set>
                                    <p:animEffect transition="in" filter="fade">
                                      <p:cBhvr>
                                        <p:cTn id="58" dur="500"/>
                                        <p:tgtEl>
                                          <p:spTgt spid="26"/>
                                        </p:tgtEl>
                                      </p:cBhvr>
                                    </p:animEffect>
                                  </p:childTnLst>
                                </p:cTn>
                              </p:par>
                              <p:par>
                                <p:cTn id="59" presetID="10" presetClass="entr" presetSubtype="0" fill="hold" nodeType="withEffect">
                                  <p:stCondLst>
                                    <p:cond delay="0"/>
                                  </p:stCondLst>
                                  <p:childTnLst>
                                    <p:set>
                                      <p:cBhvr>
                                        <p:cTn id="60" dur="1" fill="hold">
                                          <p:stCondLst>
                                            <p:cond delay="0"/>
                                          </p:stCondLst>
                                        </p:cTn>
                                        <p:tgtEl>
                                          <p:spTgt spid="36"/>
                                        </p:tgtEl>
                                        <p:attrNameLst>
                                          <p:attrName>style.visibility</p:attrName>
                                        </p:attrNameLst>
                                      </p:cBhvr>
                                      <p:to>
                                        <p:strVal val="visible"/>
                                      </p:to>
                                    </p:set>
                                    <p:animEffect transition="in" filter="fade">
                                      <p:cBhvr>
                                        <p:cTn id="61" dur="500"/>
                                        <p:tgtEl>
                                          <p:spTgt spid="36"/>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18"/>
                                        </p:tgtEl>
                                        <p:attrNameLst>
                                          <p:attrName>style.visibility</p:attrName>
                                        </p:attrNameLst>
                                      </p:cBhvr>
                                      <p:to>
                                        <p:strVal val="visible"/>
                                      </p:to>
                                    </p:set>
                                    <p:animEffect transition="in" filter="fade">
                                      <p:cBhvr>
                                        <p:cTn id="64" dur="500"/>
                                        <p:tgtEl>
                                          <p:spTgt spid="18"/>
                                        </p:tgtEl>
                                      </p:cBhvr>
                                    </p:animEffect>
                                  </p:childTnLst>
                                </p:cTn>
                              </p:par>
                            </p:childTnLst>
                          </p:cTn>
                        </p:par>
                      </p:childTnLst>
                    </p:cTn>
                  </p:par>
                  <p:par>
                    <p:cTn id="65" fill="hold">
                      <p:stCondLst>
                        <p:cond delay="indefinite"/>
                      </p:stCondLst>
                      <p:childTnLst>
                        <p:par>
                          <p:cTn id="66" fill="hold">
                            <p:stCondLst>
                              <p:cond delay="0"/>
                            </p:stCondLst>
                            <p:childTnLst>
                              <p:par>
                                <p:cTn id="67" presetID="10" presetClass="entr" presetSubtype="0" fill="hold" nodeType="clickEffect">
                                  <p:stCondLst>
                                    <p:cond delay="0"/>
                                  </p:stCondLst>
                                  <p:childTnLst>
                                    <p:set>
                                      <p:cBhvr>
                                        <p:cTn id="68" dur="1" fill="hold">
                                          <p:stCondLst>
                                            <p:cond delay="0"/>
                                          </p:stCondLst>
                                        </p:cTn>
                                        <p:tgtEl>
                                          <p:spTgt spid="56"/>
                                        </p:tgtEl>
                                        <p:attrNameLst>
                                          <p:attrName>style.visibility</p:attrName>
                                        </p:attrNameLst>
                                      </p:cBhvr>
                                      <p:to>
                                        <p:strVal val="visible"/>
                                      </p:to>
                                    </p:set>
                                    <p:animEffect transition="in" filter="fade">
                                      <p:cBhvr>
                                        <p:cTn id="69" dur="500"/>
                                        <p:tgtEl>
                                          <p:spTgt spid="56"/>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23"/>
                                        </p:tgtEl>
                                        <p:attrNameLst>
                                          <p:attrName>style.visibility</p:attrName>
                                        </p:attrNameLst>
                                      </p:cBhvr>
                                      <p:to>
                                        <p:strVal val="visible"/>
                                      </p:to>
                                    </p:set>
                                    <p:animEffect transition="in" filter="fade">
                                      <p:cBhvr>
                                        <p:cTn id="72" dur="500"/>
                                        <p:tgtEl>
                                          <p:spTgt spid="23"/>
                                        </p:tgtEl>
                                      </p:cBhvr>
                                    </p:animEffect>
                                  </p:childTnLst>
                                </p:cTn>
                              </p:par>
                            </p:childTnLst>
                          </p:cTn>
                        </p:par>
                      </p:childTnLst>
                    </p:cTn>
                  </p:par>
                  <p:par>
                    <p:cTn id="73" fill="hold">
                      <p:stCondLst>
                        <p:cond delay="indefinite"/>
                      </p:stCondLst>
                      <p:childTnLst>
                        <p:par>
                          <p:cTn id="74" fill="hold">
                            <p:stCondLst>
                              <p:cond delay="0"/>
                            </p:stCondLst>
                            <p:childTnLst>
                              <p:par>
                                <p:cTn id="75" presetID="10" presetClass="entr" presetSubtype="0" fill="hold" nodeType="clickEffect">
                                  <p:stCondLst>
                                    <p:cond delay="0"/>
                                  </p:stCondLst>
                                  <p:childTnLst>
                                    <p:set>
                                      <p:cBhvr>
                                        <p:cTn id="76" dur="1" fill="hold">
                                          <p:stCondLst>
                                            <p:cond delay="0"/>
                                          </p:stCondLst>
                                        </p:cTn>
                                        <p:tgtEl>
                                          <p:spTgt spid="59"/>
                                        </p:tgtEl>
                                        <p:attrNameLst>
                                          <p:attrName>style.visibility</p:attrName>
                                        </p:attrNameLst>
                                      </p:cBhvr>
                                      <p:to>
                                        <p:strVal val="visible"/>
                                      </p:to>
                                    </p:set>
                                    <p:animEffect transition="in" filter="fade">
                                      <p:cBhvr>
                                        <p:cTn id="77" dur="500"/>
                                        <p:tgtEl>
                                          <p:spTgt spid="59"/>
                                        </p:tgtEl>
                                      </p:cBhvr>
                                    </p:animEffect>
                                  </p:childTnLst>
                                </p:cTn>
                              </p:par>
                              <p:par>
                                <p:cTn id="78" presetID="10" presetClass="entr" presetSubtype="0" fill="hold" grpId="0" nodeType="withEffect">
                                  <p:stCondLst>
                                    <p:cond delay="0"/>
                                  </p:stCondLst>
                                  <p:childTnLst>
                                    <p:set>
                                      <p:cBhvr>
                                        <p:cTn id="79" dur="1" fill="hold">
                                          <p:stCondLst>
                                            <p:cond delay="0"/>
                                          </p:stCondLst>
                                        </p:cTn>
                                        <p:tgtEl>
                                          <p:spTgt spid="20"/>
                                        </p:tgtEl>
                                        <p:attrNameLst>
                                          <p:attrName>style.visibility</p:attrName>
                                        </p:attrNameLst>
                                      </p:cBhvr>
                                      <p:to>
                                        <p:strVal val="visible"/>
                                      </p:to>
                                    </p:set>
                                    <p:animEffect transition="in" filter="fade">
                                      <p:cBhvr>
                                        <p:cTn id="80" dur="500"/>
                                        <p:tgtEl>
                                          <p:spTgt spid="20"/>
                                        </p:tgtEl>
                                      </p:cBhvr>
                                    </p:animEffect>
                                  </p:childTnLst>
                                </p:cTn>
                              </p:par>
                              <p:par>
                                <p:cTn id="81" presetID="10" presetClass="entr" presetSubtype="0" fill="hold" nodeType="withEffect">
                                  <p:stCondLst>
                                    <p:cond delay="0"/>
                                  </p:stCondLst>
                                  <p:childTnLst>
                                    <p:set>
                                      <p:cBhvr>
                                        <p:cTn id="82" dur="1" fill="hold">
                                          <p:stCondLst>
                                            <p:cond delay="0"/>
                                          </p:stCondLst>
                                        </p:cTn>
                                        <p:tgtEl>
                                          <p:spTgt spid="62"/>
                                        </p:tgtEl>
                                        <p:attrNameLst>
                                          <p:attrName>style.visibility</p:attrName>
                                        </p:attrNameLst>
                                      </p:cBhvr>
                                      <p:to>
                                        <p:strVal val="visible"/>
                                      </p:to>
                                    </p:set>
                                    <p:animEffect transition="in" filter="fade">
                                      <p:cBhvr>
                                        <p:cTn id="83" dur="500"/>
                                        <p:tgtEl>
                                          <p:spTgt spid="62"/>
                                        </p:tgtEl>
                                      </p:cBhvr>
                                    </p:animEffect>
                                  </p:childTnLst>
                                </p:cTn>
                              </p:par>
                              <p:par>
                                <p:cTn id="84" presetID="10" presetClass="entr" presetSubtype="0" fill="hold" grpId="0" nodeType="withEffect">
                                  <p:stCondLst>
                                    <p:cond delay="0"/>
                                  </p:stCondLst>
                                  <p:childTnLst>
                                    <p:set>
                                      <p:cBhvr>
                                        <p:cTn id="85" dur="1" fill="hold">
                                          <p:stCondLst>
                                            <p:cond delay="0"/>
                                          </p:stCondLst>
                                        </p:cTn>
                                        <p:tgtEl>
                                          <p:spTgt spid="24"/>
                                        </p:tgtEl>
                                        <p:attrNameLst>
                                          <p:attrName>style.visibility</p:attrName>
                                        </p:attrNameLst>
                                      </p:cBhvr>
                                      <p:to>
                                        <p:strVal val="visible"/>
                                      </p:to>
                                    </p:set>
                                    <p:animEffect transition="in" filter="fade">
                                      <p:cBhvr>
                                        <p:cTn id="86" dur="500"/>
                                        <p:tgtEl>
                                          <p:spTgt spid="24"/>
                                        </p:tgtEl>
                                      </p:cBhvr>
                                    </p:animEffect>
                                  </p:childTnLst>
                                </p:cTn>
                              </p:par>
                            </p:childTnLst>
                          </p:cTn>
                        </p:par>
                      </p:childTnLst>
                    </p:cTn>
                  </p:par>
                  <p:par>
                    <p:cTn id="87" fill="hold">
                      <p:stCondLst>
                        <p:cond delay="indefinite"/>
                      </p:stCondLst>
                      <p:childTnLst>
                        <p:par>
                          <p:cTn id="88" fill="hold">
                            <p:stCondLst>
                              <p:cond delay="0"/>
                            </p:stCondLst>
                            <p:childTnLst>
                              <p:par>
                                <p:cTn id="89" presetID="10" presetClass="entr" presetSubtype="0" fill="hold" nodeType="clickEffect">
                                  <p:stCondLst>
                                    <p:cond delay="0"/>
                                  </p:stCondLst>
                                  <p:childTnLst>
                                    <p:set>
                                      <p:cBhvr>
                                        <p:cTn id="90" dur="1" fill="hold">
                                          <p:stCondLst>
                                            <p:cond delay="0"/>
                                          </p:stCondLst>
                                        </p:cTn>
                                        <p:tgtEl>
                                          <p:spTgt spid="52"/>
                                        </p:tgtEl>
                                        <p:attrNameLst>
                                          <p:attrName>style.visibility</p:attrName>
                                        </p:attrNameLst>
                                      </p:cBhvr>
                                      <p:to>
                                        <p:strVal val="visible"/>
                                      </p:to>
                                    </p:set>
                                    <p:animEffect transition="in" filter="fade">
                                      <p:cBhvr>
                                        <p:cTn id="91" dur="500"/>
                                        <p:tgtEl>
                                          <p:spTgt spid="52"/>
                                        </p:tgtEl>
                                      </p:cBhvr>
                                    </p:animEffect>
                                  </p:childTnLst>
                                </p:cTn>
                              </p:par>
                              <p:par>
                                <p:cTn id="92" presetID="10" presetClass="entr" presetSubtype="0" fill="hold" grpId="0" nodeType="withEffect">
                                  <p:stCondLst>
                                    <p:cond delay="0"/>
                                  </p:stCondLst>
                                  <p:childTnLst>
                                    <p:set>
                                      <p:cBhvr>
                                        <p:cTn id="93" dur="1" fill="hold">
                                          <p:stCondLst>
                                            <p:cond delay="0"/>
                                          </p:stCondLst>
                                        </p:cTn>
                                        <p:tgtEl>
                                          <p:spTgt spid="14"/>
                                        </p:tgtEl>
                                        <p:attrNameLst>
                                          <p:attrName>style.visibility</p:attrName>
                                        </p:attrNameLst>
                                      </p:cBhvr>
                                      <p:to>
                                        <p:strVal val="visible"/>
                                      </p:to>
                                    </p:set>
                                    <p:animEffect transition="in" filter="fade">
                                      <p:cBhvr>
                                        <p:cTn id="94"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p:bldP spid="14" grpId="0" animBg="1"/>
      <p:bldP spid="16" grpId="0" animBg="1"/>
      <p:bldP spid="17" grpId="0" animBg="1"/>
      <p:bldP spid="18" grpId="0" animBg="1"/>
      <p:bldP spid="19" grpId="0" animBg="1"/>
      <p:bldP spid="20" grpId="0" animBg="1"/>
      <p:bldP spid="21" grpId="0" animBg="1"/>
      <p:bldP spid="22" grpId="0" animBg="1"/>
      <p:bldP spid="23" grpId="0" animBg="1"/>
      <p:bldP spid="24"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ctrTitle"/>
          </p:nvPr>
        </p:nvSpPr>
        <p:spPr/>
        <p:txBody>
          <a:bodyPr/>
          <a:lstStyle/>
          <a:p>
            <a:r>
              <a:rPr lang="de-DE" sz="2000" noProof="1"/>
              <a:t>Introduction Athena</a:t>
            </a:r>
          </a:p>
        </p:txBody>
      </p:sp>
      <p:sp>
        <p:nvSpPr>
          <p:cNvPr id="3" name="Inhaltsplatzhalter 2"/>
          <p:cNvSpPr>
            <a:spLocks noGrp="1"/>
          </p:cNvSpPr>
          <p:nvPr>
            <p:ph sz="quarter" idx="15"/>
          </p:nvPr>
        </p:nvSpPr>
        <p:spPr>
          <a:xfrm>
            <a:off x="395289" y="1043547"/>
            <a:ext cx="4104044" cy="3760228"/>
          </a:xfrm>
        </p:spPr>
        <p:txBody>
          <a:bodyPr/>
          <a:lstStyle/>
          <a:p>
            <a:r>
              <a:rPr lang="de-DE" sz="1800" noProof="1"/>
              <a:t>Explanatory chatbot for prediction tasks</a:t>
            </a:r>
          </a:p>
          <a:p>
            <a:r>
              <a:rPr lang="de-DE" sz="1800" noProof="1"/>
              <a:t>Three datesets included (extensible):</a:t>
            </a:r>
          </a:p>
          <a:p>
            <a:pPr lvl="1"/>
            <a:r>
              <a:rPr lang="de-DE" sz="1800" noProof="1"/>
              <a:t>German credit data („Am I creditworthy?“)</a:t>
            </a:r>
          </a:p>
          <a:p>
            <a:pPr lvl="1"/>
            <a:r>
              <a:rPr lang="de-DE" sz="1800" noProof="1"/>
              <a:t>Titanic („Would I have surived on the titanic?“)</a:t>
            </a:r>
          </a:p>
          <a:p>
            <a:pPr lvl="1"/>
            <a:r>
              <a:rPr lang="de-DE" noProof="1"/>
              <a:t>Diabetes Risk Assessment („Am I at risk for diabetes?</a:t>
            </a:r>
            <a:endParaRPr lang="de-DE" sz="1800" noProof="1"/>
          </a:p>
          <a:p>
            <a:r>
              <a:rPr lang="de-DE" sz="1800" noProof="1"/>
              <a:t>Random Forest Classifier</a:t>
            </a:r>
          </a:p>
          <a:p>
            <a:r>
              <a:rPr lang="de-DE" noProof="1"/>
              <a:t>Three</a:t>
            </a:r>
            <a:r>
              <a:rPr lang="de-DE" sz="1800" noProof="1"/>
              <a:t> XAI-Methods supported</a:t>
            </a:r>
            <a:r>
              <a:rPr lang="de-DE" noProof="1"/>
              <a:t>: </a:t>
            </a:r>
            <a:br>
              <a:rPr lang="de-DE" noProof="1"/>
            </a:br>
            <a:r>
              <a:rPr lang="de-DE" noProof="1"/>
              <a:t>SHAP, CF, Example</a:t>
            </a:r>
            <a:endParaRPr lang="de-DE" sz="1800" noProof="1"/>
          </a:p>
          <a:p>
            <a:endParaRPr lang="de-DE" sz="1800" noProof="1"/>
          </a:p>
        </p:txBody>
      </p:sp>
      <p:sp>
        <p:nvSpPr>
          <p:cNvPr id="10" name="Vertikaler Textplatzhalter 9">
            <a:extLst>
              <a:ext uri="{FF2B5EF4-FFF2-40B4-BE49-F238E27FC236}">
                <a16:creationId xmlns:a16="http://schemas.microsoft.com/office/drawing/2014/main" id="{0252556C-4E31-8568-F945-E207976BCF70}"/>
              </a:ext>
            </a:extLst>
          </p:cNvPr>
          <p:cNvSpPr>
            <a:spLocks noGrp="1"/>
          </p:cNvSpPr>
          <p:nvPr>
            <p:ph type="body" orient="vert" sz="quarter" idx="18"/>
          </p:nvPr>
        </p:nvSpPr>
        <p:spPr/>
        <p:txBody>
          <a:bodyPr/>
          <a:lstStyle/>
          <a:p>
            <a:endParaRPr lang="de-DE" noProof="1"/>
          </a:p>
        </p:txBody>
      </p:sp>
      <p:sp>
        <p:nvSpPr>
          <p:cNvPr id="4" name="Datumsplatzhalter 3"/>
          <p:cNvSpPr>
            <a:spLocks noGrp="1"/>
          </p:cNvSpPr>
          <p:nvPr>
            <p:ph type="dt" sz="half" idx="10"/>
          </p:nvPr>
        </p:nvSpPr>
        <p:spPr/>
        <p:txBody>
          <a:bodyPr/>
          <a:lstStyle/>
          <a:p>
            <a:r>
              <a:rPr lang="en-US" noProof="1"/>
              <a:t>18.08.2025</a:t>
            </a:r>
            <a:endParaRPr lang="de-DE" noProof="1"/>
          </a:p>
        </p:txBody>
      </p:sp>
      <p:sp>
        <p:nvSpPr>
          <p:cNvPr id="5" name="Fußzeilenplatzhalter 4"/>
          <p:cNvSpPr>
            <a:spLocks noGrp="1"/>
          </p:cNvSpPr>
          <p:nvPr>
            <p:ph type="ftr" sz="quarter" idx="11"/>
          </p:nvPr>
        </p:nvSpPr>
        <p:spPr/>
        <p:txBody>
          <a:bodyPr/>
          <a:lstStyle/>
          <a:p>
            <a:r>
              <a:rPr lang="en-US" noProof="1"/>
              <a:t>Enhancing model transparency: Effects of DK Integration for Conversational XAI | Feustel</a:t>
            </a:r>
            <a:endParaRPr lang="de-DE" noProof="1"/>
          </a:p>
        </p:txBody>
      </p:sp>
      <p:sp>
        <p:nvSpPr>
          <p:cNvPr id="6" name="Foliennummernplatzhalter 5"/>
          <p:cNvSpPr>
            <a:spLocks noGrp="1"/>
          </p:cNvSpPr>
          <p:nvPr>
            <p:ph type="sldNum" sz="quarter" idx="12"/>
          </p:nvPr>
        </p:nvSpPr>
        <p:spPr/>
        <p:txBody>
          <a:bodyPr/>
          <a:lstStyle/>
          <a:p>
            <a:r>
              <a:rPr lang="de-DE" noProof="1"/>
              <a:t> </a:t>
            </a:r>
            <a:fld id="{FE120BDC-5456-EC41-8BB6-7A3B726EA19B}" type="slidenum">
              <a:rPr lang="de-DE" noProof="1" smtClean="0"/>
              <a:pPr/>
              <a:t>21</a:t>
            </a:fld>
            <a:endParaRPr lang="de-DE" noProof="1"/>
          </a:p>
        </p:txBody>
      </p:sp>
      <p:sp>
        <p:nvSpPr>
          <p:cNvPr id="8" name="Bildplatzhalter 7">
            <a:extLst>
              <a:ext uri="{FF2B5EF4-FFF2-40B4-BE49-F238E27FC236}">
                <a16:creationId xmlns:a16="http://schemas.microsoft.com/office/drawing/2014/main" id="{9C1A8F1E-4245-AA0A-6BF9-BA22E117F2D8}"/>
              </a:ext>
            </a:extLst>
          </p:cNvPr>
          <p:cNvSpPr>
            <a:spLocks noGrp="1"/>
          </p:cNvSpPr>
          <p:nvPr>
            <p:ph type="pic" sz="quarter" idx="17"/>
          </p:nvPr>
        </p:nvSpPr>
        <p:spPr/>
        <p:txBody>
          <a:bodyPr/>
          <a:lstStyle/>
          <a:p>
            <a:endParaRPr lang="de-DE" noProof="1"/>
          </a:p>
        </p:txBody>
      </p:sp>
      <p:pic>
        <p:nvPicPr>
          <p:cNvPr id="9" name="Grafik 8">
            <a:extLst>
              <a:ext uri="{FF2B5EF4-FFF2-40B4-BE49-F238E27FC236}">
                <a16:creationId xmlns:a16="http://schemas.microsoft.com/office/drawing/2014/main" id="{0D0FA903-030C-8A4A-A031-00CC1385F6B1}"/>
              </a:ext>
            </a:extLst>
          </p:cNvPr>
          <p:cNvPicPr>
            <a:picLocks noChangeAspect="1"/>
          </p:cNvPicPr>
          <p:nvPr/>
        </p:nvPicPr>
        <p:blipFill>
          <a:blip r:embed="rId3"/>
          <a:stretch>
            <a:fillRect/>
          </a:stretch>
        </p:blipFill>
        <p:spPr>
          <a:xfrm>
            <a:off x="4537877" y="1089307"/>
            <a:ext cx="4238655" cy="3031281"/>
          </a:xfrm>
          <a:prstGeom prst="rect">
            <a:avLst/>
          </a:prstGeom>
        </p:spPr>
      </p:pic>
      <mc:AlternateContent xmlns:mc="http://schemas.openxmlformats.org/markup-compatibility/2006" xmlns:p14="http://schemas.microsoft.com/office/powerpoint/2010/main">
        <mc:Choice Requires="p14">
          <p:contentPart p14:bwMode="auto" r:id="rId4">
            <p14:nvContentPartPr>
              <p14:cNvPr id="7" name="Freihand 6">
                <a:extLst>
                  <a:ext uri="{FF2B5EF4-FFF2-40B4-BE49-F238E27FC236}">
                    <a16:creationId xmlns:a16="http://schemas.microsoft.com/office/drawing/2014/main" id="{0E2B6249-A6C5-64C8-4D32-9FB2E249EBAF}"/>
                  </a:ext>
                </a:extLst>
              </p14:cNvPr>
              <p14:cNvContentPartPr/>
              <p14:nvPr/>
            </p14:nvContentPartPr>
            <p14:xfrm>
              <a:off x="1148940" y="3530340"/>
              <a:ext cx="360" cy="360"/>
            </p14:xfrm>
          </p:contentPart>
        </mc:Choice>
        <mc:Fallback xmlns="">
          <p:pic>
            <p:nvPicPr>
              <p:cNvPr id="7" name="Freihand 6">
                <a:extLst>
                  <a:ext uri="{FF2B5EF4-FFF2-40B4-BE49-F238E27FC236}">
                    <a16:creationId xmlns:a16="http://schemas.microsoft.com/office/drawing/2014/main" id="{0E2B6249-A6C5-64C8-4D32-9FB2E249EBAF}"/>
                  </a:ext>
                </a:extLst>
              </p:cNvPr>
              <p:cNvPicPr/>
              <p:nvPr/>
            </p:nvPicPr>
            <p:blipFill>
              <a:blip r:embed="rId5"/>
              <a:stretch>
                <a:fillRect/>
              </a:stretch>
            </p:blipFill>
            <p:spPr>
              <a:xfrm>
                <a:off x="1142820" y="3524220"/>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12" name="Freihand 11">
                <a:extLst>
                  <a:ext uri="{FF2B5EF4-FFF2-40B4-BE49-F238E27FC236}">
                    <a16:creationId xmlns:a16="http://schemas.microsoft.com/office/drawing/2014/main" id="{08A39147-5BFF-39E3-D2C3-C6DCC140BD20}"/>
                  </a:ext>
                </a:extLst>
              </p14:cNvPr>
              <p14:cNvContentPartPr/>
              <p14:nvPr/>
            </p14:nvContentPartPr>
            <p14:xfrm>
              <a:off x="1047420" y="2952540"/>
              <a:ext cx="360" cy="360"/>
            </p14:xfrm>
          </p:contentPart>
        </mc:Choice>
        <mc:Fallback xmlns="">
          <p:pic>
            <p:nvPicPr>
              <p:cNvPr id="12" name="Freihand 11">
                <a:extLst>
                  <a:ext uri="{FF2B5EF4-FFF2-40B4-BE49-F238E27FC236}">
                    <a16:creationId xmlns:a16="http://schemas.microsoft.com/office/drawing/2014/main" id="{08A39147-5BFF-39E3-D2C3-C6DCC140BD20}"/>
                  </a:ext>
                </a:extLst>
              </p:cNvPr>
              <p:cNvPicPr/>
              <p:nvPr/>
            </p:nvPicPr>
            <p:blipFill>
              <a:blip r:embed="rId5"/>
              <a:stretch>
                <a:fillRect/>
              </a:stretch>
            </p:blipFill>
            <p:spPr>
              <a:xfrm>
                <a:off x="1041300" y="2946420"/>
                <a:ext cx="12600" cy="12600"/>
              </a:xfrm>
              <a:prstGeom prst="rect">
                <a:avLst/>
              </a:prstGeom>
            </p:spPr>
          </p:pic>
        </mc:Fallback>
      </mc:AlternateContent>
      <p:sp>
        <p:nvSpPr>
          <p:cNvPr id="11" name="Textfeld 10">
            <a:extLst>
              <a:ext uri="{FF2B5EF4-FFF2-40B4-BE49-F238E27FC236}">
                <a16:creationId xmlns:a16="http://schemas.microsoft.com/office/drawing/2014/main" id="{75DFF526-089A-A029-DD4E-5DE58354C359}"/>
              </a:ext>
            </a:extLst>
          </p:cNvPr>
          <p:cNvSpPr txBox="1"/>
          <p:nvPr/>
        </p:nvSpPr>
        <p:spPr>
          <a:xfrm>
            <a:off x="7851895" y="134610"/>
            <a:ext cx="833049" cy="276999"/>
          </a:xfrm>
          <a:prstGeom prst="rect">
            <a:avLst/>
          </a:prstGeom>
          <a:noFill/>
        </p:spPr>
        <p:txBody>
          <a:bodyPr wrap="none" rtlCol="0">
            <a:spAutoFit/>
          </a:bodyPr>
          <a:lstStyle/>
          <a:p>
            <a:r>
              <a:rPr lang="de-DE" sz="1200" dirty="0"/>
              <a:t>Evaluation</a:t>
            </a:r>
            <a:endParaRPr lang="en-US" sz="1200" dirty="0"/>
          </a:p>
        </p:txBody>
      </p:sp>
      <p:sp>
        <p:nvSpPr>
          <p:cNvPr id="14" name="Rechteck 13" descr="Lichter an mit einfarbiger Füllung">
            <a:extLst>
              <a:ext uri="{FF2B5EF4-FFF2-40B4-BE49-F238E27FC236}">
                <a16:creationId xmlns:a16="http://schemas.microsoft.com/office/drawing/2014/main" id="{F4C1E925-8B38-40CB-D380-67A620B9884C}"/>
              </a:ext>
            </a:extLst>
          </p:cNvPr>
          <p:cNvSpPr/>
          <p:nvPr/>
        </p:nvSpPr>
        <p:spPr>
          <a:xfrm>
            <a:off x="8804352" y="664349"/>
            <a:ext cx="277969" cy="277969"/>
          </a:xfrm>
          <a:prstGeom prst="rect">
            <a:avLst/>
          </a:prstGeom>
          <a:blipFill>
            <a:blip r:embed="rId7">
              <a:extLst>
                <a:ext uri="{96DAC541-7B7A-43D3-8B79-37D633B846F1}">
                  <asvg:svgBlip xmlns:asvg="http://schemas.microsoft.com/office/drawing/2016/SVG/main" r:embed="rId8"/>
                </a:ext>
              </a:extLst>
            </a:blip>
            <a:srcRect/>
            <a:stretch>
              <a:fillRect/>
            </a:stretch>
          </a:blipFill>
          <a:ln>
            <a:noFill/>
          </a:ln>
        </p:spPr>
        <p:style>
          <a:lnRef idx="2">
            <a:scrgbClr r="0" g="0" b="0"/>
          </a:lnRef>
          <a:fillRef idx="1">
            <a:scrgbClr r="0" g="0" b="0"/>
          </a:fillRef>
          <a:effectRef idx="0">
            <a:schemeClr val="accent2">
              <a:hueOff val="0"/>
              <a:satOff val="0"/>
              <a:lumOff val="0"/>
              <a:alphaOff val="0"/>
            </a:schemeClr>
          </a:effectRef>
          <a:fontRef idx="minor">
            <a:schemeClr val="lt1"/>
          </a:fontRef>
        </p:style>
        <p:txBody>
          <a:bodyPr/>
          <a:lstStyle/>
          <a:p>
            <a:endParaRPr lang="en-US"/>
          </a:p>
        </p:txBody>
      </p:sp>
      <p:sp>
        <p:nvSpPr>
          <p:cNvPr id="15" name="Rechteck 14" descr="Geschlossenes Buch mit einfarbiger Füllung">
            <a:extLst>
              <a:ext uri="{FF2B5EF4-FFF2-40B4-BE49-F238E27FC236}">
                <a16:creationId xmlns:a16="http://schemas.microsoft.com/office/drawing/2014/main" id="{4C85D2AE-846D-01BB-6B7B-AD6F31DF5DBF}"/>
              </a:ext>
            </a:extLst>
          </p:cNvPr>
          <p:cNvSpPr/>
          <p:nvPr/>
        </p:nvSpPr>
        <p:spPr>
          <a:xfrm>
            <a:off x="8804352" y="1043547"/>
            <a:ext cx="277969" cy="277969"/>
          </a:xfrm>
          <a:prstGeom prst="rect">
            <a:avLst/>
          </a:prstGeom>
          <a:blipFill>
            <a:blip r:embed="rId9">
              <a:extLst>
                <a:ext uri="{96DAC541-7B7A-43D3-8B79-37D633B846F1}">
                  <asvg:svgBlip xmlns:asvg="http://schemas.microsoft.com/office/drawing/2016/SVG/main" r:embed="rId10"/>
                </a:ext>
              </a:extLst>
            </a:blip>
            <a:srcRect/>
            <a:stretch>
              <a:fillRect/>
            </a:stretch>
          </a:blipFill>
          <a:ln>
            <a:noFill/>
          </a:ln>
        </p:spPr>
        <p:style>
          <a:lnRef idx="2">
            <a:scrgbClr r="0" g="0" b="0"/>
          </a:lnRef>
          <a:fillRef idx="1">
            <a:scrgbClr r="0" g="0" b="0"/>
          </a:fillRef>
          <a:effectRef idx="0">
            <a:schemeClr val="accent3">
              <a:hueOff val="0"/>
              <a:satOff val="0"/>
              <a:lumOff val="0"/>
              <a:alphaOff val="0"/>
            </a:schemeClr>
          </a:effectRef>
          <a:fontRef idx="minor">
            <a:schemeClr val="lt1"/>
          </a:fontRef>
        </p:style>
        <p:txBody>
          <a:bodyPr/>
          <a:lstStyle/>
          <a:p>
            <a:endParaRPr lang="en-US"/>
          </a:p>
        </p:txBody>
      </p:sp>
      <p:sp>
        <p:nvSpPr>
          <p:cNvPr id="16" name="Rechteck 15" descr="Netzwerk">
            <a:extLst>
              <a:ext uri="{FF2B5EF4-FFF2-40B4-BE49-F238E27FC236}">
                <a16:creationId xmlns:a16="http://schemas.microsoft.com/office/drawing/2014/main" id="{4CB34177-185C-34DF-B626-C8388BF234F8}"/>
              </a:ext>
            </a:extLst>
          </p:cNvPr>
          <p:cNvSpPr/>
          <p:nvPr/>
        </p:nvSpPr>
        <p:spPr>
          <a:xfrm>
            <a:off x="8804352" y="1379208"/>
            <a:ext cx="277969" cy="277969"/>
          </a:xfrm>
          <a:prstGeom prst="rect">
            <a:avLst/>
          </a:prstGeom>
          <a: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a:noFill/>
          </a:ln>
        </p:spPr>
        <p:style>
          <a:lnRef idx="2">
            <a:scrgbClr r="0" g="0" b="0"/>
          </a:lnRef>
          <a:fillRef idx="1">
            <a:scrgbClr r="0" g="0" b="0"/>
          </a:fillRef>
          <a:effectRef idx="0">
            <a:schemeClr val="accent4">
              <a:hueOff val="0"/>
              <a:satOff val="0"/>
              <a:lumOff val="0"/>
              <a:alphaOff val="0"/>
            </a:schemeClr>
          </a:effectRef>
          <a:fontRef idx="minor">
            <a:schemeClr val="lt1"/>
          </a:fontRef>
        </p:style>
        <p:txBody>
          <a:bodyPr/>
          <a:lstStyle/>
          <a:p>
            <a:endParaRPr lang="en-US"/>
          </a:p>
        </p:txBody>
      </p:sp>
      <p:sp>
        <p:nvSpPr>
          <p:cNvPr id="17" name="Rechteck 16" descr="Kreise mit Pfeilen mit einfarbiger Füllung">
            <a:extLst>
              <a:ext uri="{FF2B5EF4-FFF2-40B4-BE49-F238E27FC236}">
                <a16:creationId xmlns:a16="http://schemas.microsoft.com/office/drawing/2014/main" id="{240CD5B0-017C-294B-D024-0D9A02E97F61}"/>
              </a:ext>
            </a:extLst>
          </p:cNvPr>
          <p:cNvSpPr/>
          <p:nvPr/>
        </p:nvSpPr>
        <p:spPr>
          <a:xfrm>
            <a:off x="8804352" y="1688740"/>
            <a:ext cx="277969" cy="277969"/>
          </a:xfrm>
          <a:prstGeom prst="rect">
            <a:avLst/>
          </a:prstGeom>
          <a:blipFill>
            <a:blip r:embed="rId13">
              <a:extLst>
                <a:ext uri="{96DAC541-7B7A-43D3-8B79-37D633B846F1}">
                  <asvg:svgBlip xmlns:asvg="http://schemas.microsoft.com/office/drawing/2016/SVG/main" r:embed="rId14"/>
                </a:ext>
              </a:extLst>
            </a:blip>
            <a:srcRect/>
            <a:stretch>
              <a:fillRect/>
            </a:stretch>
          </a:blipFill>
          <a:ln>
            <a:noFill/>
          </a:ln>
        </p:spPr>
        <p:style>
          <a:lnRef idx="2">
            <a:scrgbClr r="0" g="0" b="0"/>
          </a:lnRef>
          <a:fillRef idx="1">
            <a:scrgbClr r="0" g="0" b="0"/>
          </a:fillRef>
          <a:effectRef idx="0">
            <a:schemeClr val="accent5">
              <a:hueOff val="0"/>
              <a:satOff val="0"/>
              <a:lumOff val="0"/>
              <a:alphaOff val="0"/>
            </a:schemeClr>
          </a:effectRef>
          <a:fontRef idx="minor">
            <a:schemeClr val="lt1"/>
          </a:fontRef>
        </p:style>
        <p:txBody>
          <a:bodyPr/>
          <a:lstStyle/>
          <a:p>
            <a:endParaRPr lang="en-US"/>
          </a:p>
        </p:txBody>
      </p:sp>
      <p:sp>
        <p:nvSpPr>
          <p:cNvPr id="18" name="Rechteck 17" descr="Prüfliste">
            <a:extLst>
              <a:ext uri="{FF2B5EF4-FFF2-40B4-BE49-F238E27FC236}">
                <a16:creationId xmlns:a16="http://schemas.microsoft.com/office/drawing/2014/main" id="{78D8F64C-8FB8-F72B-00BB-03FC36D1950A}"/>
              </a:ext>
            </a:extLst>
          </p:cNvPr>
          <p:cNvSpPr/>
          <p:nvPr/>
        </p:nvSpPr>
        <p:spPr>
          <a:xfrm>
            <a:off x="8804352" y="2006980"/>
            <a:ext cx="277969" cy="277969"/>
          </a:xfrm>
          <a:prstGeom prst="rect">
            <a:avLst/>
          </a:prstGeom>
          <a: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a:blipFill>
          <a:ln>
            <a:noFill/>
          </a:ln>
        </p:spPr>
        <p:style>
          <a:lnRef idx="2">
            <a:scrgbClr r="0" g="0" b="0"/>
          </a:lnRef>
          <a:fillRef idx="1">
            <a:scrgbClr r="0" g="0" b="0"/>
          </a:fillRef>
          <a:effectRef idx="0">
            <a:schemeClr val="accent6">
              <a:hueOff val="0"/>
              <a:satOff val="0"/>
              <a:lumOff val="0"/>
              <a:alphaOff val="0"/>
            </a:schemeClr>
          </a:effectRef>
          <a:fontRef idx="minor">
            <a:schemeClr val="lt1"/>
          </a:fontRef>
        </p:style>
        <p:txBody>
          <a:bodyPr/>
          <a:lstStyle/>
          <a:p>
            <a:endParaRPr lang="en-US"/>
          </a:p>
        </p:txBody>
      </p:sp>
      <p:sp>
        <p:nvSpPr>
          <p:cNvPr id="19" name="Rechteck 18" descr="Auktionshammer">
            <a:extLst>
              <a:ext uri="{FF2B5EF4-FFF2-40B4-BE49-F238E27FC236}">
                <a16:creationId xmlns:a16="http://schemas.microsoft.com/office/drawing/2014/main" id="{60FC56F5-49C5-1B2C-AFF2-ED4C6FD59D0B}"/>
              </a:ext>
            </a:extLst>
          </p:cNvPr>
          <p:cNvSpPr/>
          <p:nvPr/>
        </p:nvSpPr>
        <p:spPr>
          <a:xfrm>
            <a:off x="8804352" y="2316507"/>
            <a:ext cx="277969" cy="277969"/>
          </a:xfrm>
          <a:prstGeom prst="rect">
            <a:avLst/>
          </a:prstGeom>
          <a: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a:blipFill>
          <a:ln>
            <a:noFill/>
          </a:ln>
        </p:spPr>
        <p:style>
          <a:lnRef idx="2">
            <a:scrgbClr r="0" g="0" b="0"/>
          </a:lnRef>
          <a:fillRef idx="1">
            <a:scrgbClr r="0" g="0" b="0"/>
          </a:fillRef>
          <a:effectRef idx="0">
            <a:schemeClr val="accent2">
              <a:hueOff val="0"/>
              <a:satOff val="0"/>
              <a:lumOff val="0"/>
              <a:alphaOff val="0"/>
            </a:schemeClr>
          </a:effectRef>
          <a:fontRef idx="minor">
            <a:schemeClr val="lt1"/>
          </a:fontRef>
        </p:style>
        <p:txBody>
          <a:bodyPr/>
          <a:lstStyle/>
          <a:p>
            <a:endParaRPr lang="en-US"/>
          </a:p>
        </p:txBody>
      </p:sp>
      <p:sp>
        <p:nvSpPr>
          <p:cNvPr id="20" name="Rechteck 19" descr="Prüfliste">
            <a:extLst>
              <a:ext uri="{FF2B5EF4-FFF2-40B4-BE49-F238E27FC236}">
                <a16:creationId xmlns:a16="http://schemas.microsoft.com/office/drawing/2014/main" id="{E1F041BE-3676-6E76-FE87-47FB8696A3C9}"/>
              </a:ext>
            </a:extLst>
          </p:cNvPr>
          <p:cNvSpPr/>
          <p:nvPr/>
        </p:nvSpPr>
        <p:spPr>
          <a:xfrm>
            <a:off x="7601427" y="148483"/>
            <a:ext cx="277969" cy="277969"/>
          </a:xfrm>
          <a:prstGeom prst="rect">
            <a:avLst/>
          </a:prstGeom>
          <a: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a:blipFill>
          <a:ln>
            <a:noFill/>
          </a:ln>
        </p:spPr>
        <p:style>
          <a:lnRef idx="2">
            <a:scrgbClr r="0" g="0" b="0"/>
          </a:lnRef>
          <a:fillRef idx="1">
            <a:scrgbClr r="0" g="0" b="0"/>
          </a:fillRef>
          <a:effectRef idx="0">
            <a:schemeClr val="accent6">
              <a:hueOff val="0"/>
              <a:satOff val="0"/>
              <a:lumOff val="0"/>
              <a:alphaOff val="0"/>
            </a:schemeClr>
          </a:effectRef>
          <a:fontRef idx="minor">
            <a:schemeClr val="lt1"/>
          </a:fontRef>
        </p:style>
        <p:txBody>
          <a:bodyPr/>
          <a:lstStyle/>
          <a:p>
            <a:endParaRPr lang="en-US"/>
          </a:p>
        </p:txBody>
      </p:sp>
    </p:spTree>
    <p:extLst>
      <p:ext uri="{BB962C8B-B14F-4D97-AF65-F5344CB8AC3E}">
        <p14:creationId xmlns:p14="http://schemas.microsoft.com/office/powerpoint/2010/main" val="3447723706"/>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fade">
                                      <p:cBhvr>
                                        <p:cTn id="15" dur="500"/>
                                        <p:tgtEl>
                                          <p:spTgt spid="3">
                                            <p:txEl>
                                              <p:pRg st="2" end="2"/>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
                                            <p:txEl>
                                              <p:pRg st="3" end="3"/>
                                            </p:txEl>
                                          </p:spTgt>
                                        </p:tgtEl>
                                        <p:attrNameLst>
                                          <p:attrName>style.visibility</p:attrName>
                                        </p:attrNameLst>
                                      </p:cBhvr>
                                      <p:to>
                                        <p:strVal val="visible"/>
                                      </p:to>
                                    </p:set>
                                    <p:animEffect transition="in" filter="fade">
                                      <p:cBhvr>
                                        <p:cTn id="18" dur="500"/>
                                        <p:tgtEl>
                                          <p:spTgt spid="3">
                                            <p:txEl>
                                              <p:pRg st="3" end="3"/>
                                            </p:txEl>
                                          </p:spTgt>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animEffect transition="in" filter="fade">
                                      <p:cBhvr>
                                        <p:cTn id="21" dur="500"/>
                                        <p:tgtEl>
                                          <p:spTgt spid="3">
                                            <p:txEl>
                                              <p:pRg st="4" end="4"/>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3">
                                            <p:txEl>
                                              <p:pRg st="5" end="5"/>
                                            </p:txEl>
                                          </p:spTgt>
                                        </p:tgtEl>
                                        <p:attrNameLst>
                                          <p:attrName>style.visibility</p:attrName>
                                        </p:attrNameLst>
                                      </p:cBhvr>
                                      <p:to>
                                        <p:strVal val="visible"/>
                                      </p:to>
                                    </p:set>
                                    <p:animEffect transition="in" filter="fade">
                                      <p:cBhvr>
                                        <p:cTn id="26" dur="500"/>
                                        <p:tgtEl>
                                          <p:spTgt spid="3">
                                            <p:txEl>
                                              <p:pRg st="5" end="5"/>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animEffect transition="in" filter="fade">
                                      <p:cBhvr>
                                        <p:cTn id="31"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A3BF5B-EE2A-E91C-794B-22BC86965817}"/>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66EDD3DD-C8F2-49B8-9C9E-4D42ECDC5F39}"/>
              </a:ext>
            </a:extLst>
          </p:cNvPr>
          <p:cNvSpPr>
            <a:spLocks noGrp="1"/>
          </p:cNvSpPr>
          <p:nvPr>
            <p:ph type="ctrTitle"/>
          </p:nvPr>
        </p:nvSpPr>
        <p:spPr/>
        <p:txBody>
          <a:bodyPr/>
          <a:lstStyle/>
          <a:p>
            <a:r>
              <a:rPr lang="de-DE" sz="2000" noProof="1"/>
              <a:t>Athena Architecture</a:t>
            </a:r>
          </a:p>
        </p:txBody>
      </p:sp>
      <p:sp>
        <p:nvSpPr>
          <p:cNvPr id="10" name="Inhaltsplatzhalter 9">
            <a:extLst>
              <a:ext uri="{FF2B5EF4-FFF2-40B4-BE49-F238E27FC236}">
                <a16:creationId xmlns:a16="http://schemas.microsoft.com/office/drawing/2014/main" id="{497E24F1-2C57-20B0-F60E-87FF3E86B4E5}"/>
              </a:ext>
            </a:extLst>
          </p:cNvPr>
          <p:cNvSpPr>
            <a:spLocks noGrp="1"/>
          </p:cNvSpPr>
          <p:nvPr>
            <p:ph sz="quarter" idx="15"/>
          </p:nvPr>
        </p:nvSpPr>
        <p:spPr/>
        <p:txBody>
          <a:bodyPr/>
          <a:lstStyle/>
          <a:p>
            <a:r>
              <a:rPr lang="de-DE" sz="1800" noProof="1"/>
              <a:t>Explanation intents classified by BERT model (generic); fine-tuned on handcrafted data</a:t>
            </a:r>
          </a:p>
          <a:p>
            <a:r>
              <a:rPr lang="de-DE" sz="1800" noProof="1"/>
              <a:t>ML Feature Extraction to get use-case specific information</a:t>
            </a:r>
          </a:p>
          <a:p>
            <a:r>
              <a:rPr lang="de-DE" sz="1800" noProof="1"/>
              <a:t>XAI module with custom implementation of counterfactuals and SHAP-library.</a:t>
            </a:r>
          </a:p>
          <a:p>
            <a:r>
              <a:rPr lang="de-DE" sz="1800" noProof="1"/>
              <a:t>Rule-based dialogue management</a:t>
            </a:r>
          </a:p>
          <a:p>
            <a:r>
              <a:rPr lang="de-DE" sz="1800" noProof="1"/>
              <a:t>Knowledge handler for including domain knowledge</a:t>
            </a:r>
          </a:p>
          <a:p>
            <a:r>
              <a:rPr lang="de-DE" sz="1800" noProof="1"/>
              <a:t>Templates for XAI explanations</a:t>
            </a:r>
          </a:p>
          <a:p>
            <a:pPr marL="0" indent="0">
              <a:buNone/>
            </a:pPr>
            <a:endParaRPr lang="de-DE" sz="1800" noProof="1"/>
          </a:p>
        </p:txBody>
      </p:sp>
      <p:sp>
        <p:nvSpPr>
          <p:cNvPr id="11" name="Bildplatzhalter 10">
            <a:extLst>
              <a:ext uri="{FF2B5EF4-FFF2-40B4-BE49-F238E27FC236}">
                <a16:creationId xmlns:a16="http://schemas.microsoft.com/office/drawing/2014/main" id="{5F4B3F02-338A-CA0C-06D3-737F558383C1}"/>
              </a:ext>
            </a:extLst>
          </p:cNvPr>
          <p:cNvSpPr>
            <a:spLocks noGrp="1"/>
          </p:cNvSpPr>
          <p:nvPr>
            <p:ph type="pic" sz="quarter" idx="17"/>
          </p:nvPr>
        </p:nvSpPr>
        <p:spPr/>
        <p:txBody>
          <a:bodyPr/>
          <a:lstStyle/>
          <a:p>
            <a:endParaRPr lang="de-DE" noProof="1"/>
          </a:p>
        </p:txBody>
      </p:sp>
      <p:sp>
        <p:nvSpPr>
          <p:cNvPr id="12" name="Vertikaler Textplatzhalter 11">
            <a:extLst>
              <a:ext uri="{FF2B5EF4-FFF2-40B4-BE49-F238E27FC236}">
                <a16:creationId xmlns:a16="http://schemas.microsoft.com/office/drawing/2014/main" id="{828C7BAA-D209-86CF-8640-69E273B67F2E}"/>
              </a:ext>
            </a:extLst>
          </p:cNvPr>
          <p:cNvSpPr>
            <a:spLocks noGrp="1"/>
          </p:cNvSpPr>
          <p:nvPr>
            <p:ph type="body" orient="vert" sz="quarter" idx="18"/>
          </p:nvPr>
        </p:nvSpPr>
        <p:spPr/>
        <p:txBody>
          <a:bodyPr/>
          <a:lstStyle/>
          <a:p>
            <a:endParaRPr lang="de-DE" noProof="1"/>
          </a:p>
        </p:txBody>
      </p:sp>
      <p:sp>
        <p:nvSpPr>
          <p:cNvPr id="4" name="Datumsplatzhalter 3">
            <a:extLst>
              <a:ext uri="{FF2B5EF4-FFF2-40B4-BE49-F238E27FC236}">
                <a16:creationId xmlns:a16="http://schemas.microsoft.com/office/drawing/2014/main" id="{07AD321E-8176-6B4E-E8B1-8242A6E890FE}"/>
              </a:ext>
            </a:extLst>
          </p:cNvPr>
          <p:cNvSpPr>
            <a:spLocks noGrp="1"/>
          </p:cNvSpPr>
          <p:nvPr>
            <p:ph type="dt" sz="half" idx="10"/>
          </p:nvPr>
        </p:nvSpPr>
        <p:spPr/>
        <p:txBody>
          <a:bodyPr/>
          <a:lstStyle/>
          <a:p>
            <a:r>
              <a:rPr lang="en-US" noProof="1"/>
              <a:t>18.08.2025</a:t>
            </a:r>
            <a:endParaRPr lang="de-DE" noProof="1"/>
          </a:p>
        </p:txBody>
      </p:sp>
      <p:sp>
        <p:nvSpPr>
          <p:cNvPr id="5" name="Fußzeilenplatzhalter 4">
            <a:extLst>
              <a:ext uri="{FF2B5EF4-FFF2-40B4-BE49-F238E27FC236}">
                <a16:creationId xmlns:a16="http://schemas.microsoft.com/office/drawing/2014/main" id="{A8B52B5A-FBE3-956E-54E1-6450BCD43934}"/>
              </a:ext>
            </a:extLst>
          </p:cNvPr>
          <p:cNvSpPr>
            <a:spLocks noGrp="1"/>
          </p:cNvSpPr>
          <p:nvPr>
            <p:ph type="ftr" sz="quarter" idx="11"/>
          </p:nvPr>
        </p:nvSpPr>
        <p:spPr/>
        <p:txBody>
          <a:bodyPr/>
          <a:lstStyle/>
          <a:p>
            <a:r>
              <a:rPr lang="en-US" noProof="1"/>
              <a:t>Enhancing model transparency: Effects of DK Integration for Conversational XAI | Feustel</a:t>
            </a:r>
            <a:endParaRPr lang="de-DE" noProof="1"/>
          </a:p>
        </p:txBody>
      </p:sp>
      <p:sp>
        <p:nvSpPr>
          <p:cNvPr id="6" name="Foliennummernplatzhalter 5">
            <a:extLst>
              <a:ext uri="{FF2B5EF4-FFF2-40B4-BE49-F238E27FC236}">
                <a16:creationId xmlns:a16="http://schemas.microsoft.com/office/drawing/2014/main" id="{E5F95231-41DB-1EFD-D2D0-0080E9C903F5}"/>
              </a:ext>
            </a:extLst>
          </p:cNvPr>
          <p:cNvSpPr>
            <a:spLocks noGrp="1"/>
          </p:cNvSpPr>
          <p:nvPr>
            <p:ph type="sldNum" sz="quarter" idx="12"/>
          </p:nvPr>
        </p:nvSpPr>
        <p:spPr/>
        <p:txBody>
          <a:bodyPr/>
          <a:lstStyle/>
          <a:p>
            <a:r>
              <a:rPr lang="de-DE" noProof="1"/>
              <a:t> </a:t>
            </a:r>
            <a:fld id="{FE120BDC-5456-EC41-8BB6-7A3B726EA19B}" type="slidenum">
              <a:rPr lang="de-DE" noProof="1" smtClean="0"/>
              <a:pPr/>
              <a:t>22</a:t>
            </a:fld>
            <a:endParaRPr lang="de-DE" noProof="1"/>
          </a:p>
        </p:txBody>
      </p:sp>
      <p:pic>
        <p:nvPicPr>
          <p:cNvPr id="7" name="Grafik 6">
            <a:extLst>
              <a:ext uri="{FF2B5EF4-FFF2-40B4-BE49-F238E27FC236}">
                <a16:creationId xmlns:a16="http://schemas.microsoft.com/office/drawing/2014/main" id="{D9633C68-CAA9-43D7-AD1D-0B455C8A603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647107" y="1238690"/>
            <a:ext cx="4042327" cy="3071813"/>
          </a:xfrm>
          <a:prstGeom prst="rect">
            <a:avLst/>
          </a:prstGeom>
        </p:spPr>
      </p:pic>
      <p:sp>
        <p:nvSpPr>
          <p:cNvPr id="3" name="Textfeld 2">
            <a:extLst>
              <a:ext uri="{FF2B5EF4-FFF2-40B4-BE49-F238E27FC236}">
                <a16:creationId xmlns:a16="http://schemas.microsoft.com/office/drawing/2014/main" id="{C03E1317-81DD-E5BF-5DA0-C1B435BA18B8}"/>
              </a:ext>
            </a:extLst>
          </p:cNvPr>
          <p:cNvSpPr txBox="1"/>
          <p:nvPr/>
        </p:nvSpPr>
        <p:spPr>
          <a:xfrm>
            <a:off x="7851895" y="134610"/>
            <a:ext cx="833049" cy="276999"/>
          </a:xfrm>
          <a:prstGeom prst="rect">
            <a:avLst/>
          </a:prstGeom>
          <a:noFill/>
        </p:spPr>
        <p:txBody>
          <a:bodyPr wrap="none" rtlCol="0">
            <a:spAutoFit/>
          </a:bodyPr>
          <a:lstStyle/>
          <a:p>
            <a:r>
              <a:rPr lang="de-DE" sz="1200" dirty="0"/>
              <a:t>Evaluation</a:t>
            </a:r>
            <a:endParaRPr lang="en-US" sz="1200" dirty="0"/>
          </a:p>
        </p:txBody>
      </p:sp>
      <p:sp>
        <p:nvSpPr>
          <p:cNvPr id="9" name="Rechteck 8" descr="Lichter an mit einfarbiger Füllung">
            <a:extLst>
              <a:ext uri="{FF2B5EF4-FFF2-40B4-BE49-F238E27FC236}">
                <a16:creationId xmlns:a16="http://schemas.microsoft.com/office/drawing/2014/main" id="{87D7A18C-18C5-1F2B-CE32-B628FAEEEE39}"/>
              </a:ext>
            </a:extLst>
          </p:cNvPr>
          <p:cNvSpPr/>
          <p:nvPr/>
        </p:nvSpPr>
        <p:spPr>
          <a:xfrm>
            <a:off x="8804352" y="664349"/>
            <a:ext cx="277969" cy="277969"/>
          </a:xfrm>
          <a:prstGeom prst="rect">
            <a:avLst/>
          </a:prstGeom>
          <a:blipFill>
            <a:blip r:embed="rId4">
              <a:extLst>
                <a:ext uri="{96DAC541-7B7A-43D3-8B79-37D633B846F1}">
                  <asvg:svgBlip xmlns:asvg="http://schemas.microsoft.com/office/drawing/2016/SVG/main" r:embed="rId5"/>
                </a:ext>
              </a:extLst>
            </a:blip>
            <a:srcRect/>
            <a:stretch>
              <a:fillRect/>
            </a:stretch>
          </a:blipFill>
          <a:ln>
            <a:noFill/>
          </a:ln>
        </p:spPr>
        <p:style>
          <a:lnRef idx="2">
            <a:scrgbClr r="0" g="0" b="0"/>
          </a:lnRef>
          <a:fillRef idx="1">
            <a:scrgbClr r="0" g="0" b="0"/>
          </a:fillRef>
          <a:effectRef idx="0">
            <a:schemeClr val="accent2">
              <a:hueOff val="0"/>
              <a:satOff val="0"/>
              <a:lumOff val="0"/>
              <a:alphaOff val="0"/>
            </a:schemeClr>
          </a:effectRef>
          <a:fontRef idx="minor">
            <a:schemeClr val="lt1"/>
          </a:fontRef>
        </p:style>
        <p:txBody>
          <a:bodyPr/>
          <a:lstStyle/>
          <a:p>
            <a:endParaRPr lang="en-US"/>
          </a:p>
        </p:txBody>
      </p:sp>
      <p:sp>
        <p:nvSpPr>
          <p:cNvPr id="13" name="Rechteck 12" descr="Geschlossenes Buch mit einfarbiger Füllung">
            <a:extLst>
              <a:ext uri="{FF2B5EF4-FFF2-40B4-BE49-F238E27FC236}">
                <a16:creationId xmlns:a16="http://schemas.microsoft.com/office/drawing/2014/main" id="{5E7E9BC5-C08B-C8D7-8BD9-9ECA9D3BD33F}"/>
              </a:ext>
            </a:extLst>
          </p:cNvPr>
          <p:cNvSpPr/>
          <p:nvPr/>
        </p:nvSpPr>
        <p:spPr>
          <a:xfrm>
            <a:off x="8804352" y="1043547"/>
            <a:ext cx="277969" cy="277969"/>
          </a:xfrm>
          <a:prstGeom prst="rect">
            <a:avLst/>
          </a:prstGeom>
          <a:blipFill>
            <a:blip r:embed="rId6">
              <a:extLst>
                <a:ext uri="{96DAC541-7B7A-43D3-8B79-37D633B846F1}">
                  <asvg:svgBlip xmlns:asvg="http://schemas.microsoft.com/office/drawing/2016/SVG/main" r:embed="rId7"/>
                </a:ext>
              </a:extLst>
            </a:blip>
            <a:srcRect/>
            <a:stretch>
              <a:fillRect/>
            </a:stretch>
          </a:blipFill>
          <a:ln>
            <a:noFill/>
          </a:ln>
        </p:spPr>
        <p:style>
          <a:lnRef idx="2">
            <a:scrgbClr r="0" g="0" b="0"/>
          </a:lnRef>
          <a:fillRef idx="1">
            <a:scrgbClr r="0" g="0" b="0"/>
          </a:fillRef>
          <a:effectRef idx="0">
            <a:schemeClr val="accent3">
              <a:hueOff val="0"/>
              <a:satOff val="0"/>
              <a:lumOff val="0"/>
              <a:alphaOff val="0"/>
            </a:schemeClr>
          </a:effectRef>
          <a:fontRef idx="minor">
            <a:schemeClr val="lt1"/>
          </a:fontRef>
        </p:style>
        <p:txBody>
          <a:bodyPr/>
          <a:lstStyle/>
          <a:p>
            <a:endParaRPr lang="en-US"/>
          </a:p>
        </p:txBody>
      </p:sp>
      <p:sp>
        <p:nvSpPr>
          <p:cNvPr id="14" name="Rechteck 13" descr="Netzwerk">
            <a:extLst>
              <a:ext uri="{FF2B5EF4-FFF2-40B4-BE49-F238E27FC236}">
                <a16:creationId xmlns:a16="http://schemas.microsoft.com/office/drawing/2014/main" id="{F3B7AB8C-F543-DC4C-30FF-3379002B9F14}"/>
              </a:ext>
            </a:extLst>
          </p:cNvPr>
          <p:cNvSpPr/>
          <p:nvPr/>
        </p:nvSpPr>
        <p:spPr>
          <a:xfrm>
            <a:off x="8804352" y="1379208"/>
            <a:ext cx="277969" cy="277969"/>
          </a:xfrm>
          <a:prstGeom prst="rect">
            <a:avLst/>
          </a:prstGeom>
          <a: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a:blipFill>
          <a:ln>
            <a:noFill/>
          </a:ln>
        </p:spPr>
        <p:style>
          <a:lnRef idx="2">
            <a:scrgbClr r="0" g="0" b="0"/>
          </a:lnRef>
          <a:fillRef idx="1">
            <a:scrgbClr r="0" g="0" b="0"/>
          </a:fillRef>
          <a:effectRef idx="0">
            <a:schemeClr val="accent4">
              <a:hueOff val="0"/>
              <a:satOff val="0"/>
              <a:lumOff val="0"/>
              <a:alphaOff val="0"/>
            </a:schemeClr>
          </a:effectRef>
          <a:fontRef idx="minor">
            <a:schemeClr val="lt1"/>
          </a:fontRef>
        </p:style>
        <p:txBody>
          <a:bodyPr/>
          <a:lstStyle/>
          <a:p>
            <a:endParaRPr lang="en-US"/>
          </a:p>
        </p:txBody>
      </p:sp>
      <p:sp>
        <p:nvSpPr>
          <p:cNvPr id="15" name="Rechteck 14" descr="Kreise mit Pfeilen mit einfarbiger Füllung">
            <a:extLst>
              <a:ext uri="{FF2B5EF4-FFF2-40B4-BE49-F238E27FC236}">
                <a16:creationId xmlns:a16="http://schemas.microsoft.com/office/drawing/2014/main" id="{9E3A5894-CE29-D03C-1953-6DB3912BB15D}"/>
              </a:ext>
            </a:extLst>
          </p:cNvPr>
          <p:cNvSpPr/>
          <p:nvPr/>
        </p:nvSpPr>
        <p:spPr>
          <a:xfrm>
            <a:off x="8804352" y="1688740"/>
            <a:ext cx="277969" cy="277969"/>
          </a:xfrm>
          <a:prstGeom prst="rect">
            <a:avLst/>
          </a:prstGeom>
          <a:blipFill>
            <a:blip r:embed="rId10">
              <a:extLst>
                <a:ext uri="{96DAC541-7B7A-43D3-8B79-37D633B846F1}">
                  <asvg:svgBlip xmlns:asvg="http://schemas.microsoft.com/office/drawing/2016/SVG/main" r:embed="rId11"/>
                </a:ext>
              </a:extLst>
            </a:blip>
            <a:srcRect/>
            <a:stretch>
              <a:fillRect/>
            </a:stretch>
          </a:blipFill>
          <a:ln>
            <a:noFill/>
          </a:ln>
        </p:spPr>
        <p:style>
          <a:lnRef idx="2">
            <a:scrgbClr r="0" g="0" b="0"/>
          </a:lnRef>
          <a:fillRef idx="1">
            <a:scrgbClr r="0" g="0" b="0"/>
          </a:fillRef>
          <a:effectRef idx="0">
            <a:schemeClr val="accent5">
              <a:hueOff val="0"/>
              <a:satOff val="0"/>
              <a:lumOff val="0"/>
              <a:alphaOff val="0"/>
            </a:schemeClr>
          </a:effectRef>
          <a:fontRef idx="minor">
            <a:schemeClr val="lt1"/>
          </a:fontRef>
        </p:style>
        <p:txBody>
          <a:bodyPr/>
          <a:lstStyle/>
          <a:p>
            <a:endParaRPr lang="en-US"/>
          </a:p>
        </p:txBody>
      </p:sp>
      <p:sp>
        <p:nvSpPr>
          <p:cNvPr id="16" name="Rechteck 15" descr="Prüfliste">
            <a:extLst>
              <a:ext uri="{FF2B5EF4-FFF2-40B4-BE49-F238E27FC236}">
                <a16:creationId xmlns:a16="http://schemas.microsoft.com/office/drawing/2014/main" id="{E2A17007-5CB2-F934-6CE5-13F49BADF7DC}"/>
              </a:ext>
            </a:extLst>
          </p:cNvPr>
          <p:cNvSpPr/>
          <p:nvPr/>
        </p:nvSpPr>
        <p:spPr>
          <a:xfrm>
            <a:off x="8804352" y="2006980"/>
            <a:ext cx="277969" cy="277969"/>
          </a:xfrm>
          <a:prstGeom prst="rect">
            <a:avLst/>
          </a:prstGeom>
          <a: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a:blipFill>
          <a:ln>
            <a:noFill/>
          </a:ln>
        </p:spPr>
        <p:style>
          <a:lnRef idx="2">
            <a:scrgbClr r="0" g="0" b="0"/>
          </a:lnRef>
          <a:fillRef idx="1">
            <a:scrgbClr r="0" g="0" b="0"/>
          </a:fillRef>
          <a:effectRef idx="0">
            <a:schemeClr val="accent6">
              <a:hueOff val="0"/>
              <a:satOff val="0"/>
              <a:lumOff val="0"/>
              <a:alphaOff val="0"/>
            </a:schemeClr>
          </a:effectRef>
          <a:fontRef idx="minor">
            <a:schemeClr val="lt1"/>
          </a:fontRef>
        </p:style>
        <p:txBody>
          <a:bodyPr/>
          <a:lstStyle/>
          <a:p>
            <a:endParaRPr lang="en-US"/>
          </a:p>
        </p:txBody>
      </p:sp>
      <p:sp>
        <p:nvSpPr>
          <p:cNvPr id="17" name="Rechteck 16" descr="Auktionshammer">
            <a:extLst>
              <a:ext uri="{FF2B5EF4-FFF2-40B4-BE49-F238E27FC236}">
                <a16:creationId xmlns:a16="http://schemas.microsoft.com/office/drawing/2014/main" id="{3EEA1665-E46B-C844-AA6E-BC278F8FD823}"/>
              </a:ext>
            </a:extLst>
          </p:cNvPr>
          <p:cNvSpPr/>
          <p:nvPr/>
        </p:nvSpPr>
        <p:spPr>
          <a:xfrm>
            <a:off x="8804352" y="2316507"/>
            <a:ext cx="277969" cy="277969"/>
          </a:xfrm>
          <a:prstGeom prst="rect">
            <a:avLst/>
          </a:prstGeom>
          <a: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a:blipFill>
          <a:ln>
            <a:noFill/>
          </a:ln>
        </p:spPr>
        <p:style>
          <a:lnRef idx="2">
            <a:scrgbClr r="0" g="0" b="0"/>
          </a:lnRef>
          <a:fillRef idx="1">
            <a:scrgbClr r="0" g="0" b="0"/>
          </a:fillRef>
          <a:effectRef idx="0">
            <a:schemeClr val="accent2">
              <a:hueOff val="0"/>
              <a:satOff val="0"/>
              <a:lumOff val="0"/>
              <a:alphaOff val="0"/>
            </a:schemeClr>
          </a:effectRef>
          <a:fontRef idx="minor">
            <a:schemeClr val="lt1"/>
          </a:fontRef>
        </p:style>
        <p:txBody>
          <a:bodyPr/>
          <a:lstStyle/>
          <a:p>
            <a:endParaRPr lang="en-US"/>
          </a:p>
        </p:txBody>
      </p:sp>
      <p:sp>
        <p:nvSpPr>
          <p:cNvPr id="18" name="Rechteck 17" descr="Prüfliste">
            <a:extLst>
              <a:ext uri="{FF2B5EF4-FFF2-40B4-BE49-F238E27FC236}">
                <a16:creationId xmlns:a16="http://schemas.microsoft.com/office/drawing/2014/main" id="{A7A883F3-867C-F936-168B-B39156814FAC}"/>
              </a:ext>
            </a:extLst>
          </p:cNvPr>
          <p:cNvSpPr/>
          <p:nvPr/>
        </p:nvSpPr>
        <p:spPr>
          <a:xfrm>
            <a:off x="7601427" y="148483"/>
            <a:ext cx="277969" cy="277969"/>
          </a:xfrm>
          <a:prstGeom prst="rect">
            <a:avLst/>
          </a:prstGeom>
          <a: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a:blipFill>
          <a:ln>
            <a:noFill/>
          </a:ln>
        </p:spPr>
        <p:style>
          <a:lnRef idx="2">
            <a:scrgbClr r="0" g="0" b="0"/>
          </a:lnRef>
          <a:fillRef idx="1">
            <a:scrgbClr r="0" g="0" b="0"/>
          </a:fillRef>
          <a:effectRef idx="0">
            <a:schemeClr val="accent6">
              <a:hueOff val="0"/>
              <a:satOff val="0"/>
              <a:lumOff val="0"/>
              <a:alphaOff val="0"/>
            </a:schemeClr>
          </a:effectRef>
          <a:fontRef idx="minor">
            <a:schemeClr val="lt1"/>
          </a:fontRef>
        </p:style>
        <p:txBody>
          <a:bodyPr/>
          <a:lstStyle/>
          <a:p>
            <a:endParaRPr lang="en-US"/>
          </a:p>
        </p:txBody>
      </p:sp>
    </p:spTree>
    <p:extLst>
      <p:ext uri="{BB962C8B-B14F-4D97-AF65-F5344CB8AC3E}">
        <p14:creationId xmlns:p14="http://schemas.microsoft.com/office/powerpoint/2010/main" val="143670897"/>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animEffect transition="in" filter="fade">
                                      <p:cBhvr>
                                        <p:cTn id="7" dur="500"/>
                                        <p:tgtEl>
                                          <p:spTgt spid="1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0">
                                            <p:txEl>
                                              <p:pRg st="1" end="1"/>
                                            </p:txEl>
                                          </p:spTgt>
                                        </p:tgtEl>
                                        <p:attrNameLst>
                                          <p:attrName>style.visibility</p:attrName>
                                        </p:attrNameLst>
                                      </p:cBhvr>
                                      <p:to>
                                        <p:strVal val="visible"/>
                                      </p:to>
                                    </p:set>
                                    <p:animEffect transition="in" filter="fade">
                                      <p:cBhvr>
                                        <p:cTn id="12" dur="500"/>
                                        <p:tgtEl>
                                          <p:spTgt spid="10">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0">
                                            <p:txEl>
                                              <p:pRg st="2" end="2"/>
                                            </p:txEl>
                                          </p:spTgt>
                                        </p:tgtEl>
                                        <p:attrNameLst>
                                          <p:attrName>style.visibility</p:attrName>
                                        </p:attrNameLst>
                                      </p:cBhvr>
                                      <p:to>
                                        <p:strVal val="visible"/>
                                      </p:to>
                                    </p:set>
                                    <p:animEffect transition="in" filter="fade">
                                      <p:cBhvr>
                                        <p:cTn id="17" dur="500"/>
                                        <p:tgtEl>
                                          <p:spTgt spid="10">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0">
                                            <p:txEl>
                                              <p:pRg st="3" end="3"/>
                                            </p:txEl>
                                          </p:spTgt>
                                        </p:tgtEl>
                                        <p:attrNameLst>
                                          <p:attrName>style.visibility</p:attrName>
                                        </p:attrNameLst>
                                      </p:cBhvr>
                                      <p:to>
                                        <p:strVal val="visible"/>
                                      </p:to>
                                    </p:set>
                                    <p:animEffect transition="in" filter="fade">
                                      <p:cBhvr>
                                        <p:cTn id="22" dur="500"/>
                                        <p:tgtEl>
                                          <p:spTgt spid="10">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0">
                                            <p:txEl>
                                              <p:pRg st="4" end="4"/>
                                            </p:txEl>
                                          </p:spTgt>
                                        </p:tgtEl>
                                        <p:attrNameLst>
                                          <p:attrName>style.visibility</p:attrName>
                                        </p:attrNameLst>
                                      </p:cBhvr>
                                      <p:to>
                                        <p:strVal val="visible"/>
                                      </p:to>
                                    </p:set>
                                    <p:animEffect transition="in" filter="fade">
                                      <p:cBhvr>
                                        <p:cTn id="27" dur="500"/>
                                        <p:tgtEl>
                                          <p:spTgt spid="10">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0">
                                            <p:txEl>
                                              <p:pRg st="5" end="5"/>
                                            </p:txEl>
                                          </p:spTgt>
                                        </p:tgtEl>
                                        <p:attrNameLst>
                                          <p:attrName>style.visibility</p:attrName>
                                        </p:attrNameLst>
                                      </p:cBhvr>
                                      <p:to>
                                        <p:strVal val="visible"/>
                                      </p:to>
                                    </p:set>
                                    <p:animEffect transition="in" filter="fade">
                                      <p:cBhvr>
                                        <p:cTn id="32" dur="500"/>
                                        <p:tgtEl>
                                          <p:spTgt spid="10">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ctrTitle"/>
          </p:nvPr>
        </p:nvSpPr>
        <p:spPr/>
        <p:txBody>
          <a:bodyPr/>
          <a:lstStyle/>
          <a:p>
            <a:r>
              <a:rPr lang="de-DE" sz="2000" noProof="1"/>
              <a:t>Preleminary Study Setup</a:t>
            </a:r>
          </a:p>
        </p:txBody>
      </p:sp>
      <p:sp>
        <p:nvSpPr>
          <p:cNvPr id="3" name="Inhaltsplatzhalter 2"/>
          <p:cNvSpPr>
            <a:spLocks noGrp="1"/>
          </p:cNvSpPr>
          <p:nvPr>
            <p:ph sz="quarter" idx="15"/>
          </p:nvPr>
        </p:nvSpPr>
        <p:spPr>
          <a:xfrm>
            <a:off x="395288" y="1131887"/>
            <a:ext cx="8312395" cy="3671887"/>
          </a:xfrm>
        </p:spPr>
        <p:txBody>
          <a:bodyPr/>
          <a:lstStyle/>
          <a:p>
            <a:r>
              <a:rPr lang="de-DE" sz="1800" noProof="1"/>
              <a:t>32 participants in Online Study in 4 groups</a:t>
            </a:r>
          </a:p>
          <a:p>
            <a:r>
              <a:rPr lang="de-DE" sz="1800" noProof="1"/>
              <a:t>2 dialogues per participant (with/without domain knowledge)</a:t>
            </a:r>
          </a:p>
          <a:p>
            <a:r>
              <a:rPr lang="de-DE" noProof="1"/>
              <a:t>True/False AI Setting</a:t>
            </a:r>
            <a:endParaRPr lang="de-DE" sz="1800" noProof="1"/>
          </a:p>
          <a:p>
            <a:r>
              <a:rPr lang="de-DE" sz="1800" noProof="1"/>
              <a:t>Titanic &amp; Credit Scenario</a:t>
            </a:r>
          </a:p>
          <a:p>
            <a:r>
              <a:rPr lang="de-DE" noProof="1"/>
              <a:t>Handcrafted and LLM generated arguments with fully manual annotated trees</a:t>
            </a:r>
            <a:endParaRPr lang="de-DE" sz="1800" noProof="1"/>
          </a:p>
          <a:p>
            <a:r>
              <a:rPr lang="de-DE" sz="1800" noProof="1"/>
              <a:t>Evaluation:</a:t>
            </a:r>
          </a:p>
          <a:p>
            <a:pPr lvl="1"/>
            <a:r>
              <a:rPr lang="de-DE" sz="1800" noProof="1"/>
              <a:t>2 XAI related questions (Agreement AI decision)</a:t>
            </a:r>
          </a:p>
          <a:p>
            <a:pPr lvl="1"/>
            <a:r>
              <a:rPr lang="de-DE" sz="1800" noProof="1"/>
              <a:t>SASSI Questionnaire for dialogue system performance</a:t>
            </a:r>
          </a:p>
          <a:p>
            <a:pPr lvl="1"/>
            <a:r>
              <a:rPr lang="de-DE" sz="1800" noProof="1"/>
              <a:t>5-likert Scale</a:t>
            </a:r>
          </a:p>
          <a:p>
            <a:pPr lvl="1"/>
            <a:r>
              <a:rPr lang="de-DE" sz="1800" noProof="1"/>
              <a:t>Significance measured with Mann-Whitney-U Test</a:t>
            </a:r>
          </a:p>
          <a:p>
            <a:pPr lvl="1"/>
            <a:endParaRPr lang="de-DE" sz="1800" noProof="1"/>
          </a:p>
          <a:p>
            <a:endParaRPr lang="de-DE" sz="1600" noProof="1"/>
          </a:p>
        </p:txBody>
      </p:sp>
      <p:sp>
        <p:nvSpPr>
          <p:cNvPr id="9" name="Vertikaler Textplatzhalter 8">
            <a:extLst>
              <a:ext uri="{FF2B5EF4-FFF2-40B4-BE49-F238E27FC236}">
                <a16:creationId xmlns:a16="http://schemas.microsoft.com/office/drawing/2014/main" id="{CB02BB67-AE05-1A62-E901-FAA3271DED80}"/>
              </a:ext>
            </a:extLst>
          </p:cNvPr>
          <p:cNvSpPr>
            <a:spLocks noGrp="1"/>
          </p:cNvSpPr>
          <p:nvPr>
            <p:ph type="body" orient="vert" sz="quarter" idx="18"/>
          </p:nvPr>
        </p:nvSpPr>
        <p:spPr/>
        <p:txBody>
          <a:bodyPr/>
          <a:lstStyle/>
          <a:p>
            <a:endParaRPr lang="de-DE" noProof="1"/>
          </a:p>
        </p:txBody>
      </p:sp>
      <p:sp>
        <p:nvSpPr>
          <p:cNvPr id="4" name="Datumsplatzhalter 3"/>
          <p:cNvSpPr>
            <a:spLocks noGrp="1"/>
          </p:cNvSpPr>
          <p:nvPr>
            <p:ph type="dt" sz="half" idx="10"/>
          </p:nvPr>
        </p:nvSpPr>
        <p:spPr/>
        <p:txBody>
          <a:bodyPr/>
          <a:lstStyle/>
          <a:p>
            <a:r>
              <a:rPr lang="en-US" noProof="1"/>
              <a:t>18.08.2025</a:t>
            </a:r>
            <a:endParaRPr lang="de-DE" noProof="1"/>
          </a:p>
        </p:txBody>
      </p:sp>
      <p:sp>
        <p:nvSpPr>
          <p:cNvPr id="5" name="Fußzeilenplatzhalter 4"/>
          <p:cNvSpPr>
            <a:spLocks noGrp="1"/>
          </p:cNvSpPr>
          <p:nvPr>
            <p:ph type="ftr" sz="quarter" idx="11"/>
          </p:nvPr>
        </p:nvSpPr>
        <p:spPr/>
        <p:txBody>
          <a:bodyPr/>
          <a:lstStyle/>
          <a:p>
            <a:r>
              <a:rPr lang="en-US" noProof="1"/>
              <a:t>Enhancing model transparency: Effects of DK Integration for Conversational XAI | Feustel</a:t>
            </a:r>
            <a:endParaRPr lang="de-DE" noProof="1"/>
          </a:p>
        </p:txBody>
      </p:sp>
      <p:sp>
        <p:nvSpPr>
          <p:cNvPr id="6" name="Foliennummernplatzhalter 5"/>
          <p:cNvSpPr>
            <a:spLocks noGrp="1"/>
          </p:cNvSpPr>
          <p:nvPr>
            <p:ph type="sldNum" sz="quarter" idx="12"/>
          </p:nvPr>
        </p:nvSpPr>
        <p:spPr/>
        <p:txBody>
          <a:bodyPr/>
          <a:lstStyle/>
          <a:p>
            <a:r>
              <a:rPr lang="de-DE" noProof="1"/>
              <a:t> </a:t>
            </a:r>
            <a:fld id="{FE120BDC-5456-EC41-8BB6-7A3B726EA19B}" type="slidenum">
              <a:rPr lang="de-DE" noProof="1" smtClean="0"/>
              <a:pPr/>
              <a:t>23</a:t>
            </a:fld>
            <a:endParaRPr lang="de-DE" noProof="1"/>
          </a:p>
        </p:txBody>
      </p:sp>
      <p:sp>
        <p:nvSpPr>
          <p:cNvPr id="7" name="Textfeld 6">
            <a:extLst>
              <a:ext uri="{FF2B5EF4-FFF2-40B4-BE49-F238E27FC236}">
                <a16:creationId xmlns:a16="http://schemas.microsoft.com/office/drawing/2014/main" id="{C5776A54-D360-E5C0-F1C1-987FDBE21CBD}"/>
              </a:ext>
            </a:extLst>
          </p:cNvPr>
          <p:cNvSpPr txBox="1"/>
          <p:nvPr/>
        </p:nvSpPr>
        <p:spPr>
          <a:xfrm>
            <a:off x="7851895" y="134610"/>
            <a:ext cx="833049" cy="276999"/>
          </a:xfrm>
          <a:prstGeom prst="rect">
            <a:avLst/>
          </a:prstGeom>
          <a:noFill/>
        </p:spPr>
        <p:txBody>
          <a:bodyPr wrap="none" rtlCol="0">
            <a:spAutoFit/>
          </a:bodyPr>
          <a:lstStyle/>
          <a:p>
            <a:r>
              <a:rPr lang="de-DE" sz="1200" dirty="0"/>
              <a:t>Evaluation</a:t>
            </a:r>
            <a:endParaRPr lang="en-US" sz="1200" dirty="0"/>
          </a:p>
        </p:txBody>
      </p:sp>
      <p:sp>
        <p:nvSpPr>
          <p:cNvPr id="8" name="Rechteck 7" descr="Lichter an mit einfarbiger Füllung">
            <a:extLst>
              <a:ext uri="{FF2B5EF4-FFF2-40B4-BE49-F238E27FC236}">
                <a16:creationId xmlns:a16="http://schemas.microsoft.com/office/drawing/2014/main" id="{7F9C8ECC-3200-EBF2-D82E-043D0AD2D761}"/>
              </a:ext>
            </a:extLst>
          </p:cNvPr>
          <p:cNvSpPr/>
          <p:nvPr/>
        </p:nvSpPr>
        <p:spPr>
          <a:xfrm>
            <a:off x="8804352" y="664349"/>
            <a:ext cx="277969" cy="277969"/>
          </a:xfrm>
          <a:prstGeom prst="rect">
            <a:avLst/>
          </a:prstGeom>
          <a:blipFill>
            <a:blip r:embed="rId3">
              <a:extLst>
                <a:ext uri="{96DAC541-7B7A-43D3-8B79-37D633B846F1}">
                  <asvg:svgBlip xmlns:asvg="http://schemas.microsoft.com/office/drawing/2016/SVG/main" r:embed="rId4"/>
                </a:ext>
              </a:extLst>
            </a:blip>
            <a:srcRect/>
            <a:stretch>
              <a:fillRect/>
            </a:stretch>
          </a:blipFill>
          <a:ln>
            <a:noFill/>
          </a:ln>
        </p:spPr>
        <p:style>
          <a:lnRef idx="2">
            <a:scrgbClr r="0" g="0" b="0"/>
          </a:lnRef>
          <a:fillRef idx="1">
            <a:scrgbClr r="0" g="0" b="0"/>
          </a:fillRef>
          <a:effectRef idx="0">
            <a:schemeClr val="accent2">
              <a:hueOff val="0"/>
              <a:satOff val="0"/>
              <a:lumOff val="0"/>
              <a:alphaOff val="0"/>
            </a:schemeClr>
          </a:effectRef>
          <a:fontRef idx="minor">
            <a:schemeClr val="lt1"/>
          </a:fontRef>
        </p:style>
        <p:txBody>
          <a:bodyPr/>
          <a:lstStyle/>
          <a:p>
            <a:endParaRPr lang="en-US"/>
          </a:p>
        </p:txBody>
      </p:sp>
      <p:sp>
        <p:nvSpPr>
          <p:cNvPr id="11" name="Rechteck 10" descr="Geschlossenes Buch mit einfarbiger Füllung">
            <a:extLst>
              <a:ext uri="{FF2B5EF4-FFF2-40B4-BE49-F238E27FC236}">
                <a16:creationId xmlns:a16="http://schemas.microsoft.com/office/drawing/2014/main" id="{B1E39705-165D-F47B-C1AC-7E9B74446E6A}"/>
              </a:ext>
            </a:extLst>
          </p:cNvPr>
          <p:cNvSpPr/>
          <p:nvPr/>
        </p:nvSpPr>
        <p:spPr>
          <a:xfrm>
            <a:off x="8804352" y="1043547"/>
            <a:ext cx="277969" cy="277969"/>
          </a:xfrm>
          <a:prstGeom prst="rect">
            <a:avLst/>
          </a:prstGeom>
          <a:blipFill>
            <a:blip r:embed="rId5">
              <a:extLst>
                <a:ext uri="{96DAC541-7B7A-43D3-8B79-37D633B846F1}">
                  <asvg:svgBlip xmlns:asvg="http://schemas.microsoft.com/office/drawing/2016/SVG/main" r:embed="rId6"/>
                </a:ext>
              </a:extLst>
            </a:blip>
            <a:srcRect/>
            <a:stretch>
              <a:fillRect/>
            </a:stretch>
          </a:blipFill>
          <a:ln>
            <a:noFill/>
          </a:ln>
        </p:spPr>
        <p:style>
          <a:lnRef idx="2">
            <a:scrgbClr r="0" g="0" b="0"/>
          </a:lnRef>
          <a:fillRef idx="1">
            <a:scrgbClr r="0" g="0" b="0"/>
          </a:fillRef>
          <a:effectRef idx="0">
            <a:schemeClr val="accent3">
              <a:hueOff val="0"/>
              <a:satOff val="0"/>
              <a:lumOff val="0"/>
              <a:alphaOff val="0"/>
            </a:schemeClr>
          </a:effectRef>
          <a:fontRef idx="minor">
            <a:schemeClr val="lt1"/>
          </a:fontRef>
        </p:style>
        <p:txBody>
          <a:bodyPr/>
          <a:lstStyle/>
          <a:p>
            <a:endParaRPr lang="en-US"/>
          </a:p>
        </p:txBody>
      </p:sp>
      <p:sp>
        <p:nvSpPr>
          <p:cNvPr id="12" name="Rechteck 11" descr="Netzwerk">
            <a:extLst>
              <a:ext uri="{FF2B5EF4-FFF2-40B4-BE49-F238E27FC236}">
                <a16:creationId xmlns:a16="http://schemas.microsoft.com/office/drawing/2014/main" id="{4ACA5449-A4E9-CF55-AB8B-A1065C1F9101}"/>
              </a:ext>
            </a:extLst>
          </p:cNvPr>
          <p:cNvSpPr/>
          <p:nvPr/>
        </p:nvSpPr>
        <p:spPr>
          <a:xfrm>
            <a:off x="8804352" y="1379208"/>
            <a:ext cx="277969" cy="277969"/>
          </a:xfrm>
          <a:prstGeom prst="rect">
            <a:avLst/>
          </a:prstGeom>
          <a: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p:spPr>
        <p:style>
          <a:lnRef idx="2">
            <a:scrgbClr r="0" g="0" b="0"/>
          </a:lnRef>
          <a:fillRef idx="1">
            <a:scrgbClr r="0" g="0" b="0"/>
          </a:fillRef>
          <a:effectRef idx="0">
            <a:schemeClr val="accent4">
              <a:hueOff val="0"/>
              <a:satOff val="0"/>
              <a:lumOff val="0"/>
              <a:alphaOff val="0"/>
            </a:schemeClr>
          </a:effectRef>
          <a:fontRef idx="minor">
            <a:schemeClr val="lt1"/>
          </a:fontRef>
        </p:style>
        <p:txBody>
          <a:bodyPr/>
          <a:lstStyle/>
          <a:p>
            <a:endParaRPr lang="en-US"/>
          </a:p>
        </p:txBody>
      </p:sp>
      <p:sp>
        <p:nvSpPr>
          <p:cNvPr id="13" name="Rechteck 12" descr="Kreise mit Pfeilen mit einfarbiger Füllung">
            <a:extLst>
              <a:ext uri="{FF2B5EF4-FFF2-40B4-BE49-F238E27FC236}">
                <a16:creationId xmlns:a16="http://schemas.microsoft.com/office/drawing/2014/main" id="{CEB9E20A-E81E-91BD-63FF-A8662E625118}"/>
              </a:ext>
            </a:extLst>
          </p:cNvPr>
          <p:cNvSpPr/>
          <p:nvPr/>
        </p:nvSpPr>
        <p:spPr>
          <a:xfrm>
            <a:off x="8804352" y="1688740"/>
            <a:ext cx="277969" cy="277969"/>
          </a:xfrm>
          <a:prstGeom prst="rect">
            <a:avLst/>
          </a:prstGeom>
          <a:blipFill>
            <a:blip r:embed="rId9">
              <a:extLst>
                <a:ext uri="{96DAC541-7B7A-43D3-8B79-37D633B846F1}">
                  <asvg:svgBlip xmlns:asvg="http://schemas.microsoft.com/office/drawing/2016/SVG/main" r:embed="rId10"/>
                </a:ext>
              </a:extLst>
            </a:blip>
            <a:srcRect/>
            <a:stretch>
              <a:fillRect/>
            </a:stretch>
          </a:blipFill>
          <a:ln>
            <a:noFill/>
          </a:ln>
        </p:spPr>
        <p:style>
          <a:lnRef idx="2">
            <a:scrgbClr r="0" g="0" b="0"/>
          </a:lnRef>
          <a:fillRef idx="1">
            <a:scrgbClr r="0" g="0" b="0"/>
          </a:fillRef>
          <a:effectRef idx="0">
            <a:schemeClr val="accent5">
              <a:hueOff val="0"/>
              <a:satOff val="0"/>
              <a:lumOff val="0"/>
              <a:alphaOff val="0"/>
            </a:schemeClr>
          </a:effectRef>
          <a:fontRef idx="minor">
            <a:schemeClr val="lt1"/>
          </a:fontRef>
        </p:style>
        <p:txBody>
          <a:bodyPr/>
          <a:lstStyle/>
          <a:p>
            <a:endParaRPr lang="en-US"/>
          </a:p>
        </p:txBody>
      </p:sp>
      <p:sp>
        <p:nvSpPr>
          <p:cNvPr id="14" name="Rechteck 13" descr="Prüfliste">
            <a:extLst>
              <a:ext uri="{FF2B5EF4-FFF2-40B4-BE49-F238E27FC236}">
                <a16:creationId xmlns:a16="http://schemas.microsoft.com/office/drawing/2014/main" id="{A817AB4C-CD6D-EE1F-07C4-FBA888F016FA}"/>
              </a:ext>
            </a:extLst>
          </p:cNvPr>
          <p:cNvSpPr/>
          <p:nvPr/>
        </p:nvSpPr>
        <p:spPr>
          <a:xfrm>
            <a:off x="8804352" y="2006980"/>
            <a:ext cx="277969" cy="277969"/>
          </a:xfrm>
          <a:prstGeom prst="rect">
            <a:avLst/>
          </a:prstGeom>
          <a: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a:noFill/>
          </a:ln>
        </p:spPr>
        <p:style>
          <a:lnRef idx="2">
            <a:scrgbClr r="0" g="0" b="0"/>
          </a:lnRef>
          <a:fillRef idx="1">
            <a:scrgbClr r="0" g="0" b="0"/>
          </a:fillRef>
          <a:effectRef idx="0">
            <a:schemeClr val="accent6">
              <a:hueOff val="0"/>
              <a:satOff val="0"/>
              <a:lumOff val="0"/>
              <a:alphaOff val="0"/>
            </a:schemeClr>
          </a:effectRef>
          <a:fontRef idx="minor">
            <a:schemeClr val="lt1"/>
          </a:fontRef>
        </p:style>
        <p:txBody>
          <a:bodyPr/>
          <a:lstStyle/>
          <a:p>
            <a:endParaRPr lang="en-US"/>
          </a:p>
        </p:txBody>
      </p:sp>
      <p:sp>
        <p:nvSpPr>
          <p:cNvPr id="15" name="Rechteck 14" descr="Auktionshammer">
            <a:extLst>
              <a:ext uri="{FF2B5EF4-FFF2-40B4-BE49-F238E27FC236}">
                <a16:creationId xmlns:a16="http://schemas.microsoft.com/office/drawing/2014/main" id="{EF0A0680-2069-5D0E-BE89-02F47AF70DBD}"/>
              </a:ext>
            </a:extLst>
          </p:cNvPr>
          <p:cNvSpPr/>
          <p:nvPr/>
        </p:nvSpPr>
        <p:spPr>
          <a:xfrm>
            <a:off x="8804352" y="2316507"/>
            <a:ext cx="277969" cy="277969"/>
          </a:xfrm>
          <a:prstGeom prst="rect">
            <a:avLst/>
          </a:prstGeom>
          <a: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a:blipFill>
          <a:ln>
            <a:noFill/>
          </a:ln>
        </p:spPr>
        <p:style>
          <a:lnRef idx="2">
            <a:scrgbClr r="0" g="0" b="0"/>
          </a:lnRef>
          <a:fillRef idx="1">
            <a:scrgbClr r="0" g="0" b="0"/>
          </a:fillRef>
          <a:effectRef idx="0">
            <a:schemeClr val="accent2">
              <a:hueOff val="0"/>
              <a:satOff val="0"/>
              <a:lumOff val="0"/>
              <a:alphaOff val="0"/>
            </a:schemeClr>
          </a:effectRef>
          <a:fontRef idx="minor">
            <a:schemeClr val="lt1"/>
          </a:fontRef>
        </p:style>
        <p:txBody>
          <a:bodyPr/>
          <a:lstStyle/>
          <a:p>
            <a:endParaRPr lang="en-US"/>
          </a:p>
        </p:txBody>
      </p:sp>
      <p:sp>
        <p:nvSpPr>
          <p:cNvPr id="16" name="Rechteck 15" descr="Prüfliste">
            <a:extLst>
              <a:ext uri="{FF2B5EF4-FFF2-40B4-BE49-F238E27FC236}">
                <a16:creationId xmlns:a16="http://schemas.microsoft.com/office/drawing/2014/main" id="{1972B8F9-2F15-6455-6446-30D3C5EF34EC}"/>
              </a:ext>
            </a:extLst>
          </p:cNvPr>
          <p:cNvSpPr/>
          <p:nvPr/>
        </p:nvSpPr>
        <p:spPr>
          <a:xfrm>
            <a:off x="7601427" y="148483"/>
            <a:ext cx="277969" cy="277969"/>
          </a:xfrm>
          <a:prstGeom prst="rect">
            <a:avLst/>
          </a:prstGeom>
          <a: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a:noFill/>
          </a:ln>
        </p:spPr>
        <p:style>
          <a:lnRef idx="2">
            <a:scrgbClr r="0" g="0" b="0"/>
          </a:lnRef>
          <a:fillRef idx="1">
            <a:scrgbClr r="0" g="0" b="0"/>
          </a:fillRef>
          <a:effectRef idx="0">
            <a:schemeClr val="accent6">
              <a:hueOff val="0"/>
              <a:satOff val="0"/>
              <a:lumOff val="0"/>
              <a:alphaOff val="0"/>
            </a:schemeClr>
          </a:effectRef>
          <a:fontRef idx="minor">
            <a:schemeClr val="lt1"/>
          </a:fontRef>
        </p:style>
        <p:txBody>
          <a:bodyPr/>
          <a:lstStyle/>
          <a:p>
            <a:endParaRPr lang="en-US"/>
          </a:p>
        </p:txBody>
      </p:sp>
    </p:spTree>
    <p:extLst>
      <p:ext uri="{BB962C8B-B14F-4D97-AF65-F5344CB8AC3E}">
        <p14:creationId xmlns:p14="http://schemas.microsoft.com/office/powerpoint/2010/main" val="798608122"/>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5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fade">
                                      <p:cBhvr>
                                        <p:cTn id="42" dur="500"/>
                                        <p:tgtEl>
                                          <p:spTgt spid="3">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3">
                                            <p:txEl>
                                              <p:pRg st="8" end="8"/>
                                            </p:txEl>
                                          </p:spTgt>
                                        </p:tgtEl>
                                        <p:attrNameLst>
                                          <p:attrName>style.visibility</p:attrName>
                                        </p:attrNameLst>
                                      </p:cBhvr>
                                      <p:to>
                                        <p:strVal val="visible"/>
                                      </p:to>
                                    </p:set>
                                    <p:animEffect transition="in" filter="fade">
                                      <p:cBhvr>
                                        <p:cTn id="47" dur="500"/>
                                        <p:tgtEl>
                                          <p:spTgt spid="3">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3">
                                            <p:txEl>
                                              <p:pRg st="9" end="9"/>
                                            </p:txEl>
                                          </p:spTgt>
                                        </p:tgtEl>
                                        <p:attrNameLst>
                                          <p:attrName>style.visibility</p:attrName>
                                        </p:attrNameLst>
                                      </p:cBhvr>
                                      <p:to>
                                        <p:strVal val="visible"/>
                                      </p:to>
                                    </p:set>
                                    <p:animEffect transition="in" filter="fade">
                                      <p:cBhvr>
                                        <p:cTn id="52" dur="500"/>
                                        <p:tgtEl>
                                          <p:spTgt spid="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6934782-A46A-8641-63A0-928FB5F92A32}"/>
              </a:ext>
            </a:extLst>
          </p:cNvPr>
          <p:cNvSpPr>
            <a:spLocks noGrp="1"/>
          </p:cNvSpPr>
          <p:nvPr>
            <p:ph type="ctrTitle"/>
          </p:nvPr>
        </p:nvSpPr>
        <p:spPr/>
        <p:txBody>
          <a:bodyPr/>
          <a:lstStyle/>
          <a:p>
            <a:r>
              <a:rPr lang="de-DE" sz="2000" noProof="1"/>
              <a:t>Preliminary User Study</a:t>
            </a:r>
          </a:p>
        </p:txBody>
      </p:sp>
      <p:sp>
        <p:nvSpPr>
          <p:cNvPr id="13" name="Inhaltsplatzhalter 12">
            <a:extLst>
              <a:ext uri="{FF2B5EF4-FFF2-40B4-BE49-F238E27FC236}">
                <a16:creationId xmlns:a16="http://schemas.microsoft.com/office/drawing/2014/main" id="{5F2D299F-5F7C-7378-3E23-9F2E01C87194}"/>
              </a:ext>
            </a:extLst>
          </p:cNvPr>
          <p:cNvSpPr>
            <a:spLocks noGrp="1"/>
          </p:cNvSpPr>
          <p:nvPr>
            <p:ph sz="quarter" idx="13"/>
          </p:nvPr>
        </p:nvSpPr>
        <p:spPr/>
        <p:txBody>
          <a:bodyPr>
            <a:noAutofit/>
          </a:bodyPr>
          <a:lstStyle/>
          <a:p>
            <a:r>
              <a:rPr lang="de-DE" sz="1800" noProof="1"/>
              <a:t>Do users understand that the AI is behaving incorrect? </a:t>
            </a:r>
            <a:br>
              <a:rPr lang="de-DE" sz="1800" noProof="1"/>
            </a:br>
            <a:r>
              <a:rPr lang="de-DE" sz="1800" noProof="1"/>
              <a:t>Does domain knowledge help to detect incorrect AI behavior?</a:t>
            </a:r>
          </a:p>
          <a:p>
            <a:pPr lvl="1"/>
            <a:r>
              <a:rPr lang="de-DE" sz="1800" noProof="1"/>
              <a:t>Q1: I agree with the decisions made by the system.</a:t>
            </a:r>
          </a:p>
          <a:p>
            <a:pPr lvl="1"/>
            <a:r>
              <a:rPr lang="de-DE" sz="1800" noProof="1"/>
              <a:t>Q2: The system decisions are plausible.</a:t>
            </a:r>
          </a:p>
          <a:p>
            <a:r>
              <a:rPr lang="de-DE" noProof="1"/>
              <a:t>Domain knowledge requested by the user: 44%</a:t>
            </a:r>
          </a:p>
          <a:p>
            <a:endParaRPr lang="de-DE" sz="1800" noProof="1"/>
          </a:p>
          <a:p>
            <a:endParaRPr lang="de-DE" sz="1800" noProof="1"/>
          </a:p>
          <a:p>
            <a:pPr marL="0" indent="0">
              <a:buNone/>
            </a:pPr>
            <a:endParaRPr lang="de-DE" sz="1800" noProof="1"/>
          </a:p>
          <a:p>
            <a:pPr marL="0" indent="0">
              <a:buNone/>
            </a:pPr>
            <a:endParaRPr lang="de-DE" sz="1800" noProof="1"/>
          </a:p>
          <a:p>
            <a:endParaRPr lang="de-DE" sz="1800" noProof="1"/>
          </a:p>
          <a:p>
            <a:endParaRPr lang="de-DE" sz="1800" noProof="1"/>
          </a:p>
          <a:p>
            <a:endParaRPr lang="de-DE" sz="1800" noProof="1"/>
          </a:p>
          <a:p>
            <a:endParaRPr lang="de-DE" sz="1800" noProof="1"/>
          </a:p>
          <a:p>
            <a:endParaRPr lang="de-DE" sz="1800" noProof="1"/>
          </a:p>
          <a:p>
            <a:pPr marL="0" indent="0">
              <a:buNone/>
            </a:pPr>
            <a:endParaRPr lang="de-DE" sz="1800" noProof="1"/>
          </a:p>
          <a:p>
            <a:endParaRPr lang="de-DE" sz="1800" noProof="1"/>
          </a:p>
          <a:p>
            <a:endParaRPr lang="de-DE" sz="1800" noProof="1"/>
          </a:p>
        </p:txBody>
      </p:sp>
      <p:sp>
        <p:nvSpPr>
          <p:cNvPr id="6" name="Datumsplatzhalter 5">
            <a:extLst>
              <a:ext uri="{FF2B5EF4-FFF2-40B4-BE49-F238E27FC236}">
                <a16:creationId xmlns:a16="http://schemas.microsoft.com/office/drawing/2014/main" id="{4FD8DDC4-AB88-DCC6-49D0-694525937B94}"/>
              </a:ext>
            </a:extLst>
          </p:cNvPr>
          <p:cNvSpPr>
            <a:spLocks noGrp="1"/>
          </p:cNvSpPr>
          <p:nvPr>
            <p:ph type="dt" sz="half" idx="10"/>
          </p:nvPr>
        </p:nvSpPr>
        <p:spPr/>
        <p:txBody>
          <a:bodyPr/>
          <a:lstStyle/>
          <a:p>
            <a:r>
              <a:rPr lang="en-US" noProof="1"/>
              <a:t>18.08.2025</a:t>
            </a:r>
            <a:endParaRPr lang="de-DE" noProof="1"/>
          </a:p>
        </p:txBody>
      </p:sp>
      <p:sp>
        <p:nvSpPr>
          <p:cNvPr id="7" name="Fußzeilenplatzhalter 6">
            <a:extLst>
              <a:ext uri="{FF2B5EF4-FFF2-40B4-BE49-F238E27FC236}">
                <a16:creationId xmlns:a16="http://schemas.microsoft.com/office/drawing/2014/main" id="{0350750A-E5B9-B41F-1709-EAEC05C3A16D}"/>
              </a:ext>
            </a:extLst>
          </p:cNvPr>
          <p:cNvSpPr>
            <a:spLocks noGrp="1"/>
          </p:cNvSpPr>
          <p:nvPr>
            <p:ph type="ftr" sz="quarter" idx="11"/>
          </p:nvPr>
        </p:nvSpPr>
        <p:spPr/>
        <p:txBody>
          <a:bodyPr/>
          <a:lstStyle/>
          <a:p>
            <a:r>
              <a:rPr lang="en-US" noProof="1"/>
              <a:t>Enhancing model transparency: Effects of DK Integration for Conversational XAI | Feustel</a:t>
            </a:r>
            <a:endParaRPr lang="de-DE" noProof="1"/>
          </a:p>
        </p:txBody>
      </p:sp>
      <p:sp>
        <p:nvSpPr>
          <p:cNvPr id="8" name="Foliennummernplatzhalter 7">
            <a:extLst>
              <a:ext uri="{FF2B5EF4-FFF2-40B4-BE49-F238E27FC236}">
                <a16:creationId xmlns:a16="http://schemas.microsoft.com/office/drawing/2014/main" id="{06F7C7AB-A7E7-AD3A-5090-7BAE326BC3BA}"/>
              </a:ext>
            </a:extLst>
          </p:cNvPr>
          <p:cNvSpPr>
            <a:spLocks noGrp="1"/>
          </p:cNvSpPr>
          <p:nvPr>
            <p:ph type="sldNum" sz="quarter" idx="12"/>
          </p:nvPr>
        </p:nvSpPr>
        <p:spPr/>
        <p:txBody>
          <a:bodyPr/>
          <a:lstStyle/>
          <a:p>
            <a:r>
              <a:rPr lang="de-DE" noProof="1"/>
              <a:t> </a:t>
            </a:r>
            <a:fld id="{FE120BDC-5456-EC41-8BB6-7A3B726EA19B}" type="slidenum">
              <a:rPr lang="de-DE" noProof="1" smtClean="0"/>
              <a:pPr/>
              <a:t>24</a:t>
            </a:fld>
            <a:endParaRPr lang="de-DE" noProof="1"/>
          </a:p>
        </p:txBody>
      </p:sp>
      <p:pic>
        <p:nvPicPr>
          <p:cNvPr id="10" name="Grafik 9">
            <a:extLst>
              <a:ext uri="{FF2B5EF4-FFF2-40B4-BE49-F238E27FC236}">
                <a16:creationId xmlns:a16="http://schemas.microsoft.com/office/drawing/2014/main" id="{8AC72518-8163-C285-BFBE-FCF662D7983A}"/>
              </a:ext>
            </a:extLst>
          </p:cNvPr>
          <p:cNvPicPr>
            <a:picLocks noChangeAspect="1"/>
          </p:cNvPicPr>
          <p:nvPr/>
        </p:nvPicPr>
        <p:blipFill>
          <a:blip r:embed="rId3"/>
          <a:stretch>
            <a:fillRect/>
          </a:stretch>
        </p:blipFill>
        <p:spPr>
          <a:xfrm>
            <a:off x="841749" y="2686902"/>
            <a:ext cx="3665319" cy="1686548"/>
          </a:xfrm>
          <a:prstGeom prst="rect">
            <a:avLst/>
          </a:prstGeom>
        </p:spPr>
      </p:pic>
      <p:sp>
        <p:nvSpPr>
          <p:cNvPr id="11" name="Textfeld 10">
            <a:extLst>
              <a:ext uri="{FF2B5EF4-FFF2-40B4-BE49-F238E27FC236}">
                <a16:creationId xmlns:a16="http://schemas.microsoft.com/office/drawing/2014/main" id="{53B154C9-CDBE-DD8C-8209-D22E10145511}"/>
              </a:ext>
            </a:extLst>
          </p:cNvPr>
          <p:cNvSpPr txBox="1"/>
          <p:nvPr/>
        </p:nvSpPr>
        <p:spPr>
          <a:xfrm>
            <a:off x="319931" y="4708867"/>
            <a:ext cx="8374274" cy="246221"/>
          </a:xfrm>
          <a:prstGeom prst="rect">
            <a:avLst/>
          </a:prstGeom>
          <a:noFill/>
        </p:spPr>
        <p:txBody>
          <a:bodyPr wrap="square">
            <a:spAutoFit/>
          </a:bodyPr>
          <a:lstStyle/>
          <a:p>
            <a:pPr algn="r"/>
            <a:r>
              <a:rPr lang="de-DE" sz="1000" i="1" noProof="1"/>
              <a:t>(Feustel et al., 2024)</a:t>
            </a:r>
          </a:p>
        </p:txBody>
      </p:sp>
      <p:sp>
        <p:nvSpPr>
          <p:cNvPr id="5" name="Textfeld 4">
            <a:extLst>
              <a:ext uri="{FF2B5EF4-FFF2-40B4-BE49-F238E27FC236}">
                <a16:creationId xmlns:a16="http://schemas.microsoft.com/office/drawing/2014/main" id="{2A51E67E-1BD4-280E-B587-5CB2DC652AE4}"/>
              </a:ext>
            </a:extLst>
          </p:cNvPr>
          <p:cNvSpPr txBox="1"/>
          <p:nvPr/>
        </p:nvSpPr>
        <p:spPr>
          <a:xfrm>
            <a:off x="4507068" y="3950854"/>
            <a:ext cx="4572000" cy="369332"/>
          </a:xfrm>
          <a:prstGeom prst="rect">
            <a:avLst/>
          </a:prstGeom>
          <a:noFill/>
        </p:spPr>
        <p:txBody>
          <a:bodyPr wrap="square">
            <a:spAutoFit/>
          </a:bodyPr>
          <a:lstStyle/>
          <a:p>
            <a:r>
              <a:rPr lang="de-DE" sz="1800" noProof="1"/>
              <a:t>(p is value of Mann-Whitney U Test)</a:t>
            </a:r>
          </a:p>
        </p:txBody>
      </p:sp>
      <p:sp>
        <p:nvSpPr>
          <p:cNvPr id="3" name="Textfeld 2">
            <a:extLst>
              <a:ext uri="{FF2B5EF4-FFF2-40B4-BE49-F238E27FC236}">
                <a16:creationId xmlns:a16="http://schemas.microsoft.com/office/drawing/2014/main" id="{F39B4FC5-2FA4-7E16-E8CD-5427FD721C79}"/>
              </a:ext>
            </a:extLst>
          </p:cNvPr>
          <p:cNvSpPr txBox="1"/>
          <p:nvPr/>
        </p:nvSpPr>
        <p:spPr>
          <a:xfrm>
            <a:off x="7851895" y="134610"/>
            <a:ext cx="833049" cy="276999"/>
          </a:xfrm>
          <a:prstGeom prst="rect">
            <a:avLst/>
          </a:prstGeom>
          <a:noFill/>
        </p:spPr>
        <p:txBody>
          <a:bodyPr wrap="none" rtlCol="0">
            <a:spAutoFit/>
          </a:bodyPr>
          <a:lstStyle/>
          <a:p>
            <a:r>
              <a:rPr lang="de-DE" sz="1200" dirty="0"/>
              <a:t>Evaluation</a:t>
            </a:r>
            <a:endParaRPr lang="en-US" sz="1200" dirty="0"/>
          </a:p>
        </p:txBody>
      </p:sp>
      <p:sp>
        <p:nvSpPr>
          <p:cNvPr id="9" name="Rechteck 8" descr="Lichter an mit einfarbiger Füllung">
            <a:extLst>
              <a:ext uri="{FF2B5EF4-FFF2-40B4-BE49-F238E27FC236}">
                <a16:creationId xmlns:a16="http://schemas.microsoft.com/office/drawing/2014/main" id="{41D93CBD-925A-FDA9-588B-908CC586D8EC}"/>
              </a:ext>
            </a:extLst>
          </p:cNvPr>
          <p:cNvSpPr/>
          <p:nvPr/>
        </p:nvSpPr>
        <p:spPr>
          <a:xfrm>
            <a:off x="8804352" y="664349"/>
            <a:ext cx="277969" cy="277969"/>
          </a:xfrm>
          <a:prstGeom prst="rect">
            <a:avLst/>
          </a:prstGeom>
          <a:blipFill>
            <a:blip r:embed="rId4">
              <a:extLst>
                <a:ext uri="{96DAC541-7B7A-43D3-8B79-37D633B846F1}">
                  <asvg:svgBlip xmlns:asvg="http://schemas.microsoft.com/office/drawing/2016/SVG/main" r:embed="rId5"/>
                </a:ext>
              </a:extLst>
            </a:blip>
            <a:srcRect/>
            <a:stretch>
              <a:fillRect/>
            </a:stretch>
          </a:blipFill>
          <a:ln>
            <a:noFill/>
          </a:ln>
        </p:spPr>
        <p:style>
          <a:lnRef idx="2">
            <a:scrgbClr r="0" g="0" b="0"/>
          </a:lnRef>
          <a:fillRef idx="1">
            <a:scrgbClr r="0" g="0" b="0"/>
          </a:fillRef>
          <a:effectRef idx="0">
            <a:schemeClr val="accent2">
              <a:hueOff val="0"/>
              <a:satOff val="0"/>
              <a:lumOff val="0"/>
              <a:alphaOff val="0"/>
            </a:schemeClr>
          </a:effectRef>
          <a:fontRef idx="minor">
            <a:schemeClr val="lt1"/>
          </a:fontRef>
        </p:style>
        <p:txBody>
          <a:bodyPr/>
          <a:lstStyle/>
          <a:p>
            <a:endParaRPr lang="en-US"/>
          </a:p>
        </p:txBody>
      </p:sp>
      <p:sp>
        <p:nvSpPr>
          <p:cNvPr id="12" name="Rechteck 11" descr="Geschlossenes Buch mit einfarbiger Füllung">
            <a:extLst>
              <a:ext uri="{FF2B5EF4-FFF2-40B4-BE49-F238E27FC236}">
                <a16:creationId xmlns:a16="http://schemas.microsoft.com/office/drawing/2014/main" id="{67C8B1B2-5D17-9D4B-F268-698AFC05B7E0}"/>
              </a:ext>
            </a:extLst>
          </p:cNvPr>
          <p:cNvSpPr/>
          <p:nvPr/>
        </p:nvSpPr>
        <p:spPr>
          <a:xfrm>
            <a:off x="8804352" y="1043547"/>
            <a:ext cx="277969" cy="277969"/>
          </a:xfrm>
          <a:prstGeom prst="rect">
            <a:avLst/>
          </a:prstGeom>
          <a:blipFill>
            <a:blip r:embed="rId6">
              <a:extLst>
                <a:ext uri="{96DAC541-7B7A-43D3-8B79-37D633B846F1}">
                  <asvg:svgBlip xmlns:asvg="http://schemas.microsoft.com/office/drawing/2016/SVG/main" r:embed="rId7"/>
                </a:ext>
              </a:extLst>
            </a:blip>
            <a:srcRect/>
            <a:stretch>
              <a:fillRect/>
            </a:stretch>
          </a:blipFill>
          <a:ln>
            <a:noFill/>
          </a:ln>
        </p:spPr>
        <p:style>
          <a:lnRef idx="2">
            <a:scrgbClr r="0" g="0" b="0"/>
          </a:lnRef>
          <a:fillRef idx="1">
            <a:scrgbClr r="0" g="0" b="0"/>
          </a:fillRef>
          <a:effectRef idx="0">
            <a:schemeClr val="accent3">
              <a:hueOff val="0"/>
              <a:satOff val="0"/>
              <a:lumOff val="0"/>
              <a:alphaOff val="0"/>
            </a:schemeClr>
          </a:effectRef>
          <a:fontRef idx="minor">
            <a:schemeClr val="lt1"/>
          </a:fontRef>
        </p:style>
        <p:txBody>
          <a:bodyPr/>
          <a:lstStyle/>
          <a:p>
            <a:endParaRPr lang="en-US"/>
          </a:p>
        </p:txBody>
      </p:sp>
      <p:sp>
        <p:nvSpPr>
          <p:cNvPr id="14" name="Rechteck 13" descr="Netzwerk">
            <a:extLst>
              <a:ext uri="{FF2B5EF4-FFF2-40B4-BE49-F238E27FC236}">
                <a16:creationId xmlns:a16="http://schemas.microsoft.com/office/drawing/2014/main" id="{9DDE5A4F-9494-C4E2-DC59-D3DD847AFDDF}"/>
              </a:ext>
            </a:extLst>
          </p:cNvPr>
          <p:cNvSpPr/>
          <p:nvPr/>
        </p:nvSpPr>
        <p:spPr>
          <a:xfrm>
            <a:off x="8804352" y="1379208"/>
            <a:ext cx="277969" cy="277969"/>
          </a:xfrm>
          <a:prstGeom prst="rect">
            <a:avLst/>
          </a:prstGeom>
          <a: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a:blipFill>
          <a:ln>
            <a:noFill/>
          </a:ln>
        </p:spPr>
        <p:style>
          <a:lnRef idx="2">
            <a:scrgbClr r="0" g="0" b="0"/>
          </a:lnRef>
          <a:fillRef idx="1">
            <a:scrgbClr r="0" g="0" b="0"/>
          </a:fillRef>
          <a:effectRef idx="0">
            <a:schemeClr val="accent4">
              <a:hueOff val="0"/>
              <a:satOff val="0"/>
              <a:lumOff val="0"/>
              <a:alphaOff val="0"/>
            </a:schemeClr>
          </a:effectRef>
          <a:fontRef idx="minor">
            <a:schemeClr val="lt1"/>
          </a:fontRef>
        </p:style>
        <p:txBody>
          <a:bodyPr/>
          <a:lstStyle/>
          <a:p>
            <a:endParaRPr lang="en-US"/>
          </a:p>
        </p:txBody>
      </p:sp>
      <p:sp>
        <p:nvSpPr>
          <p:cNvPr id="15" name="Rechteck 14" descr="Kreise mit Pfeilen mit einfarbiger Füllung">
            <a:extLst>
              <a:ext uri="{FF2B5EF4-FFF2-40B4-BE49-F238E27FC236}">
                <a16:creationId xmlns:a16="http://schemas.microsoft.com/office/drawing/2014/main" id="{9997E845-1A9B-317B-12E7-3150E1944540}"/>
              </a:ext>
            </a:extLst>
          </p:cNvPr>
          <p:cNvSpPr/>
          <p:nvPr/>
        </p:nvSpPr>
        <p:spPr>
          <a:xfrm>
            <a:off x="8804352" y="1688740"/>
            <a:ext cx="277969" cy="277969"/>
          </a:xfrm>
          <a:prstGeom prst="rect">
            <a:avLst/>
          </a:prstGeom>
          <a:blipFill>
            <a:blip r:embed="rId10">
              <a:extLst>
                <a:ext uri="{96DAC541-7B7A-43D3-8B79-37D633B846F1}">
                  <asvg:svgBlip xmlns:asvg="http://schemas.microsoft.com/office/drawing/2016/SVG/main" r:embed="rId11"/>
                </a:ext>
              </a:extLst>
            </a:blip>
            <a:srcRect/>
            <a:stretch>
              <a:fillRect/>
            </a:stretch>
          </a:blipFill>
          <a:ln>
            <a:noFill/>
          </a:ln>
        </p:spPr>
        <p:style>
          <a:lnRef idx="2">
            <a:scrgbClr r="0" g="0" b="0"/>
          </a:lnRef>
          <a:fillRef idx="1">
            <a:scrgbClr r="0" g="0" b="0"/>
          </a:fillRef>
          <a:effectRef idx="0">
            <a:schemeClr val="accent5">
              <a:hueOff val="0"/>
              <a:satOff val="0"/>
              <a:lumOff val="0"/>
              <a:alphaOff val="0"/>
            </a:schemeClr>
          </a:effectRef>
          <a:fontRef idx="minor">
            <a:schemeClr val="lt1"/>
          </a:fontRef>
        </p:style>
        <p:txBody>
          <a:bodyPr/>
          <a:lstStyle/>
          <a:p>
            <a:endParaRPr lang="en-US"/>
          </a:p>
        </p:txBody>
      </p:sp>
      <p:sp>
        <p:nvSpPr>
          <p:cNvPr id="16" name="Rechteck 15" descr="Prüfliste">
            <a:extLst>
              <a:ext uri="{FF2B5EF4-FFF2-40B4-BE49-F238E27FC236}">
                <a16:creationId xmlns:a16="http://schemas.microsoft.com/office/drawing/2014/main" id="{6273FFAF-45C9-EE3B-35B3-D73BA8526403}"/>
              </a:ext>
            </a:extLst>
          </p:cNvPr>
          <p:cNvSpPr/>
          <p:nvPr/>
        </p:nvSpPr>
        <p:spPr>
          <a:xfrm>
            <a:off x="8804352" y="2006980"/>
            <a:ext cx="277969" cy="277969"/>
          </a:xfrm>
          <a:prstGeom prst="rect">
            <a:avLst/>
          </a:prstGeom>
          <a: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a:blipFill>
          <a:ln>
            <a:noFill/>
          </a:ln>
        </p:spPr>
        <p:style>
          <a:lnRef idx="2">
            <a:scrgbClr r="0" g="0" b="0"/>
          </a:lnRef>
          <a:fillRef idx="1">
            <a:scrgbClr r="0" g="0" b="0"/>
          </a:fillRef>
          <a:effectRef idx="0">
            <a:schemeClr val="accent6">
              <a:hueOff val="0"/>
              <a:satOff val="0"/>
              <a:lumOff val="0"/>
              <a:alphaOff val="0"/>
            </a:schemeClr>
          </a:effectRef>
          <a:fontRef idx="minor">
            <a:schemeClr val="lt1"/>
          </a:fontRef>
        </p:style>
        <p:txBody>
          <a:bodyPr/>
          <a:lstStyle/>
          <a:p>
            <a:endParaRPr lang="en-US"/>
          </a:p>
        </p:txBody>
      </p:sp>
      <p:sp>
        <p:nvSpPr>
          <p:cNvPr id="17" name="Rechteck 16" descr="Auktionshammer">
            <a:extLst>
              <a:ext uri="{FF2B5EF4-FFF2-40B4-BE49-F238E27FC236}">
                <a16:creationId xmlns:a16="http://schemas.microsoft.com/office/drawing/2014/main" id="{EF1FEF19-9FE7-37DD-CF90-A9D3582DEAFF}"/>
              </a:ext>
            </a:extLst>
          </p:cNvPr>
          <p:cNvSpPr/>
          <p:nvPr/>
        </p:nvSpPr>
        <p:spPr>
          <a:xfrm>
            <a:off x="8804352" y="2316507"/>
            <a:ext cx="277969" cy="277969"/>
          </a:xfrm>
          <a:prstGeom prst="rect">
            <a:avLst/>
          </a:prstGeom>
          <a: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a:blipFill>
          <a:ln>
            <a:noFill/>
          </a:ln>
        </p:spPr>
        <p:style>
          <a:lnRef idx="2">
            <a:scrgbClr r="0" g="0" b="0"/>
          </a:lnRef>
          <a:fillRef idx="1">
            <a:scrgbClr r="0" g="0" b="0"/>
          </a:fillRef>
          <a:effectRef idx="0">
            <a:schemeClr val="accent2">
              <a:hueOff val="0"/>
              <a:satOff val="0"/>
              <a:lumOff val="0"/>
              <a:alphaOff val="0"/>
            </a:schemeClr>
          </a:effectRef>
          <a:fontRef idx="minor">
            <a:schemeClr val="lt1"/>
          </a:fontRef>
        </p:style>
        <p:txBody>
          <a:bodyPr/>
          <a:lstStyle/>
          <a:p>
            <a:endParaRPr lang="en-US"/>
          </a:p>
        </p:txBody>
      </p:sp>
      <p:sp>
        <p:nvSpPr>
          <p:cNvPr id="18" name="Rechteck 17" descr="Prüfliste">
            <a:extLst>
              <a:ext uri="{FF2B5EF4-FFF2-40B4-BE49-F238E27FC236}">
                <a16:creationId xmlns:a16="http://schemas.microsoft.com/office/drawing/2014/main" id="{5E7F2323-C565-320F-107C-2EA5DCC6F6A0}"/>
              </a:ext>
            </a:extLst>
          </p:cNvPr>
          <p:cNvSpPr/>
          <p:nvPr/>
        </p:nvSpPr>
        <p:spPr>
          <a:xfrm>
            <a:off x="7601427" y="148483"/>
            <a:ext cx="277969" cy="277969"/>
          </a:xfrm>
          <a:prstGeom prst="rect">
            <a:avLst/>
          </a:prstGeom>
          <a: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a:blipFill>
          <a:ln>
            <a:noFill/>
          </a:ln>
        </p:spPr>
        <p:style>
          <a:lnRef idx="2">
            <a:scrgbClr r="0" g="0" b="0"/>
          </a:lnRef>
          <a:fillRef idx="1">
            <a:scrgbClr r="0" g="0" b="0"/>
          </a:fillRef>
          <a:effectRef idx="0">
            <a:schemeClr val="accent6">
              <a:hueOff val="0"/>
              <a:satOff val="0"/>
              <a:lumOff val="0"/>
              <a:alphaOff val="0"/>
            </a:schemeClr>
          </a:effectRef>
          <a:fontRef idx="minor">
            <a:schemeClr val="lt1"/>
          </a:fontRef>
        </p:style>
        <p:txBody>
          <a:bodyPr/>
          <a:lstStyle/>
          <a:p>
            <a:endParaRPr lang="en-US"/>
          </a:p>
        </p:txBody>
      </p:sp>
    </p:spTree>
    <p:extLst>
      <p:ext uri="{BB962C8B-B14F-4D97-AF65-F5344CB8AC3E}">
        <p14:creationId xmlns:p14="http://schemas.microsoft.com/office/powerpoint/2010/main" val="3139229022"/>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3">
                                            <p:txEl>
                                              <p:pRg st="0" end="0"/>
                                            </p:txEl>
                                          </p:spTgt>
                                        </p:tgtEl>
                                        <p:attrNameLst>
                                          <p:attrName>style.visibility</p:attrName>
                                        </p:attrNameLst>
                                      </p:cBhvr>
                                      <p:to>
                                        <p:strVal val="visible"/>
                                      </p:to>
                                    </p:set>
                                    <p:animEffect transition="in" filter="fade">
                                      <p:cBhvr>
                                        <p:cTn id="7" dur="500"/>
                                        <p:tgtEl>
                                          <p:spTgt spid="13">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3">
                                            <p:txEl>
                                              <p:pRg st="1" end="1"/>
                                            </p:txEl>
                                          </p:spTgt>
                                        </p:tgtEl>
                                        <p:attrNameLst>
                                          <p:attrName>style.visibility</p:attrName>
                                        </p:attrNameLst>
                                      </p:cBhvr>
                                      <p:to>
                                        <p:strVal val="visible"/>
                                      </p:to>
                                    </p:set>
                                    <p:animEffect transition="in" filter="fade">
                                      <p:cBhvr>
                                        <p:cTn id="10" dur="500"/>
                                        <p:tgtEl>
                                          <p:spTgt spid="13">
                                            <p:txEl>
                                              <p:pRg st="1" end="1"/>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3">
                                            <p:txEl>
                                              <p:pRg st="2" end="2"/>
                                            </p:txEl>
                                          </p:spTgt>
                                        </p:tgtEl>
                                        <p:attrNameLst>
                                          <p:attrName>style.visibility</p:attrName>
                                        </p:attrNameLst>
                                      </p:cBhvr>
                                      <p:to>
                                        <p:strVal val="visible"/>
                                      </p:to>
                                    </p:set>
                                    <p:animEffect transition="in" filter="fade">
                                      <p:cBhvr>
                                        <p:cTn id="13" dur="500"/>
                                        <p:tgtEl>
                                          <p:spTgt spid="13">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3">
                                            <p:txEl>
                                              <p:pRg st="3" end="3"/>
                                            </p:txEl>
                                          </p:spTgt>
                                        </p:tgtEl>
                                        <p:attrNameLst>
                                          <p:attrName>style.visibility</p:attrName>
                                        </p:attrNameLst>
                                      </p:cBhvr>
                                      <p:to>
                                        <p:strVal val="visible"/>
                                      </p:to>
                                    </p:set>
                                    <p:animEffect transition="in" filter="fade">
                                      <p:cBhvr>
                                        <p:cTn id="18" dur="500"/>
                                        <p:tgtEl>
                                          <p:spTgt spid="13">
                                            <p:txEl>
                                              <p:pRg st="3" end="3"/>
                                            </p:txEl>
                                          </p:spTgt>
                                        </p:tgtEl>
                                      </p:cBhvr>
                                    </p:animEffect>
                                  </p:childTnLst>
                                </p:cTn>
                              </p:par>
                              <p:par>
                                <p:cTn id="19" presetID="10" presetClass="entr" presetSubtype="0" fill="hold" nodeType="withEffect">
                                  <p:stCondLst>
                                    <p:cond delay="0"/>
                                  </p:stCondLst>
                                  <p:childTnLst>
                                    <p:set>
                                      <p:cBhvr>
                                        <p:cTn id="20" dur="1" fill="hold">
                                          <p:stCondLst>
                                            <p:cond delay="0"/>
                                          </p:stCondLst>
                                        </p:cTn>
                                        <p:tgtEl>
                                          <p:spTgt spid="10"/>
                                        </p:tgtEl>
                                        <p:attrNameLst>
                                          <p:attrName>style.visibility</p:attrName>
                                        </p:attrNameLst>
                                      </p:cBhvr>
                                      <p:to>
                                        <p:strVal val="visible"/>
                                      </p:to>
                                    </p:set>
                                    <p:animEffect transition="in" filter="fade">
                                      <p:cBhvr>
                                        <p:cTn id="21" dur="500"/>
                                        <p:tgtEl>
                                          <p:spTgt spid="10"/>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5"/>
                                        </p:tgtEl>
                                        <p:attrNameLst>
                                          <p:attrName>style.visibility</p:attrName>
                                        </p:attrNameLst>
                                      </p:cBhvr>
                                      <p:to>
                                        <p:strVal val="visible"/>
                                      </p:to>
                                    </p:set>
                                    <p:animEffect transition="in" filter="fade">
                                      <p:cBhvr>
                                        <p:cTn id="24"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build="p"/>
      <p:bldP spid="5"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CE4A8F7-EBE2-8E0C-4079-BBE8D51682F0}"/>
              </a:ext>
            </a:extLst>
          </p:cNvPr>
          <p:cNvSpPr>
            <a:spLocks noGrp="1"/>
          </p:cNvSpPr>
          <p:nvPr>
            <p:ph type="ctrTitle"/>
          </p:nvPr>
        </p:nvSpPr>
        <p:spPr/>
        <p:txBody>
          <a:bodyPr/>
          <a:lstStyle/>
          <a:p>
            <a:r>
              <a:rPr lang="de-DE" noProof="1">
                <a:latin typeface="Arial"/>
                <a:cs typeface="Arial"/>
              </a:rPr>
              <a:t>Preliminary Study Results</a:t>
            </a:r>
            <a:br>
              <a:rPr lang="de-DE" noProof="1">
                <a:latin typeface="Arial"/>
                <a:cs typeface="Arial"/>
              </a:rPr>
            </a:br>
            <a:r>
              <a:rPr lang="de-DE" noProof="1">
                <a:latin typeface="Arial"/>
                <a:cs typeface="Arial"/>
              </a:rPr>
              <a:t>Impact of Domain Knowledge</a:t>
            </a:r>
            <a:endParaRPr lang="de-DE" noProof="1"/>
          </a:p>
        </p:txBody>
      </p:sp>
      <p:sp>
        <p:nvSpPr>
          <p:cNvPr id="3" name="Inhaltsplatzhalter 2">
            <a:extLst>
              <a:ext uri="{FF2B5EF4-FFF2-40B4-BE49-F238E27FC236}">
                <a16:creationId xmlns:a16="http://schemas.microsoft.com/office/drawing/2014/main" id="{042E191A-FCBE-495B-9E17-D7A6E83DB5B3}"/>
              </a:ext>
            </a:extLst>
          </p:cNvPr>
          <p:cNvSpPr>
            <a:spLocks noGrp="1"/>
          </p:cNvSpPr>
          <p:nvPr>
            <p:ph sz="quarter" idx="13"/>
          </p:nvPr>
        </p:nvSpPr>
        <p:spPr/>
        <p:txBody>
          <a:bodyPr>
            <a:normAutofit/>
          </a:bodyPr>
          <a:lstStyle/>
          <a:p>
            <a:pPr lvl="1"/>
            <a:endParaRPr lang="de-DE" sz="1800" noProof="1"/>
          </a:p>
          <a:p>
            <a:pPr marL="342900" lvl="1" indent="0">
              <a:buNone/>
            </a:pPr>
            <a:r>
              <a:rPr lang="de-DE" sz="1800" noProof="1"/>
              <a:t>	System likeability is higher (trend true AI, significant false AI)</a:t>
            </a:r>
            <a:br>
              <a:rPr lang="de-DE" sz="1800" noProof="1"/>
            </a:br>
            <a:endParaRPr lang="de-DE" sz="1800" noProof="1"/>
          </a:p>
          <a:p>
            <a:pPr marL="342900" lvl="1" indent="0">
              <a:buNone/>
            </a:pPr>
            <a:endParaRPr lang="de-DE" sz="1800" noProof="1"/>
          </a:p>
          <a:p>
            <a:pPr marL="342900" lvl="1" indent="0">
              <a:buNone/>
            </a:pPr>
            <a:r>
              <a:rPr lang="de-DE" sz="1800" noProof="1"/>
              <a:t>	System appears more robust (false AI)</a:t>
            </a:r>
          </a:p>
          <a:p>
            <a:pPr marL="342900" lvl="1" indent="0">
              <a:buNone/>
            </a:pPr>
            <a:endParaRPr lang="de-DE" sz="1800" noProof="1"/>
          </a:p>
          <a:p>
            <a:pPr marL="342900" lvl="1" indent="0">
              <a:buNone/>
            </a:pPr>
            <a:endParaRPr lang="de-DE" sz="1800" noProof="1"/>
          </a:p>
          <a:p>
            <a:pPr marL="342900" lvl="1" indent="0">
              <a:buNone/>
            </a:pPr>
            <a:r>
              <a:rPr lang="de-DE" sz="1800" noProof="1"/>
              <a:t>	Reduced cognitive demand (false AI)</a:t>
            </a:r>
          </a:p>
          <a:p>
            <a:pPr marL="342900" lvl="1" indent="0">
              <a:buNone/>
            </a:pPr>
            <a:endParaRPr lang="de-DE" sz="1800" noProof="1"/>
          </a:p>
          <a:p>
            <a:pPr marL="342900" lvl="1" indent="0">
              <a:buNone/>
            </a:pPr>
            <a:endParaRPr lang="de-DE" sz="1800" noProof="1"/>
          </a:p>
          <a:p>
            <a:pPr marL="342900" lvl="1" indent="0">
              <a:buNone/>
            </a:pPr>
            <a:r>
              <a:rPr lang="de-DE" sz="1800" noProof="1"/>
              <a:t>	System appears more useful (true AI)</a:t>
            </a:r>
          </a:p>
        </p:txBody>
      </p:sp>
      <p:sp>
        <p:nvSpPr>
          <p:cNvPr id="6" name="Datumsplatzhalter 5">
            <a:extLst>
              <a:ext uri="{FF2B5EF4-FFF2-40B4-BE49-F238E27FC236}">
                <a16:creationId xmlns:a16="http://schemas.microsoft.com/office/drawing/2014/main" id="{CC8B5734-4239-2B47-26CD-4902E64907EC}"/>
              </a:ext>
            </a:extLst>
          </p:cNvPr>
          <p:cNvSpPr>
            <a:spLocks noGrp="1"/>
          </p:cNvSpPr>
          <p:nvPr>
            <p:ph type="dt" sz="half" idx="10"/>
          </p:nvPr>
        </p:nvSpPr>
        <p:spPr/>
        <p:txBody>
          <a:bodyPr/>
          <a:lstStyle/>
          <a:p>
            <a:r>
              <a:rPr lang="en-US" noProof="1"/>
              <a:t>18.08.2025</a:t>
            </a:r>
            <a:endParaRPr lang="de-DE" noProof="1"/>
          </a:p>
        </p:txBody>
      </p:sp>
      <p:sp>
        <p:nvSpPr>
          <p:cNvPr id="7" name="Fußzeilenplatzhalter 6">
            <a:extLst>
              <a:ext uri="{FF2B5EF4-FFF2-40B4-BE49-F238E27FC236}">
                <a16:creationId xmlns:a16="http://schemas.microsoft.com/office/drawing/2014/main" id="{E8CF1BC2-2DFB-8009-8A20-950C93541F4B}"/>
              </a:ext>
            </a:extLst>
          </p:cNvPr>
          <p:cNvSpPr>
            <a:spLocks noGrp="1"/>
          </p:cNvSpPr>
          <p:nvPr>
            <p:ph type="ftr" sz="quarter" idx="11"/>
          </p:nvPr>
        </p:nvSpPr>
        <p:spPr/>
        <p:txBody>
          <a:bodyPr/>
          <a:lstStyle/>
          <a:p>
            <a:r>
              <a:rPr lang="en-US" noProof="1"/>
              <a:t>Enhancing model transparency: Effects of DK Integration for Conversational XAI | Feustel</a:t>
            </a:r>
            <a:endParaRPr lang="de-DE" noProof="1"/>
          </a:p>
        </p:txBody>
      </p:sp>
      <p:sp>
        <p:nvSpPr>
          <p:cNvPr id="8" name="Foliennummernplatzhalter 7">
            <a:extLst>
              <a:ext uri="{FF2B5EF4-FFF2-40B4-BE49-F238E27FC236}">
                <a16:creationId xmlns:a16="http://schemas.microsoft.com/office/drawing/2014/main" id="{AE3495F6-D4A8-7894-BFE7-101EAB05E1D9}"/>
              </a:ext>
            </a:extLst>
          </p:cNvPr>
          <p:cNvSpPr>
            <a:spLocks noGrp="1"/>
          </p:cNvSpPr>
          <p:nvPr>
            <p:ph type="sldNum" sz="quarter" idx="12"/>
          </p:nvPr>
        </p:nvSpPr>
        <p:spPr/>
        <p:txBody>
          <a:bodyPr/>
          <a:lstStyle/>
          <a:p>
            <a:r>
              <a:rPr lang="de-DE" noProof="1"/>
              <a:t> </a:t>
            </a:r>
            <a:fld id="{FE120BDC-5456-EC41-8BB6-7A3B726EA19B}" type="slidenum">
              <a:rPr lang="de-DE" noProof="1" smtClean="0"/>
              <a:pPr/>
              <a:t>25</a:t>
            </a:fld>
            <a:endParaRPr lang="de-DE" noProof="1"/>
          </a:p>
        </p:txBody>
      </p:sp>
      <p:pic>
        <p:nvPicPr>
          <p:cNvPr id="11" name="Grafik 10"/>
          <p:cNvPicPr>
            <a:picLocks noChangeAspect="1"/>
          </p:cNvPicPr>
          <p:nvPr/>
        </p:nvPicPr>
        <p:blipFill>
          <a:blip r:embed="rId3"/>
          <a:stretch>
            <a:fillRect/>
          </a:stretch>
        </p:blipFill>
        <p:spPr>
          <a:xfrm>
            <a:off x="488633" y="1337934"/>
            <a:ext cx="469323" cy="469323"/>
          </a:xfrm>
          <a:prstGeom prst="rect">
            <a:avLst/>
          </a:prstGeom>
        </p:spPr>
      </p:pic>
      <p:pic>
        <p:nvPicPr>
          <p:cNvPr id="12" name="Grafik 11"/>
          <p:cNvPicPr>
            <a:picLocks noChangeAspect="1"/>
          </p:cNvPicPr>
          <p:nvPr/>
        </p:nvPicPr>
        <p:blipFill>
          <a:blip r:embed="rId4"/>
          <a:stretch>
            <a:fillRect/>
          </a:stretch>
        </p:blipFill>
        <p:spPr>
          <a:xfrm>
            <a:off x="373617" y="2240207"/>
            <a:ext cx="570482" cy="570482"/>
          </a:xfrm>
          <a:prstGeom prst="rect">
            <a:avLst/>
          </a:prstGeom>
        </p:spPr>
      </p:pic>
      <p:pic>
        <p:nvPicPr>
          <p:cNvPr id="13" name="Grafik 12"/>
          <p:cNvPicPr>
            <a:picLocks noChangeAspect="1"/>
          </p:cNvPicPr>
          <p:nvPr/>
        </p:nvPicPr>
        <p:blipFill>
          <a:blip r:embed="rId5"/>
          <a:stretch>
            <a:fillRect/>
          </a:stretch>
        </p:blipFill>
        <p:spPr>
          <a:xfrm>
            <a:off x="449657" y="3253522"/>
            <a:ext cx="521316" cy="521316"/>
          </a:xfrm>
          <a:prstGeom prst="rect">
            <a:avLst/>
          </a:prstGeom>
        </p:spPr>
      </p:pic>
      <p:pic>
        <p:nvPicPr>
          <p:cNvPr id="14" name="Grafik 13"/>
          <p:cNvPicPr>
            <a:picLocks noChangeAspect="1"/>
          </p:cNvPicPr>
          <p:nvPr/>
        </p:nvPicPr>
        <p:blipFill>
          <a:blip r:embed="rId6"/>
          <a:stretch>
            <a:fillRect/>
          </a:stretch>
        </p:blipFill>
        <p:spPr>
          <a:xfrm>
            <a:off x="449657" y="4182217"/>
            <a:ext cx="494442" cy="494442"/>
          </a:xfrm>
          <a:prstGeom prst="rect">
            <a:avLst/>
          </a:prstGeom>
        </p:spPr>
      </p:pic>
      <p:sp>
        <p:nvSpPr>
          <p:cNvPr id="9" name="Textfeld 8">
            <a:extLst>
              <a:ext uri="{FF2B5EF4-FFF2-40B4-BE49-F238E27FC236}">
                <a16:creationId xmlns:a16="http://schemas.microsoft.com/office/drawing/2014/main" id="{709B8881-73E5-3588-957F-F28283593396}"/>
              </a:ext>
            </a:extLst>
          </p:cNvPr>
          <p:cNvSpPr txBox="1"/>
          <p:nvPr/>
        </p:nvSpPr>
        <p:spPr>
          <a:xfrm>
            <a:off x="319931" y="4708867"/>
            <a:ext cx="8374274" cy="246221"/>
          </a:xfrm>
          <a:prstGeom prst="rect">
            <a:avLst/>
          </a:prstGeom>
          <a:noFill/>
        </p:spPr>
        <p:txBody>
          <a:bodyPr wrap="square">
            <a:spAutoFit/>
          </a:bodyPr>
          <a:lstStyle/>
          <a:p>
            <a:pPr algn="r"/>
            <a:r>
              <a:rPr lang="de-DE" sz="1000" i="1" noProof="1"/>
              <a:t>(Feustel et al., 2024)</a:t>
            </a:r>
          </a:p>
        </p:txBody>
      </p:sp>
      <p:sp>
        <p:nvSpPr>
          <p:cNvPr id="10" name="Textfeld 9">
            <a:extLst>
              <a:ext uri="{FF2B5EF4-FFF2-40B4-BE49-F238E27FC236}">
                <a16:creationId xmlns:a16="http://schemas.microsoft.com/office/drawing/2014/main" id="{8A35E256-B632-9C60-1566-C49BC8BE3C45}"/>
              </a:ext>
            </a:extLst>
          </p:cNvPr>
          <p:cNvSpPr txBox="1"/>
          <p:nvPr/>
        </p:nvSpPr>
        <p:spPr>
          <a:xfrm>
            <a:off x="7851895" y="134610"/>
            <a:ext cx="833049" cy="276999"/>
          </a:xfrm>
          <a:prstGeom prst="rect">
            <a:avLst/>
          </a:prstGeom>
          <a:noFill/>
        </p:spPr>
        <p:txBody>
          <a:bodyPr wrap="none" rtlCol="0">
            <a:spAutoFit/>
          </a:bodyPr>
          <a:lstStyle/>
          <a:p>
            <a:r>
              <a:rPr lang="de-DE" sz="1200" dirty="0"/>
              <a:t>Evaluation</a:t>
            </a:r>
            <a:endParaRPr lang="en-US" sz="1200" dirty="0"/>
          </a:p>
        </p:txBody>
      </p:sp>
      <p:sp>
        <p:nvSpPr>
          <p:cNvPr id="16" name="Rechteck 15" descr="Lichter an mit einfarbiger Füllung">
            <a:extLst>
              <a:ext uri="{FF2B5EF4-FFF2-40B4-BE49-F238E27FC236}">
                <a16:creationId xmlns:a16="http://schemas.microsoft.com/office/drawing/2014/main" id="{5A01BBAA-19B1-5A8F-4B91-366FFBAD6286}"/>
              </a:ext>
            </a:extLst>
          </p:cNvPr>
          <p:cNvSpPr/>
          <p:nvPr/>
        </p:nvSpPr>
        <p:spPr>
          <a:xfrm>
            <a:off x="8804352" y="664349"/>
            <a:ext cx="277969" cy="277969"/>
          </a:xfrm>
          <a:prstGeom prst="rect">
            <a:avLst/>
          </a:prstGeom>
          <a:blipFill>
            <a:blip r:embed="rId7">
              <a:extLst>
                <a:ext uri="{96DAC541-7B7A-43D3-8B79-37D633B846F1}">
                  <asvg:svgBlip xmlns:asvg="http://schemas.microsoft.com/office/drawing/2016/SVG/main" r:embed="rId8"/>
                </a:ext>
              </a:extLst>
            </a:blip>
            <a:srcRect/>
            <a:stretch>
              <a:fillRect/>
            </a:stretch>
          </a:blipFill>
          <a:ln>
            <a:noFill/>
          </a:ln>
        </p:spPr>
        <p:style>
          <a:lnRef idx="2">
            <a:scrgbClr r="0" g="0" b="0"/>
          </a:lnRef>
          <a:fillRef idx="1">
            <a:scrgbClr r="0" g="0" b="0"/>
          </a:fillRef>
          <a:effectRef idx="0">
            <a:schemeClr val="accent2">
              <a:hueOff val="0"/>
              <a:satOff val="0"/>
              <a:lumOff val="0"/>
              <a:alphaOff val="0"/>
            </a:schemeClr>
          </a:effectRef>
          <a:fontRef idx="minor">
            <a:schemeClr val="lt1"/>
          </a:fontRef>
        </p:style>
        <p:txBody>
          <a:bodyPr/>
          <a:lstStyle/>
          <a:p>
            <a:endParaRPr lang="en-US"/>
          </a:p>
        </p:txBody>
      </p:sp>
      <p:sp>
        <p:nvSpPr>
          <p:cNvPr id="17" name="Rechteck 16" descr="Geschlossenes Buch mit einfarbiger Füllung">
            <a:extLst>
              <a:ext uri="{FF2B5EF4-FFF2-40B4-BE49-F238E27FC236}">
                <a16:creationId xmlns:a16="http://schemas.microsoft.com/office/drawing/2014/main" id="{652B6B17-91E7-7C03-C39F-D3AFA5395A3A}"/>
              </a:ext>
            </a:extLst>
          </p:cNvPr>
          <p:cNvSpPr/>
          <p:nvPr/>
        </p:nvSpPr>
        <p:spPr>
          <a:xfrm>
            <a:off x="8804352" y="1043547"/>
            <a:ext cx="277969" cy="277969"/>
          </a:xfrm>
          <a:prstGeom prst="rect">
            <a:avLst/>
          </a:prstGeom>
          <a:blipFill>
            <a:blip r:embed="rId9">
              <a:extLst>
                <a:ext uri="{96DAC541-7B7A-43D3-8B79-37D633B846F1}">
                  <asvg:svgBlip xmlns:asvg="http://schemas.microsoft.com/office/drawing/2016/SVG/main" r:embed="rId10"/>
                </a:ext>
              </a:extLst>
            </a:blip>
            <a:srcRect/>
            <a:stretch>
              <a:fillRect/>
            </a:stretch>
          </a:blipFill>
          <a:ln>
            <a:noFill/>
          </a:ln>
        </p:spPr>
        <p:style>
          <a:lnRef idx="2">
            <a:scrgbClr r="0" g="0" b="0"/>
          </a:lnRef>
          <a:fillRef idx="1">
            <a:scrgbClr r="0" g="0" b="0"/>
          </a:fillRef>
          <a:effectRef idx="0">
            <a:schemeClr val="accent3">
              <a:hueOff val="0"/>
              <a:satOff val="0"/>
              <a:lumOff val="0"/>
              <a:alphaOff val="0"/>
            </a:schemeClr>
          </a:effectRef>
          <a:fontRef idx="minor">
            <a:schemeClr val="lt1"/>
          </a:fontRef>
        </p:style>
        <p:txBody>
          <a:bodyPr/>
          <a:lstStyle/>
          <a:p>
            <a:endParaRPr lang="en-US"/>
          </a:p>
        </p:txBody>
      </p:sp>
      <p:sp>
        <p:nvSpPr>
          <p:cNvPr id="18" name="Rechteck 17" descr="Netzwerk">
            <a:extLst>
              <a:ext uri="{FF2B5EF4-FFF2-40B4-BE49-F238E27FC236}">
                <a16:creationId xmlns:a16="http://schemas.microsoft.com/office/drawing/2014/main" id="{27BF1587-B5A6-AF41-304E-35B67FE1835A}"/>
              </a:ext>
            </a:extLst>
          </p:cNvPr>
          <p:cNvSpPr/>
          <p:nvPr/>
        </p:nvSpPr>
        <p:spPr>
          <a:xfrm>
            <a:off x="8804352" y="1379208"/>
            <a:ext cx="277969" cy="277969"/>
          </a:xfrm>
          <a:prstGeom prst="rect">
            <a:avLst/>
          </a:prstGeom>
          <a: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a:noFill/>
          </a:ln>
        </p:spPr>
        <p:style>
          <a:lnRef idx="2">
            <a:scrgbClr r="0" g="0" b="0"/>
          </a:lnRef>
          <a:fillRef idx="1">
            <a:scrgbClr r="0" g="0" b="0"/>
          </a:fillRef>
          <a:effectRef idx="0">
            <a:schemeClr val="accent4">
              <a:hueOff val="0"/>
              <a:satOff val="0"/>
              <a:lumOff val="0"/>
              <a:alphaOff val="0"/>
            </a:schemeClr>
          </a:effectRef>
          <a:fontRef idx="minor">
            <a:schemeClr val="lt1"/>
          </a:fontRef>
        </p:style>
        <p:txBody>
          <a:bodyPr/>
          <a:lstStyle/>
          <a:p>
            <a:endParaRPr lang="en-US"/>
          </a:p>
        </p:txBody>
      </p:sp>
      <p:sp>
        <p:nvSpPr>
          <p:cNvPr id="19" name="Rechteck 18" descr="Kreise mit Pfeilen mit einfarbiger Füllung">
            <a:extLst>
              <a:ext uri="{FF2B5EF4-FFF2-40B4-BE49-F238E27FC236}">
                <a16:creationId xmlns:a16="http://schemas.microsoft.com/office/drawing/2014/main" id="{FA0AC79C-52DE-D5D0-1B49-1E63D264F572}"/>
              </a:ext>
            </a:extLst>
          </p:cNvPr>
          <p:cNvSpPr/>
          <p:nvPr/>
        </p:nvSpPr>
        <p:spPr>
          <a:xfrm>
            <a:off x="8804352" y="1688740"/>
            <a:ext cx="277969" cy="277969"/>
          </a:xfrm>
          <a:prstGeom prst="rect">
            <a:avLst/>
          </a:prstGeom>
          <a:blipFill>
            <a:blip r:embed="rId13">
              <a:extLst>
                <a:ext uri="{96DAC541-7B7A-43D3-8B79-37D633B846F1}">
                  <asvg:svgBlip xmlns:asvg="http://schemas.microsoft.com/office/drawing/2016/SVG/main" r:embed="rId14"/>
                </a:ext>
              </a:extLst>
            </a:blip>
            <a:srcRect/>
            <a:stretch>
              <a:fillRect/>
            </a:stretch>
          </a:blipFill>
          <a:ln>
            <a:noFill/>
          </a:ln>
        </p:spPr>
        <p:style>
          <a:lnRef idx="2">
            <a:scrgbClr r="0" g="0" b="0"/>
          </a:lnRef>
          <a:fillRef idx="1">
            <a:scrgbClr r="0" g="0" b="0"/>
          </a:fillRef>
          <a:effectRef idx="0">
            <a:schemeClr val="accent5">
              <a:hueOff val="0"/>
              <a:satOff val="0"/>
              <a:lumOff val="0"/>
              <a:alphaOff val="0"/>
            </a:schemeClr>
          </a:effectRef>
          <a:fontRef idx="minor">
            <a:schemeClr val="lt1"/>
          </a:fontRef>
        </p:style>
        <p:txBody>
          <a:bodyPr/>
          <a:lstStyle/>
          <a:p>
            <a:endParaRPr lang="en-US"/>
          </a:p>
        </p:txBody>
      </p:sp>
      <p:sp>
        <p:nvSpPr>
          <p:cNvPr id="20" name="Rechteck 19" descr="Prüfliste">
            <a:extLst>
              <a:ext uri="{FF2B5EF4-FFF2-40B4-BE49-F238E27FC236}">
                <a16:creationId xmlns:a16="http://schemas.microsoft.com/office/drawing/2014/main" id="{DC240B07-0AF8-17BD-300B-1C81A496A23E}"/>
              </a:ext>
            </a:extLst>
          </p:cNvPr>
          <p:cNvSpPr/>
          <p:nvPr/>
        </p:nvSpPr>
        <p:spPr>
          <a:xfrm>
            <a:off x="8804352" y="2006980"/>
            <a:ext cx="277969" cy="277969"/>
          </a:xfrm>
          <a:prstGeom prst="rect">
            <a:avLst/>
          </a:prstGeom>
          <a: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a:blipFill>
          <a:ln>
            <a:noFill/>
          </a:ln>
        </p:spPr>
        <p:style>
          <a:lnRef idx="2">
            <a:scrgbClr r="0" g="0" b="0"/>
          </a:lnRef>
          <a:fillRef idx="1">
            <a:scrgbClr r="0" g="0" b="0"/>
          </a:fillRef>
          <a:effectRef idx="0">
            <a:schemeClr val="accent6">
              <a:hueOff val="0"/>
              <a:satOff val="0"/>
              <a:lumOff val="0"/>
              <a:alphaOff val="0"/>
            </a:schemeClr>
          </a:effectRef>
          <a:fontRef idx="minor">
            <a:schemeClr val="lt1"/>
          </a:fontRef>
        </p:style>
        <p:txBody>
          <a:bodyPr/>
          <a:lstStyle/>
          <a:p>
            <a:endParaRPr lang="en-US"/>
          </a:p>
        </p:txBody>
      </p:sp>
      <p:sp>
        <p:nvSpPr>
          <p:cNvPr id="21" name="Rechteck 20" descr="Auktionshammer">
            <a:extLst>
              <a:ext uri="{FF2B5EF4-FFF2-40B4-BE49-F238E27FC236}">
                <a16:creationId xmlns:a16="http://schemas.microsoft.com/office/drawing/2014/main" id="{8857C117-5D82-9984-9282-2489CEE37323}"/>
              </a:ext>
            </a:extLst>
          </p:cNvPr>
          <p:cNvSpPr/>
          <p:nvPr/>
        </p:nvSpPr>
        <p:spPr>
          <a:xfrm>
            <a:off x="8804352" y="2316507"/>
            <a:ext cx="277969" cy="277969"/>
          </a:xfrm>
          <a:prstGeom prst="rect">
            <a:avLst/>
          </a:prstGeom>
          <a: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a:blipFill>
          <a:ln>
            <a:noFill/>
          </a:ln>
        </p:spPr>
        <p:style>
          <a:lnRef idx="2">
            <a:scrgbClr r="0" g="0" b="0"/>
          </a:lnRef>
          <a:fillRef idx="1">
            <a:scrgbClr r="0" g="0" b="0"/>
          </a:fillRef>
          <a:effectRef idx="0">
            <a:schemeClr val="accent2">
              <a:hueOff val="0"/>
              <a:satOff val="0"/>
              <a:lumOff val="0"/>
              <a:alphaOff val="0"/>
            </a:schemeClr>
          </a:effectRef>
          <a:fontRef idx="minor">
            <a:schemeClr val="lt1"/>
          </a:fontRef>
        </p:style>
        <p:txBody>
          <a:bodyPr/>
          <a:lstStyle/>
          <a:p>
            <a:endParaRPr lang="en-US"/>
          </a:p>
        </p:txBody>
      </p:sp>
      <p:sp>
        <p:nvSpPr>
          <p:cNvPr id="22" name="Rechteck 21" descr="Prüfliste">
            <a:extLst>
              <a:ext uri="{FF2B5EF4-FFF2-40B4-BE49-F238E27FC236}">
                <a16:creationId xmlns:a16="http://schemas.microsoft.com/office/drawing/2014/main" id="{A627AAC3-FF30-1AC7-BFCA-4A8790AB5D2D}"/>
              </a:ext>
            </a:extLst>
          </p:cNvPr>
          <p:cNvSpPr/>
          <p:nvPr/>
        </p:nvSpPr>
        <p:spPr>
          <a:xfrm>
            <a:off x="7601427" y="148483"/>
            <a:ext cx="277969" cy="277969"/>
          </a:xfrm>
          <a:prstGeom prst="rect">
            <a:avLst/>
          </a:prstGeom>
          <a: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a:blipFill>
          <a:ln>
            <a:noFill/>
          </a:ln>
        </p:spPr>
        <p:style>
          <a:lnRef idx="2">
            <a:scrgbClr r="0" g="0" b="0"/>
          </a:lnRef>
          <a:fillRef idx="1">
            <a:scrgbClr r="0" g="0" b="0"/>
          </a:fillRef>
          <a:effectRef idx="0">
            <a:schemeClr val="accent6">
              <a:hueOff val="0"/>
              <a:satOff val="0"/>
              <a:lumOff val="0"/>
              <a:alphaOff val="0"/>
            </a:schemeClr>
          </a:effectRef>
          <a:fontRef idx="minor">
            <a:schemeClr val="lt1"/>
          </a:fontRef>
        </p:style>
        <p:txBody>
          <a:bodyPr/>
          <a:lstStyle/>
          <a:p>
            <a:endParaRPr lang="en-US"/>
          </a:p>
        </p:txBody>
      </p:sp>
    </p:spTree>
    <p:extLst>
      <p:ext uri="{BB962C8B-B14F-4D97-AF65-F5344CB8AC3E}">
        <p14:creationId xmlns:p14="http://schemas.microsoft.com/office/powerpoint/2010/main" val="1210343096"/>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additive="base">
                                        <p:cTn id="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1" end="1"/>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1"/>
                                        </p:tgtEl>
                                        <p:attrNameLst>
                                          <p:attrName>style.visibility</p:attrName>
                                        </p:attrNameLst>
                                      </p:cBhvr>
                                      <p:to>
                                        <p:strVal val="visible"/>
                                      </p:to>
                                    </p:set>
                                    <p:anim calcmode="lin" valueType="num">
                                      <p:cBhvr additive="base">
                                        <p:cTn id="11" dur="500" fill="hold"/>
                                        <p:tgtEl>
                                          <p:spTgt spid="11"/>
                                        </p:tgtEl>
                                        <p:attrNameLst>
                                          <p:attrName>ppt_x</p:attrName>
                                        </p:attrNameLst>
                                      </p:cBhvr>
                                      <p:tavLst>
                                        <p:tav tm="0">
                                          <p:val>
                                            <p:strVal val="#ppt_x"/>
                                          </p:val>
                                        </p:tav>
                                        <p:tav tm="100000">
                                          <p:val>
                                            <p:strVal val="#ppt_x"/>
                                          </p:val>
                                        </p:tav>
                                      </p:tavLst>
                                    </p:anim>
                                    <p:anim calcmode="lin" valueType="num">
                                      <p:cBhvr additive="base">
                                        <p:cTn id="12"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 calcmode="lin" valueType="num">
                                      <p:cBhvr additive="base">
                                        <p:cTn id="17"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3" end="3"/>
                                            </p:txEl>
                                          </p:spTgt>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12"/>
                                        </p:tgtEl>
                                        <p:attrNameLst>
                                          <p:attrName>style.visibility</p:attrName>
                                        </p:attrNameLst>
                                      </p:cBhvr>
                                      <p:to>
                                        <p:strVal val="visible"/>
                                      </p:to>
                                    </p:set>
                                    <p:anim calcmode="lin" valueType="num">
                                      <p:cBhvr additive="base">
                                        <p:cTn id="21" dur="500" fill="hold"/>
                                        <p:tgtEl>
                                          <p:spTgt spid="12"/>
                                        </p:tgtEl>
                                        <p:attrNameLst>
                                          <p:attrName>ppt_x</p:attrName>
                                        </p:attrNameLst>
                                      </p:cBhvr>
                                      <p:tavLst>
                                        <p:tav tm="0">
                                          <p:val>
                                            <p:strVal val="#ppt_x"/>
                                          </p:val>
                                        </p:tav>
                                        <p:tav tm="100000">
                                          <p:val>
                                            <p:strVal val="#ppt_x"/>
                                          </p:val>
                                        </p:tav>
                                      </p:tavLst>
                                    </p:anim>
                                    <p:anim calcmode="lin" valueType="num">
                                      <p:cBhvr additive="base">
                                        <p:cTn id="22"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anim calcmode="lin" valueType="num">
                                      <p:cBhvr additive="base">
                                        <p:cTn id="27"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6" end="6"/>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13"/>
                                        </p:tgtEl>
                                        <p:attrNameLst>
                                          <p:attrName>style.visibility</p:attrName>
                                        </p:attrNameLst>
                                      </p:cBhvr>
                                      <p:to>
                                        <p:strVal val="visible"/>
                                      </p:to>
                                    </p:set>
                                    <p:anim calcmode="lin" valueType="num">
                                      <p:cBhvr additive="base">
                                        <p:cTn id="31" dur="500" fill="hold"/>
                                        <p:tgtEl>
                                          <p:spTgt spid="13"/>
                                        </p:tgtEl>
                                        <p:attrNameLst>
                                          <p:attrName>ppt_x</p:attrName>
                                        </p:attrNameLst>
                                      </p:cBhvr>
                                      <p:tavLst>
                                        <p:tav tm="0">
                                          <p:val>
                                            <p:strVal val="#ppt_x"/>
                                          </p:val>
                                        </p:tav>
                                        <p:tav tm="100000">
                                          <p:val>
                                            <p:strVal val="#ppt_x"/>
                                          </p:val>
                                        </p:tav>
                                      </p:tavLst>
                                    </p:anim>
                                    <p:anim calcmode="lin" valueType="num">
                                      <p:cBhvr additive="base">
                                        <p:cTn id="32"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
                                            <p:txEl>
                                              <p:pRg st="9" end="9"/>
                                            </p:txEl>
                                          </p:spTgt>
                                        </p:tgtEl>
                                        <p:attrNameLst>
                                          <p:attrName>style.visibility</p:attrName>
                                        </p:attrNameLst>
                                      </p:cBhvr>
                                      <p:to>
                                        <p:strVal val="visible"/>
                                      </p:to>
                                    </p:set>
                                    <p:anim calcmode="lin" valueType="num">
                                      <p:cBhvr additive="base">
                                        <p:cTn id="37"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9" end="9"/>
                                            </p:txEl>
                                          </p:spTgt>
                                        </p:tgtEl>
                                        <p:attrNameLst>
                                          <p:attrName>ppt_y</p:attrName>
                                        </p:attrNameLst>
                                      </p:cBhvr>
                                      <p:tavLst>
                                        <p:tav tm="0">
                                          <p:val>
                                            <p:strVal val="1+#ppt_h/2"/>
                                          </p:val>
                                        </p:tav>
                                        <p:tav tm="100000">
                                          <p:val>
                                            <p:strVal val="#ppt_y"/>
                                          </p:val>
                                        </p:tav>
                                      </p:tavLst>
                                    </p:anim>
                                  </p:childTnLst>
                                </p:cTn>
                              </p:par>
                              <p:par>
                                <p:cTn id="39" presetID="2" presetClass="entr" presetSubtype="4" fill="hold" nodeType="withEffect">
                                  <p:stCondLst>
                                    <p:cond delay="0"/>
                                  </p:stCondLst>
                                  <p:childTnLst>
                                    <p:set>
                                      <p:cBhvr>
                                        <p:cTn id="40" dur="1" fill="hold">
                                          <p:stCondLst>
                                            <p:cond delay="0"/>
                                          </p:stCondLst>
                                        </p:cTn>
                                        <p:tgtEl>
                                          <p:spTgt spid="14"/>
                                        </p:tgtEl>
                                        <p:attrNameLst>
                                          <p:attrName>style.visibility</p:attrName>
                                        </p:attrNameLst>
                                      </p:cBhvr>
                                      <p:to>
                                        <p:strVal val="visible"/>
                                      </p:to>
                                    </p:set>
                                    <p:anim calcmode="lin" valueType="num">
                                      <p:cBhvr additive="base">
                                        <p:cTn id="41" dur="500" fill="hold"/>
                                        <p:tgtEl>
                                          <p:spTgt spid="14"/>
                                        </p:tgtEl>
                                        <p:attrNameLst>
                                          <p:attrName>ppt_x</p:attrName>
                                        </p:attrNameLst>
                                      </p:cBhvr>
                                      <p:tavLst>
                                        <p:tav tm="0">
                                          <p:val>
                                            <p:strVal val="#ppt_x"/>
                                          </p:val>
                                        </p:tav>
                                        <p:tav tm="100000">
                                          <p:val>
                                            <p:strVal val="#ppt_x"/>
                                          </p:val>
                                        </p:tav>
                                      </p:tavLst>
                                    </p:anim>
                                    <p:anim calcmode="lin" valueType="num">
                                      <p:cBhvr additive="base">
                                        <p:cTn id="42"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88E1A7-F251-C102-3350-C277C3661DF0}"/>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5A50DEF6-E400-9935-EC68-A8D6E0F018B0}"/>
              </a:ext>
            </a:extLst>
          </p:cNvPr>
          <p:cNvSpPr>
            <a:spLocks noGrp="1"/>
          </p:cNvSpPr>
          <p:nvPr>
            <p:ph type="ctrTitle"/>
          </p:nvPr>
        </p:nvSpPr>
        <p:spPr/>
        <p:txBody>
          <a:bodyPr/>
          <a:lstStyle/>
          <a:p>
            <a:r>
              <a:rPr lang="de-DE" noProof="1"/>
              <a:t>Study Setup</a:t>
            </a:r>
          </a:p>
        </p:txBody>
      </p:sp>
      <p:sp>
        <p:nvSpPr>
          <p:cNvPr id="3" name="Inhaltsplatzhalter 2">
            <a:extLst>
              <a:ext uri="{FF2B5EF4-FFF2-40B4-BE49-F238E27FC236}">
                <a16:creationId xmlns:a16="http://schemas.microsoft.com/office/drawing/2014/main" id="{0F73E0BB-2D34-E130-36B3-2BB7FB66A269}"/>
              </a:ext>
            </a:extLst>
          </p:cNvPr>
          <p:cNvSpPr>
            <a:spLocks noGrp="1"/>
          </p:cNvSpPr>
          <p:nvPr>
            <p:ph sz="quarter" idx="13"/>
          </p:nvPr>
        </p:nvSpPr>
        <p:spPr/>
        <p:txBody>
          <a:bodyPr/>
          <a:lstStyle/>
          <a:p>
            <a:r>
              <a:rPr lang="de-DE" noProof="1"/>
              <a:t>80 participants in Online Study</a:t>
            </a:r>
          </a:p>
          <a:p>
            <a:r>
              <a:rPr lang="de-DE" noProof="1"/>
              <a:t>4 groups / 2 dialogues per participant (DK &amp; NO DK) / True|False AI Setting</a:t>
            </a:r>
          </a:p>
          <a:p>
            <a:r>
              <a:rPr lang="de-DE" noProof="1"/>
              <a:t>New scenario diabetes</a:t>
            </a:r>
          </a:p>
          <a:p>
            <a:r>
              <a:rPr lang="de-DE" noProof="1"/>
              <a:t>New explanation type: example based</a:t>
            </a:r>
          </a:p>
          <a:p>
            <a:r>
              <a:rPr lang="de-DE" noProof="1"/>
              <a:t>Automatic generated argumentation trees with human in the loop to guarantee qualitiy</a:t>
            </a:r>
          </a:p>
          <a:p>
            <a:r>
              <a:rPr lang="de-DE" noProof="1"/>
              <a:t>Separation of AI and Dialogue System</a:t>
            </a:r>
          </a:p>
          <a:p>
            <a:r>
              <a:rPr lang="de-DE" noProof="1"/>
              <a:t>More proactive strategy for Domain Knowledge</a:t>
            </a:r>
          </a:p>
        </p:txBody>
      </p:sp>
      <p:sp>
        <p:nvSpPr>
          <p:cNvPr id="4" name="Datumsplatzhalter 3">
            <a:extLst>
              <a:ext uri="{FF2B5EF4-FFF2-40B4-BE49-F238E27FC236}">
                <a16:creationId xmlns:a16="http://schemas.microsoft.com/office/drawing/2014/main" id="{04C94585-F8C8-519C-7025-170404FCA856}"/>
              </a:ext>
            </a:extLst>
          </p:cNvPr>
          <p:cNvSpPr>
            <a:spLocks noGrp="1"/>
          </p:cNvSpPr>
          <p:nvPr>
            <p:ph type="dt" sz="half" idx="10"/>
          </p:nvPr>
        </p:nvSpPr>
        <p:spPr/>
        <p:txBody>
          <a:bodyPr/>
          <a:lstStyle/>
          <a:p>
            <a:r>
              <a:rPr lang="en-US" noProof="1"/>
              <a:t>18.08.2025</a:t>
            </a:r>
            <a:endParaRPr lang="de-DE" noProof="1"/>
          </a:p>
        </p:txBody>
      </p:sp>
      <p:sp>
        <p:nvSpPr>
          <p:cNvPr id="5" name="Fußzeilenplatzhalter 4">
            <a:extLst>
              <a:ext uri="{FF2B5EF4-FFF2-40B4-BE49-F238E27FC236}">
                <a16:creationId xmlns:a16="http://schemas.microsoft.com/office/drawing/2014/main" id="{BCD1B04D-D886-096B-DDD9-4249749C9BE8}"/>
              </a:ext>
            </a:extLst>
          </p:cNvPr>
          <p:cNvSpPr>
            <a:spLocks noGrp="1"/>
          </p:cNvSpPr>
          <p:nvPr>
            <p:ph type="ftr" sz="quarter" idx="11"/>
          </p:nvPr>
        </p:nvSpPr>
        <p:spPr/>
        <p:txBody>
          <a:bodyPr/>
          <a:lstStyle/>
          <a:p>
            <a:r>
              <a:rPr lang="en-US" noProof="1"/>
              <a:t>Enhancing model transparency: Effects of DK Integration for Conversational XAI | Feustel</a:t>
            </a:r>
            <a:endParaRPr lang="de-DE" noProof="1"/>
          </a:p>
        </p:txBody>
      </p:sp>
      <p:sp>
        <p:nvSpPr>
          <p:cNvPr id="6" name="Foliennummernplatzhalter 5">
            <a:extLst>
              <a:ext uri="{FF2B5EF4-FFF2-40B4-BE49-F238E27FC236}">
                <a16:creationId xmlns:a16="http://schemas.microsoft.com/office/drawing/2014/main" id="{EC99B275-F776-25EA-BA5E-34D6FF581237}"/>
              </a:ext>
            </a:extLst>
          </p:cNvPr>
          <p:cNvSpPr>
            <a:spLocks noGrp="1"/>
          </p:cNvSpPr>
          <p:nvPr>
            <p:ph type="sldNum" sz="quarter" idx="12"/>
          </p:nvPr>
        </p:nvSpPr>
        <p:spPr/>
        <p:txBody>
          <a:bodyPr/>
          <a:lstStyle/>
          <a:p>
            <a:r>
              <a:rPr lang="de-DE" noProof="1"/>
              <a:t> </a:t>
            </a:r>
            <a:fld id="{FE120BDC-5456-EC41-8BB6-7A3B726EA19B}" type="slidenum">
              <a:rPr lang="de-DE" noProof="1" smtClean="0"/>
              <a:pPr/>
              <a:t>26</a:t>
            </a:fld>
            <a:endParaRPr lang="de-DE" noProof="1"/>
          </a:p>
        </p:txBody>
      </p:sp>
      <p:sp>
        <p:nvSpPr>
          <p:cNvPr id="7" name="Textfeld 6">
            <a:extLst>
              <a:ext uri="{FF2B5EF4-FFF2-40B4-BE49-F238E27FC236}">
                <a16:creationId xmlns:a16="http://schemas.microsoft.com/office/drawing/2014/main" id="{76C52AA7-146A-2A32-3E35-7BF873036F34}"/>
              </a:ext>
            </a:extLst>
          </p:cNvPr>
          <p:cNvSpPr txBox="1"/>
          <p:nvPr/>
        </p:nvSpPr>
        <p:spPr>
          <a:xfrm>
            <a:off x="7851895" y="134610"/>
            <a:ext cx="833049" cy="276999"/>
          </a:xfrm>
          <a:prstGeom prst="rect">
            <a:avLst/>
          </a:prstGeom>
          <a:noFill/>
        </p:spPr>
        <p:txBody>
          <a:bodyPr wrap="none" rtlCol="0">
            <a:spAutoFit/>
          </a:bodyPr>
          <a:lstStyle/>
          <a:p>
            <a:r>
              <a:rPr lang="de-DE" sz="1200" dirty="0"/>
              <a:t>Evaluation</a:t>
            </a:r>
            <a:endParaRPr lang="en-US" sz="1200" dirty="0"/>
          </a:p>
        </p:txBody>
      </p:sp>
      <p:sp>
        <p:nvSpPr>
          <p:cNvPr id="8" name="Rechteck 7" descr="Lichter an mit einfarbiger Füllung">
            <a:extLst>
              <a:ext uri="{FF2B5EF4-FFF2-40B4-BE49-F238E27FC236}">
                <a16:creationId xmlns:a16="http://schemas.microsoft.com/office/drawing/2014/main" id="{6951D22B-26C0-E29F-F25A-27946EFC111F}"/>
              </a:ext>
            </a:extLst>
          </p:cNvPr>
          <p:cNvSpPr/>
          <p:nvPr/>
        </p:nvSpPr>
        <p:spPr>
          <a:xfrm>
            <a:off x="8804352" y="664349"/>
            <a:ext cx="277969" cy="277969"/>
          </a:xfrm>
          <a:prstGeom prst="rect">
            <a:avLst/>
          </a:prstGeom>
          <a:blipFill>
            <a:blip r:embed="rId3">
              <a:extLst>
                <a:ext uri="{96DAC541-7B7A-43D3-8B79-37D633B846F1}">
                  <asvg:svgBlip xmlns:asvg="http://schemas.microsoft.com/office/drawing/2016/SVG/main" r:embed="rId4"/>
                </a:ext>
              </a:extLst>
            </a:blip>
            <a:srcRect/>
            <a:stretch>
              <a:fillRect/>
            </a:stretch>
          </a:blipFill>
          <a:ln>
            <a:noFill/>
          </a:ln>
        </p:spPr>
        <p:style>
          <a:lnRef idx="2">
            <a:scrgbClr r="0" g="0" b="0"/>
          </a:lnRef>
          <a:fillRef idx="1">
            <a:scrgbClr r="0" g="0" b="0"/>
          </a:fillRef>
          <a:effectRef idx="0">
            <a:schemeClr val="accent2">
              <a:hueOff val="0"/>
              <a:satOff val="0"/>
              <a:lumOff val="0"/>
              <a:alphaOff val="0"/>
            </a:schemeClr>
          </a:effectRef>
          <a:fontRef idx="minor">
            <a:schemeClr val="lt1"/>
          </a:fontRef>
        </p:style>
        <p:txBody>
          <a:bodyPr/>
          <a:lstStyle/>
          <a:p>
            <a:endParaRPr lang="en-US"/>
          </a:p>
        </p:txBody>
      </p:sp>
      <p:sp>
        <p:nvSpPr>
          <p:cNvPr id="11" name="Rechteck 10" descr="Geschlossenes Buch mit einfarbiger Füllung">
            <a:extLst>
              <a:ext uri="{FF2B5EF4-FFF2-40B4-BE49-F238E27FC236}">
                <a16:creationId xmlns:a16="http://schemas.microsoft.com/office/drawing/2014/main" id="{3D7EA2C4-BE17-E97F-CC86-3E0E5742BCE2}"/>
              </a:ext>
            </a:extLst>
          </p:cNvPr>
          <p:cNvSpPr/>
          <p:nvPr/>
        </p:nvSpPr>
        <p:spPr>
          <a:xfrm>
            <a:off x="8804352" y="1043547"/>
            <a:ext cx="277969" cy="277969"/>
          </a:xfrm>
          <a:prstGeom prst="rect">
            <a:avLst/>
          </a:prstGeom>
          <a:blipFill>
            <a:blip r:embed="rId5">
              <a:extLst>
                <a:ext uri="{96DAC541-7B7A-43D3-8B79-37D633B846F1}">
                  <asvg:svgBlip xmlns:asvg="http://schemas.microsoft.com/office/drawing/2016/SVG/main" r:embed="rId6"/>
                </a:ext>
              </a:extLst>
            </a:blip>
            <a:srcRect/>
            <a:stretch>
              <a:fillRect/>
            </a:stretch>
          </a:blipFill>
          <a:ln>
            <a:noFill/>
          </a:ln>
        </p:spPr>
        <p:style>
          <a:lnRef idx="2">
            <a:scrgbClr r="0" g="0" b="0"/>
          </a:lnRef>
          <a:fillRef idx="1">
            <a:scrgbClr r="0" g="0" b="0"/>
          </a:fillRef>
          <a:effectRef idx="0">
            <a:schemeClr val="accent3">
              <a:hueOff val="0"/>
              <a:satOff val="0"/>
              <a:lumOff val="0"/>
              <a:alphaOff val="0"/>
            </a:schemeClr>
          </a:effectRef>
          <a:fontRef idx="minor">
            <a:schemeClr val="lt1"/>
          </a:fontRef>
        </p:style>
        <p:txBody>
          <a:bodyPr/>
          <a:lstStyle/>
          <a:p>
            <a:endParaRPr lang="en-US"/>
          </a:p>
        </p:txBody>
      </p:sp>
      <p:sp>
        <p:nvSpPr>
          <p:cNvPr id="12" name="Rechteck 11" descr="Netzwerk">
            <a:extLst>
              <a:ext uri="{FF2B5EF4-FFF2-40B4-BE49-F238E27FC236}">
                <a16:creationId xmlns:a16="http://schemas.microsoft.com/office/drawing/2014/main" id="{AEB0DA12-E584-ECAC-F840-7C24394FDD47}"/>
              </a:ext>
            </a:extLst>
          </p:cNvPr>
          <p:cNvSpPr/>
          <p:nvPr/>
        </p:nvSpPr>
        <p:spPr>
          <a:xfrm>
            <a:off x="8804352" y="1379208"/>
            <a:ext cx="277969" cy="277969"/>
          </a:xfrm>
          <a:prstGeom prst="rect">
            <a:avLst/>
          </a:prstGeom>
          <a: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p:spPr>
        <p:style>
          <a:lnRef idx="2">
            <a:scrgbClr r="0" g="0" b="0"/>
          </a:lnRef>
          <a:fillRef idx="1">
            <a:scrgbClr r="0" g="0" b="0"/>
          </a:fillRef>
          <a:effectRef idx="0">
            <a:schemeClr val="accent4">
              <a:hueOff val="0"/>
              <a:satOff val="0"/>
              <a:lumOff val="0"/>
              <a:alphaOff val="0"/>
            </a:schemeClr>
          </a:effectRef>
          <a:fontRef idx="minor">
            <a:schemeClr val="lt1"/>
          </a:fontRef>
        </p:style>
        <p:txBody>
          <a:bodyPr/>
          <a:lstStyle/>
          <a:p>
            <a:endParaRPr lang="en-US"/>
          </a:p>
        </p:txBody>
      </p:sp>
      <p:sp>
        <p:nvSpPr>
          <p:cNvPr id="13" name="Rechteck 12" descr="Kreise mit Pfeilen mit einfarbiger Füllung">
            <a:extLst>
              <a:ext uri="{FF2B5EF4-FFF2-40B4-BE49-F238E27FC236}">
                <a16:creationId xmlns:a16="http://schemas.microsoft.com/office/drawing/2014/main" id="{9F871AEA-61E6-5D9A-F170-461E8E6D63B3}"/>
              </a:ext>
            </a:extLst>
          </p:cNvPr>
          <p:cNvSpPr/>
          <p:nvPr/>
        </p:nvSpPr>
        <p:spPr>
          <a:xfrm>
            <a:off x="8804352" y="1688740"/>
            <a:ext cx="277969" cy="277969"/>
          </a:xfrm>
          <a:prstGeom prst="rect">
            <a:avLst/>
          </a:prstGeom>
          <a:blipFill>
            <a:blip r:embed="rId9">
              <a:extLst>
                <a:ext uri="{96DAC541-7B7A-43D3-8B79-37D633B846F1}">
                  <asvg:svgBlip xmlns:asvg="http://schemas.microsoft.com/office/drawing/2016/SVG/main" r:embed="rId10"/>
                </a:ext>
              </a:extLst>
            </a:blip>
            <a:srcRect/>
            <a:stretch>
              <a:fillRect/>
            </a:stretch>
          </a:blipFill>
          <a:ln>
            <a:noFill/>
          </a:ln>
        </p:spPr>
        <p:style>
          <a:lnRef idx="2">
            <a:scrgbClr r="0" g="0" b="0"/>
          </a:lnRef>
          <a:fillRef idx="1">
            <a:scrgbClr r="0" g="0" b="0"/>
          </a:fillRef>
          <a:effectRef idx="0">
            <a:schemeClr val="accent5">
              <a:hueOff val="0"/>
              <a:satOff val="0"/>
              <a:lumOff val="0"/>
              <a:alphaOff val="0"/>
            </a:schemeClr>
          </a:effectRef>
          <a:fontRef idx="minor">
            <a:schemeClr val="lt1"/>
          </a:fontRef>
        </p:style>
        <p:txBody>
          <a:bodyPr/>
          <a:lstStyle/>
          <a:p>
            <a:endParaRPr lang="en-US"/>
          </a:p>
        </p:txBody>
      </p:sp>
      <p:sp>
        <p:nvSpPr>
          <p:cNvPr id="14" name="Rechteck 13" descr="Prüfliste">
            <a:extLst>
              <a:ext uri="{FF2B5EF4-FFF2-40B4-BE49-F238E27FC236}">
                <a16:creationId xmlns:a16="http://schemas.microsoft.com/office/drawing/2014/main" id="{FAAA7B57-D857-5D6B-5556-3E9C7B099D74}"/>
              </a:ext>
            </a:extLst>
          </p:cNvPr>
          <p:cNvSpPr/>
          <p:nvPr/>
        </p:nvSpPr>
        <p:spPr>
          <a:xfrm>
            <a:off x="8804352" y="2006980"/>
            <a:ext cx="277969" cy="277969"/>
          </a:xfrm>
          <a:prstGeom prst="rect">
            <a:avLst/>
          </a:prstGeom>
          <a: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a:noFill/>
          </a:ln>
        </p:spPr>
        <p:style>
          <a:lnRef idx="2">
            <a:scrgbClr r="0" g="0" b="0"/>
          </a:lnRef>
          <a:fillRef idx="1">
            <a:scrgbClr r="0" g="0" b="0"/>
          </a:fillRef>
          <a:effectRef idx="0">
            <a:schemeClr val="accent6">
              <a:hueOff val="0"/>
              <a:satOff val="0"/>
              <a:lumOff val="0"/>
              <a:alphaOff val="0"/>
            </a:schemeClr>
          </a:effectRef>
          <a:fontRef idx="minor">
            <a:schemeClr val="lt1"/>
          </a:fontRef>
        </p:style>
        <p:txBody>
          <a:bodyPr/>
          <a:lstStyle/>
          <a:p>
            <a:endParaRPr lang="en-US"/>
          </a:p>
        </p:txBody>
      </p:sp>
      <p:sp>
        <p:nvSpPr>
          <p:cNvPr id="15" name="Rechteck 14" descr="Auktionshammer">
            <a:extLst>
              <a:ext uri="{FF2B5EF4-FFF2-40B4-BE49-F238E27FC236}">
                <a16:creationId xmlns:a16="http://schemas.microsoft.com/office/drawing/2014/main" id="{19783D0A-64C2-3D55-FAE7-81D8BD2A7EC5}"/>
              </a:ext>
            </a:extLst>
          </p:cNvPr>
          <p:cNvSpPr/>
          <p:nvPr/>
        </p:nvSpPr>
        <p:spPr>
          <a:xfrm>
            <a:off x="8804352" y="2316507"/>
            <a:ext cx="277969" cy="277969"/>
          </a:xfrm>
          <a:prstGeom prst="rect">
            <a:avLst/>
          </a:prstGeom>
          <a: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a:blipFill>
          <a:ln>
            <a:noFill/>
          </a:ln>
        </p:spPr>
        <p:style>
          <a:lnRef idx="2">
            <a:scrgbClr r="0" g="0" b="0"/>
          </a:lnRef>
          <a:fillRef idx="1">
            <a:scrgbClr r="0" g="0" b="0"/>
          </a:fillRef>
          <a:effectRef idx="0">
            <a:schemeClr val="accent2">
              <a:hueOff val="0"/>
              <a:satOff val="0"/>
              <a:lumOff val="0"/>
              <a:alphaOff val="0"/>
            </a:schemeClr>
          </a:effectRef>
          <a:fontRef idx="minor">
            <a:schemeClr val="lt1"/>
          </a:fontRef>
        </p:style>
        <p:txBody>
          <a:bodyPr/>
          <a:lstStyle/>
          <a:p>
            <a:endParaRPr lang="en-US"/>
          </a:p>
        </p:txBody>
      </p:sp>
      <p:sp>
        <p:nvSpPr>
          <p:cNvPr id="16" name="Rechteck 15" descr="Prüfliste">
            <a:extLst>
              <a:ext uri="{FF2B5EF4-FFF2-40B4-BE49-F238E27FC236}">
                <a16:creationId xmlns:a16="http://schemas.microsoft.com/office/drawing/2014/main" id="{52299BBE-085E-1FC1-E40D-123CED64EE3E}"/>
              </a:ext>
            </a:extLst>
          </p:cNvPr>
          <p:cNvSpPr/>
          <p:nvPr/>
        </p:nvSpPr>
        <p:spPr>
          <a:xfrm>
            <a:off x="7601427" y="148483"/>
            <a:ext cx="277969" cy="277969"/>
          </a:xfrm>
          <a:prstGeom prst="rect">
            <a:avLst/>
          </a:prstGeom>
          <a: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a:noFill/>
          </a:ln>
        </p:spPr>
        <p:style>
          <a:lnRef idx="2">
            <a:scrgbClr r="0" g="0" b="0"/>
          </a:lnRef>
          <a:fillRef idx="1">
            <a:scrgbClr r="0" g="0" b="0"/>
          </a:fillRef>
          <a:effectRef idx="0">
            <a:schemeClr val="accent6">
              <a:hueOff val="0"/>
              <a:satOff val="0"/>
              <a:lumOff val="0"/>
              <a:alphaOff val="0"/>
            </a:schemeClr>
          </a:effectRef>
          <a:fontRef idx="minor">
            <a:schemeClr val="lt1"/>
          </a:fontRef>
        </p:style>
        <p:txBody>
          <a:bodyPr/>
          <a:lstStyle/>
          <a:p>
            <a:endParaRPr lang="en-US"/>
          </a:p>
        </p:txBody>
      </p:sp>
    </p:spTree>
    <p:extLst>
      <p:ext uri="{BB962C8B-B14F-4D97-AF65-F5344CB8AC3E}">
        <p14:creationId xmlns:p14="http://schemas.microsoft.com/office/powerpoint/2010/main" val="4011226990"/>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AB2AFB8-A4D0-96C4-8249-47696BECB62B}"/>
              </a:ext>
            </a:extLst>
          </p:cNvPr>
          <p:cNvSpPr>
            <a:spLocks noGrp="1"/>
          </p:cNvSpPr>
          <p:nvPr>
            <p:ph type="ctrTitle"/>
          </p:nvPr>
        </p:nvSpPr>
        <p:spPr/>
        <p:txBody>
          <a:bodyPr/>
          <a:lstStyle/>
          <a:p>
            <a:r>
              <a:rPr lang="de-DE" dirty="0"/>
              <a:t>User Study </a:t>
            </a:r>
            <a:r>
              <a:rPr lang="de-DE" dirty="0" err="1"/>
              <a:t>Results</a:t>
            </a:r>
            <a:endParaRPr lang="en-US" dirty="0"/>
          </a:p>
        </p:txBody>
      </p:sp>
      <p:sp>
        <p:nvSpPr>
          <p:cNvPr id="3" name="Inhaltsplatzhalter 2">
            <a:extLst>
              <a:ext uri="{FF2B5EF4-FFF2-40B4-BE49-F238E27FC236}">
                <a16:creationId xmlns:a16="http://schemas.microsoft.com/office/drawing/2014/main" id="{4B8AFCAA-28EE-7441-54EA-4E69651499D0}"/>
              </a:ext>
            </a:extLst>
          </p:cNvPr>
          <p:cNvSpPr>
            <a:spLocks noGrp="1"/>
          </p:cNvSpPr>
          <p:nvPr>
            <p:ph sz="quarter" idx="13"/>
          </p:nvPr>
        </p:nvSpPr>
        <p:spPr/>
        <p:txBody>
          <a:bodyPr/>
          <a:lstStyle/>
          <a:p>
            <a:r>
              <a:rPr lang="en-US" dirty="0"/>
              <a:t>Domain Knowledge usage increased to 76% (before 44%)</a:t>
            </a:r>
          </a:p>
          <a:p>
            <a:pPr marL="0" indent="0">
              <a:buNone/>
            </a:pPr>
            <a:endParaRPr lang="en-US" dirty="0"/>
          </a:p>
          <a:p>
            <a:r>
              <a:rPr lang="en-US" dirty="0"/>
              <a:t>Q1 I agree with the decisions made by the prediction system.</a:t>
            </a:r>
          </a:p>
          <a:p>
            <a:r>
              <a:rPr lang="en-US" dirty="0"/>
              <a:t>Q2 The prediction system’s decisions are plausible.</a:t>
            </a:r>
          </a:p>
          <a:p>
            <a:endParaRPr lang="en-US" dirty="0"/>
          </a:p>
          <a:p>
            <a:endParaRPr lang="en-US" dirty="0"/>
          </a:p>
        </p:txBody>
      </p:sp>
      <p:sp>
        <p:nvSpPr>
          <p:cNvPr id="4" name="Datumsplatzhalter 3">
            <a:extLst>
              <a:ext uri="{FF2B5EF4-FFF2-40B4-BE49-F238E27FC236}">
                <a16:creationId xmlns:a16="http://schemas.microsoft.com/office/drawing/2014/main" id="{E67CCD65-65A7-E1AF-161C-FF599231C2B7}"/>
              </a:ext>
            </a:extLst>
          </p:cNvPr>
          <p:cNvSpPr>
            <a:spLocks noGrp="1"/>
          </p:cNvSpPr>
          <p:nvPr>
            <p:ph type="dt" sz="half" idx="10"/>
          </p:nvPr>
        </p:nvSpPr>
        <p:spPr/>
        <p:txBody>
          <a:bodyPr/>
          <a:lstStyle/>
          <a:p>
            <a:r>
              <a:rPr lang="en-US"/>
              <a:t>18.08.2025</a:t>
            </a:r>
            <a:endParaRPr lang="de-DE" dirty="0"/>
          </a:p>
        </p:txBody>
      </p:sp>
      <p:sp>
        <p:nvSpPr>
          <p:cNvPr id="5" name="Fußzeilenplatzhalter 4">
            <a:extLst>
              <a:ext uri="{FF2B5EF4-FFF2-40B4-BE49-F238E27FC236}">
                <a16:creationId xmlns:a16="http://schemas.microsoft.com/office/drawing/2014/main" id="{1AEC6068-41A2-A0A1-1416-370497AAF64A}"/>
              </a:ext>
            </a:extLst>
          </p:cNvPr>
          <p:cNvSpPr>
            <a:spLocks noGrp="1"/>
          </p:cNvSpPr>
          <p:nvPr>
            <p:ph type="ftr" sz="quarter" idx="11"/>
          </p:nvPr>
        </p:nvSpPr>
        <p:spPr/>
        <p:txBody>
          <a:bodyPr/>
          <a:lstStyle/>
          <a:p>
            <a:r>
              <a:rPr lang="en-US"/>
              <a:t>Enhancing model transparency: Effects of DK Integration for Conversational XAI | Feustel</a:t>
            </a:r>
            <a:endParaRPr lang="de-DE" dirty="0"/>
          </a:p>
        </p:txBody>
      </p:sp>
      <p:sp>
        <p:nvSpPr>
          <p:cNvPr id="6" name="Foliennummernplatzhalter 5">
            <a:extLst>
              <a:ext uri="{FF2B5EF4-FFF2-40B4-BE49-F238E27FC236}">
                <a16:creationId xmlns:a16="http://schemas.microsoft.com/office/drawing/2014/main" id="{80B85981-DACB-5FF9-474D-52FFA8B98333}"/>
              </a:ext>
            </a:extLst>
          </p:cNvPr>
          <p:cNvSpPr>
            <a:spLocks noGrp="1"/>
          </p:cNvSpPr>
          <p:nvPr>
            <p:ph type="sldNum" sz="quarter" idx="12"/>
          </p:nvPr>
        </p:nvSpPr>
        <p:spPr/>
        <p:txBody>
          <a:bodyPr/>
          <a:lstStyle/>
          <a:p>
            <a:fld id="{FE120BDC-5456-EC41-8BB6-7A3B726EA19B}" type="slidenum">
              <a:rPr lang="de-DE" smtClean="0"/>
              <a:pPr/>
              <a:t>27</a:t>
            </a:fld>
            <a:endParaRPr lang="de-DE" dirty="0"/>
          </a:p>
        </p:txBody>
      </p:sp>
      <p:pic>
        <p:nvPicPr>
          <p:cNvPr id="8" name="Grafik 7">
            <a:extLst>
              <a:ext uri="{FF2B5EF4-FFF2-40B4-BE49-F238E27FC236}">
                <a16:creationId xmlns:a16="http://schemas.microsoft.com/office/drawing/2014/main" id="{E05D8563-A336-E715-4187-E408863F3000}"/>
              </a:ext>
            </a:extLst>
          </p:cNvPr>
          <p:cNvPicPr>
            <a:picLocks noChangeAspect="1"/>
          </p:cNvPicPr>
          <p:nvPr/>
        </p:nvPicPr>
        <p:blipFill>
          <a:blip r:embed="rId2"/>
          <a:srcRect l="24397" t="49114" r="24987" b="6645"/>
          <a:stretch>
            <a:fillRect/>
          </a:stretch>
        </p:blipFill>
        <p:spPr>
          <a:xfrm>
            <a:off x="345583" y="2651497"/>
            <a:ext cx="4621439" cy="2156673"/>
          </a:xfrm>
          <a:prstGeom prst="rect">
            <a:avLst/>
          </a:prstGeom>
        </p:spPr>
      </p:pic>
      <p:sp>
        <p:nvSpPr>
          <p:cNvPr id="11" name="Textfeld 10">
            <a:extLst>
              <a:ext uri="{FF2B5EF4-FFF2-40B4-BE49-F238E27FC236}">
                <a16:creationId xmlns:a16="http://schemas.microsoft.com/office/drawing/2014/main" id="{C447EB3A-80F0-F21F-50C5-7BBFEEF2C4A8}"/>
              </a:ext>
            </a:extLst>
          </p:cNvPr>
          <p:cNvSpPr txBox="1"/>
          <p:nvPr/>
        </p:nvSpPr>
        <p:spPr>
          <a:xfrm>
            <a:off x="4917317" y="4011612"/>
            <a:ext cx="3839488" cy="738664"/>
          </a:xfrm>
          <a:prstGeom prst="rect">
            <a:avLst/>
          </a:prstGeom>
          <a:noFill/>
        </p:spPr>
        <p:txBody>
          <a:bodyPr wrap="square">
            <a:spAutoFit/>
          </a:bodyPr>
          <a:lstStyle/>
          <a:p>
            <a:r>
              <a:rPr lang="de-DE" sz="1400" noProof="1"/>
              <a:t>Where:</a:t>
            </a:r>
          </a:p>
          <a:p>
            <a:r>
              <a:rPr lang="de-DE" sz="1400" noProof="1"/>
              <a:t>p is value of Mann-Whitney U Test</a:t>
            </a:r>
          </a:p>
          <a:p>
            <a:r>
              <a:rPr lang="de-DE" sz="1400" noProof="1"/>
              <a:t>p* is the value of Holm-Bonferroni Correction</a:t>
            </a:r>
          </a:p>
        </p:txBody>
      </p:sp>
      <p:sp>
        <p:nvSpPr>
          <p:cNvPr id="12" name="Textfeld 11">
            <a:extLst>
              <a:ext uri="{FF2B5EF4-FFF2-40B4-BE49-F238E27FC236}">
                <a16:creationId xmlns:a16="http://schemas.microsoft.com/office/drawing/2014/main" id="{2F8BEBD6-E04E-1D76-7344-DB7E5B81BBD8}"/>
              </a:ext>
            </a:extLst>
          </p:cNvPr>
          <p:cNvSpPr txBox="1"/>
          <p:nvPr/>
        </p:nvSpPr>
        <p:spPr>
          <a:xfrm>
            <a:off x="7851895" y="134610"/>
            <a:ext cx="833049" cy="276999"/>
          </a:xfrm>
          <a:prstGeom prst="rect">
            <a:avLst/>
          </a:prstGeom>
          <a:noFill/>
        </p:spPr>
        <p:txBody>
          <a:bodyPr wrap="none" rtlCol="0">
            <a:spAutoFit/>
          </a:bodyPr>
          <a:lstStyle/>
          <a:p>
            <a:r>
              <a:rPr lang="de-DE" sz="1200" dirty="0"/>
              <a:t>Evaluation</a:t>
            </a:r>
            <a:endParaRPr lang="en-US" sz="1200" dirty="0"/>
          </a:p>
        </p:txBody>
      </p:sp>
      <p:sp>
        <p:nvSpPr>
          <p:cNvPr id="13" name="Rechteck 12" descr="Lichter an mit einfarbiger Füllung">
            <a:extLst>
              <a:ext uri="{FF2B5EF4-FFF2-40B4-BE49-F238E27FC236}">
                <a16:creationId xmlns:a16="http://schemas.microsoft.com/office/drawing/2014/main" id="{5ECB3131-8D62-388D-3639-990C8CAEDBEC}"/>
              </a:ext>
            </a:extLst>
          </p:cNvPr>
          <p:cNvSpPr/>
          <p:nvPr/>
        </p:nvSpPr>
        <p:spPr>
          <a:xfrm>
            <a:off x="8804352" y="664349"/>
            <a:ext cx="277969" cy="277969"/>
          </a:xfrm>
          <a:prstGeom prst="rect">
            <a:avLst/>
          </a:prstGeom>
          <a:blipFill>
            <a:blip r:embed="rId3">
              <a:extLst>
                <a:ext uri="{96DAC541-7B7A-43D3-8B79-37D633B846F1}">
                  <asvg:svgBlip xmlns:asvg="http://schemas.microsoft.com/office/drawing/2016/SVG/main" r:embed="rId4"/>
                </a:ext>
              </a:extLst>
            </a:blip>
            <a:srcRect/>
            <a:stretch>
              <a:fillRect/>
            </a:stretch>
          </a:blipFill>
          <a:ln>
            <a:noFill/>
          </a:ln>
        </p:spPr>
        <p:style>
          <a:lnRef idx="2">
            <a:scrgbClr r="0" g="0" b="0"/>
          </a:lnRef>
          <a:fillRef idx="1">
            <a:scrgbClr r="0" g="0" b="0"/>
          </a:fillRef>
          <a:effectRef idx="0">
            <a:schemeClr val="accent2">
              <a:hueOff val="0"/>
              <a:satOff val="0"/>
              <a:lumOff val="0"/>
              <a:alphaOff val="0"/>
            </a:schemeClr>
          </a:effectRef>
          <a:fontRef idx="minor">
            <a:schemeClr val="lt1"/>
          </a:fontRef>
        </p:style>
        <p:txBody>
          <a:bodyPr/>
          <a:lstStyle/>
          <a:p>
            <a:endParaRPr lang="en-US"/>
          </a:p>
        </p:txBody>
      </p:sp>
      <p:sp>
        <p:nvSpPr>
          <p:cNvPr id="14" name="Rechteck 13" descr="Geschlossenes Buch mit einfarbiger Füllung">
            <a:extLst>
              <a:ext uri="{FF2B5EF4-FFF2-40B4-BE49-F238E27FC236}">
                <a16:creationId xmlns:a16="http://schemas.microsoft.com/office/drawing/2014/main" id="{1513BA60-C827-A03C-D8C6-4E8B22A42116}"/>
              </a:ext>
            </a:extLst>
          </p:cNvPr>
          <p:cNvSpPr/>
          <p:nvPr/>
        </p:nvSpPr>
        <p:spPr>
          <a:xfrm>
            <a:off x="8804352" y="1043547"/>
            <a:ext cx="277969" cy="277969"/>
          </a:xfrm>
          <a:prstGeom prst="rect">
            <a:avLst/>
          </a:prstGeom>
          <a:blipFill>
            <a:blip r:embed="rId5">
              <a:extLst>
                <a:ext uri="{96DAC541-7B7A-43D3-8B79-37D633B846F1}">
                  <asvg:svgBlip xmlns:asvg="http://schemas.microsoft.com/office/drawing/2016/SVG/main" r:embed="rId6"/>
                </a:ext>
              </a:extLst>
            </a:blip>
            <a:srcRect/>
            <a:stretch>
              <a:fillRect/>
            </a:stretch>
          </a:blipFill>
          <a:ln>
            <a:noFill/>
          </a:ln>
        </p:spPr>
        <p:style>
          <a:lnRef idx="2">
            <a:scrgbClr r="0" g="0" b="0"/>
          </a:lnRef>
          <a:fillRef idx="1">
            <a:scrgbClr r="0" g="0" b="0"/>
          </a:fillRef>
          <a:effectRef idx="0">
            <a:schemeClr val="accent3">
              <a:hueOff val="0"/>
              <a:satOff val="0"/>
              <a:lumOff val="0"/>
              <a:alphaOff val="0"/>
            </a:schemeClr>
          </a:effectRef>
          <a:fontRef idx="minor">
            <a:schemeClr val="lt1"/>
          </a:fontRef>
        </p:style>
        <p:txBody>
          <a:bodyPr/>
          <a:lstStyle/>
          <a:p>
            <a:endParaRPr lang="en-US"/>
          </a:p>
        </p:txBody>
      </p:sp>
      <p:sp>
        <p:nvSpPr>
          <p:cNvPr id="15" name="Rechteck 14" descr="Netzwerk">
            <a:extLst>
              <a:ext uri="{FF2B5EF4-FFF2-40B4-BE49-F238E27FC236}">
                <a16:creationId xmlns:a16="http://schemas.microsoft.com/office/drawing/2014/main" id="{7A4D0B91-962C-B11C-7C46-6E23F146CCC7}"/>
              </a:ext>
            </a:extLst>
          </p:cNvPr>
          <p:cNvSpPr/>
          <p:nvPr/>
        </p:nvSpPr>
        <p:spPr>
          <a:xfrm>
            <a:off x="8804352" y="1379208"/>
            <a:ext cx="277969" cy="277969"/>
          </a:xfrm>
          <a:prstGeom prst="rect">
            <a:avLst/>
          </a:prstGeom>
          <a: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p:spPr>
        <p:style>
          <a:lnRef idx="2">
            <a:scrgbClr r="0" g="0" b="0"/>
          </a:lnRef>
          <a:fillRef idx="1">
            <a:scrgbClr r="0" g="0" b="0"/>
          </a:fillRef>
          <a:effectRef idx="0">
            <a:schemeClr val="accent4">
              <a:hueOff val="0"/>
              <a:satOff val="0"/>
              <a:lumOff val="0"/>
              <a:alphaOff val="0"/>
            </a:schemeClr>
          </a:effectRef>
          <a:fontRef idx="minor">
            <a:schemeClr val="lt1"/>
          </a:fontRef>
        </p:style>
        <p:txBody>
          <a:bodyPr/>
          <a:lstStyle/>
          <a:p>
            <a:endParaRPr lang="en-US"/>
          </a:p>
        </p:txBody>
      </p:sp>
      <p:sp>
        <p:nvSpPr>
          <p:cNvPr id="16" name="Rechteck 15" descr="Kreise mit Pfeilen mit einfarbiger Füllung">
            <a:extLst>
              <a:ext uri="{FF2B5EF4-FFF2-40B4-BE49-F238E27FC236}">
                <a16:creationId xmlns:a16="http://schemas.microsoft.com/office/drawing/2014/main" id="{D911A6C7-0AC7-6819-F521-265971BF9752}"/>
              </a:ext>
            </a:extLst>
          </p:cNvPr>
          <p:cNvSpPr/>
          <p:nvPr/>
        </p:nvSpPr>
        <p:spPr>
          <a:xfrm>
            <a:off x="8804352" y="1688740"/>
            <a:ext cx="277969" cy="277969"/>
          </a:xfrm>
          <a:prstGeom prst="rect">
            <a:avLst/>
          </a:prstGeom>
          <a:blipFill>
            <a:blip r:embed="rId9">
              <a:extLst>
                <a:ext uri="{96DAC541-7B7A-43D3-8B79-37D633B846F1}">
                  <asvg:svgBlip xmlns:asvg="http://schemas.microsoft.com/office/drawing/2016/SVG/main" r:embed="rId10"/>
                </a:ext>
              </a:extLst>
            </a:blip>
            <a:srcRect/>
            <a:stretch>
              <a:fillRect/>
            </a:stretch>
          </a:blipFill>
          <a:ln>
            <a:noFill/>
          </a:ln>
        </p:spPr>
        <p:style>
          <a:lnRef idx="2">
            <a:scrgbClr r="0" g="0" b="0"/>
          </a:lnRef>
          <a:fillRef idx="1">
            <a:scrgbClr r="0" g="0" b="0"/>
          </a:fillRef>
          <a:effectRef idx="0">
            <a:schemeClr val="accent5">
              <a:hueOff val="0"/>
              <a:satOff val="0"/>
              <a:lumOff val="0"/>
              <a:alphaOff val="0"/>
            </a:schemeClr>
          </a:effectRef>
          <a:fontRef idx="minor">
            <a:schemeClr val="lt1"/>
          </a:fontRef>
        </p:style>
        <p:txBody>
          <a:bodyPr/>
          <a:lstStyle/>
          <a:p>
            <a:endParaRPr lang="en-US"/>
          </a:p>
        </p:txBody>
      </p:sp>
      <p:sp>
        <p:nvSpPr>
          <p:cNvPr id="17" name="Rechteck 16" descr="Prüfliste">
            <a:extLst>
              <a:ext uri="{FF2B5EF4-FFF2-40B4-BE49-F238E27FC236}">
                <a16:creationId xmlns:a16="http://schemas.microsoft.com/office/drawing/2014/main" id="{9FCBBC50-21A3-C8B3-F62F-54F9ADA8A906}"/>
              </a:ext>
            </a:extLst>
          </p:cNvPr>
          <p:cNvSpPr/>
          <p:nvPr/>
        </p:nvSpPr>
        <p:spPr>
          <a:xfrm>
            <a:off x="8804352" y="2006980"/>
            <a:ext cx="277969" cy="277969"/>
          </a:xfrm>
          <a:prstGeom prst="rect">
            <a:avLst/>
          </a:prstGeom>
          <a: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a:noFill/>
          </a:ln>
        </p:spPr>
        <p:style>
          <a:lnRef idx="2">
            <a:scrgbClr r="0" g="0" b="0"/>
          </a:lnRef>
          <a:fillRef idx="1">
            <a:scrgbClr r="0" g="0" b="0"/>
          </a:fillRef>
          <a:effectRef idx="0">
            <a:schemeClr val="accent6">
              <a:hueOff val="0"/>
              <a:satOff val="0"/>
              <a:lumOff val="0"/>
              <a:alphaOff val="0"/>
            </a:schemeClr>
          </a:effectRef>
          <a:fontRef idx="minor">
            <a:schemeClr val="lt1"/>
          </a:fontRef>
        </p:style>
        <p:txBody>
          <a:bodyPr/>
          <a:lstStyle/>
          <a:p>
            <a:endParaRPr lang="en-US"/>
          </a:p>
        </p:txBody>
      </p:sp>
      <p:sp>
        <p:nvSpPr>
          <p:cNvPr id="18" name="Rechteck 17" descr="Auktionshammer">
            <a:extLst>
              <a:ext uri="{FF2B5EF4-FFF2-40B4-BE49-F238E27FC236}">
                <a16:creationId xmlns:a16="http://schemas.microsoft.com/office/drawing/2014/main" id="{ABB8D5AF-A407-C8D5-AB37-DF5033F395E6}"/>
              </a:ext>
            </a:extLst>
          </p:cNvPr>
          <p:cNvSpPr/>
          <p:nvPr/>
        </p:nvSpPr>
        <p:spPr>
          <a:xfrm>
            <a:off x="8804352" y="2316507"/>
            <a:ext cx="277969" cy="277969"/>
          </a:xfrm>
          <a:prstGeom prst="rect">
            <a:avLst/>
          </a:prstGeom>
          <a: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a:blipFill>
          <a:ln>
            <a:noFill/>
          </a:ln>
        </p:spPr>
        <p:style>
          <a:lnRef idx="2">
            <a:scrgbClr r="0" g="0" b="0"/>
          </a:lnRef>
          <a:fillRef idx="1">
            <a:scrgbClr r="0" g="0" b="0"/>
          </a:fillRef>
          <a:effectRef idx="0">
            <a:schemeClr val="accent2">
              <a:hueOff val="0"/>
              <a:satOff val="0"/>
              <a:lumOff val="0"/>
              <a:alphaOff val="0"/>
            </a:schemeClr>
          </a:effectRef>
          <a:fontRef idx="minor">
            <a:schemeClr val="lt1"/>
          </a:fontRef>
        </p:style>
        <p:txBody>
          <a:bodyPr/>
          <a:lstStyle/>
          <a:p>
            <a:endParaRPr lang="en-US"/>
          </a:p>
        </p:txBody>
      </p:sp>
      <p:sp>
        <p:nvSpPr>
          <p:cNvPr id="19" name="Rechteck 18" descr="Prüfliste">
            <a:extLst>
              <a:ext uri="{FF2B5EF4-FFF2-40B4-BE49-F238E27FC236}">
                <a16:creationId xmlns:a16="http://schemas.microsoft.com/office/drawing/2014/main" id="{443540D8-6FFF-95AA-91B7-01953F10417E}"/>
              </a:ext>
            </a:extLst>
          </p:cNvPr>
          <p:cNvSpPr/>
          <p:nvPr/>
        </p:nvSpPr>
        <p:spPr>
          <a:xfrm>
            <a:off x="7601427" y="148483"/>
            <a:ext cx="277969" cy="277969"/>
          </a:xfrm>
          <a:prstGeom prst="rect">
            <a:avLst/>
          </a:prstGeom>
          <a: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a:noFill/>
          </a:ln>
        </p:spPr>
        <p:style>
          <a:lnRef idx="2">
            <a:scrgbClr r="0" g="0" b="0"/>
          </a:lnRef>
          <a:fillRef idx="1">
            <a:scrgbClr r="0" g="0" b="0"/>
          </a:fillRef>
          <a:effectRef idx="0">
            <a:schemeClr val="accent6">
              <a:hueOff val="0"/>
              <a:satOff val="0"/>
              <a:lumOff val="0"/>
              <a:alphaOff val="0"/>
            </a:schemeClr>
          </a:effectRef>
          <a:fontRef idx="minor">
            <a:schemeClr val="lt1"/>
          </a:fontRef>
        </p:style>
        <p:txBody>
          <a:bodyPr/>
          <a:lstStyle/>
          <a:p>
            <a:endParaRPr lang="en-US"/>
          </a:p>
        </p:txBody>
      </p:sp>
    </p:spTree>
    <p:extLst>
      <p:ext uri="{BB962C8B-B14F-4D97-AF65-F5344CB8AC3E}">
        <p14:creationId xmlns:p14="http://schemas.microsoft.com/office/powerpoint/2010/main" val="23124720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 calcmode="lin" valueType="num">
                                      <p:cBhvr additive="base">
                                        <p:cTn id="17"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par>
                          <p:cTn id="19" fill="hold">
                            <p:stCondLst>
                              <p:cond delay="500"/>
                            </p:stCondLst>
                            <p:childTnLst>
                              <p:par>
                                <p:cTn id="20" presetID="2" presetClass="entr" presetSubtype="4" fill="hold" nodeType="afterEffect">
                                  <p:stCondLst>
                                    <p:cond delay="0"/>
                                  </p:stCondLst>
                                  <p:childTnLst>
                                    <p:set>
                                      <p:cBhvr>
                                        <p:cTn id="21" dur="1" fill="hold">
                                          <p:stCondLst>
                                            <p:cond delay="0"/>
                                          </p:stCondLst>
                                        </p:cTn>
                                        <p:tgtEl>
                                          <p:spTgt spid="8"/>
                                        </p:tgtEl>
                                        <p:attrNameLst>
                                          <p:attrName>style.visibility</p:attrName>
                                        </p:attrNameLst>
                                      </p:cBhvr>
                                      <p:to>
                                        <p:strVal val="visible"/>
                                      </p:to>
                                    </p:set>
                                    <p:anim calcmode="lin" valueType="num">
                                      <p:cBhvr additive="base">
                                        <p:cTn id="22" dur="500" fill="hold"/>
                                        <p:tgtEl>
                                          <p:spTgt spid="8"/>
                                        </p:tgtEl>
                                        <p:attrNameLst>
                                          <p:attrName>ppt_x</p:attrName>
                                        </p:attrNameLst>
                                      </p:cBhvr>
                                      <p:tavLst>
                                        <p:tav tm="0">
                                          <p:val>
                                            <p:strVal val="#ppt_x"/>
                                          </p:val>
                                        </p:tav>
                                        <p:tav tm="100000">
                                          <p:val>
                                            <p:strVal val="#ppt_x"/>
                                          </p:val>
                                        </p:tav>
                                      </p:tavLst>
                                    </p:anim>
                                    <p:anim calcmode="lin" valueType="num">
                                      <p:cBhvr additive="base">
                                        <p:cTn id="23" dur="500" fill="hold"/>
                                        <p:tgtEl>
                                          <p:spTgt spid="8"/>
                                        </p:tgtEl>
                                        <p:attrNameLst>
                                          <p:attrName>ppt_y</p:attrName>
                                        </p:attrNameLst>
                                      </p:cBhvr>
                                      <p:tavLst>
                                        <p:tav tm="0">
                                          <p:val>
                                            <p:strVal val="1+#ppt_h/2"/>
                                          </p:val>
                                        </p:tav>
                                        <p:tav tm="100000">
                                          <p:val>
                                            <p:strVal val="#ppt_y"/>
                                          </p:val>
                                        </p:tav>
                                      </p:tavLst>
                                    </p:anim>
                                  </p:childTnLst>
                                </p:cTn>
                              </p:par>
                              <p:par>
                                <p:cTn id="24" presetID="2" presetClass="entr" presetSubtype="4" fill="hold" grpId="0" nodeType="withEffect">
                                  <p:stCondLst>
                                    <p:cond delay="0"/>
                                  </p:stCondLst>
                                  <p:childTnLst>
                                    <p:set>
                                      <p:cBhvr>
                                        <p:cTn id="25" dur="1" fill="hold">
                                          <p:stCondLst>
                                            <p:cond delay="0"/>
                                          </p:stCondLst>
                                        </p:cTn>
                                        <p:tgtEl>
                                          <p:spTgt spid="11"/>
                                        </p:tgtEl>
                                        <p:attrNameLst>
                                          <p:attrName>style.visibility</p:attrName>
                                        </p:attrNameLst>
                                      </p:cBhvr>
                                      <p:to>
                                        <p:strVal val="visible"/>
                                      </p:to>
                                    </p:set>
                                    <p:anim calcmode="lin" valueType="num">
                                      <p:cBhvr additive="base">
                                        <p:cTn id="26" dur="500" fill="hold"/>
                                        <p:tgtEl>
                                          <p:spTgt spid="11"/>
                                        </p:tgtEl>
                                        <p:attrNameLst>
                                          <p:attrName>ppt_x</p:attrName>
                                        </p:attrNameLst>
                                      </p:cBhvr>
                                      <p:tavLst>
                                        <p:tav tm="0">
                                          <p:val>
                                            <p:strVal val="#ppt_x"/>
                                          </p:val>
                                        </p:tav>
                                        <p:tav tm="100000">
                                          <p:val>
                                            <p:strVal val="#ppt_x"/>
                                          </p:val>
                                        </p:tav>
                                      </p:tavLst>
                                    </p:anim>
                                    <p:anim calcmode="lin" valueType="num">
                                      <p:cBhvr additive="base">
                                        <p:cTn id="27"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11"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CF5F7C-5804-7981-20E8-8CF81F4338C1}"/>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3354195B-621F-4D12-082C-69FF90225332}"/>
              </a:ext>
            </a:extLst>
          </p:cNvPr>
          <p:cNvSpPr>
            <a:spLocks noGrp="1"/>
          </p:cNvSpPr>
          <p:nvPr>
            <p:ph type="ctrTitle"/>
          </p:nvPr>
        </p:nvSpPr>
        <p:spPr/>
        <p:txBody>
          <a:bodyPr/>
          <a:lstStyle/>
          <a:p>
            <a:r>
              <a:rPr lang="de-DE" dirty="0"/>
              <a:t>User Study </a:t>
            </a:r>
            <a:r>
              <a:rPr lang="de-DE" dirty="0" err="1"/>
              <a:t>Results</a:t>
            </a:r>
            <a:r>
              <a:rPr lang="de-DE" dirty="0"/>
              <a:t>: </a:t>
            </a:r>
            <a:r>
              <a:rPr lang="de-DE" dirty="0" err="1"/>
              <a:t>Topicwise</a:t>
            </a:r>
            <a:endParaRPr lang="en-US" dirty="0"/>
          </a:p>
        </p:txBody>
      </p:sp>
      <p:sp>
        <p:nvSpPr>
          <p:cNvPr id="3" name="Inhaltsplatzhalter 2">
            <a:extLst>
              <a:ext uri="{FF2B5EF4-FFF2-40B4-BE49-F238E27FC236}">
                <a16:creationId xmlns:a16="http://schemas.microsoft.com/office/drawing/2014/main" id="{559088F7-7A06-9445-54E8-181D55165C80}"/>
              </a:ext>
            </a:extLst>
          </p:cNvPr>
          <p:cNvSpPr>
            <a:spLocks noGrp="1"/>
          </p:cNvSpPr>
          <p:nvPr>
            <p:ph sz="quarter" idx="13"/>
          </p:nvPr>
        </p:nvSpPr>
        <p:spPr/>
        <p:txBody>
          <a:bodyPr/>
          <a:lstStyle/>
          <a:p>
            <a:r>
              <a:rPr lang="en-US" dirty="0"/>
              <a:t>Q1 I agree with the decisions made by the prediction system.</a:t>
            </a:r>
          </a:p>
          <a:p>
            <a:r>
              <a:rPr lang="en-US" dirty="0"/>
              <a:t>Q2 The prediction system’s decisions are plausible.</a:t>
            </a:r>
          </a:p>
          <a:p>
            <a:endParaRPr lang="en-US" dirty="0"/>
          </a:p>
        </p:txBody>
      </p:sp>
      <p:sp>
        <p:nvSpPr>
          <p:cNvPr id="4" name="Datumsplatzhalter 3">
            <a:extLst>
              <a:ext uri="{FF2B5EF4-FFF2-40B4-BE49-F238E27FC236}">
                <a16:creationId xmlns:a16="http://schemas.microsoft.com/office/drawing/2014/main" id="{CC305854-E7E0-5198-94A9-F1A1F4088CCE}"/>
              </a:ext>
            </a:extLst>
          </p:cNvPr>
          <p:cNvSpPr>
            <a:spLocks noGrp="1"/>
          </p:cNvSpPr>
          <p:nvPr>
            <p:ph type="dt" sz="half" idx="10"/>
          </p:nvPr>
        </p:nvSpPr>
        <p:spPr/>
        <p:txBody>
          <a:bodyPr/>
          <a:lstStyle/>
          <a:p>
            <a:r>
              <a:rPr lang="en-US"/>
              <a:t>18.08.2025</a:t>
            </a:r>
            <a:endParaRPr lang="de-DE" dirty="0"/>
          </a:p>
        </p:txBody>
      </p:sp>
      <p:sp>
        <p:nvSpPr>
          <p:cNvPr id="5" name="Fußzeilenplatzhalter 4">
            <a:extLst>
              <a:ext uri="{FF2B5EF4-FFF2-40B4-BE49-F238E27FC236}">
                <a16:creationId xmlns:a16="http://schemas.microsoft.com/office/drawing/2014/main" id="{5610980E-9496-0361-98D5-2C11C07440B8}"/>
              </a:ext>
            </a:extLst>
          </p:cNvPr>
          <p:cNvSpPr>
            <a:spLocks noGrp="1"/>
          </p:cNvSpPr>
          <p:nvPr>
            <p:ph type="ftr" sz="quarter" idx="11"/>
          </p:nvPr>
        </p:nvSpPr>
        <p:spPr/>
        <p:txBody>
          <a:bodyPr/>
          <a:lstStyle/>
          <a:p>
            <a:r>
              <a:rPr lang="en-US"/>
              <a:t>Enhancing model transparency: Effects of DK Integration for Conversational XAI | Feustel</a:t>
            </a:r>
            <a:endParaRPr lang="de-DE" dirty="0"/>
          </a:p>
        </p:txBody>
      </p:sp>
      <p:sp>
        <p:nvSpPr>
          <p:cNvPr id="6" name="Foliennummernplatzhalter 5">
            <a:extLst>
              <a:ext uri="{FF2B5EF4-FFF2-40B4-BE49-F238E27FC236}">
                <a16:creationId xmlns:a16="http://schemas.microsoft.com/office/drawing/2014/main" id="{BFDA857B-1378-4247-41D6-2598F6DDC2B5}"/>
              </a:ext>
            </a:extLst>
          </p:cNvPr>
          <p:cNvSpPr>
            <a:spLocks noGrp="1"/>
          </p:cNvSpPr>
          <p:nvPr>
            <p:ph type="sldNum" sz="quarter" idx="12"/>
          </p:nvPr>
        </p:nvSpPr>
        <p:spPr/>
        <p:txBody>
          <a:bodyPr/>
          <a:lstStyle/>
          <a:p>
            <a:fld id="{FE120BDC-5456-EC41-8BB6-7A3B726EA19B}" type="slidenum">
              <a:rPr lang="de-DE" smtClean="0"/>
              <a:pPr/>
              <a:t>28</a:t>
            </a:fld>
            <a:endParaRPr lang="de-DE" dirty="0"/>
          </a:p>
        </p:txBody>
      </p:sp>
      <p:pic>
        <p:nvPicPr>
          <p:cNvPr id="8" name="Grafik 7">
            <a:extLst>
              <a:ext uri="{FF2B5EF4-FFF2-40B4-BE49-F238E27FC236}">
                <a16:creationId xmlns:a16="http://schemas.microsoft.com/office/drawing/2014/main" id="{9A482F07-50BE-5B48-7305-0FCE07A37186}"/>
              </a:ext>
            </a:extLst>
          </p:cNvPr>
          <p:cNvPicPr>
            <a:picLocks noChangeAspect="1"/>
          </p:cNvPicPr>
          <p:nvPr/>
        </p:nvPicPr>
        <p:blipFill>
          <a:blip r:embed="rId2"/>
          <a:srcRect r="51020" b="50311"/>
          <a:stretch>
            <a:fillRect/>
          </a:stretch>
        </p:blipFill>
        <p:spPr>
          <a:xfrm>
            <a:off x="403380" y="2050508"/>
            <a:ext cx="3987867" cy="2159985"/>
          </a:xfrm>
          <a:prstGeom prst="rect">
            <a:avLst/>
          </a:prstGeom>
        </p:spPr>
      </p:pic>
      <p:sp>
        <p:nvSpPr>
          <p:cNvPr id="7" name="Textfeld 6">
            <a:extLst>
              <a:ext uri="{FF2B5EF4-FFF2-40B4-BE49-F238E27FC236}">
                <a16:creationId xmlns:a16="http://schemas.microsoft.com/office/drawing/2014/main" id="{1BF2C3CC-A560-ED0D-4492-0FDA7CFC11D7}"/>
              </a:ext>
            </a:extLst>
          </p:cNvPr>
          <p:cNvSpPr txBox="1"/>
          <p:nvPr/>
        </p:nvSpPr>
        <p:spPr>
          <a:xfrm>
            <a:off x="395287" y="4210493"/>
            <a:ext cx="3839488" cy="738664"/>
          </a:xfrm>
          <a:prstGeom prst="rect">
            <a:avLst/>
          </a:prstGeom>
          <a:noFill/>
        </p:spPr>
        <p:txBody>
          <a:bodyPr wrap="square">
            <a:spAutoFit/>
          </a:bodyPr>
          <a:lstStyle/>
          <a:p>
            <a:r>
              <a:rPr lang="de-DE" sz="1400" noProof="1"/>
              <a:t>Where:</a:t>
            </a:r>
          </a:p>
          <a:p>
            <a:r>
              <a:rPr lang="de-DE" sz="1400" noProof="1"/>
              <a:t>p is value of Mann-Whitney U Test</a:t>
            </a:r>
          </a:p>
          <a:p>
            <a:r>
              <a:rPr lang="de-DE" sz="1400" noProof="1"/>
              <a:t>p* is the value of Holm-Bonferroni Correction</a:t>
            </a:r>
          </a:p>
        </p:txBody>
      </p:sp>
      <p:pic>
        <p:nvPicPr>
          <p:cNvPr id="9" name="Grafik 8">
            <a:extLst>
              <a:ext uri="{FF2B5EF4-FFF2-40B4-BE49-F238E27FC236}">
                <a16:creationId xmlns:a16="http://schemas.microsoft.com/office/drawing/2014/main" id="{4E3CD86C-F633-0C22-D890-DAA7DC328703}"/>
              </a:ext>
            </a:extLst>
          </p:cNvPr>
          <p:cNvPicPr>
            <a:picLocks noChangeAspect="1"/>
          </p:cNvPicPr>
          <p:nvPr/>
        </p:nvPicPr>
        <p:blipFill>
          <a:blip r:embed="rId2"/>
          <a:srcRect l="51200" b="50311"/>
          <a:stretch>
            <a:fillRect/>
          </a:stretch>
        </p:blipFill>
        <p:spPr>
          <a:xfrm>
            <a:off x="4572000" y="2058907"/>
            <a:ext cx="3973260" cy="2159985"/>
          </a:xfrm>
          <a:prstGeom prst="rect">
            <a:avLst/>
          </a:prstGeom>
        </p:spPr>
      </p:pic>
      <p:sp>
        <p:nvSpPr>
          <p:cNvPr id="11" name="Textfeld 10">
            <a:extLst>
              <a:ext uri="{FF2B5EF4-FFF2-40B4-BE49-F238E27FC236}">
                <a16:creationId xmlns:a16="http://schemas.microsoft.com/office/drawing/2014/main" id="{C86E8BB3-0EE0-B020-2E46-AF2D75AA4B88}"/>
              </a:ext>
            </a:extLst>
          </p:cNvPr>
          <p:cNvSpPr txBox="1"/>
          <p:nvPr/>
        </p:nvSpPr>
        <p:spPr>
          <a:xfrm>
            <a:off x="7851895" y="134610"/>
            <a:ext cx="833049" cy="276999"/>
          </a:xfrm>
          <a:prstGeom prst="rect">
            <a:avLst/>
          </a:prstGeom>
          <a:noFill/>
        </p:spPr>
        <p:txBody>
          <a:bodyPr wrap="none" rtlCol="0">
            <a:spAutoFit/>
          </a:bodyPr>
          <a:lstStyle/>
          <a:p>
            <a:r>
              <a:rPr lang="de-DE" sz="1200" dirty="0"/>
              <a:t>Evaluation</a:t>
            </a:r>
            <a:endParaRPr lang="en-US" sz="1200" dirty="0"/>
          </a:p>
        </p:txBody>
      </p:sp>
      <p:sp>
        <p:nvSpPr>
          <p:cNvPr id="12" name="Rechteck 11" descr="Lichter an mit einfarbiger Füllung">
            <a:extLst>
              <a:ext uri="{FF2B5EF4-FFF2-40B4-BE49-F238E27FC236}">
                <a16:creationId xmlns:a16="http://schemas.microsoft.com/office/drawing/2014/main" id="{7100B846-8435-B0B7-24B9-F91F1790B985}"/>
              </a:ext>
            </a:extLst>
          </p:cNvPr>
          <p:cNvSpPr/>
          <p:nvPr/>
        </p:nvSpPr>
        <p:spPr>
          <a:xfrm>
            <a:off x="8804352" y="664349"/>
            <a:ext cx="277969" cy="277969"/>
          </a:xfrm>
          <a:prstGeom prst="rect">
            <a:avLst/>
          </a:prstGeom>
          <a:blipFill>
            <a:blip r:embed="rId3">
              <a:extLst>
                <a:ext uri="{96DAC541-7B7A-43D3-8B79-37D633B846F1}">
                  <asvg:svgBlip xmlns:asvg="http://schemas.microsoft.com/office/drawing/2016/SVG/main" r:embed="rId4"/>
                </a:ext>
              </a:extLst>
            </a:blip>
            <a:srcRect/>
            <a:stretch>
              <a:fillRect/>
            </a:stretch>
          </a:blipFill>
          <a:ln>
            <a:noFill/>
          </a:ln>
        </p:spPr>
        <p:style>
          <a:lnRef idx="2">
            <a:scrgbClr r="0" g="0" b="0"/>
          </a:lnRef>
          <a:fillRef idx="1">
            <a:scrgbClr r="0" g="0" b="0"/>
          </a:fillRef>
          <a:effectRef idx="0">
            <a:schemeClr val="accent2">
              <a:hueOff val="0"/>
              <a:satOff val="0"/>
              <a:lumOff val="0"/>
              <a:alphaOff val="0"/>
            </a:schemeClr>
          </a:effectRef>
          <a:fontRef idx="minor">
            <a:schemeClr val="lt1"/>
          </a:fontRef>
        </p:style>
        <p:txBody>
          <a:bodyPr/>
          <a:lstStyle/>
          <a:p>
            <a:endParaRPr lang="en-US"/>
          </a:p>
        </p:txBody>
      </p:sp>
      <p:sp>
        <p:nvSpPr>
          <p:cNvPr id="13" name="Rechteck 12" descr="Geschlossenes Buch mit einfarbiger Füllung">
            <a:extLst>
              <a:ext uri="{FF2B5EF4-FFF2-40B4-BE49-F238E27FC236}">
                <a16:creationId xmlns:a16="http://schemas.microsoft.com/office/drawing/2014/main" id="{6536D3E4-8BB2-F7CA-34DA-715163F34FF3}"/>
              </a:ext>
            </a:extLst>
          </p:cNvPr>
          <p:cNvSpPr/>
          <p:nvPr/>
        </p:nvSpPr>
        <p:spPr>
          <a:xfrm>
            <a:off x="8804352" y="1043547"/>
            <a:ext cx="277969" cy="277969"/>
          </a:xfrm>
          <a:prstGeom prst="rect">
            <a:avLst/>
          </a:prstGeom>
          <a:blipFill>
            <a:blip r:embed="rId5">
              <a:extLst>
                <a:ext uri="{96DAC541-7B7A-43D3-8B79-37D633B846F1}">
                  <asvg:svgBlip xmlns:asvg="http://schemas.microsoft.com/office/drawing/2016/SVG/main" r:embed="rId6"/>
                </a:ext>
              </a:extLst>
            </a:blip>
            <a:srcRect/>
            <a:stretch>
              <a:fillRect/>
            </a:stretch>
          </a:blipFill>
          <a:ln>
            <a:noFill/>
          </a:ln>
        </p:spPr>
        <p:style>
          <a:lnRef idx="2">
            <a:scrgbClr r="0" g="0" b="0"/>
          </a:lnRef>
          <a:fillRef idx="1">
            <a:scrgbClr r="0" g="0" b="0"/>
          </a:fillRef>
          <a:effectRef idx="0">
            <a:schemeClr val="accent3">
              <a:hueOff val="0"/>
              <a:satOff val="0"/>
              <a:lumOff val="0"/>
              <a:alphaOff val="0"/>
            </a:schemeClr>
          </a:effectRef>
          <a:fontRef idx="minor">
            <a:schemeClr val="lt1"/>
          </a:fontRef>
        </p:style>
        <p:txBody>
          <a:bodyPr/>
          <a:lstStyle/>
          <a:p>
            <a:endParaRPr lang="en-US"/>
          </a:p>
        </p:txBody>
      </p:sp>
      <p:sp>
        <p:nvSpPr>
          <p:cNvPr id="14" name="Rechteck 13" descr="Netzwerk">
            <a:extLst>
              <a:ext uri="{FF2B5EF4-FFF2-40B4-BE49-F238E27FC236}">
                <a16:creationId xmlns:a16="http://schemas.microsoft.com/office/drawing/2014/main" id="{56A4E8F3-3F62-5543-3694-97862883D7A8}"/>
              </a:ext>
            </a:extLst>
          </p:cNvPr>
          <p:cNvSpPr/>
          <p:nvPr/>
        </p:nvSpPr>
        <p:spPr>
          <a:xfrm>
            <a:off x="8804352" y="1379208"/>
            <a:ext cx="277969" cy="277969"/>
          </a:xfrm>
          <a:prstGeom prst="rect">
            <a:avLst/>
          </a:prstGeom>
          <a: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p:spPr>
        <p:style>
          <a:lnRef idx="2">
            <a:scrgbClr r="0" g="0" b="0"/>
          </a:lnRef>
          <a:fillRef idx="1">
            <a:scrgbClr r="0" g="0" b="0"/>
          </a:fillRef>
          <a:effectRef idx="0">
            <a:schemeClr val="accent4">
              <a:hueOff val="0"/>
              <a:satOff val="0"/>
              <a:lumOff val="0"/>
              <a:alphaOff val="0"/>
            </a:schemeClr>
          </a:effectRef>
          <a:fontRef idx="minor">
            <a:schemeClr val="lt1"/>
          </a:fontRef>
        </p:style>
        <p:txBody>
          <a:bodyPr/>
          <a:lstStyle/>
          <a:p>
            <a:endParaRPr lang="en-US"/>
          </a:p>
        </p:txBody>
      </p:sp>
      <p:sp>
        <p:nvSpPr>
          <p:cNvPr id="15" name="Rechteck 14" descr="Kreise mit Pfeilen mit einfarbiger Füllung">
            <a:extLst>
              <a:ext uri="{FF2B5EF4-FFF2-40B4-BE49-F238E27FC236}">
                <a16:creationId xmlns:a16="http://schemas.microsoft.com/office/drawing/2014/main" id="{83C07023-6565-68B1-783E-EB638A27371A}"/>
              </a:ext>
            </a:extLst>
          </p:cNvPr>
          <p:cNvSpPr/>
          <p:nvPr/>
        </p:nvSpPr>
        <p:spPr>
          <a:xfrm>
            <a:off x="8804352" y="1688740"/>
            <a:ext cx="277969" cy="277969"/>
          </a:xfrm>
          <a:prstGeom prst="rect">
            <a:avLst/>
          </a:prstGeom>
          <a:blipFill>
            <a:blip r:embed="rId9">
              <a:extLst>
                <a:ext uri="{96DAC541-7B7A-43D3-8B79-37D633B846F1}">
                  <asvg:svgBlip xmlns:asvg="http://schemas.microsoft.com/office/drawing/2016/SVG/main" r:embed="rId10"/>
                </a:ext>
              </a:extLst>
            </a:blip>
            <a:srcRect/>
            <a:stretch>
              <a:fillRect/>
            </a:stretch>
          </a:blipFill>
          <a:ln>
            <a:noFill/>
          </a:ln>
        </p:spPr>
        <p:style>
          <a:lnRef idx="2">
            <a:scrgbClr r="0" g="0" b="0"/>
          </a:lnRef>
          <a:fillRef idx="1">
            <a:scrgbClr r="0" g="0" b="0"/>
          </a:fillRef>
          <a:effectRef idx="0">
            <a:schemeClr val="accent5">
              <a:hueOff val="0"/>
              <a:satOff val="0"/>
              <a:lumOff val="0"/>
              <a:alphaOff val="0"/>
            </a:schemeClr>
          </a:effectRef>
          <a:fontRef idx="minor">
            <a:schemeClr val="lt1"/>
          </a:fontRef>
        </p:style>
        <p:txBody>
          <a:bodyPr/>
          <a:lstStyle/>
          <a:p>
            <a:endParaRPr lang="en-US"/>
          </a:p>
        </p:txBody>
      </p:sp>
      <p:sp>
        <p:nvSpPr>
          <p:cNvPr id="16" name="Rechteck 15" descr="Prüfliste">
            <a:extLst>
              <a:ext uri="{FF2B5EF4-FFF2-40B4-BE49-F238E27FC236}">
                <a16:creationId xmlns:a16="http://schemas.microsoft.com/office/drawing/2014/main" id="{47AD4A68-C72F-9026-C95F-848D5349C475}"/>
              </a:ext>
            </a:extLst>
          </p:cNvPr>
          <p:cNvSpPr/>
          <p:nvPr/>
        </p:nvSpPr>
        <p:spPr>
          <a:xfrm>
            <a:off x="8804352" y="2006980"/>
            <a:ext cx="277969" cy="277969"/>
          </a:xfrm>
          <a:prstGeom prst="rect">
            <a:avLst/>
          </a:prstGeom>
          <a: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a:noFill/>
          </a:ln>
        </p:spPr>
        <p:style>
          <a:lnRef idx="2">
            <a:scrgbClr r="0" g="0" b="0"/>
          </a:lnRef>
          <a:fillRef idx="1">
            <a:scrgbClr r="0" g="0" b="0"/>
          </a:fillRef>
          <a:effectRef idx="0">
            <a:schemeClr val="accent6">
              <a:hueOff val="0"/>
              <a:satOff val="0"/>
              <a:lumOff val="0"/>
              <a:alphaOff val="0"/>
            </a:schemeClr>
          </a:effectRef>
          <a:fontRef idx="minor">
            <a:schemeClr val="lt1"/>
          </a:fontRef>
        </p:style>
        <p:txBody>
          <a:bodyPr/>
          <a:lstStyle/>
          <a:p>
            <a:endParaRPr lang="en-US"/>
          </a:p>
        </p:txBody>
      </p:sp>
      <p:sp>
        <p:nvSpPr>
          <p:cNvPr id="17" name="Rechteck 16" descr="Auktionshammer">
            <a:extLst>
              <a:ext uri="{FF2B5EF4-FFF2-40B4-BE49-F238E27FC236}">
                <a16:creationId xmlns:a16="http://schemas.microsoft.com/office/drawing/2014/main" id="{A8E5E7EB-4DA6-0C6C-19C0-E08D735A710B}"/>
              </a:ext>
            </a:extLst>
          </p:cNvPr>
          <p:cNvSpPr/>
          <p:nvPr/>
        </p:nvSpPr>
        <p:spPr>
          <a:xfrm>
            <a:off x="8804352" y="2316507"/>
            <a:ext cx="277969" cy="277969"/>
          </a:xfrm>
          <a:prstGeom prst="rect">
            <a:avLst/>
          </a:prstGeom>
          <a: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a:blipFill>
          <a:ln>
            <a:noFill/>
          </a:ln>
        </p:spPr>
        <p:style>
          <a:lnRef idx="2">
            <a:scrgbClr r="0" g="0" b="0"/>
          </a:lnRef>
          <a:fillRef idx="1">
            <a:scrgbClr r="0" g="0" b="0"/>
          </a:fillRef>
          <a:effectRef idx="0">
            <a:schemeClr val="accent2">
              <a:hueOff val="0"/>
              <a:satOff val="0"/>
              <a:lumOff val="0"/>
              <a:alphaOff val="0"/>
            </a:schemeClr>
          </a:effectRef>
          <a:fontRef idx="minor">
            <a:schemeClr val="lt1"/>
          </a:fontRef>
        </p:style>
        <p:txBody>
          <a:bodyPr/>
          <a:lstStyle/>
          <a:p>
            <a:endParaRPr lang="en-US"/>
          </a:p>
        </p:txBody>
      </p:sp>
      <p:sp>
        <p:nvSpPr>
          <p:cNvPr id="18" name="Rechteck 17" descr="Prüfliste">
            <a:extLst>
              <a:ext uri="{FF2B5EF4-FFF2-40B4-BE49-F238E27FC236}">
                <a16:creationId xmlns:a16="http://schemas.microsoft.com/office/drawing/2014/main" id="{843C3DBE-88DD-614B-B3A4-9BA064C6EFA1}"/>
              </a:ext>
            </a:extLst>
          </p:cNvPr>
          <p:cNvSpPr/>
          <p:nvPr/>
        </p:nvSpPr>
        <p:spPr>
          <a:xfrm>
            <a:off x="7601427" y="148483"/>
            <a:ext cx="277969" cy="277969"/>
          </a:xfrm>
          <a:prstGeom prst="rect">
            <a:avLst/>
          </a:prstGeom>
          <a: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a:noFill/>
          </a:ln>
        </p:spPr>
        <p:style>
          <a:lnRef idx="2">
            <a:scrgbClr r="0" g="0" b="0"/>
          </a:lnRef>
          <a:fillRef idx="1">
            <a:scrgbClr r="0" g="0" b="0"/>
          </a:fillRef>
          <a:effectRef idx="0">
            <a:schemeClr val="accent6">
              <a:hueOff val="0"/>
              <a:satOff val="0"/>
              <a:lumOff val="0"/>
              <a:alphaOff val="0"/>
            </a:schemeClr>
          </a:effectRef>
          <a:fontRef idx="minor">
            <a:schemeClr val="lt1"/>
          </a:fontRef>
        </p:style>
        <p:txBody>
          <a:bodyPr/>
          <a:lstStyle/>
          <a:p>
            <a:endParaRPr lang="en-US"/>
          </a:p>
        </p:txBody>
      </p:sp>
    </p:spTree>
    <p:extLst>
      <p:ext uri="{BB962C8B-B14F-4D97-AF65-F5344CB8AC3E}">
        <p14:creationId xmlns:p14="http://schemas.microsoft.com/office/powerpoint/2010/main" val="11051827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par>
                          <p:cTn id="13" fill="hold">
                            <p:stCondLst>
                              <p:cond delay="500"/>
                            </p:stCondLst>
                            <p:childTnLst>
                              <p:par>
                                <p:cTn id="14" presetID="2" presetClass="entr" presetSubtype="4" fill="hold" nodeType="afterEffect">
                                  <p:stCondLst>
                                    <p:cond delay="0"/>
                                  </p:stCondLst>
                                  <p:childTnLst>
                                    <p:set>
                                      <p:cBhvr>
                                        <p:cTn id="15" dur="1" fill="hold">
                                          <p:stCondLst>
                                            <p:cond delay="0"/>
                                          </p:stCondLst>
                                        </p:cTn>
                                        <p:tgtEl>
                                          <p:spTgt spid="8"/>
                                        </p:tgtEl>
                                        <p:attrNameLst>
                                          <p:attrName>style.visibility</p:attrName>
                                        </p:attrNameLst>
                                      </p:cBhvr>
                                      <p:to>
                                        <p:strVal val="visible"/>
                                      </p:to>
                                    </p:set>
                                    <p:anim calcmode="lin" valueType="num">
                                      <p:cBhvr additive="base">
                                        <p:cTn id="16" dur="500" fill="hold"/>
                                        <p:tgtEl>
                                          <p:spTgt spid="8"/>
                                        </p:tgtEl>
                                        <p:attrNameLst>
                                          <p:attrName>ppt_x</p:attrName>
                                        </p:attrNameLst>
                                      </p:cBhvr>
                                      <p:tavLst>
                                        <p:tav tm="0">
                                          <p:val>
                                            <p:strVal val="#ppt_x"/>
                                          </p:val>
                                        </p:tav>
                                        <p:tav tm="100000">
                                          <p:val>
                                            <p:strVal val="#ppt_x"/>
                                          </p:val>
                                        </p:tav>
                                      </p:tavLst>
                                    </p:anim>
                                    <p:anim calcmode="lin" valueType="num">
                                      <p:cBhvr additive="base">
                                        <p:cTn id="17" dur="500" fill="hold"/>
                                        <p:tgtEl>
                                          <p:spTgt spid="8"/>
                                        </p:tgtEl>
                                        <p:attrNameLst>
                                          <p:attrName>ppt_y</p:attrName>
                                        </p:attrNameLst>
                                      </p:cBhvr>
                                      <p:tavLst>
                                        <p:tav tm="0">
                                          <p:val>
                                            <p:strVal val="1+#ppt_h/2"/>
                                          </p:val>
                                        </p:tav>
                                        <p:tav tm="100000">
                                          <p:val>
                                            <p:strVal val="#ppt_y"/>
                                          </p:val>
                                        </p:tav>
                                      </p:tavLst>
                                    </p:anim>
                                  </p:childTnLst>
                                </p:cTn>
                              </p:par>
                              <p:par>
                                <p:cTn id="18" presetID="2" presetClass="entr" presetSubtype="4" fill="hold" grpId="0" nodeType="withEffect">
                                  <p:stCondLst>
                                    <p:cond delay="0"/>
                                  </p:stCondLst>
                                  <p:childTnLst>
                                    <p:set>
                                      <p:cBhvr>
                                        <p:cTn id="19" dur="1" fill="hold">
                                          <p:stCondLst>
                                            <p:cond delay="0"/>
                                          </p:stCondLst>
                                        </p:cTn>
                                        <p:tgtEl>
                                          <p:spTgt spid="7"/>
                                        </p:tgtEl>
                                        <p:attrNameLst>
                                          <p:attrName>style.visibility</p:attrName>
                                        </p:attrNameLst>
                                      </p:cBhvr>
                                      <p:to>
                                        <p:strVal val="visible"/>
                                      </p:to>
                                    </p:set>
                                    <p:anim calcmode="lin" valueType="num">
                                      <p:cBhvr additive="base">
                                        <p:cTn id="20" dur="500" fill="hold"/>
                                        <p:tgtEl>
                                          <p:spTgt spid="7"/>
                                        </p:tgtEl>
                                        <p:attrNameLst>
                                          <p:attrName>ppt_x</p:attrName>
                                        </p:attrNameLst>
                                      </p:cBhvr>
                                      <p:tavLst>
                                        <p:tav tm="0">
                                          <p:val>
                                            <p:strVal val="#ppt_x"/>
                                          </p:val>
                                        </p:tav>
                                        <p:tav tm="100000">
                                          <p:val>
                                            <p:strVal val="#ppt_x"/>
                                          </p:val>
                                        </p:tav>
                                      </p:tavLst>
                                    </p:anim>
                                    <p:anim calcmode="lin" valueType="num">
                                      <p:cBhvr additive="base">
                                        <p:cTn id="21"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2" presetClass="entr" presetSubtype="4" fill="hold" nodeType="clickEffect">
                                  <p:stCondLst>
                                    <p:cond delay="0"/>
                                  </p:stCondLst>
                                  <p:childTnLst>
                                    <p:set>
                                      <p:cBhvr>
                                        <p:cTn id="25" dur="1" fill="hold">
                                          <p:stCondLst>
                                            <p:cond delay="0"/>
                                          </p:stCondLst>
                                        </p:cTn>
                                        <p:tgtEl>
                                          <p:spTgt spid="9"/>
                                        </p:tgtEl>
                                        <p:attrNameLst>
                                          <p:attrName>style.visibility</p:attrName>
                                        </p:attrNameLst>
                                      </p:cBhvr>
                                      <p:to>
                                        <p:strVal val="visible"/>
                                      </p:to>
                                    </p:set>
                                    <p:anim calcmode="lin" valueType="num">
                                      <p:cBhvr additive="base">
                                        <p:cTn id="26" dur="500" fill="hold"/>
                                        <p:tgtEl>
                                          <p:spTgt spid="9"/>
                                        </p:tgtEl>
                                        <p:attrNameLst>
                                          <p:attrName>ppt_x</p:attrName>
                                        </p:attrNameLst>
                                      </p:cBhvr>
                                      <p:tavLst>
                                        <p:tav tm="0">
                                          <p:val>
                                            <p:strVal val="#ppt_x"/>
                                          </p:val>
                                        </p:tav>
                                        <p:tav tm="100000">
                                          <p:val>
                                            <p:strVal val="#ppt_x"/>
                                          </p:val>
                                        </p:tav>
                                      </p:tavLst>
                                    </p:anim>
                                    <p:anim calcmode="lin" valueType="num">
                                      <p:cBhvr additive="base">
                                        <p:cTn id="27"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7"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71C689-F025-1AC2-D70C-876189962DBD}"/>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234D85E5-AC4F-3C1D-F2E0-501AF4438133}"/>
              </a:ext>
            </a:extLst>
          </p:cNvPr>
          <p:cNvSpPr>
            <a:spLocks noGrp="1"/>
          </p:cNvSpPr>
          <p:nvPr>
            <p:ph type="ctrTitle"/>
          </p:nvPr>
        </p:nvSpPr>
        <p:spPr/>
        <p:txBody>
          <a:bodyPr/>
          <a:lstStyle/>
          <a:p>
            <a:r>
              <a:rPr lang="de-DE" noProof="1">
                <a:latin typeface="Arial"/>
                <a:cs typeface="Arial"/>
              </a:rPr>
              <a:t>User Study Results – Impact of Domain Knowledge</a:t>
            </a:r>
            <a:endParaRPr lang="de-DE" noProof="1"/>
          </a:p>
        </p:txBody>
      </p:sp>
      <p:sp>
        <p:nvSpPr>
          <p:cNvPr id="17" name="Inhaltsplatzhalter 16">
            <a:extLst>
              <a:ext uri="{FF2B5EF4-FFF2-40B4-BE49-F238E27FC236}">
                <a16:creationId xmlns:a16="http://schemas.microsoft.com/office/drawing/2014/main" id="{1B503740-6669-45B0-FBFE-08BC4E2CDD94}"/>
              </a:ext>
            </a:extLst>
          </p:cNvPr>
          <p:cNvSpPr>
            <a:spLocks noGrp="1"/>
          </p:cNvSpPr>
          <p:nvPr>
            <p:ph sz="quarter" idx="15"/>
          </p:nvPr>
        </p:nvSpPr>
        <p:spPr/>
        <p:txBody>
          <a:bodyPr/>
          <a:lstStyle/>
          <a:p>
            <a:r>
              <a:rPr lang="en-US" dirty="0"/>
              <a:t>longer interaction</a:t>
            </a:r>
          </a:p>
          <a:p>
            <a:r>
              <a:rPr lang="en-US" dirty="0"/>
              <a:t>different use of explanation </a:t>
            </a:r>
          </a:p>
          <a:p>
            <a:r>
              <a:rPr lang="en-US" dirty="0"/>
              <a:t>small trends in overall dialogue experience</a:t>
            </a:r>
          </a:p>
          <a:p>
            <a:pPr lvl="1"/>
            <a:r>
              <a:rPr lang="en-US" dirty="0"/>
              <a:t>more engaging/enjoyable</a:t>
            </a:r>
          </a:p>
          <a:p>
            <a:r>
              <a:rPr lang="en-US" dirty="0"/>
              <a:t>challenge to deal with over reliance</a:t>
            </a:r>
          </a:p>
          <a:p>
            <a:r>
              <a:rPr lang="en-US" dirty="0"/>
              <a:t>DK is topic dependent</a:t>
            </a:r>
          </a:p>
          <a:p>
            <a:endParaRPr lang="en-US" dirty="0"/>
          </a:p>
        </p:txBody>
      </p:sp>
      <p:sp>
        <p:nvSpPr>
          <p:cNvPr id="18" name="Bildplatzhalter 17">
            <a:extLst>
              <a:ext uri="{FF2B5EF4-FFF2-40B4-BE49-F238E27FC236}">
                <a16:creationId xmlns:a16="http://schemas.microsoft.com/office/drawing/2014/main" id="{5C3C70D7-97E8-549E-C4F9-E8675AA425F5}"/>
              </a:ext>
            </a:extLst>
          </p:cNvPr>
          <p:cNvSpPr>
            <a:spLocks noGrp="1"/>
          </p:cNvSpPr>
          <p:nvPr>
            <p:ph type="pic" sz="quarter" idx="17"/>
          </p:nvPr>
        </p:nvSpPr>
        <p:spPr/>
        <p:txBody>
          <a:bodyPr/>
          <a:lstStyle/>
          <a:p>
            <a:endParaRPr lang="en-US"/>
          </a:p>
        </p:txBody>
      </p:sp>
      <p:sp>
        <p:nvSpPr>
          <p:cNvPr id="19" name="Vertikaler Textplatzhalter 18">
            <a:extLst>
              <a:ext uri="{FF2B5EF4-FFF2-40B4-BE49-F238E27FC236}">
                <a16:creationId xmlns:a16="http://schemas.microsoft.com/office/drawing/2014/main" id="{2794DE22-C189-2228-6C15-CEDC90B4B19A}"/>
              </a:ext>
            </a:extLst>
          </p:cNvPr>
          <p:cNvSpPr>
            <a:spLocks noGrp="1"/>
          </p:cNvSpPr>
          <p:nvPr>
            <p:ph type="body" orient="vert" sz="quarter" idx="18"/>
          </p:nvPr>
        </p:nvSpPr>
        <p:spPr/>
        <p:txBody>
          <a:bodyPr/>
          <a:lstStyle/>
          <a:p>
            <a:endParaRPr lang="en-US"/>
          </a:p>
        </p:txBody>
      </p:sp>
      <p:sp>
        <p:nvSpPr>
          <p:cNvPr id="6" name="Datumsplatzhalter 5">
            <a:extLst>
              <a:ext uri="{FF2B5EF4-FFF2-40B4-BE49-F238E27FC236}">
                <a16:creationId xmlns:a16="http://schemas.microsoft.com/office/drawing/2014/main" id="{F12170CD-4E3A-F1B2-F715-06C74F926846}"/>
              </a:ext>
            </a:extLst>
          </p:cNvPr>
          <p:cNvSpPr>
            <a:spLocks noGrp="1"/>
          </p:cNvSpPr>
          <p:nvPr>
            <p:ph type="dt" sz="half" idx="10"/>
          </p:nvPr>
        </p:nvSpPr>
        <p:spPr/>
        <p:txBody>
          <a:bodyPr/>
          <a:lstStyle/>
          <a:p>
            <a:r>
              <a:rPr lang="en-US" noProof="1"/>
              <a:t>18.08.2025</a:t>
            </a:r>
            <a:endParaRPr lang="de-DE" noProof="1"/>
          </a:p>
        </p:txBody>
      </p:sp>
      <p:sp>
        <p:nvSpPr>
          <p:cNvPr id="7" name="Fußzeilenplatzhalter 6">
            <a:extLst>
              <a:ext uri="{FF2B5EF4-FFF2-40B4-BE49-F238E27FC236}">
                <a16:creationId xmlns:a16="http://schemas.microsoft.com/office/drawing/2014/main" id="{104C2758-40F3-BBB1-A63D-BB6DC00D297A}"/>
              </a:ext>
            </a:extLst>
          </p:cNvPr>
          <p:cNvSpPr>
            <a:spLocks noGrp="1"/>
          </p:cNvSpPr>
          <p:nvPr>
            <p:ph type="ftr" sz="quarter" idx="11"/>
          </p:nvPr>
        </p:nvSpPr>
        <p:spPr/>
        <p:txBody>
          <a:bodyPr/>
          <a:lstStyle/>
          <a:p>
            <a:r>
              <a:rPr lang="en-US" noProof="1"/>
              <a:t>Enhancing model transparency: Effects of DK Integration for Conversational XAI | Feustel</a:t>
            </a:r>
            <a:endParaRPr lang="de-DE" noProof="1"/>
          </a:p>
        </p:txBody>
      </p:sp>
      <p:sp>
        <p:nvSpPr>
          <p:cNvPr id="8" name="Foliennummernplatzhalter 7">
            <a:extLst>
              <a:ext uri="{FF2B5EF4-FFF2-40B4-BE49-F238E27FC236}">
                <a16:creationId xmlns:a16="http://schemas.microsoft.com/office/drawing/2014/main" id="{41D6FAED-DCBE-8452-F43E-574793A6FA0A}"/>
              </a:ext>
            </a:extLst>
          </p:cNvPr>
          <p:cNvSpPr>
            <a:spLocks noGrp="1"/>
          </p:cNvSpPr>
          <p:nvPr>
            <p:ph type="sldNum" sz="quarter" idx="12"/>
          </p:nvPr>
        </p:nvSpPr>
        <p:spPr/>
        <p:txBody>
          <a:bodyPr/>
          <a:lstStyle/>
          <a:p>
            <a:r>
              <a:rPr lang="de-DE" noProof="1"/>
              <a:t> </a:t>
            </a:r>
            <a:fld id="{FE120BDC-5456-EC41-8BB6-7A3B726EA19B}" type="slidenum">
              <a:rPr lang="de-DE" noProof="1" smtClean="0"/>
              <a:pPr/>
              <a:t>29</a:t>
            </a:fld>
            <a:endParaRPr lang="de-DE" noProof="1"/>
          </a:p>
        </p:txBody>
      </p:sp>
      <p:pic>
        <p:nvPicPr>
          <p:cNvPr id="9" name="Grafik 8">
            <a:extLst>
              <a:ext uri="{FF2B5EF4-FFF2-40B4-BE49-F238E27FC236}">
                <a16:creationId xmlns:a16="http://schemas.microsoft.com/office/drawing/2014/main" id="{773B15F8-EA61-BB35-0C8C-258B258A5D60}"/>
              </a:ext>
            </a:extLst>
          </p:cNvPr>
          <p:cNvPicPr>
            <a:picLocks noChangeAspect="1"/>
          </p:cNvPicPr>
          <p:nvPr/>
        </p:nvPicPr>
        <p:blipFill>
          <a:blip r:embed="rId3"/>
          <a:stretch>
            <a:fillRect/>
          </a:stretch>
        </p:blipFill>
        <p:spPr>
          <a:xfrm>
            <a:off x="4645025" y="1647940"/>
            <a:ext cx="4066667" cy="1847619"/>
          </a:xfrm>
          <a:prstGeom prst="rect">
            <a:avLst/>
          </a:prstGeom>
        </p:spPr>
      </p:pic>
      <p:sp>
        <p:nvSpPr>
          <p:cNvPr id="20" name="Textfeld 19">
            <a:extLst>
              <a:ext uri="{FF2B5EF4-FFF2-40B4-BE49-F238E27FC236}">
                <a16:creationId xmlns:a16="http://schemas.microsoft.com/office/drawing/2014/main" id="{9E793FE5-8910-D9A2-F47C-A671480F22CD}"/>
              </a:ext>
            </a:extLst>
          </p:cNvPr>
          <p:cNvSpPr txBox="1"/>
          <p:nvPr/>
        </p:nvSpPr>
        <p:spPr>
          <a:xfrm>
            <a:off x="7851895" y="134610"/>
            <a:ext cx="833049" cy="276999"/>
          </a:xfrm>
          <a:prstGeom prst="rect">
            <a:avLst/>
          </a:prstGeom>
          <a:noFill/>
        </p:spPr>
        <p:txBody>
          <a:bodyPr wrap="none" rtlCol="0">
            <a:spAutoFit/>
          </a:bodyPr>
          <a:lstStyle/>
          <a:p>
            <a:r>
              <a:rPr lang="de-DE" sz="1200" dirty="0"/>
              <a:t>Evaluation</a:t>
            </a:r>
            <a:endParaRPr lang="en-US" sz="1200" dirty="0"/>
          </a:p>
        </p:txBody>
      </p:sp>
      <p:sp>
        <p:nvSpPr>
          <p:cNvPr id="21" name="Rechteck 20" descr="Lichter an mit einfarbiger Füllung">
            <a:extLst>
              <a:ext uri="{FF2B5EF4-FFF2-40B4-BE49-F238E27FC236}">
                <a16:creationId xmlns:a16="http://schemas.microsoft.com/office/drawing/2014/main" id="{6BA1B59F-5810-D2ED-24BC-4502E4977280}"/>
              </a:ext>
            </a:extLst>
          </p:cNvPr>
          <p:cNvSpPr/>
          <p:nvPr/>
        </p:nvSpPr>
        <p:spPr>
          <a:xfrm>
            <a:off x="8804352" y="664349"/>
            <a:ext cx="277969" cy="277969"/>
          </a:xfrm>
          <a:prstGeom prst="rect">
            <a:avLst/>
          </a:prstGeom>
          <a:blipFill>
            <a:blip r:embed="rId4">
              <a:extLst>
                <a:ext uri="{96DAC541-7B7A-43D3-8B79-37D633B846F1}">
                  <asvg:svgBlip xmlns:asvg="http://schemas.microsoft.com/office/drawing/2016/SVG/main" r:embed="rId5"/>
                </a:ext>
              </a:extLst>
            </a:blip>
            <a:srcRect/>
            <a:stretch>
              <a:fillRect/>
            </a:stretch>
          </a:blipFill>
          <a:ln>
            <a:noFill/>
          </a:ln>
        </p:spPr>
        <p:style>
          <a:lnRef idx="2">
            <a:scrgbClr r="0" g="0" b="0"/>
          </a:lnRef>
          <a:fillRef idx="1">
            <a:scrgbClr r="0" g="0" b="0"/>
          </a:fillRef>
          <a:effectRef idx="0">
            <a:schemeClr val="accent2">
              <a:hueOff val="0"/>
              <a:satOff val="0"/>
              <a:lumOff val="0"/>
              <a:alphaOff val="0"/>
            </a:schemeClr>
          </a:effectRef>
          <a:fontRef idx="minor">
            <a:schemeClr val="lt1"/>
          </a:fontRef>
        </p:style>
        <p:txBody>
          <a:bodyPr/>
          <a:lstStyle/>
          <a:p>
            <a:endParaRPr lang="en-US"/>
          </a:p>
        </p:txBody>
      </p:sp>
      <p:sp>
        <p:nvSpPr>
          <p:cNvPr id="22" name="Rechteck 21" descr="Geschlossenes Buch mit einfarbiger Füllung">
            <a:extLst>
              <a:ext uri="{FF2B5EF4-FFF2-40B4-BE49-F238E27FC236}">
                <a16:creationId xmlns:a16="http://schemas.microsoft.com/office/drawing/2014/main" id="{F9D770F2-77DC-2FE0-9A87-EA9997E184FE}"/>
              </a:ext>
            </a:extLst>
          </p:cNvPr>
          <p:cNvSpPr/>
          <p:nvPr/>
        </p:nvSpPr>
        <p:spPr>
          <a:xfrm>
            <a:off x="8804352" y="1043547"/>
            <a:ext cx="277969" cy="277969"/>
          </a:xfrm>
          <a:prstGeom prst="rect">
            <a:avLst/>
          </a:prstGeom>
          <a:blipFill>
            <a:blip r:embed="rId6">
              <a:extLst>
                <a:ext uri="{96DAC541-7B7A-43D3-8B79-37D633B846F1}">
                  <asvg:svgBlip xmlns:asvg="http://schemas.microsoft.com/office/drawing/2016/SVG/main" r:embed="rId7"/>
                </a:ext>
              </a:extLst>
            </a:blip>
            <a:srcRect/>
            <a:stretch>
              <a:fillRect/>
            </a:stretch>
          </a:blipFill>
          <a:ln>
            <a:noFill/>
          </a:ln>
        </p:spPr>
        <p:style>
          <a:lnRef idx="2">
            <a:scrgbClr r="0" g="0" b="0"/>
          </a:lnRef>
          <a:fillRef idx="1">
            <a:scrgbClr r="0" g="0" b="0"/>
          </a:fillRef>
          <a:effectRef idx="0">
            <a:schemeClr val="accent3">
              <a:hueOff val="0"/>
              <a:satOff val="0"/>
              <a:lumOff val="0"/>
              <a:alphaOff val="0"/>
            </a:schemeClr>
          </a:effectRef>
          <a:fontRef idx="minor">
            <a:schemeClr val="lt1"/>
          </a:fontRef>
        </p:style>
        <p:txBody>
          <a:bodyPr/>
          <a:lstStyle/>
          <a:p>
            <a:endParaRPr lang="en-US"/>
          </a:p>
        </p:txBody>
      </p:sp>
      <p:sp>
        <p:nvSpPr>
          <p:cNvPr id="23" name="Rechteck 22" descr="Netzwerk">
            <a:extLst>
              <a:ext uri="{FF2B5EF4-FFF2-40B4-BE49-F238E27FC236}">
                <a16:creationId xmlns:a16="http://schemas.microsoft.com/office/drawing/2014/main" id="{83E79369-9BE8-75E1-7070-65B3D6B65A02}"/>
              </a:ext>
            </a:extLst>
          </p:cNvPr>
          <p:cNvSpPr/>
          <p:nvPr/>
        </p:nvSpPr>
        <p:spPr>
          <a:xfrm>
            <a:off x="8804352" y="1379208"/>
            <a:ext cx="277969" cy="277969"/>
          </a:xfrm>
          <a:prstGeom prst="rect">
            <a:avLst/>
          </a:prstGeom>
          <a: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a:blipFill>
          <a:ln>
            <a:noFill/>
          </a:ln>
        </p:spPr>
        <p:style>
          <a:lnRef idx="2">
            <a:scrgbClr r="0" g="0" b="0"/>
          </a:lnRef>
          <a:fillRef idx="1">
            <a:scrgbClr r="0" g="0" b="0"/>
          </a:fillRef>
          <a:effectRef idx="0">
            <a:schemeClr val="accent4">
              <a:hueOff val="0"/>
              <a:satOff val="0"/>
              <a:lumOff val="0"/>
              <a:alphaOff val="0"/>
            </a:schemeClr>
          </a:effectRef>
          <a:fontRef idx="minor">
            <a:schemeClr val="lt1"/>
          </a:fontRef>
        </p:style>
        <p:txBody>
          <a:bodyPr/>
          <a:lstStyle/>
          <a:p>
            <a:endParaRPr lang="en-US"/>
          </a:p>
        </p:txBody>
      </p:sp>
      <p:sp>
        <p:nvSpPr>
          <p:cNvPr id="24" name="Rechteck 23" descr="Kreise mit Pfeilen mit einfarbiger Füllung">
            <a:extLst>
              <a:ext uri="{FF2B5EF4-FFF2-40B4-BE49-F238E27FC236}">
                <a16:creationId xmlns:a16="http://schemas.microsoft.com/office/drawing/2014/main" id="{151DC342-3D4C-5452-AE31-F49D0C992A9E}"/>
              </a:ext>
            </a:extLst>
          </p:cNvPr>
          <p:cNvSpPr/>
          <p:nvPr/>
        </p:nvSpPr>
        <p:spPr>
          <a:xfrm>
            <a:off x="8804352" y="1688740"/>
            <a:ext cx="277969" cy="277969"/>
          </a:xfrm>
          <a:prstGeom prst="rect">
            <a:avLst/>
          </a:prstGeom>
          <a:blipFill>
            <a:blip r:embed="rId10">
              <a:extLst>
                <a:ext uri="{96DAC541-7B7A-43D3-8B79-37D633B846F1}">
                  <asvg:svgBlip xmlns:asvg="http://schemas.microsoft.com/office/drawing/2016/SVG/main" r:embed="rId11"/>
                </a:ext>
              </a:extLst>
            </a:blip>
            <a:srcRect/>
            <a:stretch>
              <a:fillRect/>
            </a:stretch>
          </a:blipFill>
          <a:ln>
            <a:noFill/>
          </a:ln>
        </p:spPr>
        <p:style>
          <a:lnRef idx="2">
            <a:scrgbClr r="0" g="0" b="0"/>
          </a:lnRef>
          <a:fillRef idx="1">
            <a:scrgbClr r="0" g="0" b="0"/>
          </a:fillRef>
          <a:effectRef idx="0">
            <a:schemeClr val="accent5">
              <a:hueOff val="0"/>
              <a:satOff val="0"/>
              <a:lumOff val="0"/>
              <a:alphaOff val="0"/>
            </a:schemeClr>
          </a:effectRef>
          <a:fontRef idx="minor">
            <a:schemeClr val="lt1"/>
          </a:fontRef>
        </p:style>
        <p:txBody>
          <a:bodyPr/>
          <a:lstStyle/>
          <a:p>
            <a:endParaRPr lang="en-US"/>
          </a:p>
        </p:txBody>
      </p:sp>
      <p:sp>
        <p:nvSpPr>
          <p:cNvPr id="25" name="Rechteck 24" descr="Prüfliste">
            <a:extLst>
              <a:ext uri="{FF2B5EF4-FFF2-40B4-BE49-F238E27FC236}">
                <a16:creationId xmlns:a16="http://schemas.microsoft.com/office/drawing/2014/main" id="{3333B0EE-DF74-CDF8-9709-49453BBE8A7C}"/>
              </a:ext>
            </a:extLst>
          </p:cNvPr>
          <p:cNvSpPr/>
          <p:nvPr/>
        </p:nvSpPr>
        <p:spPr>
          <a:xfrm>
            <a:off x="8804352" y="2006980"/>
            <a:ext cx="277969" cy="277969"/>
          </a:xfrm>
          <a:prstGeom prst="rect">
            <a:avLst/>
          </a:prstGeom>
          <a: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a:blipFill>
          <a:ln>
            <a:noFill/>
          </a:ln>
        </p:spPr>
        <p:style>
          <a:lnRef idx="2">
            <a:scrgbClr r="0" g="0" b="0"/>
          </a:lnRef>
          <a:fillRef idx="1">
            <a:scrgbClr r="0" g="0" b="0"/>
          </a:fillRef>
          <a:effectRef idx="0">
            <a:schemeClr val="accent6">
              <a:hueOff val="0"/>
              <a:satOff val="0"/>
              <a:lumOff val="0"/>
              <a:alphaOff val="0"/>
            </a:schemeClr>
          </a:effectRef>
          <a:fontRef idx="minor">
            <a:schemeClr val="lt1"/>
          </a:fontRef>
        </p:style>
        <p:txBody>
          <a:bodyPr/>
          <a:lstStyle/>
          <a:p>
            <a:endParaRPr lang="en-US"/>
          </a:p>
        </p:txBody>
      </p:sp>
      <p:sp>
        <p:nvSpPr>
          <p:cNvPr id="26" name="Rechteck 25" descr="Auktionshammer">
            <a:extLst>
              <a:ext uri="{FF2B5EF4-FFF2-40B4-BE49-F238E27FC236}">
                <a16:creationId xmlns:a16="http://schemas.microsoft.com/office/drawing/2014/main" id="{4701EAC1-1A79-2BDE-B74E-3AAA21127CDE}"/>
              </a:ext>
            </a:extLst>
          </p:cNvPr>
          <p:cNvSpPr/>
          <p:nvPr/>
        </p:nvSpPr>
        <p:spPr>
          <a:xfrm>
            <a:off x="8804352" y="2316507"/>
            <a:ext cx="277969" cy="277969"/>
          </a:xfrm>
          <a:prstGeom prst="rect">
            <a:avLst/>
          </a:prstGeom>
          <a: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a:blipFill>
          <a:ln>
            <a:noFill/>
          </a:ln>
        </p:spPr>
        <p:style>
          <a:lnRef idx="2">
            <a:scrgbClr r="0" g="0" b="0"/>
          </a:lnRef>
          <a:fillRef idx="1">
            <a:scrgbClr r="0" g="0" b="0"/>
          </a:fillRef>
          <a:effectRef idx="0">
            <a:schemeClr val="accent2">
              <a:hueOff val="0"/>
              <a:satOff val="0"/>
              <a:lumOff val="0"/>
              <a:alphaOff val="0"/>
            </a:schemeClr>
          </a:effectRef>
          <a:fontRef idx="minor">
            <a:schemeClr val="lt1"/>
          </a:fontRef>
        </p:style>
        <p:txBody>
          <a:bodyPr/>
          <a:lstStyle/>
          <a:p>
            <a:endParaRPr lang="en-US"/>
          </a:p>
        </p:txBody>
      </p:sp>
      <p:sp>
        <p:nvSpPr>
          <p:cNvPr id="27" name="Rechteck 26" descr="Prüfliste">
            <a:extLst>
              <a:ext uri="{FF2B5EF4-FFF2-40B4-BE49-F238E27FC236}">
                <a16:creationId xmlns:a16="http://schemas.microsoft.com/office/drawing/2014/main" id="{69B9B312-5FB6-B91F-2B8B-6BB11364A8AA}"/>
              </a:ext>
            </a:extLst>
          </p:cNvPr>
          <p:cNvSpPr/>
          <p:nvPr/>
        </p:nvSpPr>
        <p:spPr>
          <a:xfrm>
            <a:off x="7601427" y="148483"/>
            <a:ext cx="277969" cy="277969"/>
          </a:xfrm>
          <a:prstGeom prst="rect">
            <a:avLst/>
          </a:prstGeom>
          <a: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a:blipFill>
          <a:ln>
            <a:noFill/>
          </a:ln>
        </p:spPr>
        <p:style>
          <a:lnRef idx="2">
            <a:scrgbClr r="0" g="0" b="0"/>
          </a:lnRef>
          <a:fillRef idx="1">
            <a:scrgbClr r="0" g="0" b="0"/>
          </a:fillRef>
          <a:effectRef idx="0">
            <a:schemeClr val="accent6">
              <a:hueOff val="0"/>
              <a:satOff val="0"/>
              <a:lumOff val="0"/>
              <a:alphaOff val="0"/>
            </a:schemeClr>
          </a:effectRef>
          <a:fontRef idx="minor">
            <a:schemeClr val="lt1"/>
          </a:fontRef>
        </p:style>
        <p:txBody>
          <a:bodyPr/>
          <a:lstStyle/>
          <a:p>
            <a:endParaRPr lang="en-US"/>
          </a:p>
        </p:txBody>
      </p:sp>
    </p:spTree>
    <p:extLst>
      <p:ext uri="{BB962C8B-B14F-4D97-AF65-F5344CB8AC3E}">
        <p14:creationId xmlns:p14="http://schemas.microsoft.com/office/powerpoint/2010/main" val="2857587428"/>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7">
                                            <p:txEl>
                                              <p:pRg st="0" end="0"/>
                                            </p:txEl>
                                          </p:spTgt>
                                        </p:tgtEl>
                                        <p:attrNameLst>
                                          <p:attrName>style.visibility</p:attrName>
                                        </p:attrNameLst>
                                      </p:cBhvr>
                                      <p:to>
                                        <p:strVal val="visible"/>
                                      </p:to>
                                    </p:set>
                                    <p:anim calcmode="lin" valueType="num">
                                      <p:cBhvr additive="base">
                                        <p:cTn id="7" dur="500" fill="hold"/>
                                        <p:tgtEl>
                                          <p:spTgt spid="1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7">
                                            <p:txEl>
                                              <p:pRg st="1" end="1"/>
                                            </p:txEl>
                                          </p:spTgt>
                                        </p:tgtEl>
                                        <p:attrNameLst>
                                          <p:attrName>style.visibility</p:attrName>
                                        </p:attrNameLst>
                                      </p:cBhvr>
                                      <p:to>
                                        <p:strVal val="visible"/>
                                      </p:to>
                                    </p:set>
                                    <p:anim calcmode="lin" valueType="num">
                                      <p:cBhvr additive="base">
                                        <p:cTn id="13" dur="500" fill="hold"/>
                                        <p:tgtEl>
                                          <p:spTgt spid="17">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7">
                                            <p:txEl>
                                              <p:pRg st="1" end="1"/>
                                            </p:txEl>
                                          </p:spTgt>
                                        </p:tgtEl>
                                        <p:attrNameLst>
                                          <p:attrName>ppt_y</p:attrName>
                                        </p:attrNameLst>
                                      </p:cBhvr>
                                      <p:tavLst>
                                        <p:tav tm="0">
                                          <p:val>
                                            <p:strVal val="1+#ppt_h/2"/>
                                          </p:val>
                                        </p:tav>
                                        <p:tav tm="100000">
                                          <p:val>
                                            <p:strVal val="#ppt_y"/>
                                          </p:val>
                                        </p:tav>
                                      </p:tavLst>
                                    </p:anim>
                                  </p:childTnLst>
                                </p:cTn>
                              </p:par>
                            </p:childTnLst>
                          </p:cTn>
                        </p:par>
                        <p:par>
                          <p:cTn id="15" fill="hold">
                            <p:stCondLst>
                              <p:cond delay="500"/>
                            </p:stCondLst>
                            <p:childTnLst>
                              <p:par>
                                <p:cTn id="16" presetID="2" presetClass="entr" presetSubtype="4" fill="hold" nodeType="afterEffect">
                                  <p:stCondLst>
                                    <p:cond delay="0"/>
                                  </p:stCondLst>
                                  <p:childTnLst>
                                    <p:set>
                                      <p:cBhvr>
                                        <p:cTn id="17" dur="1" fill="hold">
                                          <p:stCondLst>
                                            <p:cond delay="0"/>
                                          </p:stCondLst>
                                        </p:cTn>
                                        <p:tgtEl>
                                          <p:spTgt spid="9"/>
                                        </p:tgtEl>
                                        <p:attrNameLst>
                                          <p:attrName>style.visibility</p:attrName>
                                        </p:attrNameLst>
                                      </p:cBhvr>
                                      <p:to>
                                        <p:strVal val="visible"/>
                                      </p:to>
                                    </p:set>
                                    <p:anim calcmode="lin" valueType="num">
                                      <p:cBhvr additive="base">
                                        <p:cTn id="18" dur="500" fill="hold"/>
                                        <p:tgtEl>
                                          <p:spTgt spid="9"/>
                                        </p:tgtEl>
                                        <p:attrNameLst>
                                          <p:attrName>ppt_x</p:attrName>
                                        </p:attrNameLst>
                                      </p:cBhvr>
                                      <p:tavLst>
                                        <p:tav tm="0">
                                          <p:val>
                                            <p:strVal val="#ppt_x"/>
                                          </p:val>
                                        </p:tav>
                                        <p:tav tm="100000">
                                          <p:val>
                                            <p:strVal val="#ppt_x"/>
                                          </p:val>
                                        </p:tav>
                                      </p:tavLst>
                                    </p:anim>
                                    <p:anim calcmode="lin" valueType="num">
                                      <p:cBhvr additive="base">
                                        <p:cTn id="19"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grpId="0" nodeType="clickEffect">
                                  <p:stCondLst>
                                    <p:cond delay="0"/>
                                  </p:stCondLst>
                                  <p:childTnLst>
                                    <p:set>
                                      <p:cBhvr>
                                        <p:cTn id="23" dur="1" fill="hold">
                                          <p:stCondLst>
                                            <p:cond delay="0"/>
                                          </p:stCondLst>
                                        </p:cTn>
                                        <p:tgtEl>
                                          <p:spTgt spid="17">
                                            <p:txEl>
                                              <p:pRg st="2" end="2"/>
                                            </p:txEl>
                                          </p:spTgt>
                                        </p:tgtEl>
                                        <p:attrNameLst>
                                          <p:attrName>style.visibility</p:attrName>
                                        </p:attrNameLst>
                                      </p:cBhvr>
                                      <p:to>
                                        <p:strVal val="visible"/>
                                      </p:to>
                                    </p:set>
                                    <p:anim calcmode="lin" valueType="num">
                                      <p:cBhvr additive="base">
                                        <p:cTn id="24" dur="500" fill="hold"/>
                                        <p:tgtEl>
                                          <p:spTgt spid="17">
                                            <p:txEl>
                                              <p:pRg st="2" end="2"/>
                                            </p:txEl>
                                          </p:spTgt>
                                        </p:tgtEl>
                                        <p:attrNameLst>
                                          <p:attrName>ppt_x</p:attrName>
                                        </p:attrNameLst>
                                      </p:cBhvr>
                                      <p:tavLst>
                                        <p:tav tm="0">
                                          <p:val>
                                            <p:strVal val="#ppt_x"/>
                                          </p:val>
                                        </p:tav>
                                        <p:tav tm="100000">
                                          <p:val>
                                            <p:strVal val="#ppt_x"/>
                                          </p:val>
                                        </p:tav>
                                      </p:tavLst>
                                    </p:anim>
                                    <p:anim calcmode="lin" valueType="num">
                                      <p:cBhvr additive="base">
                                        <p:cTn id="25" dur="500" fill="hold"/>
                                        <p:tgtEl>
                                          <p:spTgt spid="17">
                                            <p:txEl>
                                              <p:pRg st="2" end="2"/>
                                            </p:txEl>
                                          </p:spTgt>
                                        </p:tgtEl>
                                        <p:attrNameLst>
                                          <p:attrName>ppt_y</p:attrName>
                                        </p:attrNameLst>
                                      </p:cBhvr>
                                      <p:tavLst>
                                        <p:tav tm="0">
                                          <p:val>
                                            <p:strVal val="1+#ppt_h/2"/>
                                          </p:val>
                                        </p:tav>
                                        <p:tav tm="100000">
                                          <p:val>
                                            <p:strVal val="#ppt_y"/>
                                          </p:val>
                                        </p:tav>
                                      </p:tavLst>
                                    </p:anim>
                                  </p:childTnLst>
                                </p:cTn>
                              </p:par>
                              <p:par>
                                <p:cTn id="26" presetID="2" presetClass="entr" presetSubtype="4" fill="hold" grpId="0" nodeType="withEffect">
                                  <p:stCondLst>
                                    <p:cond delay="0"/>
                                  </p:stCondLst>
                                  <p:childTnLst>
                                    <p:set>
                                      <p:cBhvr>
                                        <p:cTn id="27" dur="1" fill="hold">
                                          <p:stCondLst>
                                            <p:cond delay="0"/>
                                          </p:stCondLst>
                                        </p:cTn>
                                        <p:tgtEl>
                                          <p:spTgt spid="17">
                                            <p:txEl>
                                              <p:pRg st="3" end="3"/>
                                            </p:txEl>
                                          </p:spTgt>
                                        </p:tgtEl>
                                        <p:attrNameLst>
                                          <p:attrName>style.visibility</p:attrName>
                                        </p:attrNameLst>
                                      </p:cBhvr>
                                      <p:to>
                                        <p:strVal val="visible"/>
                                      </p:to>
                                    </p:set>
                                    <p:anim calcmode="lin" valueType="num">
                                      <p:cBhvr additive="base">
                                        <p:cTn id="28" dur="500" fill="hold"/>
                                        <p:tgtEl>
                                          <p:spTgt spid="17">
                                            <p:txEl>
                                              <p:pRg st="3" end="3"/>
                                            </p:txEl>
                                          </p:spTgt>
                                        </p:tgtEl>
                                        <p:attrNameLst>
                                          <p:attrName>ppt_x</p:attrName>
                                        </p:attrNameLst>
                                      </p:cBhvr>
                                      <p:tavLst>
                                        <p:tav tm="0">
                                          <p:val>
                                            <p:strVal val="#ppt_x"/>
                                          </p:val>
                                        </p:tav>
                                        <p:tav tm="100000">
                                          <p:val>
                                            <p:strVal val="#ppt_x"/>
                                          </p:val>
                                        </p:tav>
                                      </p:tavLst>
                                    </p:anim>
                                    <p:anim calcmode="lin" valueType="num">
                                      <p:cBhvr additive="base">
                                        <p:cTn id="29" dur="500" fill="hold"/>
                                        <p:tgtEl>
                                          <p:spTgt spid="17">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2" presetClass="entr" presetSubtype="4" fill="hold" grpId="0" nodeType="clickEffect">
                                  <p:stCondLst>
                                    <p:cond delay="0"/>
                                  </p:stCondLst>
                                  <p:childTnLst>
                                    <p:set>
                                      <p:cBhvr>
                                        <p:cTn id="33" dur="1" fill="hold">
                                          <p:stCondLst>
                                            <p:cond delay="0"/>
                                          </p:stCondLst>
                                        </p:cTn>
                                        <p:tgtEl>
                                          <p:spTgt spid="17">
                                            <p:txEl>
                                              <p:pRg st="4" end="4"/>
                                            </p:txEl>
                                          </p:spTgt>
                                        </p:tgtEl>
                                        <p:attrNameLst>
                                          <p:attrName>style.visibility</p:attrName>
                                        </p:attrNameLst>
                                      </p:cBhvr>
                                      <p:to>
                                        <p:strVal val="visible"/>
                                      </p:to>
                                    </p:set>
                                    <p:anim calcmode="lin" valueType="num">
                                      <p:cBhvr additive="base">
                                        <p:cTn id="34" dur="500" fill="hold"/>
                                        <p:tgtEl>
                                          <p:spTgt spid="17">
                                            <p:txEl>
                                              <p:pRg st="4" end="4"/>
                                            </p:txEl>
                                          </p:spTgt>
                                        </p:tgtEl>
                                        <p:attrNameLst>
                                          <p:attrName>ppt_x</p:attrName>
                                        </p:attrNameLst>
                                      </p:cBhvr>
                                      <p:tavLst>
                                        <p:tav tm="0">
                                          <p:val>
                                            <p:strVal val="#ppt_x"/>
                                          </p:val>
                                        </p:tav>
                                        <p:tav tm="100000">
                                          <p:val>
                                            <p:strVal val="#ppt_x"/>
                                          </p:val>
                                        </p:tav>
                                      </p:tavLst>
                                    </p:anim>
                                    <p:anim calcmode="lin" valueType="num">
                                      <p:cBhvr additive="base">
                                        <p:cTn id="35" dur="500" fill="hold"/>
                                        <p:tgtEl>
                                          <p:spTgt spid="17">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2" presetClass="entr" presetSubtype="4" fill="hold" grpId="0" nodeType="clickEffect">
                                  <p:stCondLst>
                                    <p:cond delay="0"/>
                                  </p:stCondLst>
                                  <p:childTnLst>
                                    <p:set>
                                      <p:cBhvr>
                                        <p:cTn id="39" dur="1" fill="hold">
                                          <p:stCondLst>
                                            <p:cond delay="0"/>
                                          </p:stCondLst>
                                        </p:cTn>
                                        <p:tgtEl>
                                          <p:spTgt spid="17">
                                            <p:txEl>
                                              <p:pRg st="5" end="5"/>
                                            </p:txEl>
                                          </p:spTgt>
                                        </p:tgtEl>
                                        <p:attrNameLst>
                                          <p:attrName>style.visibility</p:attrName>
                                        </p:attrNameLst>
                                      </p:cBhvr>
                                      <p:to>
                                        <p:strVal val="visible"/>
                                      </p:to>
                                    </p:set>
                                    <p:anim calcmode="lin" valueType="num">
                                      <p:cBhvr additive="base">
                                        <p:cTn id="40" dur="500" fill="hold"/>
                                        <p:tgtEl>
                                          <p:spTgt spid="17">
                                            <p:txEl>
                                              <p:pRg st="5" end="5"/>
                                            </p:txEl>
                                          </p:spTgt>
                                        </p:tgtEl>
                                        <p:attrNameLst>
                                          <p:attrName>ppt_x</p:attrName>
                                        </p:attrNameLst>
                                      </p:cBhvr>
                                      <p:tavLst>
                                        <p:tav tm="0">
                                          <p:val>
                                            <p:strVal val="#ppt_x"/>
                                          </p:val>
                                        </p:tav>
                                        <p:tav tm="100000">
                                          <p:val>
                                            <p:strVal val="#ppt_x"/>
                                          </p:val>
                                        </p:tav>
                                      </p:tavLst>
                                    </p:anim>
                                    <p:anim calcmode="lin" valueType="num">
                                      <p:cBhvr additive="base">
                                        <p:cTn id="41" dur="500" fill="hold"/>
                                        <p:tgtEl>
                                          <p:spTgt spid="17">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uiExpand="1" build="p"/>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490D6C-1A2B-8C35-CCDE-C5FC5E98583F}"/>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F96E6695-7FFA-AED3-294F-BA9FCDA57FD8}"/>
              </a:ext>
            </a:extLst>
          </p:cNvPr>
          <p:cNvSpPr>
            <a:spLocks noGrp="1"/>
          </p:cNvSpPr>
          <p:nvPr>
            <p:ph type="ctrTitle"/>
          </p:nvPr>
        </p:nvSpPr>
        <p:spPr/>
        <p:txBody>
          <a:bodyPr/>
          <a:lstStyle/>
          <a:p>
            <a:r>
              <a:rPr lang="de-DE" sz="2000" noProof="1"/>
              <a:t>Conclusion</a:t>
            </a:r>
          </a:p>
        </p:txBody>
      </p:sp>
      <p:sp>
        <p:nvSpPr>
          <p:cNvPr id="3" name="Inhaltsplatzhalter 2">
            <a:extLst>
              <a:ext uri="{FF2B5EF4-FFF2-40B4-BE49-F238E27FC236}">
                <a16:creationId xmlns:a16="http://schemas.microsoft.com/office/drawing/2014/main" id="{62B7342C-F28A-2FC4-6C1C-0E2137EC5071}"/>
              </a:ext>
            </a:extLst>
          </p:cNvPr>
          <p:cNvSpPr>
            <a:spLocks noGrp="1"/>
          </p:cNvSpPr>
          <p:nvPr>
            <p:ph sz="quarter" idx="13"/>
          </p:nvPr>
        </p:nvSpPr>
        <p:spPr/>
        <p:txBody>
          <a:bodyPr>
            <a:normAutofit/>
          </a:bodyPr>
          <a:lstStyle/>
          <a:p>
            <a:r>
              <a:rPr lang="de-DE" sz="1800" noProof="1"/>
              <a:t>Transparency is needed for AI</a:t>
            </a:r>
          </a:p>
          <a:p>
            <a:r>
              <a:rPr lang="de-DE" sz="1800" noProof="1"/>
              <a:t>Conversational XAI enables interactive, personalized experiences</a:t>
            </a:r>
          </a:p>
          <a:p>
            <a:r>
              <a:rPr lang="de-DE" noProof="1"/>
              <a:t>Argumentation Trees can be used to integrate DK</a:t>
            </a:r>
            <a:endParaRPr lang="de-DE" sz="1800" noProof="1"/>
          </a:p>
          <a:p>
            <a:r>
              <a:rPr lang="de-DE" sz="1800" noProof="1"/>
              <a:t>DK has impact on understanding and acceptance of AI</a:t>
            </a:r>
          </a:p>
          <a:p>
            <a:r>
              <a:rPr lang="de-DE" sz="1800" noProof="1"/>
              <a:t>Remaining Challenges</a:t>
            </a:r>
          </a:p>
          <a:p>
            <a:pPr lvl="1"/>
            <a:r>
              <a:rPr lang="de-DE" noProof="1"/>
              <a:t>Ethical Concerns like over-reliance</a:t>
            </a:r>
          </a:p>
          <a:p>
            <a:pPr lvl="1"/>
            <a:r>
              <a:rPr lang="de-DE" noProof="1"/>
              <a:t>Truthful sources for DK</a:t>
            </a:r>
          </a:p>
          <a:p>
            <a:pPr lvl="1"/>
            <a:r>
              <a:rPr lang="de-DE" noProof="1"/>
              <a:t>Domain/Topic dependent</a:t>
            </a:r>
          </a:p>
          <a:p>
            <a:endParaRPr lang="de-DE" sz="1800" noProof="1"/>
          </a:p>
          <a:p>
            <a:pPr lvl="1"/>
            <a:endParaRPr lang="de-DE" sz="1800" noProof="1"/>
          </a:p>
          <a:p>
            <a:pPr lvl="1"/>
            <a:endParaRPr lang="de-DE" sz="1800" noProof="1"/>
          </a:p>
          <a:p>
            <a:pPr lvl="1"/>
            <a:endParaRPr lang="de-DE" sz="1800" noProof="1"/>
          </a:p>
          <a:p>
            <a:pPr lvl="1"/>
            <a:endParaRPr lang="de-DE" sz="1800" noProof="1"/>
          </a:p>
        </p:txBody>
      </p:sp>
      <p:sp>
        <p:nvSpPr>
          <p:cNvPr id="4" name="Datumsplatzhalter 3">
            <a:extLst>
              <a:ext uri="{FF2B5EF4-FFF2-40B4-BE49-F238E27FC236}">
                <a16:creationId xmlns:a16="http://schemas.microsoft.com/office/drawing/2014/main" id="{201F9DB2-9405-52B8-8062-E0A125E90E09}"/>
              </a:ext>
            </a:extLst>
          </p:cNvPr>
          <p:cNvSpPr>
            <a:spLocks noGrp="1"/>
          </p:cNvSpPr>
          <p:nvPr>
            <p:ph type="dt" sz="half" idx="10"/>
          </p:nvPr>
        </p:nvSpPr>
        <p:spPr/>
        <p:txBody>
          <a:bodyPr/>
          <a:lstStyle/>
          <a:p>
            <a:r>
              <a:rPr lang="en-US" noProof="1"/>
              <a:t>18.08.2025</a:t>
            </a:r>
            <a:endParaRPr lang="de-DE" noProof="1"/>
          </a:p>
        </p:txBody>
      </p:sp>
      <p:sp>
        <p:nvSpPr>
          <p:cNvPr id="5" name="Fußzeilenplatzhalter 4">
            <a:extLst>
              <a:ext uri="{FF2B5EF4-FFF2-40B4-BE49-F238E27FC236}">
                <a16:creationId xmlns:a16="http://schemas.microsoft.com/office/drawing/2014/main" id="{546A88EB-9106-1CA4-D2E5-F9C39CF6361F}"/>
              </a:ext>
            </a:extLst>
          </p:cNvPr>
          <p:cNvSpPr>
            <a:spLocks noGrp="1"/>
          </p:cNvSpPr>
          <p:nvPr>
            <p:ph type="ftr" sz="quarter" idx="11"/>
          </p:nvPr>
        </p:nvSpPr>
        <p:spPr/>
        <p:txBody>
          <a:bodyPr/>
          <a:lstStyle/>
          <a:p>
            <a:r>
              <a:rPr lang="en-US" noProof="1"/>
              <a:t>Enhancing model transparency: Effects of DK Integration for Conversational XAI | Feustel</a:t>
            </a:r>
            <a:endParaRPr lang="de-DE" noProof="1"/>
          </a:p>
        </p:txBody>
      </p:sp>
      <p:sp>
        <p:nvSpPr>
          <p:cNvPr id="6" name="Foliennummernplatzhalter 5">
            <a:extLst>
              <a:ext uri="{FF2B5EF4-FFF2-40B4-BE49-F238E27FC236}">
                <a16:creationId xmlns:a16="http://schemas.microsoft.com/office/drawing/2014/main" id="{EB555789-8D90-38A2-118F-B5C03790B4F5}"/>
              </a:ext>
            </a:extLst>
          </p:cNvPr>
          <p:cNvSpPr>
            <a:spLocks noGrp="1"/>
          </p:cNvSpPr>
          <p:nvPr>
            <p:ph type="sldNum" sz="quarter" idx="12"/>
          </p:nvPr>
        </p:nvSpPr>
        <p:spPr/>
        <p:txBody>
          <a:bodyPr/>
          <a:lstStyle/>
          <a:p>
            <a:r>
              <a:rPr lang="de-DE" noProof="1"/>
              <a:t> </a:t>
            </a:r>
            <a:fld id="{FE120BDC-5456-EC41-8BB6-7A3B726EA19B}" type="slidenum">
              <a:rPr lang="de-DE" noProof="1" smtClean="0"/>
              <a:pPr/>
              <a:t>30</a:t>
            </a:fld>
            <a:endParaRPr lang="de-DE" noProof="1"/>
          </a:p>
        </p:txBody>
      </p:sp>
      <mc:AlternateContent xmlns:mc="http://schemas.openxmlformats.org/markup-compatibility/2006" xmlns:p14="http://schemas.microsoft.com/office/powerpoint/2010/main">
        <mc:Choice Requires="p14">
          <p:contentPart p14:bwMode="auto" r:id="rId3">
            <p14:nvContentPartPr>
              <p14:cNvPr id="7" name="Freihand 6">
                <a:extLst>
                  <a:ext uri="{FF2B5EF4-FFF2-40B4-BE49-F238E27FC236}">
                    <a16:creationId xmlns:a16="http://schemas.microsoft.com/office/drawing/2014/main" id="{53B9E2F4-C0BF-903E-19D7-6A5FFC5B338E}"/>
                  </a:ext>
                </a:extLst>
              </p14:cNvPr>
              <p14:cNvContentPartPr/>
              <p14:nvPr/>
            </p14:nvContentPartPr>
            <p14:xfrm>
              <a:off x="44460" y="2507940"/>
              <a:ext cx="360" cy="360"/>
            </p14:xfrm>
          </p:contentPart>
        </mc:Choice>
        <mc:Fallback xmlns="">
          <p:pic>
            <p:nvPicPr>
              <p:cNvPr id="7" name="Freihand 6">
                <a:extLst>
                  <a:ext uri="{FF2B5EF4-FFF2-40B4-BE49-F238E27FC236}">
                    <a16:creationId xmlns:a16="http://schemas.microsoft.com/office/drawing/2014/main" id="{189B212B-A2EA-C67B-910F-C30DB80935B6}"/>
                  </a:ext>
                </a:extLst>
              </p:cNvPr>
              <p:cNvPicPr/>
              <p:nvPr/>
            </p:nvPicPr>
            <p:blipFill>
              <a:blip r:embed="rId4"/>
              <a:stretch>
                <a:fillRect/>
              </a:stretch>
            </p:blipFill>
            <p:spPr>
              <a:xfrm>
                <a:off x="38340" y="2501820"/>
                <a:ext cx="12600" cy="12600"/>
              </a:xfrm>
              <a:prstGeom prst="rect">
                <a:avLst/>
              </a:prstGeom>
            </p:spPr>
          </p:pic>
        </mc:Fallback>
      </mc:AlternateContent>
      <p:sp>
        <p:nvSpPr>
          <p:cNvPr id="8" name="Textfeld 7">
            <a:extLst>
              <a:ext uri="{FF2B5EF4-FFF2-40B4-BE49-F238E27FC236}">
                <a16:creationId xmlns:a16="http://schemas.microsoft.com/office/drawing/2014/main" id="{16B0CFD2-E477-50CA-2B37-67CE74DBE3AC}"/>
              </a:ext>
            </a:extLst>
          </p:cNvPr>
          <p:cNvSpPr txBox="1"/>
          <p:nvPr/>
        </p:nvSpPr>
        <p:spPr>
          <a:xfrm>
            <a:off x="7851895" y="134610"/>
            <a:ext cx="867545" cy="276999"/>
          </a:xfrm>
          <a:prstGeom prst="rect">
            <a:avLst/>
          </a:prstGeom>
          <a:noFill/>
        </p:spPr>
        <p:txBody>
          <a:bodyPr wrap="none" rtlCol="0">
            <a:spAutoFit/>
          </a:bodyPr>
          <a:lstStyle/>
          <a:p>
            <a:r>
              <a:rPr lang="de-DE" sz="1200" dirty="0" err="1"/>
              <a:t>Conclusion</a:t>
            </a:r>
            <a:endParaRPr lang="en-US" sz="1200" dirty="0"/>
          </a:p>
        </p:txBody>
      </p:sp>
      <p:sp>
        <p:nvSpPr>
          <p:cNvPr id="10" name="Rechteck 9" descr="Lichter an mit einfarbiger Füllung">
            <a:extLst>
              <a:ext uri="{FF2B5EF4-FFF2-40B4-BE49-F238E27FC236}">
                <a16:creationId xmlns:a16="http://schemas.microsoft.com/office/drawing/2014/main" id="{661FFFF6-63D9-F874-9D59-6ABDB268C238}"/>
              </a:ext>
            </a:extLst>
          </p:cNvPr>
          <p:cNvSpPr/>
          <p:nvPr/>
        </p:nvSpPr>
        <p:spPr>
          <a:xfrm>
            <a:off x="8804352" y="664349"/>
            <a:ext cx="277969" cy="277969"/>
          </a:xfrm>
          <a:prstGeom prst="rect">
            <a:avLst/>
          </a:prstGeom>
          <a:blipFill>
            <a:blip r:embed="rId5">
              <a:extLst>
                <a:ext uri="{96DAC541-7B7A-43D3-8B79-37D633B846F1}">
                  <asvg:svgBlip xmlns:asvg="http://schemas.microsoft.com/office/drawing/2016/SVG/main" r:embed="rId6"/>
                </a:ext>
              </a:extLst>
            </a:blip>
            <a:srcRect/>
            <a:stretch>
              <a:fillRect/>
            </a:stretch>
          </a:blipFill>
          <a:ln>
            <a:noFill/>
          </a:ln>
        </p:spPr>
        <p:style>
          <a:lnRef idx="2">
            <a:scrgbClr r="0" g="0" b="0"/>
          </a:lnRef>
          <a:fillRef idx="1">
            <a:scrgbClr r="0" g="0" b="0"/>
          </a:fillRef>
          <a:effectRef idx="0">
            <a:schemeClr val="accent2">
              <a:hueOff val="0"/>
              <a:satOff val="0"/>
              <a:lumOff val="0"/>
              <a:alphaOff val="0"/>
            </a:schemeClr>
          </a:effectRef>
          <a:fontRef idx="minor">
            <a:schemeClr val="lt1"/>
          </a:fontRef>
        </p:style>
        <p:txBody>
          <a:bodyPr/>
          <a:lstStyle/>
          <a:p>
            <a:endParaRPr lang="en-US"/>
          </a:p>
        </p:txBody>
      </p:sp>
      <p:sp>
        <p:nvSpPr>
          <p:cNvPr id="11" name="Rechteck 10" descr="Geschlossenes Buch mit einfarbiger Füllung">
            <a:extLst>
              <a:ext uri="{FF2B5EF4-FFF2-40B4-BE49-F238E27FC236}">
                <a16:creationId xmlns:a16="http://schemas.microsoft.com/office/drawing/2014/main" id="{A6C821B2-7AF1-2EA5-0F90-545EB51B33DE}"/>
              </a:ext>
            </a:extLst>
          </p:cNvPr>
          <p:cNvSpPr/>
          <p:nvPr/>
        </p:nvSpPr>
        <p:spPr>
          <a:xfrm>
            <a:off x="8804352" y="1043547"/>
            <a:ext cx="277969" cy="277969"/>
          </a:xfrm>
          <a:prstGeom prst="rect">
            <a:avLst/>
          </a:prstGeom>
          <a:blipFill>
            <a:blip r:embed="rId7">
              <a:extLst>
                <a:ext uri="{96DAC541-7B7A-43D3-8B79-37D633B846F1}">
                  <asvg:svgBlip xmlns:asvg="http://schemas.microsoft.com/office/drawing/2016/SVG/main" r:embed="rId8"/>
                </a:ext>
              </a:extLst>
            </a:blip>
            <a:srcRect/>
            <a:stretch>
              <a:fillRect/>
            </a:stretch>
          </a:blipFill>
          <a:ln>
            <a:noFill/>
          </a:ln>
        </p:spPr>
        <p:style>
          <a:lnRef idx="2">
            <a:scrgbClr r="0" g="0" b="0"/>
          </a:lnRef>
          <a:fillRef idx="1">
            <a:scrgbClr r="0" g="0" b="0"/>
          </a:fillRef>
          <a:effectRef idx="0">
            <a:schemeClr val="accent3">
              <a:hueOff val="0"/>
              <a:satOff val="0"/>
              <a:lumOff val="0"/>
              <a:alphaOff val="0"/>
            </a:schemeClr>
          </a:effectRef>
          <a:fontRef idx="minor">
            <a:schemeClr val="lt1"/>
          </a:fontRef>
        </p:style>
        <p:txBody>
          <a:bodyPr/>
          <a:lstStyle/>
          <a:p>
            <a:endParaRPr lang="en-US"/>
          </a:p>
        </p:txBody>
      </p:sp>
      <p:sp>
        <p:nvSpPr>
          <p:cNvPr id="12" name="Rechteck 11" descr="Netzwerk">
            <a:extLst>
              <a:ext uri="{FF2B5EF4-FFF2-40B4-BE49-F238E27FC236}">
                <a16:creationId xmlns:a16="http://schemas.microsoft.com/office/drawing/2014/main" id="{6BF39B3C-4602-3166-48B6-5DDD4D249AC9}"/>
              </a:ext>
            </a:extLst>
          </p:cNvPr>
          <p:cNvSpPr/>
          <p:nvPr/>
        </p:nvSpPr>
        <p:spPr>
          <a:xfrm>
            <a:off x="8804352" y="1379208"/>
            <a:ext cx="277969" cy="277969"/>
          </a:xfrm>
          <a:prstGeom prst="rect">
            <a:avLst/>
          </a:prstGeom>
          <a: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p:spPr>
        <p:style>
          <a:lnRef idx="2">
            <a:scrgbClr r="0" g="0" b="0"/>
          </a:lnRef>
          <a:fillRef idx="1">
            <a:scrgbClr r="0" g="0" b="0"/>
          </a:fillRef>
          <a:effectRef idx="0">
            <a:schemeClr val="accent4">
              <a:hueOff val="0"/>
              <a:satOff val="0"/>
              <a:lumOff val="0"/>
              <a:alphaOff val="0"/>
            </a:schemeClr>
          </a:effectRef>
          <a:fontRef idx="minor">
            <a:schemeClr val="lt1"/>
          </a:fontRef>
        </p:style>
        <p:txBody>
          <a:bodyPr/>
          <a:lstStyle/>
          <a:p>
            <a:endParaRPr lang="en-US"/>
          </a:p>
        </p:txBody>
      </p:sp>
      <p:sp>
        <p:nvSpPr>
          <p:cNvPr id="13" name="Rechteck 12" descr="Kreise mit Pfeilen mit einfarbiger Füllung">
            <a:extLst>
              <a:ext uri="{FF2B5EF4-FFF2-40B4-BE49-F238E27FC236}">
                <a16:creationId xmlns:a16="http://schemas.microsoft.com/office/drawing/2014/main" id="{22A76073-4CD9-F434-AB0A-725EB67A8A24}"/>
              </a:ext>
            </a:extLst>
          </p:cNvPr>
          <p:cNvSpPr/>
          <p:nvPr/>
        </p:nvSpPr>
        <p:spPr>
          <a:xfrm>
            <a:off x="8804352" y="1688740"/>
            <a:ext cx="277969" cy="277969"/>
          </a:xfrm>
          <a:prstGeom prst="rect">
            <a:avLst/>
          </a:prstGeom>
          <a:blipFill>
            <a:blip r:embed="rId11">
              <a:extLst>
                <a:ext uri="{96DAC541-7B7A-43D3-8B79-37D633B846F1}">
                  <asvg:svgBlip xmlns:asvg="http://schemas.microsoft.com/office/drawing/2016/SVG/main" r:embed="rId12"/>
                </a:ext>
              </a:extLst>
            </a:blip>
            <a:srcRect/>
            <a:stretch>
              <a:fillRect/>
            </a:stretch>
          </a:blipFill>
          <a:ln>
            <a:noFill/>
          </a:ln>
        </p:spPr>
        <p:style>
          <a:lnRef idx="2">
            <a:scrgbClr r="0" g="0" b="0"/>
          </a:lnRef>
          <a:fillRef idx="1">
            <a:scrgbClr r="0" g="0" b="0"/>
          </a:fillRef>
          <a:effectRef idx="0">
            <a:schemeClr val="accent5">
              <a:hueOff val="0"/>
              <a:satOff val="0"/>
              <a:lumOff val="0"/>
              <a:alphaOff val="0"/>
            </a:schemeClr>
          </a:effectRef>
          <a:fontRef idx="minor">
            <a:schemeClr val="lt1"/>
          </a:fontRef>
        </p:style>
        <p:txBody>
          <a:bodyPr/>
          <a:lstStyle/>
          <a:p>
            <a:endParaRPr lang="en-US"/>
          </a:p>
        </p:txBody>
      </p:sp>
      <p:sp>
        <p:nvSpPr>
          <p:cNvPr id="14" name="Rechteck 13" descr="Prüfliste">
            <a:extLst>
              <a:ext uri="{FF2B5EF4-FFF2-40B4-BE49-F238E27FC236}">
                <a16:creationId xmlns:a16="http://schemas.microsoft.com/office/drawing/2014/main" id="{E5FE16A5-465E-B96A-F95C-9A56AC525006}"/>
              </a:ext>
            </a:extLst>
          </p:cNvPr>
          <p:cNvSpPr/>
          <p:nvPr/>
        </p:nvSpPr>
        <p:spPr>
          <a:xfrm>
            <a:off x="8804352" y="2006980"/>
            <a:ext cx="277969" cy="277969"/>
          </a:xfrm>
          <a:prstGeom prst="rect">
            <a:avLst/>
          </a:prstGeom>
          <a: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a:blipFill>
          <a:ln>
            <a:noFill/>
          </a:ln>
        </p:spPr>
        <p:style>
          <a:lnRef idx="2">
            <a:scrgbClr r="0" g="0" b="0"/>
          </a:lnRef>
          <a:fillRef idx="1">
            <a:scrgbClr r="0" g="0" b="0"/>
          </a:fillRef>
          <a:effectRef idx="0">
            <a:schemeClr val="accent6">
              <a:hueOff val="0"/>
              <a:satOff val="0"/>
              <a:lumOff val="0"/>
              <a:alphaOff val="0"/>
            </a:schemeClr>
          </a:effectRef>
          <a:fontRef idx="minor">
            <a:schemeClr val="lt1"/>
          </a:fontRef>
        </p:style>
        <p:txBody>
          <a:bodyPr/>
          <a:lstStyle/>
          <a:p>
            <a:endParaRPr lang="en-US"/>
          </a:p>
        </p:txBody>
      </p:sp>
      <p:sp>
        <p:nvSpPr>
          <p:cNvPr id="15" name="Rechteck 14" descr="Auktionshammer">
            <a:extLst>
              <a:ext uri="{FF2B5EF4-FFF2-40B4-BE49-F238E27FC236}">
                <a16:creationId xmlns:a16="http://schemas.microsoft.com/office/drawing/2014/main" id="{C52BE8B9-5A90-80C4-298C-37E02144243A}"/>
              </a:ext>
            </a:extLst>
          </p:cNvPr>
          <p:cNvSpPr/>
          <p:nvPr/>
        </p:nvSpPr>
        <p:spPr>
          <a:xfrm>
            <a:off x="8804352" y="2316507"/>
            <a:ext cx="277969" cy="277969"/>
          </a:xfrm>
          <a:prstGeom prst="rect">
            <a:avLst/>
          </a:prstGeom>
          <a: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a:blipFill>
          <a:ln>
            <a:noFill/>
          </a:ln>
        </p:spPr>
        <p:style>
          <a:lnRef idx="2">
            <a:scrgbClr r="0" g="0" b="0"/>
          </a:lnRef>
          <a:fillRef idx="1">
            <a:scrgbClr r="0" g="0" b="0"/>
          </a:fillRef>
          <a:effectRef idx="0">
            <a:schemeClr val="accent2">
              <a:hueOff val="0"/>
              <a:satOff val="0"/>
              <a:lumOff val="0"/>
              <a:alphaOff val="0"/>
            </a:schemeClr>
          </a:effectRef>
          <a:fontRef idx="minor">
            <a:schemeClr val="lt1"/>
          </a:fontRef>
        </p:style>
        <p:txBody>
          <a:bodyPr/>
          <a:lstStyle/>
          <a:p>
            <a:endParaRPr lang="en-US"/>
          </a:p>
        </p:txBody>
      </p:sp>
      <p:sp>
        <p:nvSpPr>
          <p:cNvPr id="18" name="Rechteck 17" descr="Auktionshammer">
            <a:extLst>
              <a:ext uri="{FF2B5EF4-FFF2-40B4-BE49-F238E27FC236}">
                <a16:creationId xmlns:a16="http://schemas.microsoft.com/office/drawing/2014/main" id="{0F537F8D-E2D1-804E-CD08-0FC8E4D72BB3}"/>
              </a:ext>
            </a:extLst>
          </p:cNvPr>
          <p:cNvSpPr/>
          <p:nvPr/>
        </p:nvSpPr>
        <p:spPr>
          <a:xfrm>
            <a:off x="7587677" y="131685"/>
            <a:ext cx="277969" cy="277969"/>
          </a:xfrm>
          <a:prstGeom prst="rect">
            <a:avLst/>
          </a:prstGeom>
          <a: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a:blipFill>
          <a:ln>
            <a:noFill/>
          </a:ln>
        </p:spPr>
        <p:style>
          <a:lnRef idx="2">
            <a:scrgbClr r="0" g="0" b="0"/>
          </a:lnRef>
          <a:fillRef idx="1">
            <a:scrgbClr r="0" g="0" b="0"/>
          </a:fillRef>
          <a:effectRef idx="0">
            <a:schemeClr val="accent2">
              <a:hueOff val="0"/>
              <a:satOff val="0"/>
              <a:lumOff val="0"/>
              <a:alphaOff val="0"/>
            </a:schemeClr>
          </a:effectRef>
          <a:fontRef idx="minor">
            <a:schemeClr val="lt1"/>
          </a:fontRef>
        </p:style>
        <p:txBody>
          <a:bodyPr/>
          <a:lstStyle/>
          <a:p>
            <a:endParaRPr lang="en-US"/>
          </a:p>
        </p:txBody>
      </p:sp>
    </p:spTree>
    <p:extLst>
      <p:ext uri="{BB962C8B-B14F-4D97-AF65-F5344CB8AC3E}">
        <p14:creationId xmlns:p14="http://schemas.microsoft.com/office/powerpoint/2010/main" val="1133482097"/>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3">
                                            <p:txEl>
                                              <p:pRg st="5" end="5"/>
                                            </p:txEl>
                                          </p:spTgt>
                                        </p:tgtEl>
                                        <p:attrNameLst>
                                          <p:attrName>style.visibility</p:attrName>
                                        </p:attrNameLst>
                                      </p:cBhvr>
                                      <p:to>
                                        <p:strVal val="visible"/>
                                      </p:to>
                                    </p:set>
                                    <p:animEffect transition="in" filter="fade">
                                      <p:cBhvr>
                                        <p:cTn id="30" dur="500"/>
                                        <p:tgtEl>
                                          <p:spTgt spid="3">
                                            <p:txEl>
                                              <p:pRg st="5" end="5"/>
                                            </p:txEl>
                                          </p:spTgt>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3">
                                            <p:txEl>
                                              <p:pRg st="6" end="6"/>
                                            </p:txEl>
                                          </p:spTgt>
                                        </p:tgtEl>
                                        <p:attrNameLst>
                                          <p:attrName>style.visibility</p:attrName>
                                        </p:attrNameLst>
                                      </p:cBhvr>
                                      <p:to>
                                        <p:strVal val="visible"/>
                                      </p:to>
                                    </p:set>
                                    <p:animEffect transition="in" filter="fade">
                                      <p:cBhvr>
                                        <p:cTn id="33" dur="500"/>
                                        <p:tgtEl>
                                          <p:spTgt spid="3">
                                            <p:txEl>
                                              <p:pRg st="6" end="6"/>
                                            </p:txEl>
                                          </p:spTgt>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3">
                                            <p:txEl>
                                              <p:pRg st="7" end="7"/>
                                            </p:txEl>
                                          </p:spTgt>
                                        </p:tgtEl>
                                        <p:attrNameLst>
                                          <p:attrName>style.visibility</p:attrName>
                                        </p:attrNameLst>
                                      </p:cBhvr>
                                      <p:to>
                                        <p:strVal val="visible"/>
                                      </p:to>
                                    </p:set>
                                    <p:animEffect transition="in" filter="fade">
                                      <p:cBhvr>
                                        <p:cTn id="36"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ctrTitle"/>
          </p:nvPr>
        </p:nvSpPr>
        <p:spPr>
          <a:xfrm>
            <a:off x="2547219" y="1328102"/>
            <a:ext cx="5414869" cy="1004551"/>
          </a:xfrm>
        </p:spPr>
        <p:txBody>
          <a:bodyPr/>
          <a:lstStyle/>
          <a:p>
            <a:r>
              <a:rPr lang="de-DE" noProof="1"/>
              <a:t>Knowledge isn‘t power until it is applied.</a:t>
            </a:r>
            <a:endParaRPr lang="de-DE" b="0" i="1" noProof="1"/>
          </a:p>
        </p:txBody>
      </p:sp>
      <p:sp>
        <p:nvSpPr>
          <p:cNvPr id="3" name="Datumsplatzhalter 2"/>
          <p:cNvSpPr>
            <a:spLocks noGrp="1"/>
          </p:cNvSpPr>
          <p:nvPr>
            <p:ph type="dt" sz="half" idx="10"/>
          </p:nvPr>
        </p:nvSpPr>
        <p:spPr/>
        <p:txBody>
          <a:bodyPr/>
          <a:lstStyle/>
          <a:p>
            <a:r>
              <a:rPr lang="en-US" noProof="1"/>
              <a:t>18.08.2025</a:t>
            </a:r>
            <a:endParaRPr lang="de-DE" noProof="1"/>
          </a:p>
        </p:txBody>
      </p:sp>
      <p:sp>
        <p:nvSpPr>
          <p:cNvPr id="4" name="Fußzeilenplatzhalter 3"/>
          <p:cNvSpPr>
            <a:spLocks noGrp="1"/>
          </p:cNvSpPr>
          <p:nvPr>
            <p:ph type="ftr" sz="quarter" idx="11"/>
          </p:nvPr>
        </p:nvSpPr>
        <p:spPr/>
        <p:txBody>
          <a:bodyPr/>
          <a:lstStyle/>
          <a:p>
            <a:r>
              <a:rPr lang="en-US" noProof="1"/>
              <a:t>Enhancing model transparency: Effects of DK Integration for Conversational XAI | Feustel</a:t>
            </a:r>
            <a:endParaRPr lang="de-DE" noProof="1"/>
          </a:p>
        </p:txBody>
      </p:sp>
      <p:sp>
        <p:nvSpPr>
          <p:cNvPr id="5" name="Foliennummernplatzhalter 4"/>
          <p:cNvSpPr>
            <a:spLocks noGrp="1"/>
          </p:cNvSpPr>
          <p:nvPr>
            <p:ph type="sldNum" sz="quarter" idx="12"/>
          </p:nvPr>
        </p:nvSpPr>
        <p:spPr/>
        <p:txBody>
          <a:bodyPr/>
          <a:lstStyle/>
          <a:p>
            <a:r>
              <a:rPr lang="de-DE" noProof="1"/>
              <a:t> </a:t>
            </a:r>
            <a:fld id="{FE120BDC-5456-EC41-8BB6-7A3B726EA19B}" type="slidenum">
              <a:rPr lang="de-DE" noProof="1" smtClean="0"/>
              <a:pPr/>
              <a:t>31</a:t>
            </a:fld>
            <a:endParaRPr lang="de-DE" noProof="1"/>
          </a:p>
        </p:txBody>
      </p:sp>
      <p:sp>
        <p:nvSpPr>
          <p:cNvPr id="7" name="Textfeld 6">
            <a:extLst>
              <a:ext uri="{FF2B5EF4-FFF2-40B4-BE49-F238E27FC236}">
                <a16:creationId xmlns:a16="http://schemas.microsoft.com/office/drawing/2014/main" id="{5E3B07EE-5508-AE4C-8939-0C35DBCC35DD}"/>
              </a:ext>
            </a:extLst>
          </p:cNvPr>
          <p:cNvSpPr txBox="1"/>
          <p:nvPr/>
        </p:nvSpPr>
        <p:spPr>
          <a:xfrm>
            <a:off x="1785757" y="1002090"/>
            <a:ext cx="604562" cy="1569660"/>
          </a:xfrm>
          <a:prstGeom prst="rect">
            <a:avLst/>
          </a:prstGeom>
          <a:noFill/>
        </p:spPr>
        <p:txBody>
          <a:bodyPr wrap="square" rtlCol="0">
            <a:spAutoFit/>
          </a:bodyPr>
          <a:lstStyle/>
          <a:p>
            <a:r>
              <a:rPr lang="de-DE" sz="9600" b="1" noProof="1">
                <a:latin typeface="Arial" panose="020B0604020202020204" pitchFamily="34" charset="0"/>
                <a:cs typeface="Arial" panose="020B0604020202020204" pitchFamily="34" charset="0"/>
              </a:rPr>
              <a:t>„</a:t>
            </a:r>
          </a:p>
        </p:txBody>
      </p:sp>
      <p:sp>
        <p:nvSpPr>
          <p:cNvPr id="8" name="Textfeld 7">
            <a:extLst>
              <a:ext uri="{FF2B5EF4-FFF2-40B4-BE49-F238E27FC236}">
                <a16:creationId xmlns:a16="http://schemas.microsoft.com/office/drawing/2014/main" id="{0158E5D4-25F3-EB48-9C69-0122CC206525}"/>
              </a:ext>
            </a:extLst>
          </p:cNvPr>
          <p:cNvSpPr txBox="1"/>
          <p:nvPr/>
        </p:nvSpPr>
        <p:spPr>
          <a:xfrm>
            <a:off x="7962088" y="1002090"/>
            <a:ext cx="604562" cy="1569660"/>
          </a:xfrm>
          <a:prstGeom prst="rect">
            <a:avLst/>
          </a:prstGeom>
          <a:noFill/>
        </p:spPr>
        <p:txBody>
          <a:bodyPr wrap="square" rtlCol="0">
            <a:spAutoFit/>
          </a:bodyPr>
          <a:lstStyle/>
          <a:p>
            <a:r>
              <a:rPr lang="de-DE" sz="9600" b="1" noProof="1">
                <a:latin typeface="Arial" panose="020B0604020202020204" pitchFamily="34" charset="0"/>
                <a:cs typeface="Arial" panose="020B0604020202020204" pitchFamily="34" charset="0"/>
              </a:rPr>
              <a:t>“</a:t>
            </a:r>
          </a:p>
        </p:txBody>
      </p:sp>
      <p:pic>
        <p:nvPicPr>
          <p:cNvPr id="12" name="Grafik 11" descr="Ein Bild, das Menschliches Gesicht, Person, Lächeln, Kleidung enthält.&#10;&#10;KI-generierte Inhalte können fehlerhaft sein.">
            <a:extLst>
              <a:ext uri="{FF2B5EF4-FFF2-40B4-BE49-F238E27FC236}">
                <a16:creationId xmlns:a16="http://schemas.microsoft.com/office/drawing/2014/main" id="{6E3A0CEA-81EC-E175-03D3-BAA8B286D272}"/>
              </a:ext>
            </a:extLst>
          </p:cNvPr>
          <p:cNvPicPr>
            <a:picLocks noChangeAspect="1"/>
          </p:cNvPicPr>
          <p:nvPr/>
        </p:nvPicPr>
        <p:blipFill>
          <a:blip r:embed="rId3"/>
          <a:srcRect l="8774" t="8965" b="22616"/>
          <a:stretch>
            <a:fillRect/>
          </a:stretch>
        </p:blipFill>
        <p:spPr>
          <a:xfrm>
            <a:off x="643720" y="2882391"/>
            <a:ext cx="1599030" cy="1599030"/>
          </a:xfrm>
          <a:custGeom>
            <a:avLst/>
            <a:gdLst>
              <a:gd name="connsiteX0" fmla="*/ 1759573 w 3519146"/>
              <a:gd name="connsiteY0" fmla="*/ 0 h 3519146"/>
              <a:gd name="connsiteX1" fmla="*/ 3519146 w 3519146"/>
              <a:gd name="connsiteY1" fmla="*/ 1759573 h 3519146"/>
              <a:gd name="connsiteX2" fmla="*/ 1759573 w 3519146"/>
              <a:gd name="connsiteY2" fmla="*/ 3519146 h 3519146"/>
              <a:gd name="connsiteX3" fmla="*/ 0 w 3519146"/>
              <a:gd name="connsiteY3" fmla="*/ 1759573 h 3519146"/>
              <a:gd name="connsiteX4" fmla="*/ 1759573 w 3519146"/>
              <a:gd name="connsiteY4" fmla="*/ 0 h 35191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19146" h="3519146">
                <a:moveTo>
                  <a:pt x="1759573" y="0"/>
                </a:moveTo>
                <a:cubicBezTo>
                  <a:pt x="2731358" y="0"/>
                  <a:pt x="3519146" y="787788"/>
                  <a:pt x="3519146" y="1759573"/>
                </a:cubicBezTo>
                <a:cubicBezTo>
                  <a:pt x="3519146" y="2731358"/>
                  <a:pt x="2731358" y="3519146"/>
                  <a:pt x="1759573" y="3519146"/>
                </a:cubicBezTo>
                <a:cubicBezTo>
                  <a:pt x="787788" y="3519146"/>
                  <a:pt x="0" y="2731358"/>
                  <a:pt x="0" y="1759573"/>
                </a:cubicBezTo>
                <a:cubicBezTo>
                  <a:pt x="0" y="787788"/>
                  <a:pt x="787788" y="0"/>
                  <a:pt x="1759573" y="0"/>
                </a:cubicBezTo>
                <a:close/>
              </a:path>
            </a:pathLst>
          </a:custGeom>
        </p:spPr>
      </p:pic>
      <p:sp>
        <p:nvSpPr>
          <p:cNvPr id="14" name="Textfeld 13">
            <a:extLst>
              <a:ext uri="{FF2B5EF4-FFF2-40B4-BE49-F238E27FC236}">
                <a16:creationId xmlns:a16="http://schemas.microsoft.com/office/drawing/2014/main" id="{E96C0AA1-F849-BD4F-98C3-BEBD6668A8C3}"/>
              </a:ext>
            </a:extLst>
          </p:cNvPr>
          <p:cNvSpPr txBox="1"/>
          <p:nvPr/>
        </p:nvSpPr>
        <p:spPr>
          <a:xfrm>
            <a:off x="2547218" y="2283477"/>
            <a:ext cx="5414869" cy="369332"/>
          </a:xfrm>
          <a:prstGeom prst="rect">
            <a:avLst/>
          </a:prstGeom>
          <a:noFill/>
        </p:spPr>
        <p:txBody>
          <a:bodyPr wrap="square">
            <a:spAutoFit/>
          </a:bodyPr>
          <a:lstStyle/>
          <a:p>
            <a:pPr algn="r"/>
            <a:r>
              <a:rPr lang="de-DE" sz="1800" b="0" i="1" noProof="1">
                <a:solidFill>
                  <a:schemeClr val="bg1"/>
                </a:solidFill>
              </a:rPr>
              <a:t>Dale Carnegie</a:t>
            </a:r>
            <a:endParaRPr lang="en-US" dirty="0">
              <a:solidFill>
                <a:schemeClr val="bg1"/>
              </a:solidFill>
            </a:endParaRPr>
          </a:p>
        </p:txBody>
      </p:sp>
      <p:sp>
        <p:nvSpPr>
          <p:cNvPr id="22" name="Textfeld 21">
            <a:extLst>
              <a:ext uri="{FF2B5EF4-FFF2-40B4-BE49-F238E27FC236}">
                <a16:creationId xmlns:a16="http://schemas.microsoft.com/office/drawing/2014/main" id="{0CA9EEC9-A84B-382F-4839-78F3DD840571}"/>
              </a:ext>
            </a:extLst>
          </p:cNvPr>
          <p:cNvSpPr txBox="1"/>
          <p:nvPr/>
        </p:nvSpPr>
        <p:spPr>
          <a:xfrm>
            <a:off x="395288" y="384102"/>
            <a:ext cx="1599030" cy="400110"/>
          </a:xfrm>
          <a:prstGeom prst="rect">
            <a:avLst/>
          </a:prstGeom>
          <a:noFill/>
        </p:spPr>
        <p:txBody>
          <a:bodyPr wrap="square" rtlCol="0">
            <a:spAutoFit/>
          </a:bodyPr>
          <a:lstStyle/>
          <a:p>
            <a:r>
              <a:rPr lang="de-DE" b="1" dirty="0" err="1">
                <a:latin typeface="Arial" panose="020B0604020202020204" pitchFamily="34" charset="0"/>
                <a:cs typeface="Arial" panose="020B0604020202020204" pitchFamily="34" charset="0"/>
              </a:rPr>
              <a:t>Thank</a:t>
            </a:r>
            <a:r>
              <a:rPr lang="de-DE" b="1" dirty="0">
                <a:latin typeface="Arial" panose="020B0604020202020204" pitchFamily="34" charset="0"/>
                <a:cs typeface="Arial" panose="020B0604020202020204" pitchFamily="34" charset="0"/>
              </a:rPr>
              <a:t> </a:t>
            </a:r>
            <a:r>
              <a:rPr lang="de-DE" sz="2000" b="1" dirty="0" err="1">
                <a:latin typeface="Arial" panose="020B0604020202020204" pitchFamily="34" charset="0"/>
                <a:cs typeface="Arial" panose="020B0604020202020204" pitchFamily="34" charset="0"/>
              </a:rPr>
              <a:t>you</a:t>
            </a:r>
            <a:endParaRPr lang="en-US" b="1" dirty="0">
              <a:latin typeface="Arial" panose="020B0604020202020204" pitchFamily="34" charset="0"/>
              <a:cs typeface="Arial" panose="020B0604020202020204" pitchFamily="34" charset="0"/>
            </a:endParaRPr>
          </a:p>
        </p:txBody>
      </p:sp>
      <p:graphicFrame>
        <p:nvGraphicFramePr>
          <p:cNvPr id="23" name="Diagramm 22">
            <a:extLst>
              <a:ext uri="{FF2B5EF4-FFF2-40B4-BE49-F238E27FC236}">
                <a16:creationId xmlns:a16="http://schemas.microsoft.com/office/drawing/2014/main" id="{215F345E-9279-1D9A-72E2-A2B69CC201B6}"/>
              </a:ext>
            </a:extLst>
          </p:cNvPr>
          <p:cNvGraphicFramePr/>
          <p:nvPr>
            <p:extLst>
              <p:ext uri="{D42A27DB-BD31-4B8C-83A1-F6EECF244321}">
                <p14:modId xmlns:p14="http://schemas.microsoft.com/office/powerpoint/2010/main" val="1808726743"/>
              </p:ext>
            </p:extLst>
          </p:nvPr>
        </p:nvGraphicFramePr>
        <p:xfrm>
          <a:off x="2233420" y="2597355"/>
          <a:ext cx="3057038" cy="2179352"/>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pic>
        <p:nvPicPr>
          <p:cNvPr id="25" name="Grafik 24" descr="Internet Silhouette">
            <a:extLst>
              <a:ext uri="{FF2B5EF4-FFF2-40B4-BE49-F238E27FC236}">
                <a16:creationId xmlns:a16="http://schemas.microsoft.com/office/drawing/2014/main" id="{45857B86-ACAC-AD9E-490C-7D74DE22EDA7}"/>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2313986" y="4102081"/>
            <a:ext cx="457200" cy="457200"/>
          </a:xfrm>
          <a:prstGeom prst="rect">
            <a:avLst/>
          </a:prstGeom>
        </p:spPr>
      </p:pic>
      <p:pic>
        <p:nvPicPr>
          <p:cNvPr id="27" name="Grafik 26" descr="Umschlag Silhouette">
            <a:extLst>
              <a:ext uri="{FF2B5EF4-FFF2-40B4-BE49-F238E27FC236}">
                <a16:creationId xmlns:a16="http://schemas.microsoft.com/office/drawing/2014/main" id="{4F4721A1-4394-69BF-8E97-04B05797FED8}"/>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2305663" y="2806164"/>
            <a:ext cx="457200" cy="457200"/>
          </a:xfrm>
          <a:prstGeom prst="rect">
            <a:avLst/>
          </a:prstGeom>
        </p:spPr>
      </p:pic>
      <p:pic>
        <p:nvPicPr>
          <p:cNvPr id="29" name="Grafik 28">
            <a:extLst>
              <a:ext uri="{FF2B5EF4-FFF2-40B4-BE49-F238E27FC236}">
                <a16:creationId xmlns:a16="http://schemas.microsoft.com/office/drawing/2014/main" id="{731BFBF3-56A8-4DFF-B0FF-425F0268FADF}"/>
              </a:ext>
            </a:extLst>
          </p:cNvPr>
          <p:cNvPicPr>
            <a:picLocks noChangeAspect="1"/>
          </p:cNvPicPr>
          <p:nvPr/>
        </p:nvPicPr>
        <p:blipFill>
          <a:blip r:embed="rId13">
            <a:duotone>
              <a:schemeClr val="accent5">
                <a:shade val="45000"/>
                <a:satMod val="135000"/>
              </a:schemeClr>
              <a:prstClr val="white"/>
            </a:duotone>
          </a:blip>
          <a:stretch>
            <a:fillRect/>
          </a:stretch>
        </p:blipFill>
        <p:spPr>
          <a:xfrm>
            <a:off x="2535948" y="3530656"/>
            <a:ext cx="320040" cy="320040"/>
          </a:xfrm>
          <a:prstGeom prst="rect">
            <a:avLst/>
          </a:prstGeom>
        </p:spPr>
      </p:pic>
    </p:spTree>
    <p:extLst>
      <p:ext uri="{BB962C8B-B14F-4D97-AF65-F5344CB8AC3E}">
        <p14:creationId xmlns:p14="http://schemas.microsoft.com/office/powerpoint/2010/main" val="1596021392"/>
      </p:ext>
    </p:extLst>
  </p:cSld>
  <p:clrMapOvr>
    <a:masterClrMapping/>
  </p:clrMapOvr>
  <p:transition spd="slow">
    <p:push dir="u"/>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8B09D4A-3EAD-B307-CB40-9AF1DF3C3459}"/>
              </a:ext>
            </a:extLst>
          </p:cNvPr>
          <p:cNvSpPr>
            <a:spLocks noGrp="1"/>
          </p:cNvSpPr>
          <p:nvPr>
            <p:ph type="ctrTitle"/>
          </p:nvPr>
        </p:nvSpPr>
        <p:spPr/>
        <p:txBody>
          <a:bodyPr/>
          <a:lstStyle/>
          <a:p>
            <a:r>
              <a:rPr lang="de-DE" noProof="1"/>
              <a:t>Citations</a:t>
            </a:r>
          </a:p>
        </p:txBody>
      </p:sp>
      <p:sp>
        <p:nvSpPr>
          <p:cNvPr id="3" name="Inhaltsplatzhalter 2">
            <a:extLst>
              <a:ext uri="{FF2B5EF4-FFF2-40B4-BE49-F238E27FC236}">
                <a16:creationId xmlns:a16="http://schemas.microsoft.com/office/drawing/2014/main" id="{07EABE1F-8857-1DC7-CC7B-8F6C9DA6B841}"/>
              </a:ext>
            </a:extLst>
          </p:cNvPr>
          <p:cNvSpPr>
            <a:spLocks noGrp="1"/>
          </p:cNvSpPr>
          <p:nvPr>
            <p:ph sz="quarter" idx="13"/>
          </p:nvPr>
        </p:nvSpPr>
        <p:spPr/>
        <p:txBody>
          <a:bodyPr>
            <a:normAutofit fontScale="92500" lnSpcReduction="10000"/>
          </a:bodyPr>
          <a:lstStyle/>
          <a:p>
            <a:r>
              <a:rPr lang="de-DE" noProof="1">
                <a:solidFill>
                  <a:srgbClr val="222222"/>
                </a:solidFill>
              </a:rPr>
              <a:t>Antaki, C., &amp; Leudar, I. (1992). Explaining in conversation: Towards an argument model. </a:t>
            </a:r>
            <a:r>
              <a:rPr lang="de-DE" i="1" noProof="1">
                <a:solidFill>
                  <a:srgbClr val="222222"/>
                </a:solidFill>
              </a:rPr>
              <a:t>European Journal of Social Psychology</a:t>
            </a:r>
            <a:r>
              <a:rPr lang="de-DE" noProof="1">
                <a:solidFill>
                  <a:srgbClr val="222222"/>
                </a:solidFill>
              </a:rPr>
              <a:t>, </a:t>
            </a:r>
            <a:r>
              <a:rPr lang="de-DE" i="1" noProof="1">
                <a:solidFill>
                  <a:srgbClr val="222222"/>
                </a:solidFill>
              </a:rPr>
              <a:t>22</a:t>
            </a:r>
            <a:r>
              <a:rPr lang="de-DE" noProof="1">
                <a:solidFill>
                  <a:srgbClr val="222222"/>
                </a:solidFill>
              </a:rPr>
              <a:t>(2), 181-194.</a:t>
            </a:r>
            <a:endParaRPr lang="de-DE" noProof="1">
              <a:effectLst/>
            </a:endParaRPr>
          </a:p>
          <a:p>
            <a:r>
              <a:rPr lang="de-DE" noProof="1">
                <a:effectLst/>
              </a:rPr>
              <a:t>Stab, C., &amp; Gurevych, I. (2014). Annotating argument components and relations in persuasive essays. Proceedings of COLING 2014, the 25th International Conference on ComputationalLinguistics: Technical Papers, 1501–1510.</a:t>
            </a:r>
          </a:p>
          <a:p>
            <a:r>
              <a:rPr lang="de-DE" b="0" i="0" noProof="1">
                <a:solidFill>
                  <a:srgbClr val="222222"/>
                </a:solidFill>
                <a:effectLst/>
              </a:rPr>
              <a:t>Feustel et al. (2024). </a:t>
            </a:r>
            <a:r>
              <a:rPr lang="en-US" b="0" i="0" noProof="1">
                <a:solidFill>
                  <a:srgbClr val="222222"/>
                </a:solidFill>
                <a:effectLst/>
              </a:rPr>
              <a:t>Enhancing Model Transparency: A Dialogue System Approach to XAI with Domain Knowledge. SigDial 2024</a:t>
            </a:r>
            <a:endParaRPr lang="de-DE" b="0" i="0" noProof="1">
              <a:solidFill>
                <a:srgbClr val="222222"/>
              </a:solidFill>
              <a:effectLst/>
            </a:endParaRPr>
          </a:p>
          <a:p>
            <a:r>
              <a:rPr lang="de-DE" b="0" i="0" noProof="1">
                <a:solidFill>
                  <a:srgbClr val="222222"/>
                </a:solidFill>
                <a:effectLst/>
              </a:rPr>
              <a:t>Miller, T. (2019). Explanation in artificial intelligence: Insights from the social sciences. </a:t>
            </a:r>
            <a:r>
              <a:rPr lang="de-DE" b="0" i="1" noProof="1">
                <a:solidFill>
                  <a:srgbClr val="222222"/>
                </a:solidFill>
                <a:effectLst/>
              </a:rPr>
              <a:t>Artificial intelligence</a:t>
            </a:r>
            <a:r>
              <a:rPr lang="de-DE" b="0" i="0" noProof="1">
                <a:solidFill>
                  <a:srgbClr val="222222"/>
                </a:solidFill>
                <a:effectLst/>
              </a:rPr>
              <a:t>, </a:t>
            </a:r>
            <a:r>
              <a:rPr lang="de-DE" b="0" i="1" noProof="1">
                <a:solidFill>
                  <a:srgbClr val="222222"/>
                </a:solidFill>
                <a:effectLst/>
              </a:rPr>
              <a:t>267</a:t>
            </a:r>
            <a:r>
              <a:rPr lang="de-DE" b="0" i="0" noProof="1">
                <a:solidFill>
                  <a:srgbClr val="222222"/>
                </a:solidFill>
                <a:effectLst/>
              </a:rPr>
              <a:t>, 1-38.</a:t>
            </a:r>
          </a:p>
          <a:p>
            <a:r>
              <a:rPr lang="de-DE" b="0" i="0" noProof="1">
                <a:solidFill>
                  <a:srgbClr val="222222"/>
                </a:solidFill>
                <a:effectLst/>
              </a:rPr>
              <a:t>Mercier, H., &amp; Sperber, D. (2011). Why do humans reason? Arguments for an argumentative theory. </a:t>
            </a:r>
            <a:r>
              <a:rPr lang="de-DE" b="0" i="1" noProof="1">
                <a:solidFill>
                  <a:srgbClr val="222222"/>
                </a:solidFill>
                <a:effectLst/>
              </a:rPr>
              <a:t>Behavioral and brain sciences</a:t>
            </a:r>
            <a:r>
              <a:rPr lang="de-DE" b="0" i="0" noProof="1">
                <a:solidFill>
                  <a:srgbClr val="222222"/>
                </a:solidFill>
                <a:effectLst/>
              </a:rPr>
              <a:t>, </a:t>
            </a:r>
            <a:r>
              <a:rPr lang="de-DE" b="0" i="1" noProof="1">
                <a:solidFill>
                  <a:srgbClr val="222222"/>
                </a:solidFill>
                <a:effectLst/>
              </a:rPr>
              <a:t>34</a:t>
            </a:r>
            <a:r>
              <a:rPr lang="de-DE" b="0" i="0" noProof="1">
                <a:solidFill>
                  <a:srgbClr val="222222"/>
                </a:solidFill>
                <a:effectLst/>
              </a:rPr>
              <a:t>(2), 57-74.</a:t>
            </a:r>
          </a:p>
          <a:p>
            <a:r>
              <a:rPr lang="de-DE" noProof="1">
                <a:solidFill>
                  <a:srgbClr val="222222"/>
                </a:solidFill>
              </a:rPr>
              <a:t>Schindler et al. (2025). </a:t>
            </a:r>
            <a:r>
              <a:rPr lang="en-US" noProof="1">
                <a:solidFill>
                  <a:srgbClr val="222222"/>
                </a:solidFill>
              </a:rPr>
              <a:t>Automatic Generation of Structured Domain Knowledge for Dialogue-based XAI Systems. IWSDS 2025.</a:t>
            </a:r>
            <a:endParaRPr lang="de-DE" b="0" i="0" noProof="1">
              <a:solidFill>
                <a:srgbClr val="222222"/>
              </a:solidFill>
              <a:effectLst/>
            </a:endParaRPr>
          </a:p>
          <a:p>
            <a:endParaRPr lang="de-DE" noProof="1"/>
          </a:p>
        </p:txBody>
      </p:sp>
      <p:sp>
        <p:nvSpPr>
          <p:cNvPr id="4" name="Datumsplatzhalter 3">
            <a:extLst>
              <a:ext uri="{FF2B5EF4-FFF2-40B4-BE49-F238E27FC236}">
                <a16:creationId xmlns:a16="http://schemas.microsoft.com/office/drawing/2014/main" id="{48247607-3609-A6C4-5802-53CBD4266A31}"/>
              </a:ext>
            </a:extLst>
          </p:cNvPr>
          <p:cNvSpPr>
            <a:spLocks noGrp="1"/>
          </p:cNvSpPr>
          <p:nvPr>
            <p:ph type="dt" sz="half" idx="10"/>
          </p:nvPr>
        </p:nvSpPr>
        <p:spPr/>
        <p:txBody>
          <a:bodyPr/>
          <a:lstStyle/>
          <a:p>
            <a:r>
              <a:rPr lang="en-US" noProof="1"/>
              <a:t>18.08.2025</a:t>
            </a:r>
            <a:endParaRPr lang="de-DE" noProof="1"/>
          </a:p>
        </p:txBody>
      </p:sp>
      <p:sp>
        <p:nvSpPr>
          <p:cNvPr id="5" name="Fußzeilenplatzhalter 4">
            <a:extLst>
              <a:ext uri="{FF2B5EF4-FFF2-40B4-BE49-F238E27FC236}">
                <a16:creationId xmlns:a16="http://schemas.microsoft.com/office/drawing/2014/main" id="{A5836ED6-E543-134B-D700-94AC63829965}"/>
              </a:ext>
            </a:extLst>
          </p:cNvPr>
          <p:cNvSpPr>
            <a:spLocks noGrp="1"/>
          </p:cNvSpPr>
          <p:nvPr>
            <p:ph type="ftr" sz="quarter" idx="11"/>
          </p:nvPr>
        </p:nvSpPr>
        <p:spPr/>
        <p:txBody>
          <a:bodyPr/>
          <a:lstStyle/>
          <a:p>
            <a:r>
              <a:rPr lang="en-US" noProof="1"/>
              <a:t>Enhancing model transparency: Effects of DK Integration for Conversational XAI | Feustel</a:t>
            </a:r>
            <a:endParaRPr lang="de-DE" noProof="1"/>
          </a:p>
        </p:txBody>
      </p:sp>
      <p:sp>
        <p:nvSpPr>
          <p:cNvPr id="6" name="Foliennummernplatzhalter 5">
            <a:extLst>
              <a:ext uri="{FF2B5EF4-FFF2-40B4-BE49-F238E27FC236}">
                <a16:creationId xmlns:a16="http://schemas.microsoft.com/office/drawing/2014/main" id="{6751480B-BEE3-8768-D2FE-B502A6EFAE04}"/>
              </a:ext>
            </a:extLst>
          </p:cNvPr>
          <p:cNvSpPr>
            <a:spLocks noGrp="1"/>
          </p:cNvSpPr>
          <p:nvPr>
            <p:ph type="sldNum" sz="quarter" idx="12"/>
          </p:nvPr>
        </p:nvSpPr>
        <p:spPr/>
        <p:txBody>
          <a:bodyPr/>
          <a:lstStyle/>
          <a:p>
            <a:r>
              <a:rPr lang="de-DE" noProof="1"/>
              <a:t> </a:t>
            </a:r>
            <a:fld id="{FE120BDC-5456-EC41-8BB6-7A3B726EA19B}" type="slidenum">
              <a:rPr lang="de-DE" noProof="1" smtClean="0"/>
              <a:pPr/>
              <a:t>32</a:t>
            </a:fld>
            <a:endParaRPr lang="de-DE" noProof="1"/>
          </a:p>
        </p:txBody>
      </p:sp>
    </p:spTree>
    <p:extLst>
      <p:ext uri="{BB962C8B-B14F-4D97-AF65-F5344CB8AC3E}">
        <p14:creationId xmlns:p14="http://schemas.microsoft.com/office/powerpoint/2010/main" val="3230249127"/>
      </p:ext>
    </p:extLst>
  </p:cSld>
  <p:clrMapOvr>
    <a:masterClrMapping/>
  </p:clrMapOvr>
  <p:transition spd="slow">
    <p:push dir="u"/>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5319773-F690-8BD2-E053-EE6EA7B8DC68}"/>
              </a:ext>
            </a:extLst>
          </p:cNvPr>
          <p:cNvSpPr>
            <a:spLocks noGrp="1"/>
          </p:cNvSpPr>
          <p:nvPr>
            <p:ph type="ctrTitle"/>
          </p:nvPr>
        </p:nvSpPr>
        <p:spPr/>
        <p:txBody>
          <a:bodyPr/>
          <a:lstStyle/>
          <a:p>
            <a:endParaRPr lang="en-US"/>
          </a:p>
        </p:txBody>
      </p:sp>
      <p:sp>
        <p:nvSpPr>
          <p:cNvPr id="3" name="Inhaltsplatzhalter 2">
            <a:extLst>
              <a:ext uri="{FF2B5EF4-FFF2-40B4-BE49-F238E27FC236}">
                <a16:creationId xmlns:a16="http://schemas.microsoft.com/office/drawing/2014/main" id="{45183547-3B2B-44F2-441E-01F9BA7BCBB7}"/>
              </a:ext>
            </a:extLst>
          </p:cNvPr>
          <p:cNvSpPr>
            <a:spLocks noGrp="1"/>
          </p:cNvSpPr>
          <p:nvPr>
            <p:ph sz="quarter" idx="13"/>
          </p:nvPr>
        </p:nvSpPr>
        <p:spPr/>
        <p:txBody>
          <a:bodyPr/>
          <a:lstStyle/>
          <a:p>
            <a:endParaRPr lang="en-US"/>
          </a:p>
        </p:txBody>
      </p:sp>
      <p:sp>
        <p:nvSpPr>
          <p:cNvPr id="4" name="Datumsplatzhalter 3">
            <a:extLst>
              <a:ext uri="{FF2B5EF4-FFF2-40B4-BE49-F238E27FC236}">
                <a16:creationId xmlns:a16="http://schemas.microsoft.com/office/drawing/2014/main" id="{440E7CD8-7D2A-B21D-A4C8-2E046288403A}"/>
              </a:ext>
            </a:extLst>
          </p:cNvPr>
          <p:cNvSpPr>
            <a:spLocks noGrp="1"/>
          </p:cNvSpPr>
          <p:nvPr>
            <p:ph type="dt" sz="half" idx="10"/>
          </p:nvPr>
        </p:nvSpPr>
        <p:spPr/>
        <p:txBody>
          <a:bodyPr/>
          <a:lstStyle/>
          <a:p>
            <a:r>
              <a:rPr lang="en-US"/>
              <a:t>18.08.2025</a:t>
            </a:r>
            <a:endParaRPr lang="de-DE" dirty="0"/>
          </a:p>
        </p:txBody>
      </p:sp>
      <p:sp>
        <p:nvSpPr>
          <p:cNvPr id="5" name="Fußzeilenplatzhalter 4">
            <a:extLst>
              <a:ext uri="{FF2B5EF4-FFF2-40B4-BE49-F238E27FC236}">
                <a16:creationId xmlns:a16="http://schemas.microsoft.com/office/drawing/2014/main" id="{0ABE4689-0B5C-CA8F-6E48-9BA14E44AF14}"/>
              </a:ext>
            </a:extLst>
          </p:cNvPr>
          <p:cNvSpPr>
            <a:spLocks noGrp="1"/>
          </p:cNvSpPr>
          <p:nvPr>
            <p:ph type="ftr" sz="quarter" idx="11"/>
          </p:nvPr>
        </p:nvSpPr>
        <p:spPr/>
        <p:txBody>
          <a:bodyPr/>
          <a:lstStyle/>
          <a:p>
            <a:r>
              <a:rPr lang="en-US"/>
              <a:t>Enhancing model transparency: Effects of DK Integration for Conversational XAI | Feustel</a:t>
            </a:r>
            <a:endParaRPr lang="de-DE" dirty="0"/>
          </a:p>
        </p:txBody>
      </p:sp>
      <p:sp>
        <p:nvSpPr>
          <p:cNvPr id="6" name="Foliennummernplatzhalter 5">
            <a:extLst>
              <a:ext uri="{FF2B5EF4-FFF2-40B4-BE49-F238E27FC236}">
                <a16:creationId xmlns:a16="http://schemas.microsoft.com/office/drawing/2014/main" id="{FC4D61D6-8D67-1D41-4C15-2F1A37BAEA86}"/>
              </a:ext>
            </a:extLst>
          </p:cNvPr>
          <p:cNvSpPr>
            <a:spLocks noGrp="1"/>
          </p:cNvSpPr>
          <p:nvPr>
            <p:ph type="sldNum" sz="quarter" idx="12"/>
          </p:nvPr>
        </p:nvSpPr>
        <p:spPr/>
        <p:txBody>
          <a:bodyPr/>
          <a:lstStyle/>
          <a:p>
            <a:fld id="{FE120BDC-5456-EC41-8BB6-7A3B726EA19B}" type="slidenum">
              <a:rPr lang="de-DE" smtClean="0"/>
              <a:pPr/>
              <a:t>33</a:t>
            </a:fld>
            <a:endParaRPr lang="de-DE" dirty="0"/>
          </a:p>
        </p:txBody>
      </p:sp>
      <p:pic>
        <p:nvPicPr>
          <p:cNvPr id="7" name="Inhaltsplatzhalter 7">
            <a:extLst>
              <a:ext uri="{FF2B5EF4-FFF2-40B4-BE49-F238E27FC236}">
                <a16:creationId xmlns:a16="http://schemas.microsoft.com/office/drawing/2014/main" id="{BD1F02FB-E46F-A3CD-7628-E246DA308512}"/>
              </a:ext>
            </a:extLst>
          </p:cNvPr>
          <p:cNvPicPr>
            <a:picLocks noChangeAspect="1"/>
          </p:cNvPicPr>
          <p:nvPr/>
        </p:nvPicPr>
        <p:blipFill>
          <a:blip r:embed="rId2"/>
          <a:stretch>
            <a:fillRect/>
          </a:stretch>
        </p:blipFill>
        <p:spPr>
          <a:xfrm>
            <a:off x="924498" y="914400"/>
            <a:ext cx="6390367" cy="3676650"/>
          </a:xfrm>
          <a:prstGeom prst="rect">
            <a:avLst/>
          </a:prstGeom>
        </p:spPr>
      </p:pic>
    </p:spTree>
    <p:extLst>
      <p:ext uri="{BB962C8B-B14F-4D97-AF65-F5344CB8AC3E}">
        <p14:creationId xmlns:p14="http://schemas.microsoft.com/office/powerpoint/2010/main" val="13843223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ctrTitle"/>
          </p:nvPr>
        </p:nvSpPr>
        <p:spPr/>
        <p:txBody>
          <a:bodyPr/>
          <a:lstStyle/>
          <a:p>
            <a:r>
              <a:rPr lang="de-DE" noProof="1"/>
              <a:t>Automatic Generation of Structured Domain Knowledge for Dialogue-based XAI Systems </a:t>
            </a:r>
          </a:p>
        </p:txBody>
      </p:sp>
      <p:sp>
        <p:nvSpPr>
          <p:cNvPr id="4" name="Datumsplatzhalter 3"/>
          <p:cNvSpPr>
            <a:spLocks noGrp="1"/>
          </p:cNvSpPr>
          <p:nvPr>
            <p:ph type="dt" sz="half" idx="10"/>
          </p:nvPr>
        </p:nvSpPr>
        <p:spPr/>
        <p:txBody>
          <a:bodyPr/>
          <a:lstStyle/>
          <a:p>
            <a:r>
              <a:rPr lang="en-US" noProof="1"/>
              <a:t>18.08.2025</a:t>
            </a:r>
            <a:endParaRPr lang="de-DE" noProof="1"/>
          </a:p>
        </p:txBody>
      </p:sp>
      <p:sp>
        <p:nvSpPr>
          <p:cNvPr id="5" name="Fußzeilenplatzhalter 4"/>
          <p:cNvSpPr>
            <a:spLocks noGrp="1"/>
          </p:cNvSpPr>
          <p:nvPr>
            <p:ph type="ftr" sz="quarter" idx="11"/>
          </p:nvPr>
        </p:nvSpPr>
        <p:spPr/>
        <p:txBody>
          <a:bodyPr/>
          <a:lstStyle/>
          <a:p>
            <a:r>
              <a:rPr lang="en-US" noProof="1"/>
              <a:t>Enhancing model transparency: Effects of DK Integration for Conversational XAI | Feustel</a:t>
            </a:r>
            <a:endParaRPr lang="de-DE" noProof="1"/>
          </a:p>
        </p:txBody>
      </p:sp>
      <p:sp>
        <p:nvSpPr>
          <p:cNvPr id="6" name="Foliennummernplatzhalter 5"/>
          <p:cNvSpPr>
            <a:spLocks noGrp="1"/>
          </p:cNvSpPr>
          <p:nvPr>
            <p:ph type="sldNum" sz="quarter" idx="12"/>
          </p:nvPr>
        </p:nvSpPr>
        <p:spPr/>
        <p:txBody>
          <a:bodyPr/>
          <a:lstStyle/>
          <a:p>
            <a:r>
              <a:rPr lang="de-DE" noProof="1"/>
              <a:t> </a:t>
            </a:r>
            <a:fld id="{FE120BDC-5456-EC41-8BB6-7A3B726EA19B}" type="slidenum">
              <a:rPr lang="de-DE" noProof="1" smtClean="0"/>
              <a:pPr/>
              <a:t>34</a:t>
            </a:fld>
            <a:endParaRPr lang="de-DE" noProof="1"/>
          </a:p>
        </p:txBody>
      </p:sp>
      <p:sp>
        <p:nvSpPr>
          <p:cNvPr id="7" name="Textfeld 6">
            <a:extLst>
              <a:ext uri="{FF2B5EF4-FFF2-40B4-BE49-F238E27FC236}">
                <a16:creationId xmlns:a16="http://schemas.microsoft.com/office/drawing/2014/main" id="{BD7FEAF4-C116-263D-E6AD-6DD9D7BA982D}"/>
              </a:ext>
            </a:extLst>
          </p:cNvPr>
          <p:cNvSpPr txBox="1"/>
          <p:nvPr/>
        </p:nvSpPr>
        <p:spPr>
          <a:xfrm>
            <a:off x="298450" y="0"/>
            <a:ext cx="7867650" cy="230832"/>
          </a:xfrm>
          <a:prstGeom prst="rect">
            <a:avLst/>
          </a:prstGeom>
          <a:noFill/>
        </p:spPr>
        <p:txBody>
          <a:bodyPr wrap="square">
            <a:spAutoFit/>
          </a:bodyPr>
          <a:lstStyle/>
          <a:p>
            <a:r>
              <a:rPr lang="de-DE" sz="900" noProof="1"/>
              <a:t>Motivation | Dialogue Based XAI| </a:t>
            </a:r>
            <a:r>
              <a:rPr lang="de-DE" sz="900" b="1" noProof="1"/>
              <a:t>Integrating Domain Knowledge </a:t>
            </a:r>
            <a:r>
              <a:rPr lang="de-DE" sz="900" noProof="1"/>
              <a:t>|  Outlook</a:t>
            </a:r>
          </a:p>
        </p:txBody>
      </p:sp>
      <p:sp>
        <p:nvSpPr>
          <p:cNvPr id="11" name="Inhaltsplatzhalter 10">
            <a:extLst>
              <a:ext uri="{FF2B5EF4-FFF2-40B4-BE49-F238E27FC236}">
                <a16:creationId xmlns:a16="http://schemas.microsoft.com/office/drawing/2014/main" id="{152F0C08-93B1-A502-9A04-0A0B95EE69FC}"/>
              </a:ext>
            </a:extLst>
          </p:cNvPr>
          <p:cNvSpPr>
            <a:spLocks noGrp="1"/>
          </p:cNvSpPr>
          <p:nvPr>
            <p:ph sz="quarter" idx="13"/>
          </p:nvPr>
        </p:nvSpPr>
        <p:spPr/>
        <p:txBody>
          <a:bodyPr/>
          <a:lstStyle/>
          <a:p>
            <a:endParaRPr lang="de-DE" noProof="1"/>
          </a:p>
        </p:txBody>
      </p:sp>
      <p:sp>
        <p:nvSpPr>
          <p:cNvPr id="15" name="Textfeld 14">
            <a:extLst>
              <a:ext uri="{FF2B5EF4-FFF2-40B4-BE49-F238E27FC236}">
                <a16:creationId xmlns:a16="http://schemas.microsoft.com/office/drawing/2014/main" id="{502DE7C2-B4BE-1BC3-AA66-AA1776FA5EB8}"/>
              </a:ext>
            </a:extLst>
          </p:cNvPr>
          <p:cNvSpPr txBox="1"/>
          <p:nvPr/>
        </p:nvSpPr>
        <p:spPr>
          <a:xfrm>
            <a:off x="2286000" y="2389082"/>
            <a:ext cx="4572000" cy="369332"/>
          </a:xfrm>
          <a:prstGeom prst="rect">
            <a:avLst/>
          </a:prstGeom>
          <a:noFill/>
        </p:spPr>
        <p:txBody>
          <a:bodyPr wrap="square">
            <a:spAutoFit/>
          </a:bodyPr>
          <a:lstStyle/>
          <a:p>
            <a:endParaRPr lang="de-DE" noProof="1"/>
          </a:p>
        </p:txBody>
      </p:sp>
      <p:pic>
        <p:nvPicPr>
          <p:cNvPr id="17" name="Grafik 16">
            <a:extLst>
              <a:ext uri="{FF2B5EF4-FFF2-40B4-BE49-F238E27FC236}">
                <a16:creationId xmlns:a16="http://schemas.microsoft.com/office/drawing/2014/main" id="{D3650F7C-39D1-30B4-65A9-5A4112132085}"/>
              </a:ext>
            </a:extLst>
          </p:cNvPr>
          <p:cNvPicPr>
            <a:picLocks noChangeAspect="1"/>
          </p:cNvPicPr>
          <p:nvPr/>
        </p:nvPicPr>
        <p:blipFill>
          <a:blip r:embed="rId2"/>
          <a:stretch>
            <a:fillRect/>
          </a:stretch>
        </p:blipFill>
        <p:spPr>
          <a:xfrm>
            <a:off x="2209117" y="1401593"/>
            <a:ext cx="4046315" cy="3136871"/>
          </a:xfrm>
          <a:prstGeom prst="rect">
            <a:avLst/>
          </a:prstGeom>
        </p:spPr>
      </p:pic>
    </p:spTree>
    <p:extLst>
      <p:ext uri="{BB962C8B-B14F-4D97-AF65-F5344CB8AC3E}">
        <p14:creationId xmlns:p14="http://schemas.microsoft.com/office/powerpoint/2010/main" val="1604104105"/>
      </p:ext>
    </p:extLst>
  </p:cSld>
  <p:clrMapOvr>
    <a:masterClrMapping/>
  </p:clrMapOvr>
  <p:transition spd="slow">
    <p:push dir="u"/>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ctrTitle"/>
          </p:nvPr>
        </p:nvSpPr>
        <p:spPr/>
        <p:txBody>
          <a:bodyPr/>
          <a:lstStyle/>
          <a:p>
            <a:r>
              <a:rPr lang="de-DE" noProof="1"/>
              <a:t>Preliminary</a:t>
            </a:r>
            <a:br>
              <a:rPr lang="de-DE" noProof="1"/>
            </a:br>
            <a:r>
              <a:rPr lang="de-DE" noProof="1"/>
              <a:t>User Study</a:t>
            </a:r>
          </a:p>
        </p:txBody>
      </p:sp>
      <p:sp>
        <p:nvSpPr>
          <p:cNvPr id="3" name="Inhaltsplatzhalter 2"/>
          <p:cNvSpPr>
            <a:spLocks noGrp="1"/>
          </p:cNvSpPr>
          <p:nvPr>
            <p:ph sz="quarter" idx="13"/>
          </p:nvPr>
        </p:nvSpPr>
        <p:spPr/>
        <p:txBody>
          <a:bodyPr/>
          <a:lstStyle/>
          <a:p>
            <a:endParaRPr lang="de-DE" noProof="1"/>
          </a:p>
        </p:txBody>
      </p:sp>
      <p:sp>
        <p:nvSpPr>
          <p:cNvPr id="4" name="Datumsplatzhalter 3"/>
          <p:cNvSpPr>
            <a:spLocks noGrp="1"/>
          </p:cNvSpPr>
          <p:nvPr>
            <p:ph type="dt" sz="half" idx="10"/>
          </p:nvPr>
        </p:nvSpPr>
        <p:spPr/>
        <p:txBody>
          <a:bodyPr/>
          <a:lstStyle/>
          <a:p>
            <a:r>
              <a:rPr lang="en-US" noProof="1"/>
              <a:t>18.08.2025</a:t>
            </a:r>
            <a:endParaRPr lang="de-DE" noProof="1"/>
          </a:p>
        </p:txBody>
      </p:sp>
      <p:sp>
        <p:nvSpPr>
          <p:cNvPr id="5" name="Fußzeilenplatzhalter 4"/>
          <p:cNvSpPr>
            <a:spLocks noGrp="1"/>
          </p:cNvSpPr>
          <p:nvPr>
            <p:ph type="ftr" sz="quarter" idx="11"/>
          </p:nvPr>
        </p:nvSpPr>
        <p:spPr/>
        <p:txBody>
          <a:bodyPr/>
          <a:lstStyle/>
          <a:p>
            <a:r>
              <a:rPr lang="en-US" noProof="1"/>
              <a:t>Enhancing model transparency: Effects of DK Integration for Conversational XAI | Feustel</a:t>
            </a:r>
            <a:endParaRPr lang="de-DE" noProof="1"/>
          </a:p>
        </p:txBody>
      </p:sp>
      <p:sp>
        <p:nvSpPr>
          <p:cNvPr id="6" name="Foliennummernplatzhalter 5"/>
          <p:cNvSpPr>
            <a:spLocks noGrp="1"/>
          </p:cNvSpPr>
          <p:nvPr>
            <p:ph type="sldNum" sz="quarter" idx="12"/>
          </p:nvPr>
        </p:nvSpPr>
        <p:spPr/>
        <p:txBody>
          <a:bodyPr/>
          <a:lstStyle/>
          <a:p>
            <a:r>
              <a:rPr lang="de-DE" noProof="1"/>
              <a:t> </a:t>
            </a:r>
            <a:fld id="{FE120BDC-5456-EC41-8BB6-7A3B726EA19B}" type="slidenum">
              <a:rPr lang="de-DE" noProof="1" smtClean="0"/>
              <a:pPr/>
              <a:t>35</a:t>
            </a:fld>
            <a:endParaRPr lang="de-DE" noProof="1"/>
          </a:p>
        </p:txBody>
      </p:sp>
      <p:pic>
        <p:nvPicPr>
          <p:cNvPr id="7" name="Grafik 6">
            <a:extLst>
              <a:ext uri="{FF2B5EF4-FFF2-40B4-BE49-F238E27FC236}">
                <a16:creationId xmlns:a16="http://schemas.microsoft.com/office/drawing/2014/main" id="{AF4CCF5F-CCD8-AEFE-F185-43B387493CD7}"/>
              </a:ext>
            </a:extLst>
          </p:cNvPr>
          <p:cNvPicPr>
            <a:picLocks noChangeAspect="1"/>
          </p:cNvPicPr>
          <p:nvPr/>
        </p:nvPicPr>
        <p:blipFill>
          <a:blip r:embed="rId3"/>
          <a:stretch>
            <a:fillRect/>
          </a:stretch>
        </p:blipFill>
        <p:spPr>
          <a:xfrm>
            <a:off x="2539396" y="42582"/>
            <a:ext cx="5102808" cy="4895537"/>
          </a:xfrm>
          <a:prstGeom prst="rect">
            <a:avLst/>
          </a:prstGeom>
        </p:spPr>
      </p:pic>
    </p:spTree>
    <p:extLst>
      <p:ext uri="{BB962C8B-B14F-4D97-AF65-F5344CB8AC3E}">
        <p14:creationId xmlns:p14="http://schemas.microsoft.com/office/powerpoint/2010/main" val="3625534192"/>
      </p:ext>
    </p:extLst>
  </p:cSld>
  <p:clrMapOvr>
    <a:masterClrMapping/>
  </p:clrMapOvr>
  <p:transition spd="slow">
    <p:push dir="u"/>
  </p:transition>
</p:sld>
</file>

<file path=ppt/slides/slide3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801AD9E-54D8-B2F6-0295-4EFFA63CC849}"/>
              </a:ext>
            </a:extLst>
          </p:cNvPr>
          <p:cNvSpPr>
            <a:spLocks noGrp="1"/>
          </p:cNvSpPr>
          <p:nvPr>
            <p:ph type="ctrTitle"/>
          </p:nvPr>
        </p:nvSpPr>
        <p:spPr/>
        <p:txBody>
          <a:bodyPr/>
          <a:lstStyle/>
          <a:p>
            <a:r>
              <a:rPr lang="de-DE" noProof="1"/>
              <a:t>Domain Knowledge for Credit Application</a:t>
            </a:r>
          </a:p>
        </p:txBody>
      </p:sp>
      <p:sp>
        <p:nvSpPr>
          <p:cNvPr id="4" name="Datumsplatzhalter 3">
            <a:extLst>
              <a:ext uri="{FF2B5EF4-FFF2-40B4-BE49-F238E27FC236}">
                <a16:creationId xmlns:a16="http://schemas.microsoft.com/office/drawing/2014/main" id="{5F154536-1BBF-F052-5218-77B497110706}"/>
              </a:ext>
            </a:extLst>
          </p:cNvPr>
          <p:cNvSpPr>
            <a:spLocks noGrp="1"/>
          </p:cNvSpPr>
          <p:nvPr>
            <p:ph type="dt" sz="half" idx="10"/>
          </p:nvPr>
        </p:nvSpPr>
        <p:spPr/>
        <p:txBody>
          <a:bodyPr/>
          <a:lstStyle/>
          <a:p>
            <a:r>
              <a:rPr lang="en-US" noProof="1"/>
              <a:t>18.08.2025</a:t>
            </a:r>
            <a:endParaRPr lang="de-DE" noProof="1"/>
          </a:p>
        </p:txBody>
      </p:sp>
      <p:sp>
        <p:nvSpPr>
          <p:cNvPr id="5" name="Fußzeilenplatzhalter 4">
            <a:extLst>
              <a:ext uri="{FF2B5EF4-FFF2-40B4-BE49-F238E27FC236}">
                <a16:creationId xmlns:a16="http://schemas.microsoft.com/office/drawing/2014/main" id="{1BBD7DBE-8E52-C3C5-7885-1E3687F02F64}"/>
              </a:ext>
            </a:extLst>
          </p:cNvPr>
          <p:cNvSpPr>
            <a:spLocks noGrp="1"/>
          </p:cNvSpPr>
          <p:nvPr>
            <p:ph type="ftr" sz="quarter" idx="11"/>
          </p:nvPr>
        </p:nvSpPr>
        <p:spPr/>
        <p:txBody>
          <a:bodyPr/>
          <a:lstStyle/>
          <a:p>
            <a:r>
              <a:rPr lang="en-US" noProof="1"/>
              <a:t>Enhancing model transparency: Effects of DK Integration for Conversational XAI | Feustel</a:t>
            </a:r>
            <a:endParaRPr lang="de-DE" noProof="1"/>
          </a:p>
        </p:txBody>
      </p:sp>
      <p:sp>
        <p:nvSpPr>
          <p:cNvPr id="6" name="Foliennummernplatzhalter 5">
            <a:extLst>
              <a:ext uri="{FF2B5EF4-FFF2-40B4-BE49-F238E27FC236}">
                <a16:creationId xmlns:a16="http://schemas.microsoft.com/office/drawing/2014/main" id="{E64C0CA5-7DF2-BEE5-D14C-64B21D9C0124}"/>
              </a:ext>
            </a:extLst>
          </p:cNvPr>
          <p:cNvSpPr>
            <a:spLocks noGrp="1"/>
          </p:cNvSpPr>
          <p:nvPr>
            <p:ph type="sldNum" sz="quarter" idx="12"/>
          </p:nvPr>
        </p:nvSpPr>
        <p:spPr/>
        <p:txBody>
          <a:bodyPr/>
          <a:lstStyle/>
          <a:p>
            <a:r>
              <a:rPr lang="de-DE" noProof="1"/>
              <a:t> </a:t>
            </a:r>
            <a:fld id="{FE120BDC-5456-EC41-8BB6-7A3B726EA19B}" type="slidenum">
              <a:rPr lang="de-DE" noProof="1" smtClean="0"/>
              <a:pPr/>
              <a:t>36</a:t>
            </a:fld>
            <a:endParaRPr lang="de-DE" noProof="1"/>
          </a:p>
        </p:txBody>
      </p:sp>
      <mc:AlternateContent xmlns:mc="http://schemas.openxmlformats.org/markup-compatibility/2006" xmlns:p14="http://schemas.microsoft.com/office/powerpoint/2010/main">
        <mc:Choice Requires="p14">
          <p:contentPart p14:bwMode="auto" r:id="rId3">
            <p14:nvContentPartPr>
              <p14:cNvPr id="8" name="Freihand 7">
                <a:extLst>
                  <a:ext uri="{FF2B5EF4-FFF2-40B4-BE49-F238E27FC236}">
                    <a16:creationId xmlns:a16="http://schemas.microsoft.com/office/drawing/2014/main" id="{E2EAC4D5-63A1-40B8-F344-0579480C11EB}"/>
                  </a:ext>
                </a:extLst>
              </p14:cNvPr>
              <p14:cNvContentPartPr/>
              <p14:nvPr/>
            </p14:nvContentPartPr>
            <p14:xfrm>
              <a:off x="5035460" y="1949220"/>
              <a:ext cx="360" cy="360"/>
            </p14:xfrm>
          </p:contentPart>
        </mc:Choice>
        <mc:Fallback xmlns="">
          <p:pic>
            <p:nvPicPr>
              <p:cNvPr id="8" name="Freihand 7">
                <a:extLst>
                  <a:ext uri="{FF2B5EF4-FFF2-40B4-BE49-F238E27FC236}">
                    <a16:creationId xmlns:a16="http://schemas.microsoft.com/office/drawing/2014/main" id="{E2EAC4D5-63A1-40B8-F344-0579480C11EB}"/>
                  </a:ext>
                </a:extLst>
              </p:cNvPr>
              <p:cNvPicPr/>
              <p:nvPr/>
            </p:nvPicPr>
            <p:blipFill>
              <a:blip r:embed="rId5"/>
              <a:stretch>
                <a:fillRect/>
              </a:stretch>
            </p:blipFill>
            <p:spPr>
              <a:xfrm>
                <a:off x="5029340" y="1943100"/>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9" name="Freihand 8">
                <a:extLst>
                  <a:ext uri="{FF2B5EF4-FFF2-40B4-BE49-F238E27FC236}">
                    <a16:creationId xmlns:a16="http://schemas.microsoft.com/office/drawing/2014/main" id="{479B21CD-3BE6-1D6C-2DE5-9838EA61A4F4}"/>
                  </a:ext>
                </a:extLst>
              </p14:cNvPr>
              <p14:cNvContentPartPr/>
              <p14:nvPr/>
            </p14:nvContentPartPr>
            <p14:xfrm>
              <a:off x="-603580" y="2546100"/>
              <a:ext cx="360" cy="360"/>
            </p14:xfrm>
          </p:contentPart>
        </mc:Choice>
        <mc:Fallback xmlns="">
          <p:pic>
            <p:nvPicPr>
              <p:cNvPr id="9" name="Freihand 8">
                <a:extLst>
                  <a:ext uri="{FF2B5EF4-FFF2-40B4-BE49-F238E27FC236}">
                    <a16:creationId xmlns:a16="http://schemas.microsoft.com/office/drawing/2014/main" id="{479B21CD-3BE6-1D6C-2DE5-9838EA61A4F4}"/>
                  </a:ext>
                </a:extLst>
              </p:cNvPr>
              <p:cNvPicPr/>
              <p:nvPr/>
            </p:nvPicPr>
            <p:blipFill>
              <a:blip r:embed="rId5"/>
              <a:stretch>
                <a:fillRect/>
              </a:stretch>
            </p:blipFill>
            <p:spPr>
              <a:xfrm>
                <a:off x="-609700" y="2539980"/>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10" name="Freihand 9">
                <a:extLst>
                  <a:ext uri="{FF2B5EF4-FFF2-40B4-BE49-F238E27FC236}">
                    <a16:creationId xmlns:a16="http://schemas.microsoft.com/office/drawing/2014/main" id="{EC72D354-551F-BEBD-5028-C3CCE6EA638E}"/>
                  </a:ext>
                </a:extLst>
              </p14:cNvPr>
              <p14:cNvContentPartPr/>
              <p14:nvPr/>
            </p14:nvContentPartPr>
            <p14:xfrm>
              <a:off x="5975060" y="4292460"/>
              <a:ext cx="360" cy="360"/>
            </p14:xfrm>
          </p:contentPart>
        </mc:Choice>
        <mc:Fallback xmlns="">
          <p:pic>
            <p:nvPicPr>
              <p:cNvPr id="10" name="Freihand 9">
                <a:extLst>
                  <a:ext uri="{FF2B5EF4-FFF2-40B4-BE49-F238E27FC236}">
                    <a16:creationId xmlns:a16="http://schemas.microsoft.com/office/drawing/2014/main" id="{EC72D354-551F-BEBD-5028-C3CCE6EA638E}"/>
                  </a:ext>
                </a:extLst>
              </p:cNvPr>
              <p:cNvPicPr/>
              <p:nvPr/>
            </p:nvPicPr>
            <p:blipFill>
              <a:blip r:embed="rId5"/>
              <a:stretch>
                <a:fillRect/>
              </a:stretch>
            </p:blipFill>
            <p:spPr>
              <a:xfrm>
                <a:off x="5968940" y="4286340"/>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11" name="Freihand 10">
                <a:extLst>
                  <a:ext uri="{FF2B5EF4-FFF2-40B4-BE49-F238E27FC236}">
                    <a16:creationId xmlns:a16="http://schemas.microsoft.com/office/drawing/2014/main" id="{6E417CCF-9E42-A549-AB59-D6D20027BD88}"/>
                  </a:ext>
                </a:extLst>
              </p14:cNvPr>
              <p14:cNvContentPartPr/>
              <p14:nvPr/>
            </p14:nvContentPartPr>
            <p14:xfrm>
              <a:off x="9994820" y="3041460"/>
              <a:ext cx="360" cy="360"/>
            </p14:xfrm>
          </p:contentPart>
        </mc:Choice>
        <mc:Fallback xmlns="">
          <p:pic>
            <p:nvPicPr>
              <p:cNvPr id="11" name="Freihand 10">
                <a:extLst>
                  <a:ext uri="{FF2B5EF4-FFF2-40B4-BE49-F238E27FC236}">
                    <a16:creationId xmlns:a16="http://schemas.microsoft.com/office/drawing/2014/main" id="{6E417CCF-9E42-A549-AB59-D6D20027BD88}"/>
                  </a:ext>
                </a:extLst>
              </p:cNvPr>
              <p:cNvPicPr/>
              <p:nvPr/>
            </p:nvPicPr>
            <p:blipFill>
              <a:blip r:embed="rId5"/>
              <a:stretch>
                <a:fillRect/>
              </a:stretch>
            </p:blipFill>
            <p:spPr>
              <a:xfrm>
                <a:off x="9988700" y="3035340"/>
                <a:ext cx="12600" cy="12600"/>
              </a:xfrm>
              <a:prstGeom prst="rect">
                <a:avLst/>
              </a:prstGeom>
            </p:spPr>
          </p:pic>
        </mc:Fallback>
      </mc:AlternateContent>
      <p:sp>
        <p:nvSpPr>
          <p:cNvPr id="13" name="Textfeld 12">
            <a:extLst>
              <a:ext uri="{FF2B5EF4-FFF2-40B4-BE49-F238E27FC236}">
                <a16:creationId xmlns:a16="http://schemas.microsoft.com/office/drawing/2014/main" id="{C6292F42-1D30-AC86-3339-F38139370691}"/>
              </a:ext>
            </a:extLst>
          </p:cNvPr>
          <p:cNvSpPr txBox="1"/>
          <p:nvPr/>
        </p:nvSpPr>
        <p:spPr>
          <a:xfrm>
            <a:off x="342900" y="0"/>
            <a:ext cx="7867650" cy="246221"/>
          </a:xfrm>
          <a:prstGeom prst="rect">
            <a:avLst/>
          </a:prstGeom>
          <a:noFill/>
        </p:spPr>
        <p:txBody>
          <a:bodyPr wrap="square">
            <a:spAutoFit/>
          </a:bodyPr>
          <a:lstStyle/>
          <a:p>
            <a:r>
              <a:rPr lang="de-DE" sz="1000" noProof="1">
                <a:latin typeface="Arial" panose="020B0604020202020204" pitchFamily="34" charset="0"/>
                <a:cs typeface="Arial" panose="020B0604020202020204" pitchFamily="34" charset="0"/>
              </a:rPr>
              <a:t>Motivation | Dialogue Based XAI | </a:t>
            </a:r>
            <a:r>
              <a:rPr lang="de-DE" sz="1000" b="1" noProof="1">
                <a:latin typeface="Arial" panose="020B0604020202020204" pitchFamily="34" charset="0"/>
                <a:cs typeface="Arial" panose="020B0604020202020204" pitchFamily="34" charset="0"/>
              </a:rPr>
              <a:t>Integrating Domain Knowledge </a:t>
            </a:r>
            <a:r>
              <a:rPr lang="de-DE" sz="1000" noProof="1">
                <a:latin typeface="Arial" panose="020B0604020202020204" pitchFamily="34" charset="0"/>
                <a:cs typeface="Arial" panose="020B0604020202020204" pitchFamily="34" charset="0"/>
              </a:rPr>
              <a:t>|  Outlook</a:t>
            </a:r>
          </a:p>
        </p:txBody>
      </p:sp>
      <p:sp>
        <p:nvSpPr>
          <p:cNvPr id="14" name="Rechteck 13">
            <a:extLst>
              <a:ext uri="{FF2B5EF4-FFF2-40B4-BE49-F238E27FC236}">
                <a16:creationId xmlns:a16="http://schemas.microsoft.com/office/drawing/2014/main" id="{1F5E8588-1B82-B697-85E2-7FDFCE783B5C}"/>
              </a:ext>
            </a:extLst>
          </p:cNvPr>
          <p:cNvSpPr/>
          <p:nvPr/>
        </p:nvSpPr>
        <p:spPr>
          <a:xfrm>
            <a:off x="2960796" y="3327490"/>
            <a:ext cx="3090570" cy="1526260"/>
          </a:xfrm>
          <a:prstGeom prst="rect">
            <a:avLst/>
          </a:prstGeom>
          <a:solidFill>
            <a:schemeClr val="accent4">
              <a:alpha val="70000"/>
            </a:schemeClr>
          </a:solidFill>
          <a:ln>
            <a:solidFill>
              <a:schemeClr val="accent4">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vert="horz" rtlCol="0" anchor="ctr"/>
          <a:lstStyle/>
          <a:p>
            <a:pPr algn="ctr"/>
            <a:r>
              <a:rPr lang="de-DE" sz="1400" b="0" i="0" u="none" strike="noStrike" baseline="0" noProof="1">
                <a:solidFill>
                  <a:schemeClr val="tx1"/>
                </a:solidFill>
                <a:latin typeface="Arial" panose="020B0604020202020204" pitchFamily="34" charset="0"/>
                <a:cs typeface="Arial" panose="020B0604020202020204" pitchFamily="34" charset="0"/>
              </a:rPr>
              <a:t>The purpose for which a credit is sought influences its acceptance as certain types of loans, such as mortgages or business loans, may be viewed more favorably by lenders due to their potential for generating income or investment returns.</a:t>
            </a:r>
            <a:endParaRPr lang="de-DE" sz="1400" noProof="1">
              <a:solidFill>
                <a:schemeClr val="tx1"/>
              </a:solidFill>
              <a:latin typeface="Arial" panose="020B0604020202020204" pitchFamily="34" charset="0"/>
              <a:cs typeface="Arial" panose="020B0604020202020204" pitchFamily="34" charset="0"/>
            </a:endParaRPr>
          </a:p>
        </p:txBody>
      </p:sp>
      <p:sp>
        <p:nvSpPr>
          <p:cNvPr id="15" name="Rechteck 14">
            <a:extLst>
              <a:ext uri="{FF2B5EF4-FFF2-40B4-BE49-F238E27FC236}">
                <a16:creationId xmlns:a16="http://schemas.microsoft.com/office/drawing/2014/main" id="{F2E38373-EBA0-5AE4-ADBD-A14611B959BA}"/>
              </a:ext>
            </a:extLst>
          </p:cNvPr>
          <p:cNvSpPr/>
          <p:nvPr/>
        </p:nvSpPr>
        <p:spPr>
          <a:xfrm>
            <a:off x="395287" y="3327490"/>
            <a:ext cx="2095159" cy="1526260"/>
          </a:xfrm>
          <a:prstGeom prst="rect">
            <a:avLst/>
          </a:prstGeom>
          <a:solidFill>
            <a:schemeClr val="accent4">
              <a:alpha val="70000"/>
            </a:schemeClr>
          </a:solidFill>
          <a:ln>
            <a:solidFill>
              <a:schemeClr val="accent4">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vert="horz" rtlCol="0" anchor="ctr"/>
          <a:lstStyle/>
          <a:p>
            <a:pPr algn="ctr"/>
            <a:r>
              <a:rPr lang="de-DE" sz="1400" b="0" i="0" u="none" strike="noStrike" baseline="0" noProof="1">
                <a:solidFill>
                  <a:schemeClr val="tx1"/>
                </a:solidFill>
                <a:latin typeface="Arial" panose="020B0604020202020204" pitchFamily="34" charset="0"/>
                <a:cs typeface="Arial" panose="020B0604020202020204" pitchFamily="34" charset="0"/>
              </a:rPr>
              <a:t>Essential purchases, such as a home or education, are typically considered investments in the borrower's future financial stability.</a:t>
            </a:r>
            <a:endParaRPr lang="de-DE" sz="1400" noProof="1">
              <a:solidFill>
                <a:schemeClr val="tx1"/>
              </a:solidFill>
              <a:latin typeface="Arial" panose="020B0604020202020204" pitchFamily="34" charset="0"/>
              <a:cs typeface="Arial" panose="020B0604020202020204" pitchFamily="34" charset="0"/>
            </a:endParaRPr>
          </a:p>
        </p:txBody>
      </p:sp>
      <p:sp>
        <p:nvSpPr>
          <p:cNvPr id="16" name="Rechteck 15">
            <a:extLst>
              <a:ext uri="{FF2B5EF4-FFF2-40B4-BE49-F238E27FC236}">
                <a16:creationId xmlns:a16="http://schemas.microsoft.com/office/drawing/2014/main" id="{760B3E44-D1B7-2D79-7DA7-FEED507B8CA9}"/>
              </a:ext>
            </a:extLst>
          </p:cNvPr>
          <p:cNvSpPr/>
          <p:nvPr/>
        </p:nvSpPr>
        <p:spPr>
          <a:xfrm>
            <a:off x="6879054" y="3327490"/>
            <a:ext cx="2104497" cy="1526260"/>
          </a:xfrm>
          <a:prstGeom prst="rect">
            <a:avLst/>
          </a:prstGeom>
          <a:solidFill>
            <a:schemeClr val="accent4">
              <a:alpha val="70000"/>
            </a:schemeClr>
          </a:solidFill>
          <a:ln>
            <a:solidFill>
              <a:schemeClr val="accent4">
                <a:lumMod val="75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vert="horz" rtlCol="0" anchor="ctr"/>
          <a:lstStyle/>
          <a:p>
            <a:pPr algn="ctr"/>
            <a:r>
              <a:rPr lang="de-DE" sz="1400" noProof="1">
                <a:solidFill>
                  <a:schemeClr val="tx1"/>
                </a:solidFill>
                <a:latin typeface="Arial" panose="020B0604020202020204" pitchFamily="34" charset="0"/>
                <a:cs typeface="Arial" panose="020B0604020202020204" pitchFamily="34" charset="0"/>
              </a:rPr>
              <a:t>Used cars typically cost less than new cars. This leads to smaller loan amounts, reducing the lender's risk.</a:t>
            </a:r>
          </a:p>
        </p:txBody>
      </p:sp>
      <p:sp>
        <p:nvSpPr>
          <p:cNvPr id="17" name="Rechteck 16">
            <a:extLst>
              <a:ext uri="{FF2B5EF4-FFF2-40B4-BE49-F238E27FC236}">
                <a16:creationId xmlns:a16="http://schemas.microsoft.com/office/drawing/2014/main" id="{59115826-D770-0208-36D3-AF6F9C861E6A}"/>
              </a:ext>
            </a:extLst>
          </p:cNvPr>
          <p:cNvSpPr/>
          <p:nvPr/>
        </p:nvSpPr>
        <p:spPr>
          <a:xfrm>
            <a:off x="5441850" y="1816011"/>
            <a:ext cx="1655377" cy="1198793"/>
          </a:xfrm>
          <a:prstGeom prst="rect">
            <a:avLst/>
          </a:prstGeom>
          <a:solidFill>
            <a:schemeClr val="accent4">
              <a:alpha val="70000"/>
            </a:schemeClr>
          </a:solidFill>
          <a:ln>
            <a:solidFill>
              <a:schemeClr val="accent4">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vert="horz" rtlCol="0" anchor="ctr"/>
          <a:lstStyle/>
          <a:p>
            <a:pPr algn="ctr"/>
            <a:r>
              <a:rPr lang="de-DE" sz="1400" b="0" i="0" u="none" strike="noStrike" baseline="0" noProof="1">
                <a:solidFill>
                  <a:schemeClr val="tx1"/>
                </a:solidFill>
                <a:latin typeface="Arial" panose="020B0604020202020204" pitchFamily="34" charset="0"/>
                <a:cs typeface="Arial" panose="020B0604020202020204" pitchFamily="34" charset="0"/>
              </a:rPr>
              <a:t>Loans for specific purposes (car, house) have unique considerations.</a:t>
            </a:r>
            <a:endParaRPr lang="de-DE" sz="1400" noProof="1">
              <a:solidFill>
                <a:schemeClr val="tx1"/>
              </a:solidFill>
              <a:latin typeface="Arial" panose="020B0604020202020204" pitchFamily="34" charset="0"/>
              <a:cs typeface="Arial" panose="020B0604020202020204" pitchFamily="34" charset="0"/>
            </a:endParaRPr>
          </a:p>
        </p:txBody>
      </p:sp>
      <p:sp>
        <p:nvSpPr>
          <p:cNvPr id="18" name="Rechteck 17">
            <a:extLst>
              <a:ext uri="{FF2B5EF4-FFF2-40B4-BE49-F238E27FC236}">
                <a16:creationId xmlns:a16="http://schemas.microsoft.com/office/drawing/2014/main" id="{A3421147-7719-4C73-1FF7-9DAAC915FBFB}"/>
              </a:ext>
            </a:extLst>
          </p:cNvPr>
          <p:cNvSpPr/>
          <p:nvPr/>
        </p:nvSpPr>
        <p:spPr>
          <a:xfrm>
            <a:off x="1494005" y="1816011"/>
            <a:ext cx="1652933" cy="1157836"/>
          </a:xfrm>
          <a:prstGeom prst="rect">
            <a:avLst/>
          </a:prstGeom>
          <a:solidFill>
            <a:schemeClr val="accent4">
              <a:alpha val="70000"/>
            </a:schemeClr>
          </a:solidFill>
          <a:ln>
            <a:solidFill>
              <a:schemeClr val="accent4">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vert="horz" rtlCol="0" anchor="ctr"/>
          <a:lstStyle/>
          <a:p>
            <a:pPr algn="ctr"/>
            <a:r>
              <a:rPr lang="de-DE" sz="1400" b="0" i="0" u="none" strike="noStrike" baseline="0" noProof="1">
                <a:solidFill>
                  <a:schemeClr val="tx1"/>
                </a:solidFill>
                <a:latin typeface="Arial" panose="020B0604020202020204" pitchFamily="34" charset="0"/>
                <a:cs typeface="Arial" panose="020B0604020202020204" pitchFamily="34" charset="0"/>
              </a:rPr>
              <a:t>Loans for necessary expenses are generally viewed more favorably.</a:t>
            </a:r>
            <a:endParaRPr lang="de-DE" sz="1400" noProof="1">
              <a:solidFill>
                <a:schemeClr val="tx1"/>
              </a:solidFill>
              <a:latin typeface="Arial" panose="020B0604020202020204" pitchFamily="34" charset="0"/>
              <a:cs typeface="Arial" panose="020B0604020202020204" pitchFamily="34" charset="0"/>
            </a:endParaRPr>
          </a:p>
        </p:txBody>
      </p:sp>
      <p:sp>
        <p:nvSpPr>
          <p:cNvPr id="19" name="Rechteck 18">
            <a:extLst>
              <a:ext uri="{FF2B5EF4-FFF2-40B4-BE49-F238E27FC236}">
                <a16:creationId xmlns:a16="http://schemas.microsoft.com/office/drawing/2014/main" id="{93EA9A20-E196-4B8A-6B7D-32D1386E308C}"/>
              </a:ext>
            </a:extLst>
          </p:cNvPr>
          <p:cNvSpPr/>
          <p:nvPr/>
        </p:nvSpPr>
        <p:spPr>
          <a:xfrm>
            <a:off x="3486137" y="780837"/>
            <a:ext cx="1667754" cy="1476235"/>
          </a:xfrm>
          <a:prstGeom prst="rect">
            <a:avLst/>
          </a:prstGeom>
          <a:solidFill>
            <a:schemeClr val="accent4">
              <a:alpha val="80000"/>
            </a:schemeClr>
          </a:solidFill>
          <a:ln>
            <a:solidFill>
              <a:schemeClr val="accent4">
                <a:lumMod val="75000"/>
              </a:schemeClr>
            </a:solidFill>
          </a:ln>
        </p:spPr>
        <p:style>
          <a:lnRef idx="0">
            <a:scrgbClr r="0" g="0" b="0"/>
          </a:lnRef>
          <a:fillRef idx="0">
            <a:scrgbClr r="0" g="0" b="0"/>
          </a:fillRef>
          <a:effectRef idx="0">
            <a:scrgbClr r="0" g="0" b="0"/>
          </a:effectRef>
          <a:fontRef idx="minor">
            <a:schemeClr val="lt1"/>
          </a:fontRef>
        </p:style>
        <p:txBody>
          <a:bodyPr vert="horz" rtlCol="0" anchor="ctr"/>
          <a:lstStyle/>
          <a:p>
            <a:pPr algn="ctr"/>
            <a:r>
              <a:rPr lang="de-DE" sz="1400" noProof="1">
                <a:solidFill>
                  <a:schemeClr val="tx1"/>
                </a:solidFill>
                <a:latin typeface="Arial" panose="020B0604020202020204" pitchFamily="34" charset="0"/>
                <a:cs typeface="Arial" panose="020B0604020202020204" pitchFamily="34" charset="0"/>
              </a:rPr>
              <a:t>The purpose of a loan impacts the likelihood of credit approval.</a:t>
            </a:r>
          </a:p>
        </p:txBody>
      </p:sp>
      <p:cxnSp>
        <p:nvCxnSpPr>
          <p:cNvPr id="20" name="Verbinder: gewinkelt 19">
            <a:extLst>
              <a:ext uri="{FF2B5EF4-FFF2-40B4-BE49-F238E27FC236}">
                <a16:creationId xmlns:a16="http://schemas.microsoft.com/office/drawing/2014/main" id="{80E92666-9EAB-DA55-DF61-E92A33C7EDF3}"/>
              </a:ext>
            </a:extLst>
          </p:cNvPr>
          <p:cNvCxnSpPr>
            <a:cxnSpLocks/>
            <a:stCxn id="18" idx="0"/>
            <a:endCxn id="19" idx="1"/>
          </p:cNvCxnSpPr>
          <p:nvPr/>
        </p:nvCxnSpPr>
        <p:spPr>
          <a:xfrm rot="5400000" flipH="1" flipV="1">
            <a:off x="2754776" y="1084651"/>
            <a:ext cx="297056" cy="1165665"/>
          </a:xfrm>
          <a:prstGeom prst="bentConnector2">
            <a:avLst/>
          </a:prstGeom>
          <a:ln w="19050" cap="flat" cmpd="sng" algn="ctr">
            <a:solidFill>
              <a:schemeClr val="accent6"/>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1" name="Verbinder: gewinkelt 20">
            <a:extLst>
              <a:ext uri="{FF2B5EF4-FFF2-40B4-BE49-F238E27FC236}">
                <a16:creationId xmlns:a16="http://schemas.microsoft.com/office/drawing/2014/main" id="{D9492339-D5D4-B054-30E7-BA1C38A02AD5}"/>
              </a:ext>
            </a:extLst>
          </p:cNvPr>
          <p:cNvCxnSpPr>
            <a:cxnSpLocks/>
            <a:stCxn id="17" idx="0"/>
            <a:endCxn id="19" idx="3"/>
          </p:cNvCxnSpPr>
          <p:nvPr/>
        </p:nvCxnSpPr>
        <p:spPr>
          <a:xfrm rot="16200000" flipV="1">
            <a:off x="5563187" y="1109659"/>
            <a:ext cx="297056" cy="1115648"/>
          </a:xfrm>
          <a:prstGeom prst="bentConnector2">
            <a:avLst/>
          </a:prstGeom>
          <a:ln w="19050" cap="flat" cmpd="sng" algn="ctr">
            <a:solidFill>
              <a:schemeClr val="accent6"/>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2" name="Verbinder: gewinkelt 21">
            <a:extLst>
              <a:ext uri="{FF2B5EF4-FFF2-40B4-BE49-F238E27FC236}">
                <a16:creationId xmlns:a16="http://schemas.microsoft.com/office/drawing/2014/main" id="{BDFBD1F0-396D-46B5-A174-63EBF48CE421}"/>
              </a:ext>
            </a:extLst>
          </p:cNvPr>
          <p:cNvCxnSpPr>
            <a:cxnSpLocks/>
            <a:stCxn id="15" idx="0"/>
            <a:endCxn id="18" idx="2"/>
          </p:cNvCxnSpPr>
          <p:nvPr/>
        </p:nvCxnSpPr>
        <p:spPr>
          <a:xfrm rot="5400000" flipH="1" flipV="1">
            <a:off x="1704848" y="2711867"/>
            <a:ext cx="353643" cy="877605"/>
          </a:xfrm>
          <a:prstGeom prst="bentConnector3">
            <a:avLst>
              <a:gd name="adj1" fmla="val 50000"/>
            </a:avLst>
          </a:prstGeom>
          <a:ln w="19050" cap="flat" cmpd="sng" algn="ctr">
            <a:solidFill>
              <a:schemeClr val="accent6"/>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3" name="Verbinder: gewinkelt 22">
            <a:extLst>
              <a:ext uri="{FF2B5EF4-FFF2-40B4-BE49-F238E27FC236}">
                <a16:creationId xmlns:a16="http://schemas.microsoft.com/office/drawing/2014/main" id="{5D716A0E-EE3E-9674-2F13-A24B9A2AD8DB}"/>
              </a:ext>
            </a:extLst>
          </p:cNvPr>
          <p:cNvCxnSpPr>
            <a:cxnSpLocks/>
            <a:stCxn id="16" idx="0"/>
            <a:endCxn id="17" idx="3"/>
          </p:cNvCxnSpPr>
          <p:nvPr/>
        </p:nvCxnSpPr>
        <p:spPr>
          <a:xfrm rot="16200000" flipV="1">
            <a:off x="7058224" y="2454411"/>
            <a:ext cx="912082" cy="834076"/>
          </a:xfrm>
          <a:prstGeom prst="bentConnector2">
            <a:avLst/>
          </a:prstGeom>
          <a:ln w="19050" cap="flat" cmpd="sng" algn="ctr">
            <a:solidFill>
              <a:schemeClr val="accent6"/>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44" name="Verbinder: gewinkelt 43">
            <a:extLst>
              <a:ext uri="{FF2B5EF4-FFF2-40B4-BE49-F238E27FC236}">
                <a16:creationId xmlns:a16="http://schemas.microsoft.com/office/drawing/2014/main" id="{E3D460D4-13E2-1782-34D2-E6A0CB6B75ED}"/>
              </a:ext>
            </a:extLst>
          </p:cNvPr>
          <p:cNvCxnSpPr>
            <a:cxnSpLocks/>
            <a:stCxn id="14" idx="0"/>
            <a:endCxn id="18" idx="2"/>
          </p:cNvCxnSpPr>
          <p:nvPr/>
        </p:nvCxnSpPr>
        <p:spPr>
          <a:xfrm rot="16200000" flipV="1">
            <a:off x="3236456" y="2057864"/>
            <a:ext cx="353643" cy="2185609"/>
          </a:xfrm>
          <a:prstGeom prst="bentConnector3">
            <a:avLst>
              <a:gd name="adj1" fmla="val 50000"/>
            </a:avLst>
          </a:prstGeom>
          <a:ln w="19050" cap="flat" cmpd="sng" algn="ctr">
            <a:solidFill>
              <a:schemeClr val="accent6"/>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Tree>
    <p:extLst>
      <p:ext uri="{BB962C8B-B14F-4D97-AF65-F5344CB8AC3E}">
        <p14:creationId xmlns:p14="http://schemas.microsoft.com/office/powerpoint/2010/main" val="1772174100"/>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500"/>
                                        <p:tgtEl>
                                          <p:spTgt spid="1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7"/>
                                        </p:tgtEl>
                                        <p:attrNameLst>
                                          <p:attrName>style.visibility</p:attrName>
                                        </p:attrNameLst>
                                      </p:cBhvr>
                                      <p:to>
                                        <p:strVal val="visible"/>
                                      </p:to>
                                    </p:set>
                                    <p:animEffect transition="in" filter="fade">
                                      <p:cBhvr>
                                        <p:cTn id="12" dur="500"/>
                                        <p:tgtEl>
                                          <p:spTgt spid="17"/>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18"/>
                                        </p:tgtEl>
                                        <p:attrNameLst>
                                          <p:attrName>style.visibility</p:attrName>
                                        </p:attrNameLst>
                                      </p:cBhvr>
                                      <p:to>
                                        <p:strVal val="visible"/>
                                      </p:to>
                                    </p:set>
                                    <p:animEffect transition="in" filter="fade">
                                      <p:cBhvr>
                                        <p:cTn id="15" dur="500"/>
                                        <p:tgtEl>
                                          <p:spTgt spid="18"/>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5"/>
                                        </p:tgtEl>
                                        <p:attrNameLst>
                                          <p:attrName>style.visibility</p:attrName>
                                        </p:attrNameLst>
                                      </p:cBhvr>
                                      <p:to>
                                        <p:strVal val="visible"/>
                                      </p:to>
                                    </p:set>
                                    <p:animEffect transition="in" filter="fade">
                                      <p:cBhvr>
                                        <p:cTn id="18" dur="500"/>
                                        <p:tgtEl>
                                          <p:spTgt spid="15"/>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6"/>
                                        </p:tgtEl>
                                        <p:attrNameLst>
                                          <p:attrName>style.visibility</p:attrName>
                                        </p:attrNameLst>
                                      </p:cBhvr>
                                      <p:to>
                                        <p:strVal val="visible"/>
                                      </p:to>
                                    </p:set>
                                    <p:animEffect transition="in" filter="fade">
                                      <p:cBhvr>
                                        <p:cTn id="21" dur="500"/>
                                        <p:tgtEl>
                                          <p:spTgt spid="16"/>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4"/>
                                        </p:tgtEl>
                                        <p:attrNameLst>
                                          <p:attrName>style.visibility</p:attrName>
                                        </p:attrNameLst>
                                      </p:cBhvr>
                                      <p:to>
                                        <p:strVal val="visible"/>
                                      </p:to>
                                    </p:set>
                                    <p:animEffect transition="in" filter="fade">
                                      <p:cBhvr>
                                        <p:cTn id="24" dur="500"/>
                                        <p:tgtEl>
                                          <p:spTgt spid="14"/>
                                        </p:tgtEl>
                                      </p:cBhvr>
                                    </p:animEffect>
                                  </p:childTnLst>
                                </p:cTn>
                              </p:par>
                              <p:par>
                                <p:cTn id="25" presetID="10" presetClass="entr" presetSubtype="0" fill="hold" nodeType="withEffect">
                                  <p:stCondLst>
                                    <p:cond delay="0"/>
                                  </p:stCondLst>
                                  <p:childTnLst>
                                    <p:set>
                                      <p:cBhvr>
                                        <p:cTn id="26" dur="1" fill="hold">
                                          <p:stCondLst>
                                            <p:cond delay="0"/>
                                          </p:stCondLst>
                                        </p:cTn>
                                        <p:tgtEl>
                                          <p:spTgt spid="22"/>
                                        </p:tgtEl>
                                        <p:attrNameLst>
                                          <p:attrName>style.visibility</p:attrName>
                                        </p:attrNameLst>
                                      </p:cBhvr>
                                      <p:to>
                                        <p:strVal val="visible"/>
                                      </p:to>
                                    </p:set>
                                    <p:animEffect transition="in" filter="fade">
                                      <p:cBhvr>
                                        <p:cTn id="27" dur="500"/>
                                        <p:tgtEl>
                                          <p:spTgt spid="22"/>
                                        </p:tgtEl>
                                      </p:cBhvr>
                                    </p:animEffect>
                                  </p:childTnLst>
                                </p:cTn>
                              </p:par>
                              <p:par>
                                <p:cTn id="28" presetID="10" presetClass="entr" presetSubtype="0" fill="hold" nodeType="withEffect">
                                  <p:stCondLst>
                                    <p:cond delay="0"/>
                                  </p:stCondLst>
                                  <p:childTnLst>
                                    <p:set>
                                      <p:cBhvr>
                                        <p:cTn id="29" dur="1" fill="hold">
                                          <p:stCondLst>
                                            <p:cond delay="0"/>
                                          </p:stCondLst>
                                        </p:cTn>
                                        <p:tgtEl>
                                          <p:spTgt spid="21"/>
                                        </p:tgtEl>
                                        <p:attrNameLst>
                                          <p:attrName>style.visibility</p:attrName>
                                        </p:attrNameLst>
                                      </p:cBhvr>
                                      <p:to>
                                        <p:strVal val="visible"/>
                                      </p:to>
                                    </p:set>
                                    <p:animEffect transition="in" filter="fade">
                                      <p:cBhvr>
                                        <p:cTn id="30" dur="500"/>
                                        <p:tgtEl>
                                          <p:spTgt spid="21"/>
                                        </p:tgtEl>
                                      </p:cBhvr>
                                    </p:animEffect>
                                  </p:childTnLst>
                                </p:cTn>
                              </p:par>
                              <p:par>
                                <p:cTn id="31" presetID="10" presetClass="entr" presetSubtype="0" fill="hold" nodeType="withEffect">
                                  <p:stCondLst>
                                    <p:cond delay="0"/>
                                  </p:stCondLst>
                                  <p:childTnLst>
                                    <p:set>
                                      <p:cBhvr>
                                        <p:cTn id="32" dur="1" fill="hold">
                                          <p:stCondLst>
                                            <p:cond delay="0"/>
                                          </p:stCondLst>
                                        </p:cTn>
                                        <p:tgtEl>
                                          <p:spTgt spid="20"/>
                                        </p:tgtEl>
                                        <p:attrNameLst>
                                          <p:attrName>style.visibility</p:attrName>
                                        </p:attrNameLst>
                                      </p:cBhvr>
                                      <p:to>
                                        <p:strVal val="visible"/>
                                      </p:to>
                                    </p:set>
                                    <p:animEffect transition="in" filter="fade">
                                      <p:cBhvr>
                                        <p:cTn id="33" dur="500"/>
                                        <p:tgtEl>
                                          <p:spTgt spid="20"/>
                                        </p:tgtEl>
                                      </p:cBhvr>
                                    </p:animEffect>
                                  </p:childTnLst>
                                </p:cTn>
                              </p:par>
                              <p:par>
                                <p:cTn id="34" presetID="10" presetClass="entr" presetSubtype="0" fill="hold" nodeType="withEffect">
                                  <p:stCondLst>
                                    <p:cond delay="0"/>
                                  </p:stCondLst>
                                  <p:childTnLst>
                                    <p:set>
                                      <p:cBhvr>
                                        <p:cTn id="35" dur="1" fill="hold">
                                          <p:stCondLst>
                                            <p:cond delay="0"/>
                                          </p:stCondLst>
                                        </p:cTn>
                                        <p:tgtEl>
                                          <p:spTgt spid="23"/>
                                        </p:tgtEl>
                                        <p:attrNameLst>
                                          <p:attrName>style.visibility</p:attrName>
                                        </p:attrNameLst>
                                      </p:cBhvr>
                                      <p:to>
                                        <p:strVal val="visible"/>
                                      </p:to>
                                    </p:set>
                                    <p:animEffect transition="in" filter="fade">
                                      <p:cBhvr>
                                        <p:cTn id="36" dur="500"/>
                                        <p:tgtEl>
                                          <p:spTgt spid="23"/>
                                        </p:tgtEl>
                                      </p:cBhvr>
                                    </p:animEffect>
                                  </p:childTnLst>
                                </p:cTn>
                              </p:par>
                              <p:par>
                                <p:cTn id="37" presetID="10" presetClass="entr" presetSubtype="0" fill="hold" nodeType="withEffect">
                                  <p:stCondLst>
                                    <p:cond delay="0"/>
                                  </p:stCondLst>
                                  <p:childTnLst>
                                    <p:set>
                                      <p:cBhvr>
                                        <p:cTn id="38" dur="1" fill="hold">
                                          <p:stCondLst>
                                            <p:cond delay="0"/>
                                          </p:stCondLst>
                                        </p:cTn>
                                        <p:tgtEl>
                                          <p:spTgt spid="44"/>
                                        </p:tgtEl>
                                        <p:attrNameLst>
                                          <p:attrName>style.visibility</p:attrName>
                                        </p:attrNameLst>
                                      </p:cBhvr>
                                      <p:to>
                                        <p:strVal val="visible"/>
                                      </p:to>
                                    </p:set>
                                    <p:animEffect transition="in" filter="fade">
                                      <p:cBhvr>
                                        <p:cTn id="39" dur="500"/>
                                        <p:tgtEl>
                                          <p:spTgt spid="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5" grpId="0" animBg="1"/>
      <p:bldP spid="16" grpId="0" animBg="1"/>
      <p:bldP spid="17" grpId="0" animBg="1"/>
      <p:bldP spid="18" grpId="0" animBg="1"/>
      <p:bldP spid="19"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F64C811-79BC-B82F-57AA-0A21FE2A8FE4}"/>
              </a:ext>
            </a:extLst>
          </p:cNvPr>
          <p:cNvSpPr>
            <a:spLocks noGrp="1"/>
          </p:cNvSpPr>
          <p:nvPr>
            <p:ph type="ctrTitle"/>
          </p:nvPr>
        </p:nvSpPr>
        <p:spPr/>
        <p:txBody>
          <a:bodyPr/>
          <a:lstStyle/>
          <a:p>
            <a:r>
              <a:rPr lang="de-DE" sz="2000" noProof="1"/>
              <a:t>Explanatory Dialogue Systems</a:t>
            </a:r>
          </a:p>
        </p:txBody>
      </p:sp>
      <p:pic>
        <p:nvPicPr>
          <p:cNvPr id="8" name="Inhaltsplatzhalter 7">
            <a:extLst>
              <a:ext uri="{FF2B5EF4-FFF2-40B4-BE49-F238E27FC236}">
                <a16:creationId xmlns:a16="http://schemas.microsoft.com/office/drawing/2014/main" id="{C5AD7A3E-B35A-681D-9BD6-E1D7F41CB4E0}"/>
              </a:ext>
            </a:extLst>
          </p:cNvPr>
          <p:cNvPicPr>
            <a:picLocks noGrp="1" noChangeAspect="1"/>
          </p:cNvPicPr>
          <p:nvPr>
            <p:ph sz="quarter" idx="13"/>
          </p:nvPr>
        </p:nvPicPr>
        <p:blipFill>
          <a:blip r:embed="rId3"/>
          <a:stretch>
            <a:fillRect/>
          </a:stretch>
        </p:blipFill>
        <p:spPr>
          <a:xfrm>
            <a:off x="924498" y="914400"/>
            <a:ext cx="6390367" cy="3676650"/>
          </a:xfrm>
        </p:spPr>
      </p:pic>
      <p:sp>
        <p:nvSpPr>
          <p:cNvPr id="4" name="Datumsplatzhalter 3">
            <a:extLst>
              <a:ext uri="{FF2B5EF4-FFF2-40B4-BE49-F238E27FC236}">
                <a16:creationId xmlns:a16="http://schemas.microsoft.com/office/drawing/2014/main" id="{BB6BA902-F45C-3536-A43E-C1A65C865FF6}"/>
              </a:ext>
            </a:extLst>
          </p:cNvPr>
          <p:cNvSpPr>
            <a:spLocks noGrp="1"/>
          </p:cNvSpPr>
          <p:nvPr>
            <p:ph type="dt" sz="half" idx="10"/>
          </p:nvPr>
        </p:nvSpPr>
        <p:spPr/>
        <p:txBody>
          <a:bodyPr/>
          <a:lstStyle/>
          <a:p>
            <a:r>
              <a:rPr lang="en-US" noProof="1"/>
              <a:t>18.08.2025</a:t>
            </a:r>
            <a:endParaRPr lang="de-DE" noProof="1"/>
          </a:p>
        </p:txBody>
      </p:sp>
      <p:sp>
        <p:nvSpPr>
          <p:cNvPr id="5" name="Fußzeilenplatzhalter 4">
            <a:extLst>
              <a:ext uri="{FF2B5EF4-FFF2-40B4-BE49-F238E27FC236}">
                <a16:creationId xmlns:a16="http://schemas.microsoft.com/office/drawing/2014/main" id="{C945A34E-A1C6-6209-B370-A2B521FADDB9}"/>
              </a:ext>
            </a:extLst>
          </p:cNvPr>
          <p:cNvSpPr>
            <a:spLocks noGrp="1"/>
          </p:cNvSpPr>
          <p:nvPr>
            <p:ph type="ftr" sz="quarter" idx="11"/>
          </p:nvPr>
        </p:nvSpPr>
        <p:spPr/>
        <p:txBody>
          <a:bodyPr/>
          <a:lstStyle/>
          <a:p>
            <a:r>
              <a:rPr lang="en-US" noProof="1"/>
              <a:t>Enhancing model transparency: Effects of DK Integration for Conversational XAI | Feustel</a:t>
            </a:r>
            <a:endParaRPr lang="de-DE" noProof="1"/>
          </a:p>
        </p:txBody>
      </p:sp>
      <p:sp>
        <p:nvSpPr>
          <p:cNvPr id="6" name="Foliennummernplatzhalter 5">
            <a:extLst>
              <a:ext uri="{FF2B5EF4-FFF2-40B4-BE49-F238E27FC236}">
                <a16:creationId xmlns:a16="http://schemas.microsoft.com/office/drawing/2014/main" id="{62909CA3-5069-60DE-0730-85D2AB28A19F}"/>
              </a:ext>
            </a:extLst>
          </p:cNvPr>
          <p:cNvSpPr>
            <a:spLocks noGrp="1"/>
          </p:cNvSpPr>
          <p:nvPr>
            <p:ph type="sldNum" sz="quarter" idx="12"/>
          </p:nvPr>
        </p:nvSpPr>
        <p:spPr/>
        <p:txBody>
          <a:bodyPr/>
          <a:lstStyle/>
          <a:p>
            <a:r>
              <a:rPr lang="de-DE" noProof="1"/>
              <a:t> </a:t>
            </a:r>
            <a:fld id="{FE120BDC-5456-EC41-8BB6-7A3B726EA19B}" type="slidenum">
              <a:rPr lang="de-DE" noProof="1" smtClean="0"/>
              <a:pPr/>
              <a:t>37</a:t>
            </a:fld>
            <a:endParaRPr lang="de-DE" noProof="1"/>
          </a:p>
        </p:txBody>
      </p:sp>
      <p:sp>
        <p:nvSpPr>
          <p:cNvPr id="22" name="Textfeld 21">
            <a:extLst>
              <a:ext uri="{FF2B5EF4-FFF2-40B4-BE49-F238E27FC236}">
                <a16:creationId xmlns:a16="http://schemas.microsoft.com/office/drawing/2014/main" id="{D22DF517-CEFE-4421-5A14-4B96A77B4D62}"/>
              </a:ext>
            </a:extLst>
          </p:cNvPr>
          <p:cNvSpPr txBox="1"/>
          <p:nvPr/>
        </p:nvSpPr>
        <p:spPr>
          <a:xfrm>
            <a:off x="265507" y="4754366"/>
            <a:ext cx="9163931" cy="230832"/>
          </a:xfrm>
          <a:prstGeom prst="rect">
            <a:avLst/>
          </a:prstGeom>
          <a:noFill/>
        </p:spPr>
        <p:txBody>
          <a:bodyPr wrap="square">
            <a:spAutoFit/>
          </a:bodyPr>
          <a:lstStyle/>
          <a:p>
            <a:r>
              <a:rPr lang="de-DE" sz="900" u="none" strike="noStrike" noProof="1">
                <a:effectLst/>
                <a:latin typeface="Arial" panose="020B0604020202020204" pitchFamily="34" charset="0"/>
              </a:rPr>
              <a:t> I. Feustel, N. Rach, W. Minker and S. Ultes. 2023. </a:t>
            </a:r>
            <a:r>
              <a:rPr lang="de-DE" sz="900" strike="noStrike" noProof="1">
                <a:effectLst/>
                <a:latin typeface="Arial" panose="020B0604020202020204" pitchFamily="34" charset="0"/>
              </a:rPr>
              <a:t>Towards interactive explanations of machine learning methods through dialogue systems. </a:t>
            </a:r>
            <a:r>
              <a:rPr lang="de-DE" sz="900" u="none" strike="noStrike" noProof="1">
                <a:effectLst/>
                <a:latin typeface="Arial" panose="020B0604020202020204" pitchFamily="34" charset="0"/>
              </a:rPr>
              <a:t>In IWSDS 2023, Springer.</a:t>
            </a:r>
          </a:p>
        </p:txBody>
      </p:sp>
      <p:sp>
        <p:nvSpPr>
          <p:cNvPr id="3" name="Ellipse 2">
            <a:extLst>
              <a:ext uri="{FF2B5EF4-FFF2-40B4-BE49-F238E27FC236}">
                <a16:creationId xmlns:a16="http://schemas.microsoft.com/office/drawing/2014/main" id="{9174047E-3473-0FFD-755A-6650BB273116}"/>
              </a:ext>
            </a:extLst>
          </p:cNvPr>
          <p:cNvSpPr/>
          <p:nvPr/>
        </p:nvSpPr>
        <p:spPr>
          <a:xfrm>
            <a:off x="1732280" y="1118423"/>
            <a:ext cx="1534160" cy="1148080"/>
          </a:xfrm>
          <a:prstGeom prst="ellipse">
            <a:avLst/>
          </a:prstGeom>
          <a:noFill/>
          <a:ln w="38100">
            <a:solidFill>
              <a:srgbClr val="A3263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noProof="1"/>
          </a:p>
        </p:txBody>
      </p:sp>
      <p:sp>
        <p:nvSpPr>
          <p:cNvPr id="7" name="Ellipse 6">
            <a:extLst>
              <a:ext uri="{FF2B5EF4-FFF2-40B4-BE49-F238E27FC236}">
                <a16:creationId xmlns:a16="http://schemas.microsoft.com/office/drawing/2014/main" id="{3C0384F7-60C5-5D2E-C2D3-F7D6EE39E9CE}"/>
              </a:ext>
            </a:extLst>
          </p:cNvPr>
          <p:cNvSpPr/>
          <p:nvPr/>
        </p:nvSpPr>
        <p:spPr>
          <a:xfrm>
            <a:off x="4673599" y="608806"/>
            <a:ext cx="2641265" cy="2987834"/>
          </a:xfrm>
          <a:prstGeom prst="ellipse">
            <a:avLst/>
          </a:prstGeom>
          <a:noFill/>
          <a:ln w="38100">
            <a:solidFill>
              <a:srgbClr val="A3263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noProof="1"/>
          </a:p>
        </p:txBody>
      </p:sp>
      <p:sp>
        <p:nvSpPr>
          <p:cNvPr id="9" name="Ellipse 8">
            <a:extLst>
              <a:ext uri="{FF2B5EF4-FFF2-40B4-BE49-F238E27FC236}">
                <a16:creationId xmlns:a16="http://schemas.microsoft.com/office/drawing/2014/main" id="{837EEC8D-3C19-FD8C-2D93-AFDC63EE37AE}"/>
              </a:ext>
            </a:extLst>
          </p:cNvPr>
          <p:cNvSpPr/>
          <p:nvPr/>
        </p:nvSpPr>
        <p:spPr>
          <a:xfrm>
            <a:off x="3037840" y="2302958"/>
            <a:ext cx="1534160" cy="1148080"/>
          </a:xfrm>
          <a:prstGeom prst="ellipse">
            <a:avLst/>
          </a:prstGeom>
          <a:noFill/>
          <a:ln w="38100">
            <a:solidFill>
              <a:srgbClr val="A3263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noProof="1"/>
          </a:p>
        </p:txBody>
      </p:sp>
      <p:sp>
        <p:nvSpPr>
          <p:cNvPr id="10" name="Ellipse 9">
            <a:extLst>
              <a:ext uri="{FF2B5EF4-FFF2-40B4-BE49-F238E27FC236}">
                <a16:creationId xmlns:a16="http://schemas.microsoft.com/office/drawing/2014/main" id="{1E041482-AD1E-9A19-D6F1-78FD3A9AFB95}"/>
              </a:ext>
            </a:extLst>
          </p:cNvPr>
          <p:cNvSpPr/>
          <p:nvPr/>
        </p:nvSpPr>
        <p:spPr>
          <a:xfrm>
            <a:off x="4443350" y="3544457"/>
            <a:ext cx="3034409" cy="1148080"/>
          </a:xfrm>
          <a:prstGeom prst="ellipse">
            <a:avLst/>
          </a:prstGeom>
          <a:noFill/>
          <a:ln w="38100">
            <a:solidFill>
              <a:srgbClr val="A3263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noProof="1"/>
          </a:p>
        </p:txBody>
      </p:sp>
      <p:sp>
        <p:nvSpPr>
          <p:cNvPr id="11" name="Ellipse 10">
            <a:extLst>
              <a:ext uri="{FF2B5EF4-FFF2-40B4-BE49-F238E27FC236}">
                <a16:creationId xmlns:a16="http://schemas.microsoft.com/office/drawing/2014/main" id="{BB486864-42D3-650C-7391-A34298C4E9D4}"/>
              </a:ext>
            </a:extLst>
          </p:cNvPr>
          <p:cNvSpPr/>
          <p:nvPr/>
        </p:nvSpPr>
        <p:spPr>
          <a:xfrm>
            <a:off x="1668780" y="3451038"/>
            <a:ext cx="1534160" cy="1148080"/>
          </a:xfrm>
          <a:prstGeom prst="ellipse">
            <a:avLst/>
          </a:prstGeom>
          <a:noFill/>
          <a:ln w="38100">
            <a:solidFill>
              <a:srgbClr val="A3263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noProof="1"/>
          </a:p>
        </p:txBody>
      </p:sp>
      <p:sp>
        <p:nvSpPr>
          <p:cNvPr id="14" name="Ellipse 13">
            <a:extLst>
              <a:ext uri="{FF2B5EF4-FFF2-40B4-BE49-F238E27FC236}">
                <a16:creationId xmlns:a16="http://schemas.microsoft.com/office/drawing/2014/main" id="{CD18E66E-FFC0-1538-3BF1-CEDA1A06EC82}"/>
              </a:ext>
            </a:extLst>
          </p:cNvPr>
          <p:cNvSpPr/>
          <p:nvPr/>
        </p:nvSpPr>
        <p:spPr>
          <a:xfrm>
            <a:off x="1937150" y="2434859"/>
            <a:ext cx="999092" cy="863382"/>
          </a:xfrm>
          <a:prstGeom prst="ellipse">
            <a:avLst/>
          </a:prstGeom>
          <a:noFill/>
          <a:ln w="38100">
            <a:solidFill>
              <a:srgbClr val="A3263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noProof="1"/>
          </a:p>
        </p:txBody>
      </p:sp>
      <p:sp>
        <p:nvSpPr>
          <p:cNvPr id="16" name="Textfeld 15">
            <a:extLst>
              <a:ext uri="{FF2B5EF4-FFF2-40B4-BE49-F238E27FC236}">
                <a16:creationId xmlns:a16="http://schemas.microsoft.com/office/drawing/2014/main" id="{16267556-2AC3-E0B7-CD13-57EC255A9CEE}"/>
              </a:ext>
            </a:extLst>
          </p:cNvPr>
          <p:cNvSpPr txBox="1"/>
          <p:nvPr/>
        </p:nvSpPr>
        <p:spPr>
          <a:xfrm>
            <a:off x="342900" y="0"/>
            <a:ext cx="7867650" cy="246221"/>
          </a:xfrm>
          <a:prstGeom prst="rect">
            <a:avLst/>
          </a:prstGeom>
          <a:noFill/>
        </p:spPr>
        <p:txBody>
          <a:bodyPr wrap="square">
            <a:spAutoFit/>
          </a:bodyPr>
          <a:lstStyle/>
          <a:p>
            <a:r>
              <a:rPr lang="de-DE" sz="1000" noProof="1">
                <a:latin typeface="Arial" panose="020B0604020202020204" pitchFamily="34" charset="0"/>
                <a:cs typeface="Arial" panose="020B0604020202020204" pitchFamily="34" charset="0"/>
              </a:rPr>
              <a:t>Motivation | </a:t>
            </a:r>
            <a:r>
              <a:rPr lang="de-DE" sz="1000" b="1" noProof="1">
                <a:latin typeface="Arial" panose="020B0604020202020204" pitchFamily="34" charset="0"/>
                <a:cs typeface="Arial" panose="020B0604020202020204" pitchFamily="34" charset="0"/>
              </a:rPr>
              <a:t>Dialogue Based XAI </a:t>
            </a:r>
            <a:r>
              <a:rPr lang="de-DE" sz="1000" noProof="1">
                <a:latin typeface="Arial" panose="020B0604020202020204" pitchFamily="34" charset="0"/>
                <a:cs typeface="Arial" panose="020B0604020202020204" pitchFamily="34" charset="0"/>
              </a:rPr>
              <a:t>| Integrating Domain Knowledge</a:t>
            </a:r>
            <a:r>
              <a:rPr lang="de-DE" sz="1000" b="1" noProof="1">
                <a:latin typeface="Arial" panose="020B0604020202020204" pitchFamily="34" charset="0"/>
                <a:cs typeface="Arial" panose="020B0604020202020204" pitchFamily="34" charset="0"/>
              </a:rPr>
              <a:t> </a:t>
            </a:r>
            <a:r>
              <a:rPr lang="de-DE" sz="1000" noProof="1">
                <a:latin typeface="Arial" panose="020B0604020202020204" pitchFamily="34" charset="0"/>
                <a:cs typeface="Arial" panose="020B0604020202020204" pitchFamily="34" charset="0"/>
              </a:rPr>
              <a:t>|  Outlook</a:t>
            </a:r>
          </a:p>
        </p:txBody>
      </p:sp>
    </p:spTree>
    <p:extLst>
      <p:ext uri="{BB962C8B-B14F-4D97-AF65-F5344CB8AC3E}">
        <p14:creationId xmlns:p14="http://schemas.microsoft.com/office/powerpoint/2010/main" val="4114601090"/>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21" presetClass="entr" presetSubtype="1"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wheel(1)">
                                      <p:cBhvr>
                                        <p:cTn id="12" dur="8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21" presetClass="entr" presetSubtype="1" fill="hold" grpId="0"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wheel(1)">
                                      <p:cBhvr>
                                        <p:cTn id="17" dur="800"/>
                                        <p:tgtEl>
                                          <p:spTgt spid="3"/>
                                        </p:tgtEl>
                                      </p:cBhvr>
                                    </p:animEffect>
                                  </p:childTnLst>
                                </p:cTn>
                              </p:par>
                              <p:par>
                                <p:cTn id="18" presetID="10" presetClass="exit" presetSubtype="0" fill="hold" grpId="1" nodeType="withEffect">
                                  <p:stCondLst>
                                    <p:cond delay="0"/>
                                  </p:stCondLst>
                                  <p:childTnLst>
                                    <p:animEffect transition="out" filter="fade">
                                      <p:cBhvr>
                                        <p:cTn id="19" dur="500"/>
                                        <p:tgtEl>
                                          <p:spTgt spid="7"/>
                                        </p:tgtEl>
                                      </p:cBhvr>
                                    </p:animEffect>
                                    <p:set>
                                      <p:cBhvr>
                                        <p:cTn id="20" dur="1" fill="hold">
                                          <p:stCondLst>
                                            <p:cond delay="499"/>
                                          </p:stCondLst>
                                        </p:cTn>
                                        <p:tgtEl>
                                          <p:spTgt spid="7"/>
                                        </p:tgtEl>
                                        <p:attrNameLst>
                                          <p:attrName>style.visibility</p:attrName>
                                        </p:attrNameLst>
                                      </p:cBhvr>
                                      <p:to>
                                        <p:strVal val="hidden"/>
                                      </p:to>
                                    </p:set>
                                  </p:childTnLst>
                                </p:cTn>
                              </p:par>
                            </p:childTnLst>
                          </p:cTn>
                        </p:par>
                      </p:childTnLst>
                    </p:cTn>
                  </p:par>
                  <p:par>
                    <p:cTn id="21" fill="hold">
                      <p:stCondLst>
                        <p:cond delay="indefinite"/>
                      </p:stCondLst>
                      <p:childTnLst>
                        <p:par>
                          <p:cTn id="22" fill="hold">
                            <p:stCondLst>
                              <p:cond delay="0"/>
                            </p:stCondLst>
                            <p:childTnLst>
                              <p:par>
                                <p:cTn id="23" presetID="21" presetClass="entr" presetSubtype="1" fill="hold" grpId="0" nodeType="click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wheel(1)">
                                      <p:cBhvr>
                                        <p:cTn id="25" dur="800"/>
                                        <p:tgtEl>
                                          <p:spTgt spid="9"/>
                                        </p:tgtEl>
                                      </p:cBhvr>
                                    </p:animEffect>
                                  </p:childTnLst>
                                </p:cTn>
                              </p:par>
                              <p:par>
                                <p:cTn id="26" presetID="10" presetClass="exit" presetSubtype="0" fill="hold" grpId="1" nodeType="withEffect">
                                  <p:stCondLst>
                                    <p:cond delay="0"/>
                                  </p:stCondLst>
                                  <p:childTnLst>
                                    <p:animEffect transition="out" filter="fade">
                                      <p:cBhvr>
                                        <p:cTn id="27" dur="500"/>
                                        <p:tgtEl>
                                          <p:spTgt spid="3"/>
                                        </p:tgtEl>
                                      </p:cBhvr>
                                    </p:animEffect>
                                    <p:set>
                                      <p:cBhvr>
                                        <p:cTn id="28" dur="1" fill="hold">
                                          <p:stCondLst>
                                            <p:cond delay="499"/>
                                          </p:stCondLst>
                                        </p:cTn>
                                        <p:tgtEl>
                                          <p:spTgt spid="3"/>
                                        </p:tgtEl>
                                        <p:attrNameLst>
                                          <p:attrName>style.visibility</p:attrName>
                                        </p:attrNameLst>
                                      </p:cBhvr>
                                      <p:to>
                                        <p:strVal val="hidden"/>
                                      </p:to>
                                    </p:set>
                                  </p:childTnLst>
                                </p:cTn>
                              </p:par>
                            </p:childTnLst>
                          </p:cTn>
                        </p:par>
                      </p:childTnLst>
                    </p:cTn>
                  </p:par>
                  <p:par>
                    <p:cTn id="29" fill="hold">
                      <p:stCondLst>
                        <p:cond delay="indefinite"/>
                      </p:stCondLst>
                      <p:childTnLst>
                        <p:par>
                          <p:cTn id="30" fill="hold">
                            <p:stCondLst>
                              <p:cond delay="0"/>
                            </p:stCondLst>
                            <p:childTnLst>
                              <p:par>
                                <p:cTn id="31" presetID="21" presetClass="entr" presetSubtype="1" fill="hold" grpId="0" nodeType="clickEffect">
                                  <p:stCondLst>
                                    <p:cond delay="0"/>
                                  </p:stCondLst>
                                  <p:childTnLst>
                                    <p:set>
                                      <p:cBhvr>
                                        <p:cTn id="32" dur="1" fill="hold">
                                          <p:stCondLst>
                                            <p:cond delay="0"/>
                                          </p:stCondLst>
                                        </p:cTn>
                                        <p:tgtEl>
                                          <p:spTgt spid="11"/>
                                        </p:tgtEl>
                                        <p:attrNameLst>
                                          <p:attrName>style.visibility</p:attrName>
                                        </p:attrNameLst>
                                      </p:cBhvr>
                                      <p:to>
                                        <p:strVal val="visible"/>
                                      </p:to>
                                    </p:set>
                                    <p:animEffect transition="in" filter="wheel(1)">
                                      <p:cBhvr>
                                        <p:cTn id="33" dur="800"/>
                                        <p:tgtEl>
                                          <p:spTgt spid="11"/>
                                        </p:tgtEl>
                                      </p:cBhvr>
                                    </p:animEffect>
                                  </p:childTnLst>
                                </p:cTn>
                              </p:par>
                              <p:par>
                                <p:cTn id="34" presetID="10" presetClass="exit" presetSubtype="0" fill="hold" grpId="1" nodeType="withEffect">
                                  <p:stCondLst>
                                    <p:cond delay="0"/>
                                  </p:stCondLst>
                                  <p:childTnLst>
                                    <p:animEffect transition="out" filter="fade">
                                      <p:cBhvr>
                                        <p:cTn id="35" dur="500"/>
                                        <p:tgtEl>
                                          <p:spTgt spid="9"/>
                                        </p:tgtEl>
                                      </p:cBhvr>
                                    </p:animEffect>
                                    <p:set>
                                      <p:cBhvr>
                                        <p:cTn id="36" dur="1" fill="hold">
                                          <p:stCondLst>
                                            <p:cond delay="499"/>
                                          </p:stCondLst>
                                        </p:cTn>
                                        <p:tgtEl>
                                          <p:spTgt spid="9"/>
                                        </p:tgtEl>
                                        <p:attrNameLst>
                                          <p:attrName>style.visibility</p:attrName>
                                        </p:attrNameLst>
                                      </p:cBhvr>
                                      <p:to>
                                        <p:strVal val="hidden"/>
                                      </p:to>
                                    </p:set>
                                  </p:childTnLst>
                                </p:cTn>
                              </p:par>
                            </p:childTnLst>
                          </p:cTn>
                        </p:par>
                      </p:childTnLst>
                    </p:cTn>
                  </p:par>
                  <p:par>
                    <p:cTn id="37" fill="hold">
                      <p:stCondLst>
                        <p:cond delay="indefinite"/>
                      </p:stCondLst>
                      <p:childTnLst>
                        <p:par>
                          <p:cTn id="38" fill="hold">
                            <p:stCondLst>
                              <p:cond delay="0"/>
                            </p:stCondLst>
                            <p:childTnLst>
                              <p:par>
                                <p:cTn id="39" presetID="21" presetClass="entr" presetSubtype="1" fill="hold" grpId="0" nodeType="clickEffect">
                                  <p:stCondLst>
                                    <p:cond delay="0"/>
                                  </p:stCondLst>
                                  <p:childTnLst>
                                    <p:set>
                                      <p:cBhvr>
                                        <p:cTn id="40" dur="1" fill="hold">
                                          <p:stCondLst>
                                            <p:cond delay="0"/>
                                          </p:stCondLst>
                                        </p:cTn>
                                        <p:tgtEl>
                                          <p:spTgt spid="10"/>
                                        </p:tgtEl>
                                        <p:attrNameLst>
                                          <p:attrName>style.visibility</p:attrName>
                                        </p:attrNameLst>
                                      </p:cBhvr>
                                      <p:to>
                                        <p:strVal val="visible"/>
                                      </p:to>
                                    </p:set>
                                    <p:animEffect transition="in" filter="wheel(1)">
                                      <p:cBhvr>
                                        <p:cTn id="41" dur="800"/>
                                        <p:tgtEl>
                                          <p:spTgt spid="10"/>
                                        </p:tgtEl>
                                      </p:cBhvr>
                                    </p:animEffect>
                                  </p:childTnLst>
                                </p:cTn>
                              </p:par>
                              <p:par>
                                <p:cTn id="42" presetID="10" presetClass="exit" presetSubtype="0" fill="hold" grpId="1" nodeType="withEffect">
                                  <p:stCondLst>
                                    <p:cond delay="0"/>
                                  </p:stCondLst>
                                  <p:childTnLst>
                                    <p:animEffect transition="out" filter="fade">
                                      <p:cBhvr>
                                        <p:cTn id="43" dur="500"/>
                                        <p:tgtEl>
                                          <p:spTgt spid="11"/>
                                        </p:tgtEl>
                                      </p:cBhvr>
                                    </p:animEffect>
                                    <p:set>
                                      <p:cBhvr>
                                        <p:cTn id="44" dur="1" fill="hold">
                                          <p:stCondLst>
                                            <p:cond delay="499"/>
                                          </p:stCondLst>
                                        </p:cTn>
                                        <p:tgtEl>
                                          <p:spTgt spid="11"/>
                                        </p:tgtEl>
                                        <p:attrNameLst>
                                          <p:attrName>style.visibility</p:attrName>
                                        </p:attrNameLst>
                                      </p:cBhvr>
                                      <p:to>
                                        <p:strVal val="hidden"/>
                                      </p:to>
                                    </p:set>
                                  </p:childTnLst>
                                </p:cTn>
                              </p:par>
                            </p:childTnLst>
                          </p:cTn>
                        </p:par>
                      </p:childTnLst>
                    </p:cTn>
                  </p:par>
                  <p:par>
                    <p:cTn id="45" fill="hold">
                      <p:stCondLst>
                        <p:cond delay="indefinite"/>
                      </p:stCondLst>
                      <p:childTnLst>
                        <p:par>
                          <p:cTn id="46" fill="hold">
                            <p:stCondLst>
                              <p:cond delay="0"/>
                            </p:stCondLst>
                            <p:childTnLst>
                              <p:par>
                                <p:cTn id="47" presetID="21" presetClass="entr" presetSubtype="1" fill="hold" grpId="0" nodeType="clickEffect">
                                  <p:stCondLst>
                                    <p:cond delay="0"/>
                                  </p:stCondLst>
                                  <p:childTnLst>
                                    <p:set>
                                      <p:cBhvr>
                                        <p:cTn id="48" dur="1" fill="hold">
                                          <p:stCondLst>
                                            <p:cond delay="0"/>
                                          </p:stCondLst>
                                        </p:cTn>
                                        <p:tgtEl>
                                          <p:spTgt spid="14"/>
                                        </p:tgtEl>
                                        <p:attrNameLst>
                                          <p:attrName>style.visibility</p:attrName>
                                        </p:attrNameLst>
                                      </p:cBhvr>
                                      <p:to>
                                        <p:strVal val="visible"/>
                                      </p:to>
                                    </p:set>
                                    <p:animEffect transition="in" filter="wheel(1)">
                                      <p:cBhvr>
                                        <p:cTn id="49" dur="800"/>
                                        <p:tgtEl>
                                          <p:spTgt spid="14"/>
                                        </p:tgtEl>
                                      </p:cBhvr>
                                    </p:animEffect>
                                  </p:childTnLst>
                                </p:cTn>
                              </p:par>
                              <p:par>
                                <p:cTn id="50" presetID="10" presetClass="exit" presetSubtype="0" fill="hold" grpId="1" nodeType="withEffect">
                                  <p:stCondLst>
                                    <p:cond delay="0"/>
                                  </p:stCondLst>
                                  <p:childTnLst>
                                    <p:animEffect transition="out" filter="fade">
                                      <p:cBhvr>
                                        <p:cTn id="51" dur="500"/>
                                        <p:tgtEl>
                                          <p:spTgt spid="10"/>
                                        </p:tgtEl>
                                      </p:cBhvr>
                                    </p:animEffect>
                                    <p:set>
                                      <p:cBhvr>
                                        <p:cTn id="52" dur="1" fill="hold">
                                          <p:stCondLst>
                                            <p:cond delay="499"/>
                                          </p:stCondLst>
                                        </p:cTn>
                                        <p:tgtEl>
                                          <p:spTgt spid="1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3" grpId="1" animBg="1"/>
      <p:bldP spid="7" grpId="0" animBg="1"/>
      <p:bldP spid="7" grpId="1" animBg="1"/>
      <p:bldP spid="9" grpId="0" animBg="1"/>
      <p:bldP spid="9" grpId="1" animBg="1"/>
      <p:bldP spid="10" grpId="0" animBg="1"/>
      <p:bldP spid="10" grpId="1" animBg="1"/>
      <p:bldP spid="11" grpId="0" animBg="1"/>
      <p:bldP spid="11" grpId="1" animBg="1"/>
      <p:bldP spid="14"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876363C-E098-6A05-ABE0-F10ACD64CFD4}"/>
              </a:ext>
            </a:extLst>
          </p:cNvPr>
          <p:cNvSpPr>
            <a:spLocks noGrp="1"/>
          </p:cNvSpPr>
          <p:nvPr>
            <p:ph type="ctrTitle"/>
          </p:nvPr>
        </p:nvSpPr>
        <p:spPr/>
        <p:txBody>
          <a:bodyPr/>
          <a:lstStyle/>
          <a:p>
            <a:endParaRPr lang="de-DE" noProof="1"/>
          </a:p>
        </p:txBody>
      </p:sp>
      <p:sp>
        <p:nvSpPr>
          <p:cNvPr id="3" name="Inhaltsplatzhalter 2">
            <a:extLst>
              <a:ext uri="{FF2B5EF4-FFF2-40B4-BE49-F238E27FC236}">
                <a16:creationId xmlns:a16="http://schemas.microsoft.com/office/drawing/2014/main" id="{81E365B8-4C1E-A32F-B8CB-4DCAE45B0045}"/>
              </a:ext>
            </a:extLst>
          </p:cNvPr>
          <p:cNvSpPr>
            <a:spLocks noGrp="1"/>
          </p:cNvSpPr>
          <p:nvPr>
            <p:ph sz="quarter" idx="15"/>
          </p:nvPr>
        </p:nvSpPr>
        <p:spPr/>
        <p:txBody>
          <a:bodyPr/>
          <a:lstStyle/>
          <a:p>
            <a:r>
              <a:rPr lang="de-DE" noProof="1"/>
              <a:t>asd</a:t>
            </a:r>
          </a:p>
        </p:txBody>
      </p:sp>
      <p:sp>
        <p:nvSpPr>
          <p:cNvPr id="5" name="Vertikaler Textplatzhalter 4">
            <a:extLst>
              <a:ext uri="{FF2B5EF4-FFF2-40B4-BE49-F238E27FC236}">
                <a16:creationId xmlns:a16="http://schemas.microsoft.com/office/drawing/2014/main" id="{DAF56CA7-60CE-6D15-E8EF-0BD653A9A371}"/>
              </a:ext>
            </a:extLst>
          </p:cNvPr>
          <p:cNvSpPr>
            <a:spLocks noGrp="1"/>
          </p:cNvSpPr>
          <p:nvPr>
            <p:ph type="body" orient="vert" sz="quarter" idx="18"/>
          </p:nvPr>
        </p:nvSpPr>
        <p:spPr/>
        <p:txBody>
          <a:bodyPr/>
          <a:lstStyle/>
          <a:p>
            <a:endParaRPr lang="de-DE" noProof="1"/>
          </a:p>
        </p:txBody>
      </p:sp>
      <p:sp>
        <p:nvSpPr>
          <p:cNvPr id="6" name="Datumsplatzhalter 5">
            <a:extLst>
              <a:ext uri="{FF2B5EF4-FFF2-40B4-BE49-F238E27FC236}">
                <a16:creationId xmlns:a16="http://schemas.microsoft.com/office/drawing/2014/main" id="{5A85D169-EDCF-C4AB-7790-ED731BAE0D83}"/>
              </a:ext>
            </a:extLst>
          </p:cNvPr>
          <p:cNvSpPr>
            <a:spLocks noGrp="1"/>
          </p:cNvSpPr>
          <p:nvPr>
            <p:ph type="dt" sz="half" idx="10"/>
          </p:nvPr>
        </p:nvSpPr>
        <p:spPr/>
        <p:txBody>
          <a:bodyPr/>
          <a:lstStyle/>
          <a:p>
            <a:r>
              <a:rPr lang="en-US" noProof="1"/>
              <a:t>18.08.2025</a:t>
            </a:r>
            <a:endParaRPr lang="de-DE" noProof="1"/>
          </a:p>
        </p:txBody>
      </p:sp>
      <p:sp>
        <p:nvSpPr>
          <p:cNvPr id="7" name="Fußzeilenplatzhalter 6">
            <a:extLst>
              <a:ext uri="{FF2B5EF4-FFF2-40B4-BE49-F238E27FC236}">
                <a16:creationId xmlns:a16="http://schemas.microsoft.com/office/drawing/2014/main" id="{D717F1EB-67C9-C4A3-4A1A-79DE97F773CA}"/>
              </a:ext>
            </a:extLst>
          </p:cNvPr>
          <p:cNvSpPr>
            <a:spLocks noGrp="1"/>
          </p:cNvSpPr>
          <p:nvPr>
            <p:ph type="ftr" sz="quarter" idx="11"/>
          </p:nvPr>
        </p:nvSpPr>
        <p:spPr/>
        <p:txBody>
          <a:bodyPr/>
          <a:lstStyle/>
          <a:p>
            <a:r>
              <a:rPr lang="en-US" noProof="1"/>
              <a:t>Enhancing model transparency: Effects of DK Integration for Conversational XAI | Feustel</a:t>
            </a:r>
            <a:endParaRPr lang="de-DE" noProof="1"/>
          </a:p>
        </p:txBody>
      </p:sp>
      <p:sp>
        <p:nvSpPr>
          <p:cNvPr id="8" name="Foliennummernplatzhalter 7">
            <a:extLst>
              <a:ext uri="{FF2B5EF4-FFF2-40B4-BE49-F238E27FC236}">
                <a16:creationId xmlns:a16="http://schemas.microsoft.com/office/drawing/2014/main" id="{27A266DA-0CC9-8F46-F779-FC843E3B64CB}"/>
              </a:ext>
            </a:extLst>
          </p:cNvPr>
          <p:cNvSpPr>
            <a:spLocks noGrp="1"/>
          </p:cNvSpPr>
          <p:nvPr>
            <p:ph type="sldNum" sz="quarter" idx="12"/>
          </p:nvPr>
        </p:nvSpPr>
        <p:spPr/>
        <p:txBody>
          <a:bodyPr/>
          <a:lstStyle/>
          <a:p>
            <a:r>
              <a:rPr lang="de-DE" noProof="1"/>
              <a:t> </a:t>
            </a:r>
            <a:fld id="{FE120BDC-5456-EC41-8BB6-7A3B726EA19B}" type="slidenum">
              <a:rPr lang="de-DE" noProof="1" smtClean="0"/>
              <a:pPr/>
              <a:t>38</a:t>
            </a:fld>
            <a:endParaRPr lang="de-DE" noProof="1"/>
          </a:p>
        </p:txBody>
      </p:sp>
      <p:pic>
        <p:nvPicPr>
          <p:cNvPr id="26" name="Grafik 25" descr="Ein Bild, das Text, Screenshot, Schrift, Software enthält.&#10;&#10;Automatisch generierte Beschreibung">
            <a:extLst>
              <a:ext uri="{FF2B5EF4-FFF2-40B4-BE49-F238E27FC236}">
                <a16:creationId xmlns:a16="http://schemas.microsoft.com/office/drawing/2014/main" id="{C7C9A802-2A88-A98A-F546-DD51D5C7C074}"/>
              </a:ext>
            </a:extLst>
          </p:cNvPr>
          <p:cNvPicPr>
            <a:picLocks noChangeAspect="1"/>
          </p:cNvPicPr>
          <p:nvPr/>
        </p:nvPicPr>
        <p:blipFill>
          <a:blip r:embed="rId2"/>
          <a:stretch>
            <a:fillRect/>
          </a:stretch>
        </p:blipFill>
        <p:spPr>
          <a:xfrm>
            <a:off x="4691355" y="197428"/>
            <a:ext cx="4016328" cy="2091048"/>
          </a:xfrm>
          <a:prstGeom prst="rect">
            <a:avLst/>
          </a:prstGeom>
        </p:spPr>
      </p:pic>
      <p:pic>
        <p:nvPicPr>
          <p:cNvPr id="28" name="Grafik 27" descr="Ein Bild, das Text, Screenshot, Schrift, Dokument enthält.&#10;&#10;Automatisch generierte Beschreibung">
            <a:extLst>
              <a:ext uri="{FF2B5EF4-FFF2-40B4-BE49-F238E27FC236}">
                <a16:creationId xmlns:a16="http://schemas.microsoft.com/office/drawing/2014/main" id="{9880C73E-4F7D-83F2-B4E4-857883238D2C}"/>
              </a:ext>
            </a:extLst>
          </p:cNvPr>
          <p:cNvPicPr>
            <a:picLocks noChangeAspect="1"/>
          </p:cNvPicPr>
          <p:nvPr/>
        </p:nvPicPr>
        <p:blipFill>
          <a:blip r:embed="rId3"/>
          <a:stretch>
            <a:fillRect/>
          </a:stretch>
        </p:blipFill>
        <p:spPr>
          <a:xfrm>
            <a:off x="4691355" y="2295036"/>
            <a:ext cx="4016329" cy="2619139"/>
          </a:xfrm>
          <a:prstGeom prst="rect">
            <a:avLst/>
          </a:prstGeom>
        </p:spPr>
      </p:pic>
      <p:pic>
        <p:nvPicPr>
          <p:cNvPr id="10" name="Grafik 9" descr="Ein Bild, das Text, Schrift, Screenshot, Farbigkeit enthält.&#10;&#10;Automatisch generierte Beschreibung">
            <a:extLst>
              <a:ext uri="{FF2B5EF4-FFF2-40B4-BE49-F238E27FC236}">
                <a16:creationId xmlns:a16="http://schemas.microsoft.com/office/drawing/2014/main" id="{E178F83C-04AD-A438-8248-5EC616E95D41}"/>
              </a:ext>
            </a:extLst>
          </p:cNvPr>
          <p:cNvPicPr>
            <a:picLocks noChangeAspect="1"/>
          </p:cNvPicPr>
          <p:nvPr/>
        </p:nvPicPr>
        <p:blipFill>
          <a:blip r:embed="rId4"/>
          <a:stretch>
            <a:fillRect/>
          </a:stretch>
        </p:blipFill>
        <p:spPr>
          <a:xfrm>
            <a:off x="348473" y="2942233"/>
            <a:ext cx="3897990" cy="1948995"/>
          </a:xfrm>
          <a:prstGeom prst="rect">
            <a:avLst/>
          </a:prstGeom>
        </p:spPr>
      </p:pic>
      <p:pic>
        <p:nvPicPr>
          <p:cNvPr id="12" name="Grafik 11" descr="Ein Bild, das Text, Diagramm, Screenshot, Rechteck enthält.&#10;&#10;Automatisch generierte Beschreibung">
            <a:extLst>
              <a:ext uri="{FF2B5EF4-FFF2-40B4-BE49-F238E27FC236}">
                <a16:creationId xmlns:a16="http://schemas.microsoft.com/office/drawing/2014/main" id="{83DE4826-90E5-931F-CD9E-BD6A4EBE8EA3}"/>
              </a:ext>
            </a:extLst>
          </p:cNvPr>
          <p:cNvPicPr>
            <a:picLocks noChangeAspect="1"/>
          </p:cNvPicPr>
          <p:nvPr/>
        </p:nvPicPr>
        <p:blipFill>
          <a:blip r:embed="rId5"/>
          <a:stretch>
            <a:fillRect/>
          </a:stretch>
        </p:blipFill>
        <p:spPr>
          <a:xfrm>
            <a:off x="436316" y="441614"/>
            <a:ext cx="2659971" cy="2127977"/>
          </a:xfrm>
          <a:prstGeom prst="rect">
            <a:avLst/>
          </a:prstGeom>
        </p:spPr>
      </p:pic>
    </p:spTree>
    <p:extLst>
      <p:ext uri="{BB962C8B-B14F-4D97-AF65-F5344CB8AC3E}">
        <p14:creationId xmlns:p14="http://schemas.microsoft.com/office/powerpoint/2010/main" val="4212127799"/>
      </p:ext>
    </p:extLst>
  </p:cSld>
  <p:clrMapOvr>
    <a:masterClrMapping/>
  </p:clrMapOvr>
  <p:transition spd="slow">
    <p:push dir="u"/>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BEEC49A-23AE-72FD-D0C9-67CD356646F8}"/>
              </a:ext>
            </a:extLst>
          </p:cNvPr>
          <p:cNvSpPr>
            <a:spLocks noGrp="1"/>
          </p:cNvSpPr>
          <p:nvPr>
            <p:ph type="ctrTitle"/>
          </p:nvPr>
        </p:nvSpPr>
        <p:spPr/>
        <p:txBody>
          <a:bodyPr/>
          <a:lstStyle/>
          <a:p>
            <a:r>
              <a:rPr lang="de-DE" noProof="1"/>
              <a:t>Domain Knowledge User Study</a:t>
            </a:r>
          </a:p>
        </p:txBody>
      </p:sp>
      <p:sp>
        <p:nvSpPr>
          <p:cNvPr id="3" name="Inhaltsplatzhalter 2">
            <a:extLst>
              <a:ext uri="{FF2B5EF4-FFF2-40B4-BE49-F238E27FC236}">
                <a16:creationId xmlns:a16="http://schemas.microsoft.com/office/drawing/2014/main" id="{FFEB8FD7-3C98-2C3C-679E-7125A6B31B09}"/>
              </a:ext>
            </a:extLst>
          </p:cNvPr>
          <p:cNvSpPr>
            <a:spLocks noGrp="1"/>
          </p:cNvSpPr>
          <p:nvPr>
            <p:ph sz="quarter" idx="13"/>
          </p:nvPr>
        </p:nvSpPr>
        <p:spPr/>
        <p:txBody>
          <a:bodyPr/>
          <a:lstStyle/>
          <a:p>
            <a:endParaRPr lang="de-DE" noProof="1"/>
          </a:p>
        </p:txBody>
      </p:sp>
      <p:sp>
        <p:nvSpPr>
          <p:cNvPr id="4" name="Datumsplatzhalter 3">
            <a:extLst>
              <a:ext uri="{FF2B5EF4-FFF2-40B4-BE49-F238E27FC236}">
                <a16:creationId xmlns:a16="http://schemas.microsoft.com/office/drawing/2014/main" id="{0C95F1D3-279B-3971-0A6C-24C166CB1B3F}"/>
              </a:ext>
            </a:extLst>
          </p:cNvPr>
          <p:cNvSpPr>
            <a:spLocks noGrp="1"/>
          </p:cNvSpPr>
          <p:nvPr>
            <p:ph type="dt" sz="half" idx="10"/>
          </p:nvPr>
        </p:nvSpPr>
        <p:spPr/>
        <p:txBody>
          <a:bodyPr/>
          <a:lstStyle/>
          <a:p>
            <a:r>
              <a:rPr lang="en-US" noProof="1"/>
              <a:t>18.08.2025</a:t>
            </a:r>
            <a:endParaRPr lang="de-DE" noProof="1"/>
          </a:p>
        </p:txBody>
      </p:sp>
      <p:sp>
        <p:nvSpPr>
          <p:cNvPr id="5" name="Fußzeilenplatzhalter 4">
            <a:extLst>
              <a:ext uri="{FF2B5EF4-FFF2-40B4-BE49-F238E27FC236}">
                <a16:creationId xmlns:a16="http://schemas.microsoft.com/office/drawing/2014/main" id="{28BD365E-8B8B-4074-41A3-28C9F6A9499A}"/>
              </a:ext>
            </a:extLst>
          </p:cNvPr>
          <p:cNvSpPr>
            <a:spLocks noGrp="1"/>
          </p:cNvSpPr>
          <p:nvPr>
            <p:ph type="ftr" sz="quarter" idx="11"/>
          </p:nvPr>
        </p:nvSpPr>
        <p:spPr/>
        <p:txBody>
          <a:bodyPr/>
          <a:lstStyle/>
          <a:p>
            <a:r>
              <a:rPr lang="en-US" noProof="1"/>
              <a:t>Enhancing model transparency: Effects of DK Integration for Conversational XAI | Feustel</a:t>
            </a:r>
            <a:endParaRPr lang="de-DE" noProof="1"/>
          </a:p>
        </p:txBody>
      </p:sp>
      <p:sp>
        <p:nvSpPr>
          <p:cNvPr id="6" name="Foliennummernplatzhalter 5">
            <a:extLst>
              <a:ext uri="{FF2B5EF4-FFF2-40B4-BE49-F238E27FC236}">
                <a16:creationId xmlns:a16="http://schemas.microsoft.com/office/drawing/2014/main" id="{A61D33AF-7E51-C9AC-4DDC-B3557FBD9BE2}"/>
              </a:ext>
            </a:extLst>
          </p:cNvPr>
          <p:cNvSpPr>
            <a:spLocks noGrp="1"/>
          </p:cNvSpPr>
          <p:nvPr>
            <p:ph type="sldNum" sz="quarter" idx="12"/>
          </p:nvPr>
        </p:nvSpPr>
        <p:spPr/>
        <p:txBody>
          <a:bodyPr/>
          <a:lstStyle/>
          <a:p>
            <a:r>
              <a:rPr lang="de-DE" noProof="1"/>
              <a:t> </a:t>
            </a:r>
            <a:fld id="{FE120BDC-5456-EC41-8BB6-7A3B726EA19B}" type="slidenum">
              <a:rPr lang="de-DE" noProof="1" smtClean="0"/>
              <a:pPr/>
              <a:t>39</a:t>
            </a:fld>
            <a:endParaRPr lang="de-DE" noProof="1"/>
          </a:p>
        </p:txBody>
      </p:sp>
      <p:pic>
        <p:nvPicPr>
          <p:cNvPr id="7" name="Grafik 6">
            <a:extLst>
              <a:ext uri="{FF2B5EF4-FFF2-40B4-BE49-F238E27FC236}">
                <a16:creationId xmlns:a16="http://schemas.microsoft.com/office/drawing/2014/main" id="{7D1EC946-C18A-C32B-2C19-B797525D5A67}"/>
              </a:ext>
            </a:extLst>
          </p:cNvPr>
          <p:cNvPicPr>
            <a:picLocks noChangeAspect="1"/>
          </p:cNvPicPr>
          <p:nvPr/>
        </p:nvPicPr>
        <p:blipFill>
          <a:blip r:embed="rId2"/>
          <a:stretch>
            <a:fillRect/>
          </a:stretch>
        </p:blipFill>
        <p:spPr>
          <a:xfrm>
            <a:off x="395287" y="1175223"/>
            <a:ext cx="3743050" cy="1281404"/>
          </a:xfrm>
          <a:prstGeom prst="rect">
            <a:avLst/>
          </a:prstGeom>
        </p:spPr>
      </p:pic>
      <p:pic>
        <p:nvPicPr>
          <p:cNvPr id="8" name="Grafik 7">
            <a:extLst>
              <a:ext uri="{FF2B5EF4-FFF2-40B4-BE49-F238E27FC236}">
                <a16:creationId xmlns:a16="http://schemas.microsoft.com/office/drawing/2014/main" id="{C00EA1C3-496B-AB69-B23D-01A0F8FAF3BE}"/>
              </a:ext>
            </a:extLst>
          </p:cNvPr>
          <p:cNvPicPr>
            <a:picLocks noChangeAspect="1"/>
          </p:cNvPicPr>
          <p:nvPr/>
        </p:nvPicPr>
        <p:blipFill>
          <a:blip r:embed="rId3"/>
          <a:stretch>
            <a:fillRect/>
          </a:stretch>
        </p:blipFill>
        <p:spPr>
          <a:xfrm>
            <a:off x="395287" y="2794937"/>
            <a:ext cx="3843947" cy="1674923"/>
          </a:xfrm>
          <a:prstGeom prst="rect">
            <a:avLst/>
          </a:prstGeom>
        </p:spPr>
      </p:pic>
    </p:spTree>
    <p:extLst>
      <p:ext uri="{BB962C8B-B14F-4D97-AF65-F5344CB8AC3E}">
        <p14:creationId xmlns:p14="http://schemas.microsoft.com/office/powerpoint/2010/main" val="599994466"/>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A300C46-FAA4-DC8C-09CA-94106567075E}"/>
              </a:ext>
            </a:extLst>
          </p:cNvPr>
          <p:cNvSpPr>
            <a:spLocks noGrp="1"/>
          </p:cNvSpPr>
          <p:nvPr>
            <p:ph type="ctrTitle"/>
          </p:nvPr>
        </p:nvSpPr>
        <p:spPr/>
        <p:txBody>
          <a:bodyPr/>
          <a:lstStyle/>
          <a:p>
            <a:r>
              <a:rPr lang="de-DE" noProof="1"/>
              <a:t>Rote Linie 1	</a:t>
            </a:r>
          </a:p>
        </p:txBody>
      </p:sp>
      <p:sp>
        <p:nvSpPr>
          <p:cNvPr id="3" name="Inhaltsplatzhalter 2">
            <a:extLst>
              <a:ext uri="{FF2B5EF4-FFF2-40B4-BE49-F238E27FC236}">
                <a16:creationId xmlns:a16="http://schemas.microsoft.com/office/drawing/2014/main" id="{95944B0F-CA42-A353-8627-B27EB73A0EF2}"/>
              </a:ext>
            </a:extLst>
          </p:cNvPr>
          <p:cNvSpPr>
            <a:spLocks noGrp="1"/>
          </p:cNvSpPr>
          <p:nvPr>
            <p:ph sz="quarter" idx="13"/>
          </p:nvPr>
        </p:nvSpPr>
        <p:spPr/>
        <p:txBody>
          <a:bodyPr>
            <a:normAutofit fontScale="62500" lnSpcReduction="20000"/>
          </a:bodyPr>
          <a:lstStyle/>
          <a:p>
            <a:r>
              <a:rPr lang="de-DE" noProof="1"/>
              <a:t>Introduction: Transparency is key </a:t>
            </a:r>
            <a:r>
              <a:rPr lang="de-DE" noProof="1">
                <a:sym typeface="Wingdings" panose="05000000000000000000" pitchFamily="2" charset="2"/>
              </a:rPr>
              <a:t> Field of XAI</a:t>
            </a:r>
          </a:p>
          <a:p>
            <a:pPr lvl="1"/>
            <a:r>
              <a:rPr lang="de-DE" noProof="1">
                <a:sym typeface="Wingdings" panose="05000000000000000000" pitchFamily="2" charset="2"/>
              </a:rPr>
              <a:t>Abstract explanations: good for machine learning experts</a:t>
            </a:r>
          </a:p>
          <a:p>
            <a:pPr lvl="1"/>
            <a:r>
              <a:rPr lang="de-DE" noProof="1">
                <a:sym typeface="Wingdings" panose="05000000000000000000" pitchFamily="2" charset="2"/>
              </a:rPr>
              <a:t>Conversation as basis (cite Miller)</a:t>
            </a:r>
          </a:p>
          <a:p>
            <a:pPr lvl="2"/>
            <a:r>
              <a:rPr lang="de-DE" noProof="1">
                <a:sym typeface="Wingdings" panose="05000000000000000000" pitchFamily="2" charset="2"/>
              </a:rPr>
              <a:t>Field of Conversational XAI / Social XAI to tackle natural conversations</a:t>
            </a:r>
          </a:p>
          <a:p>
            <a:pPr lvl="2"/>
            <a:r>
              <a:rPr lang="de-DE" noProof="1">
                <a:sym typeface="Wingdings" panose="05000000000000000000" pitchFamily="2" charset="2"/>
              </a:rPr>
              <a:t>T2M, ConvXAI as samples  for expert users; Q&amp;A-Systems</a:t>
            </a:r>
          </a:p>
          <a:p>
            <a:pPr lvl="1"/>
            <a:r>
              <a:rPr lang="de-DE" noProof="1">
                <a:sym typeface="Wingdings" panose="05000000000000000000" pitchFamily="2" charset="2"/>
              </a:rPr>
              <a:t>Research Questions/Goal</a:t>
            </a:r>
          </a:p>
          <a:p>
            <a:pPr lvl="1"/>
            <a:r>
              <a:rPr lang="de-DE" noProof="1"/>
              <a:t>Argumentation &amp; Explanations</a:t>
            </a:r>
          </a:p>
          <a:p>
            <a:pPr lvl="2"/>
            <a:r>
              <a:rPr lang="de-DE" noProof="1"/>
              <a:t>Computational Argumentation &amp; XAI; reseachers try to solve XAI with pure argumentation for reasoning (e.g. Walton, Prakken)</a:t>
            </a:r>
          </a:p>
          <a:p>
            <a:pPr lvl="2"/>
            <a:r>
              <a:rPr lang="de-DE" strike="sngStrike" noProof="1"/>
              <a:t>Madumal et. al. </a:t>
            </a:r>
            <a:r>
              <a:rPr lang="de-DE" strike="sngStrike" noProof="1">
                <a:sym typeface="Wingdings" panose="05000000000000000000" pitchFamily="2" charset="2"/>
              </a:rPr>
              <a:t> Interaction Protocol; Argumentation dialogue after explanation to get better understanding</a:t>
            </a:r>
          </a:p>
          <a:p>
            <a:pPr lvl="2"/>
            <a:r>
              <a:rPr lang="de-DE" noProof="1">
                <a:sym typeface="Wingdings" panose="05000000000000000000" pitchFamily="2" charset="2"/>
              </a:rPr>
              <a:t>Argumentative Dialogues</a:t>
            </a:r>
          </a:p>
          <a:p>
            <a:pPr lvl="1"/>
            <a:r>
              <a:rPr lang="de-DE" noProof="1">
                <a:sym typeface="Wingdings" panose="05000000000000000000" pitchFamily="2" charset="2"/>
              </a:rPr>
              <a:t>The vision: example dialogue</a:t>
            </a:r>
          </a:p>
          <a:p>
            <a:r>
              <a:rPr lang="de-DE" noProof="1">
                <a:sym typeface="Wingdings" panose="05000000000000000000" pitchFamily="2" charset="2"/>
              </a:rPr>
              <a:t>Concept for dialogues in conversational XAI</a:t>
            </a:r>
          </a:p>
          <a:p>
            <a:pPr lvl="1"/>
            <a:r>
              <a:rPr lang="de-DE" noProof="1">
                <a:sym typeface="Wingdings" panose="05000000000000000000" pitchFamily="2" charset="2"/>
              </a:rPr>
              <a:t>Introduction Dialogue Systems in general</a:t>
            </a:r>
          </a:p>
          <a:p>
            <a:pPr lvl="1"/>
            <a:r>
              <a:rPr lang="de-DE" noProof="1">
                <a:sym typeface="Wingdings" panose="05000000000000000000" pitchFamily="2" charset="2"/>
              </a:rPr>
              <a:t>What is needed? </a:t>
            </a:r>
          </a:p>
          <a:p>
            <a:pPr lvl="1"/>
            <a:r>
              <a:rPr lang="de-DE" noProof="1">
                <a:sym typeface="Wingdings" panose="05000000000000000000" pitchFamily="2" charset="2"/>
              </a:rPr>
              <a:t>Which components are necessary</a:t>
            </a:r>
          </a:p>
          <a:p>
            <a:r>
              <a:rPr lang="de-DE" noProof="1">
                <a:sym typeface="Wingdings" panose="05000000000000000000" pitchFamily="2" charset="2"/>
              </a:rPr>
              <a:t>Explanations require more then XAI methods offer</a:t>
            </a:r>
          </a:p>
          <a:p>
            <a:pPr lvl="1"/>
            <a:r>
              <a:rPr lang="de-DE" noProof="1">
                <a:sym typeface="Wingdings" panose="05000000000000000000" pitchFamily="2" charset="2"/>
              </a:rPr>
              <a:t>Show limitations of XAI; (e.g. the vision example)</a:t>
            </a:r>
          </a:p>
          <a:p>
            <a:pPr lvl="1"/>
            <a:r>
              <a:rPr lang="de-DE" noProof="1">
                <a:sym typeface="Wingdings" panose="05000000000000000000" pitchFamily="2" charset="2"/>
              </a:rPr>
              <a:t>Extend with external knowledge; State of the art?</a:t>
            </a:r>
          </a:p>
          <a:p>
            <a:pPr marL="342900" lvl="1" indent="0">
              <a:buNone/>
            </a:pPr>
            <a:endParaRPr lang="de-DE" noProof="1">
              <a:sym typeface="Wingdings" panose="05000000000000000000" pitchFamily="2" charset="2"/>
            </a:endParaRPr>
          </a:p>
          <a:p>
            <a:endParaRPr lang="de-DE" noProof="1">
              <a:sym typeface="Wingdings" panose="05000000000000000000" pitchFamily="2" charset="2"/>
            </a:endParaRPr>
          </a:p>
          <a:p>
            <a:endParaRPr lang="de-DE" noProof="1">
              <a:sym typeface="Wingdings" panose="05000000000000000000" pitchFamily="2" charset="2"/>
            </a:endParaRPr>
          </a:p>
          <a:p>
            <a:endParaRPr lang="de-DE" noProof="1"/>
          </a:p>
        </p:txBody>
      </p:sp>
      <p:sp>
        <p:nvSpPr>
          <p:cNvPr id="4" name="Datumsplatzhalter 3">
            <a:extLst>
              <a:ext uri="{FF2B5EF4-FFF2-40B4-BE49-F238E27FC236}">
                <a16:creationId xmlns:a16="http://schemas.microsoft.com/office/drawing/2014/main" id="{C0568B1E-8C95-196E-1FC4-858821269D04}"/>
              </a:ext>
            </a:extLst>
          </p:cNvPr>
          <p:cNvSpPr>
            <a:spLocks noGrp="1"/>
          </p:cNvSpPr>
          <p:nvPr>
            <p:ph type="dt" sz="half" idx="10"/>
          </p:nvPr>
        </p:nvSpPr>
        <p:spPr/>
        <p:txBody>
          <a:bodyPr/>
          <a:lstStyle/>
          <a:p>
            <a:r>
              <a:rPr lang="en-US" noProof="1"/>
              <a:t>18.08.2025</a:t>
            </a:r>
            <a:endParaRPr lang="de-DE" noProof="1"/>
          </a:p>
        </p:txBody>
      </p:sp>
      <p:sp>
        <p:nvSpPr>
          <p:cNvPr id="5" name="Fußzeilenplatzhalter 4">
            <a:extLst>
              <a:ext uri="{FF2B5EF4-FFF2-40B4-BE49-F238E27FC236}">
                <a16:creationId xmlns:a16="http://schemas.microsoft.com/office/drawing/2014/main" id="{824B09D6-C329-40BC-164D-23DB058B29DD}"/>
              </a:ext>
            </a:extLst>
          </p:cNvPr>
          <p:cNvSpPr>
            <a:spLocks noGrp="1"/>
          </p:cNvSpPr>
          <p:nvPr>
            <p:ph type="ftr" sz="quarter" idx="11"/>
          </p:nvPr>
        </p:nvSpPr>
        <p:spPr/>
        <p:txBody>
          <a:bodyPr/>
          <a:lstStyle/>
          <a:p>
            <a:r>
              <a:rPr lang="en-US" noProof="1"/>
              <a:t>Enhancing model transparency: Effects of DK Integration for Conversational XAI | Feustel</a:t>
            </a:r>
            <a:endParaRPr lang="de-DE" noProof="1"/>
          </a:p>
        </p:txBody>
      </p:sp>
      <p:sp>
        <p:nvSpPr>
          <p:cNvPr id="6" name="Foliennummernplatzhalter 5">
            <a:extLst>
              <a:ext uri="{FF2B5EF4-FFF2-40B4-BE49-F238E27FC236}">
                <a16:creationId xmlns:a16="http://schemas.microsoft.com/office/drawing/2014/main" id="{780D4C6D-189E-92EC-582D-A47905F0BF53}"/>
              </a:ext>
            </a:extLst>
          </p:cNvPr>
          <p:cNvSpPr>
            <a:spLocks noGrp="1"/>
          </p:cNvSpPr>
          <p:nvPr>
            <p:ph type="sldNum" sz="quarter" idx="12"/>
          </p:nvPr>
        </p:nvSpPr>
        <p:spPr/>
        <p:txBody>
          <a:bodyPr/>
          <a:lstStyle/>
          <a:p>
            <a:r>
              <a:rPr lang="de-DE" noProof="1"/>
              <a:t> </a:t>
            </a:r>
            <a:fld id="{FE120BDC-5456-EC41-8BB6-7A3B726EA19B}" type="slidenum">
              <a:rPr lang="de-DE" noProof="1" smtClean="0"/>
              <a:pPr/>
              <a:t>40</a:t>
            </a:fld>
            <a:endParaRPr lang="de-DE" noProof="1"/>
          </a:p>
        </p:txBody>
      </p:sp>
    </p:spTree>
    <p:extLst>
      <p:ext uri="{BB962C8B-B14F-4D97-AF65-F5344CB8AC3E}">
        <p14:creationId xmlns:p14="http://schemas.microsoft.com/office/powerpoint/2010/main" val="2990727721"/>
      </p:ext>
    </p:extLst>
  </p:cSld>
  <p:clrMapOvr>
    <a:masterClrMapping/>
  </p:clrMapOvr>
  <p:transition spd="slow">
    <p:push dir="u"/>
  </p:transition>
</p:sld>
</file>

<file path=ppt/slides/slide41.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BEAC1F11-D1D6-3234-73E8-98FE0DB7B6C7}"/>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2AAB3E93-9146-785E-145C-A9848070ABA7}"/>
              </a:ext>
            </a:extLst>
          </p:cNvPr>
          <p:cNvSpPr>
            <a:spLocks noGrp="1"/>
          </p:cNvSpPr>
          <p:nvPr>
            <p:ph type="ctrTitle"/>
          </p:nvPr>
        </p:nvSpPr>
        <p:spPr/>
        <p:txBody>
          <a:bodyPr/>
          <a:lstStyle/>
          <a:p>
            <a:r>
              <a:rPr lang="de-DE" noProof="1"/>
              <a:t>Rote Linie 2</a:t>
            </a:r>
          </a:p>
        </p:txBody>
      </p:sp>
      <p:sp>
        <p:nvSpPr>
          <p:cNvPr id="3" name="Inhaltsplatzhalter 2">
            <a:extLst>
              <a:ext uri="{FF2B5EF4-FFF2-40B4-BE49-F238E27FC236}">
                <a16:creationId xmlns:a16="http://schemas.microsoft.com/office/drawing/2014/main" id="{FE6678E4-2651-7F46-FBC9-C6F2FB55CA69}"/>
              </a:ext>
            </a:extLst>
          </p:cNvPr>
          <p:cNvSpPr>
            <a:spLocks noGrp="1"/>
          </p:cNvSpPr>
          <p:nvPr>
            <p:ph sz="quarter" idx="13"/>
          </p:nvPr>
        </p:nvSpPr>
        <p:spPr/>
        <p:txBody>
          <a:bodyPr/>
          <a:lstStyle/>
          <a:p>
            <a:r>
              <a:rPr lang="de-DE" noProof="1">
                <a:sym typeface="Wingdings" panose="05000000000000000000" pitchFamily="2" charset="2"/>
              </a:rPr>
              <a:t>Integrating Domain Knowledge (DK)</a:t>
            </a:r>
          </a:p>
          <a:p>
            <a:pPr lvl="1"/>
            <a:r>
              <a:rPr lang="de-DE" noProof="1">
                <a:sym typeface="Wingdings" panose="05000000000000000000" pitchFamily="2" charset="2"/>
              </a:rPr>
              <a:t>Idea: Take arguments as trees which are domain knowledge explanations</a:t>
            </a:r>
          </a:p>
          <a:p>
            <a:pPr lvl="1"/>
            <a:r>
              <a:rPr lang="de-DE" noProof="1">
                <a:sym typeface="Wingdings" panose="05000000000000000000" pitchFamily="2" charset="2"/>
              </a:rPr>
              <a:t>Connect DK with XAI feature explanations</a:t>
            </a:r>
          </a:p>
          <a:p>
            <a:pPr lvl="1"/>
            <a:r>
              <a:rPr lang="de-DE" noProof="1">
                <a:sym typeface="Wingdings" panose="05000000000000000000" pitchFamily="2" charset="2"/>
              </a:rPr>
              <a:t>explanation policy + argument selection</a:t>
            </a:r>
          </a:p>
          <a:p>
            <a:r>
              <a:rPr lang="de-DE" noProof="1">
                <a:sym typeface="Wingdings" panose="05000000000000000000" pitchFamily="2" charset="2"/>
              </a:rPr>
              <a:t>Give Introduction to Athena (dialogues)</a:t>
            </a:r>
          </a:p>
          <a:p>
            <a:pPr lvl="1"/>
            <a:r>
              <a:rPr lang="de-DE" noProof="1">
                <a:sym typeface="Wingdings" panose="05000000000000000000" pitchFamily="2" charset="2"/>
              </a:rPr>
              <a:t>Study Setup</a:t>
            </a:r>
          </a:p>
          <a:p>
            <a:pPr lvl="1"/>
            <a:r>
              <a:rPr lang="de-DE" noProof="1">
                <a:sym typeface="Wingdings" panose="05000000000000000000" pitchFamily="2" charset="2"/>
              </a:rPr>
              <a:t>Study Evaluation</a:t>
            </a:r>
          </a:p>
          <a:p>
            <a:endParaRPr lang="de-DE" noProof="1"/>
          </a:p>
          <a:p>
            <a:pPr lvl="1"/>
            <a:endParaRPr lang="de-DE" noProof="1"/>
          </a:p>
        </p:txBody>
      </p:sp>
      <p:sp>
        <p:nvSpPr>
          <p:cNvPr id="4" name="Datumsplatzhalter 3">
            <a:extLst>
              <a:ext uri="{FF2B5EF4-FFF2-40B4-BE49-F238E27FC236}">
                <a16:creationId xmlns:a16="http://schemas.microsoft.com/office/drawing/2014/main" id="{0593B62B-F6C3-4ECD-A774-921972FE3CE3}"/>
              </a:ext>
            </a:extLst>
          </p:cNvPr>
          <p:cNvSpPr>
            <a:spLocks noGrp="1"/>
          </p:cNvSpPr>
          <p:nvPr>
            <p:ph type="dt" sz="half" idx="10"/>
          </p:nvPr>
        </p:nvSpPr>
        <p:spPr/>
        <p:txBody>
          <a:bodyPr/>
          <a:lstStyle/>
          <a:p>
            <a:r>
              <a:rPr lang="en-US" noProof="1"/>
              <a:t>18.08.2025</a:t>
            </a:r>
            <a:endParaRPr lang="de-DE" noProof="1"/>
          </a:p>
        </p:txBody>
      </p:sp>
      <p:sp>
        <p:nvSpPr>
          <p:cNvPr id="5" name="Fußzeilenplatzhalter 4">
            <a:extLst>
              <a:ext uri="{FF2B5EF4-FFF2-40B4-BE49-F238E27FC236}">
                <a16:creationId xmlns:a16="http://schemas.microsoft.com/office/drawing/2014/main" id="{04DF1566-3A7C-2593-315C-542163FD0FAB}"/>
              </a:ext>
            </a:extLst>
          </p:cNvPr>
          <p:cNvSpPr>
            <a:spLocks noGrp="1"/>
          </p:cNvSpPr>
          <p:nvPr>
            <p:ph type="ftr" sz="quarter" idx="11"/>
          </p:nvPr>
        </p:nvSpPr>
        <p:spPr/>
        <p:txBody>
          <a:bodyPr/>
          <a:lstStyle/>
          <a:p>
            <a:r>
              <a:rPr lang="en-US" noProof="1"/>
              <a:t>Enhancing model transparency: Effects of DK Integration for Conversational XAI | Feustel</a:t>
            </a:r>
            <a:endParaRPr lang="de-DE" noProof="1"/>
          </a:p>
        </p:txBody>
      </p:sp>
      <p:sp>
        <p:nvSpPr>
          <p:cNvPr id="6" name="Foliennummernplatzhalter 5">
            <a:extLst>
              <a:ext uri="{FF2B5EF4-FFF2-40B4-BE49-F238E27FC236}">
                <a16:creationId xmlns:a16="http://schemas.microsoft.com/office/drawing/2014/main" id="{5B1A581A-A4A0-AD51-90F9-DAEFF6C1D9AC}"/>
              </a:ext>
            </a:extLst>
          </p:cNvPr>
          <p:cNvSpPr>
            <a:spLocks noGrp="1"/>
          </p:cNvSpPr>
          <p:nvPr>
            <p:ph type="sldNum" sz="quarter" idx="12"/>
          </p:nvPr>
        </p:nvSpPr>
        <p:spPr/>
        <p:txBody>
          <a:bodyPr/>
          <a:lstStyle/>
          <a:p>
            <a:r>
              <a:rPr lang="de-DE" noProof="1"/>
              <a:t> </a:t>
            </a:r>
            <a:fld id="{FE120BDC-5456-EC41-8BB6-7A3B726EA19B}" type="slidenum">
              <a:rPr lang="de-DE" noProof="1" smtClean="0"/>
              <a:pPr/>
              <a:t>41</a:t>
            </a:fld>
            <a:endParaRPr lang="de-DE" noProof="1"/>
          </a:p>
        </p:txBody>
      </p:sp>
    </p:spTree>
    <p:extLst>
      <p:ext uri="{BB962C8B-B14F-4D97-AF65-F5344CB8AC3E}">
        <p14:creationId xmlns:p14="http://schemas.microsoft.com/office/powerpoint/2010/main" val="1334771097"/>
      </p:ext>
    </p:extLst>
  </p:cSld>
  <p:clrMapOvr>
    <a:masterClrMapping/>
  </p:clrMapOvr>
  <p:transition spd="slow">
    <p:push dir="u"/>
  </p:transition>
</p:sld>
</file>

<file path=ppt/slides/slide42.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F0664DDD-DD66-2045-F01F-928AE994CE3B}"/>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2D4EFEF9-CE38-9AA3-542A-B10760D94036}"/>
              </a:ext>
            </a:extLst>
          </p:cNvPr>
          <p:cNvSpPr>
            <a:spLocks noGrp="1"/>
          </p:cNvSpPr>
          <p:nvPr>
            <p:ph type="ctrTitle"/>
          </p:nvPr>
        </p:nvSpPr>
        <p:spPr>
          <a:xfrm>
            <a:off x="403379" y="303213"/>
            <a:ext cx="8345333" cy="611187"/>
          </a:xfrm>
        </p:spPr>
        <p:txBody>
          <a:bodyPr/>
          <a:lstStyle/>
          <a:p>
            <a:r>
              <a:rPr lang="de-DE" noProof="1"/>
              <a:t>Rote Linie 3</a:t>
            </a:r>
          </a:p>
        </p:txBody>
      </p:sp>
      <p:sp>
        <p:nvSpPr>
          <p:cNvPr id="3" name="Inhaltsplatzhalter 2">
            <a:extLst>
              <a:ext uri="{FF2B5EF4-FFF2-40B4-BE49-F238E27FC236}">
                <a16:creationId xmlns:a16="http://schemas.microsoft.com/office/drawing/2014/main" id="{97ECA3F7-1ADA-681F-7306-EA06302D5971}"/>
              </a:ext>
            </a:extLst>
          </p:cNvPr>
          <p:cNvSpPr>
            <a:spLocks noGrp="1"/>
          </p:cNvSpPr>
          <p:nvPr>
            <p:ph sz="quarter" idx="13"/>
          </p:nvPr>
        </p:nvSpPr>
        <p:spPr/>
        <p:txBody>
          <a:bodyPr/>
          <a:lstStyle/>
          <a:p>
            <a:r>
              <a:rPr lang="de-DE" noProof="1"/>
              <a:t>Problems from study – What‘s next?</a:t>
            </a:r>
          </a:p>
          <a:p>
            <a:pPr lvl="1"/>
            <a:r>
              <a:rPr lang="de-DE" noProof="1"/>
              <a:t>NLU </a:t>
            </a:r>
            <a:r>
              <a:rPr lang="de-DE" noProof="1">
                <a:sym typeface="Wingdings" panose="05000000000000000000" pitchFamily="2" charset="2"/>
              </a:rPr>
              <a:t> Optimize model with new data; check LLM performance</a:t>
            </a:r>
          </a:p>
          <a:p>
            <a:pPr lvl="1"/>
            <a:r>
              <a:rPr lang="de-DE" noProof="1">
                <a:sym typeface="Wingdings" panose="05000000000000000000" pitchFamily="2" charset="2"/>
              </a:rPr>
              <a:t>Question: LLM as all in one solution? </a:t>
            </a:r>
          </a:p>
          <a:p>
            <a:pPr lvl="2"/>
            <a:r>
              <a:rPr lang="de-DE" noProof="1">
                <a:sym typeface="Wingdings" panose="05000000000000000000" pitchFamily="2" charset="2"/>
              </a:rPr>
              <a:t>Paper Nicolas; „Dialogue Controller“ to manage general information</a:t>
            </a:r>
          </a:p>
          <a:p>
            <a:pPr lvl="2"/>
            <a:r>
              <a:rPr lang="de-DE" noProof="1">
                <a:sym typeface="Wingdings" panose="05000000000000000000" pitchFamily="2" charset="2"/>
              </a:rPr>
              <a:t>Compare Athena with an LLM all in one solution</a:t>
            </a:r>
          </a:p>
          <a:p>
            <a:pPr lvl="1"/>
            <a:r>
              <a:rPr lang="de-DE" noProof="1">
                <a:sym typeface="Wingdings" panose="05000000000000000000" pitchFamily="2" charset="2"/>
              </a:rPr>
              <a:t>NLG  Personalized explanations</a:t>
            </a:r>
          </a:p>
          <a:p>
            <a:pPr lvl="2"/>
            <a:r>
              <a:rPr lang="de-DE" noProof="1">
                <a:sym typeface="Wingdings" panose="05000000000000000000" pitchFamily="2" charset="2"/>
              </a:rPr>
              <a:t>Check how explanations can be generated in a natural manner</a:t>
            </a:r>
          </a:p>
          <a:p>
            <a:pPr lvl="2"/>
            <a:r>
              <a:rPr lang="de-DE" noProof="1">
                <a:sym typeface="Wingdings" panose="05000000000000000000" pitchFamily="2" charset="2"/>
              </a:rPr>
              <a:t>Personalize them: e.g. user experience/knowledge; conversational style; example style: compare to a domain the user knows</a:t>
            </a:r>
          </a:p>
          <a:p>
            <a:pPr lvl="1"/>
            <a:r>
              <a:rPr lang="de-DE" noProof="1">
                <a:sym typeface="Wingdings" panose="05000000000000000000" pitchFamily="2" charset="2"/>
              </a:rPr>
              <a:t>Explanation Policy: Show domain knowledge more proactive; combine „raw“ explanations</a:t>
            </a:r>
          </a:p>
          <a:p>
            <a:pPr lvl="1"/>
            <a:endParaRPr lang="de-DE" noProof="1"/>
          </a:p>
        </p:txBody>
      </p:sp>
      <p:sp>
        <p:nvSpPr>
          <p:cNvPr id="4" name="Datumsplatzhalter 3">
            <a:extLst>
              <a:ext uri="{FF2B5EF4-FFF2-40B4-BE49-F238E27FC236}">
                <a16:creationId xmlns:a16="http://schemas.microsoft.com/office/drawing/2014/main" id="{4D8B59AA-0BBD-6AD4-AEEB-E76B37006FCC}"/>
              </a:ext>
            </a:extLst>
          </p:cNvPr>
          <p:cNvSpPr>
            <a:spLocks noGrp="1"/>
          </p:cNvSpPr>
          <p:nvPr>
            <p:ph type="dt" sz="half" idx="10"/>
          </p:nvPr>
        </p:nvSpPr>
        <p:spPr/>
        <p:txBody>
          <a:bodyPr/>
          <a:lstStyle/>
          <a:p>
            <a:r>
              <a:rPr lang="en-US" noProof="1"/>
              <a:t>18.08.2025</a:t>
            </a:r>
            <a:endParaRPr lang="de-DE" noProof="1"/>
          </a:p>
        </p:txBody>
      </p:sp>
      <p:sp>
        <p:nvSpPr>
          <p:cNvPr id="5" name="Fußzeilenplatzhalter 4">
            <a:extLst>
              <a:ext uri="{FF2B5EF4-FFF2-40B4-BE49-F238E27FC236}">
                <a16:creationId xmlns:a16="http://schemas.microsoft.com/office/drawing/2014/main" id="{991EE730-D6A4-01ED-C57A-A8FE5FCC5494}"/>
              </a:ext>
            </a:extLst>
          </p:cNvPr>
          <p:cNvSpPr>
            <a:spLocks noGrp="1"/>
          </p:cNvSpPr>
          <p:nvPr>
            <p:ph type="ftr" sz="quarter" idx="11"/>
          </p:nvPr>
        </p:nvSpPr>
        <p:spPr/>
        <p:txBody>
          <a:bodyPr/>
          <a:lstStyle/>
          <a:p>
            <a:r>
              <a:rPr lang="en-US" noProof="1"/>
              <a:t>Enhancing model transparency: Effects of DK Integration for Conversational XAI | Feustel</a:t>
            </a:r>
            <a:endParaRPr lang="de-DE" noProof="1"/>
          </a:p>
        </p:txBody>
      </p:sp>
      <p:sp>
        <p:nvSpPr>
          <p:cNvPr id="6" name="Foliennummernplatzhalter 5">
            <a:extLst>
              <a:ext uri="{FF2B5EF4-FFF2-40B4-BE49-F238E27FC236}">
                <a16:creationId xmlns:a16="http://schemas.microsoft.com/office/drawing/2014/main" id="{E681301A-24C6-BBD8-ADC6-7D6868FA1963}"/>
              </a:ext>
            </a:extLst>
          </p:cNvPr>
          <p:cNvSpPr>
            <a:spLocks noGrp="1"/>
          </p:cNvSpPr>
          <p:nvPr>
            <p:ph type="sldNum" sz="quarter" idx="12"/>
          </p:nvPr>
        </p:nvSpPr>
        <p:spPr/>
        <p:txBody>
          <a:bodyPr/>
          <a:lstStyle/>
          <a:p>
            <a:r>
              <a:rPr lang="de-DE" noProof="1"/>
              <a:t> </a:t>
            </a:r>
            <a:fld id="{FE120BDC-5456-EC41-8BB6-7A3B726EA19B}" type="slidenum">
              <a:rPr lang="de-DE" noProof="1" smtClean="0"/>
              <a:pPr/>
              <a:t>42</a:t>
            </a:fld>
            <a:endParaRPr lang="de-DE" noProof="1"/>
          </a:p>
        </p:txBody>
      </p:sp>
    </p:spTree>
    <p:extLst>
      <p:ext uri="{BB962C8B-B14F-4D97-AF65-F5344CB8AC3E}">
        <p14:creationId xmlns:p14="http://schemas.microsoft.com/office/powerpoint/2010/main" val="2810190186"/>
      </p:ext>
    </p:extLst>
  </p:cSld>
  <p:clrMapOvr>
    <a:masterClrMapping/>
  </p:clrMapOvr>
  <p:transition spd="slow">
    <p:push dir="u"/>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ctrTitle"/>
          </p:nvPr>
        </p:nvSpPr>
        <p:spPr/>
        <p:txBody>
          <a:bodyPr/>
          <a:lstStyle/>
          <a:p>
            <a:r>
              <a:rPr lang="de-DE" noProof="1"/>
              <a:t>The Vision | Example Dialogue</a:t>
            </a:r>
          </a:p>
        </p:txBody>
      </p:sp>
      <p:sp>
        <p:nvSpPr>
          <p:cNvPr id="3" name="Inhaltsplatzhalter 2"/>
          <p:cNvSpPr>
            <a:spLocks noGrp="1"/>
          </p:cNvSpPr>
          <p:nvPr>
            <p:ph sz="quarter" idx="13"/>
          </p:nvPr>
        </p:nvSpPr>
        <p:spPr/>
        <p:txBody>
          <a:bodyPr>
            <a:normAutofit fontScale="92500"/>
          </a:bodyPr>
          <a:lstStyle/>
          <a:p>
            <a:pPr marL="0" indent="0">
              <a:buNone/>
            </a:pPr>
            <a:r>
              <a:rPr lang="de-DE" noProof="1"/>
              <a:t>…</a:t>
            </a:r>
          </a:p>
          <a:p>
            <a:pPr marL="0" indent="0">
              <a:buNone/>
            </a:pPr>
            <a:r>
              <a:rPr lang="de-DE" noProof="1">
                <a:solidFill>
                  <a:srgbClr val="A32638"/>
                </a:solidFill>
              </a:rPr>
              <a:t>System: </a:t>
            </a:r>
            <a:r>
              <a:rPr lang="de-DE" noProof="1"/>
              <a:t>The person you described to me would have survived.</a:t>
            </a:r>
          </a:p>
          <a:p>
            <a:pPr marL="0" indent="0">
              <a:buNone/>
            </a:pPr>
            <a:r>
              <a:rPr lang="de-DE" noProof="1"/>
              <a:t>User: Why is that so?</a:t>
            </a:r>
          </a:p>
          <a:p>
            <a:pPr marL="0" indent="0">
              <a:buNone/>
            </a:pPr>
            <a:r>
              <a:rPr lang="de-DE" noProof="1">
                <a:solidFill>
                  <a:srgbClr val="A32638"/>
                </a:solidFill>
              </a:rPr>
              <a:t>System: </a:t>
            </a:r>
            <a:r>
              <a:rPr lang="de-DE" noProof="1"/>
              <a:t>You told me the person is female. The gender has a big influence on this outcome.</a:t>
            </a:r>
          </a:p>
          <a:p>
            <a:pPr marL="0" indent="0">
              <a:buNone/>
            </a:pPr>
            <a:r>
              <a:rPr lang="de-DE" noProof="1"/>
              <a:t>User: But why has the gender such influence?</a:t>
            </a:r>
          </a:p>
          <a:p>
            <a:pPr marL="0" indent="0">
              <a:buNone/>
            </a:pPr>
            <a:r>
              <a:rPr lang="de-DE" noProof="1">
                <a:solidFill>
                  <a:srgbClr val="A32638"/>
                </a:solidFill>
              </a:rPr>
              <a:t>System: </a:t>
            </a:r>
            <a:r>
              <a:rPr lang="de-DE" noProof="1"/>
              <a:t>As far as I know there is a statement "women and children first", this led to the fact that women were preferred in the distribution of the life boats and therefore had a higher chance to survive.</a:t>
            </a:r>
          </a:p>
          <a:p>
            <a:pPr marL="0" indent="0">
              <a:buNone/>
            </a:pPr>
            <a:r>
              <a:rPr lang="de-DE" noProof="1"/>
              <a:t>User: Does this mean if I change the gender to male, the person would have drowned?</a:t>
            </a:r>
          </a:p>
          <a:p>
            <a:pPr marL="0" indent="0">
              <a:buNone/>
            </a:pPr>
            <a:r>
              <a:rPr lang="de-DE" noProof="1">
                <a:solidFill>
                  <a:srgbClr val="A32638"/>
                </a:solidFill>
              </a:rPr>
              <a:t>System</a:t>
            </a:r>
            <a:r>
              <a:rPr lang="de-DE" noProof="1"/>
              <a:t>: Yes.</a:t>
            </a:r>
          </a:p>
          <a:p>
            <a:pPr marL="0" indent="0">
              <a:buNone/>
            </a:pPr>
            <a:r>
              <a:rPr lang="de-DE" noProof="1"/>
              <a:t>…</a:t>
            </a:r>
          </a:p>
          <a:p>
            <a:pPr marL="0" indent="0">
              <a:buNone/>
            </a:pPr>
            <a:endParaRPr lang="de-DE" noProof="1"/>
          </a:p>
        </p:txBody>
      </p:sp>
      <p:sp>
        <p:nvSpPr>
          <p:cNvPr id="4" name="Datumsplatzhalter 3"/>
          <p:cNvSpPr>
            <a:spLocks noGrp="1"/>
          </p:cNvSpPr>
          <p:nvPr>
            <p:ph type="dt" sz="half" idx="10"/>
          </p:nvPr>
        </p:nvSpPr>
        <p:spPr/>
        <p:txBody>
          <a:bodyPr/>
          <a:lstStyle/>
          <a:p>
            <a:r>
              <a:rPr lang="en-US" noProof="1"/>
              <a:t>18.08.2025</a:t>
            </a:r>
            <a:endParaRPr lang="de-DE" noProof="1"/>
          </a:p>
        </p:txBody>
      </p:sp>
      <p:sp>
        <p:nvSpPr>
          <p:cNvPr id="5" name="Fußzeilenplatzhalter 4"/>
          <p:cNvSpPr>
            <a:spLocks noGrp="1"/>
          </p:cNvSpPr>
          <p:nvPr>
            <p:ph type="ftr" sz="quarter" idx="11"/>
          </p:nvPr>
        </p:nvSpPr>
        <p:spPr/>
        <p:txBody>
          <a:bodyPr/>
          <a:lstStyle/>
          <a:p>
            <a:r>
              <a:rPr lang="en-US" noProof="1"/>
              <a:t>Enhancing model transparency: Effects of DK Integration for Conversational XAI | Feustel</a:t>
            </a:r>
            <a:endParaRPr lang="de-DE" noProof="1"/>
          </a:p>
        </p:txBody>
      </p:sp>
      <p:sp>
        <p:nvSpPr>
          <p:cNvPr id="6" name="Foliennummernplatzhalter 5"/>
          <p:cNvSpPr>
            <a:spLocks noGrp="1"/>
          </p:cNvSpPr>
          <p:nvPr>
            <p:ph type="sldNum" sz="quarter" idx="12"/>
          </p:nvPr>
        </p:nvSpPr>
        <p:spPr/>
        <p:txBody>
          <a:bodyPr/>
          <a:lstStyle/>
          <a:p>
            <a:r>
              <a:rPr lang="de-DE" noProof="1"/>
              <a:t> </a:t>
            </a:r>
            <a:fld id="{FE120BDC-5456-EC41-8BB6-7A3B726EA19B}" type="slidenum">
              <a:rPr lang="de-DE" noProof="1" smtClean="0"/>
              <a:pPr/>
              <a:t>43</a:t>
            </a:fld>
            <a:endParaRPr lang="de-DE" noProof="1"/>
          </a:p>
        </p:txBody>
      </p:sp>
    </p:spTree>
    <p:extLst>
      <p:ext uri="{BB962C8B-B14F-4D97-AF65-F5344CB8AC3E}">
        <p14:creationId xmlns:p14="http://schemas.microsoft.com/office/powerpoint/2010/main" val="3836453225"/>
      </p:ext>
    </p:extLst>
  </p:cSld>
  <p:clrMapOvr>
    <a:masterClrMapping/>
  </p:clrMapOvr>
  <p:transition spd="slow">
    <p:push dir="u"/>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ctrTitle"/>
          </p:nvPr>
        </p:nvSpPr>
        <p:spPr/>
        <p:txBody>
          <a:bodyPr/>
          <a:lstStyle/>
          <a:p>
            <a:r>
              <a:rPr lang="de-DE" noProof="1"/>
              <a:t>Research Questions</a:t>
            </a:r>
          </a:p>
        </p:txBody>
      </p:sp>
      <p:sp>
        <p:nvSpPr>
          <p:cNvPr id="4" name="Datumsplatzhalter 3"/>
          <p:cNvSpPr>
            <a:spLocks noGrp="1"/>
          </p:cNvSpPr>
          <p:nvPr>
            <p:ph type="dt" sz="half" idx="10"/>
          </p:nvPr>
        </p:nvSpPr>
        <p:spPr/>
        <p:txBody>
          <a:bodyPr/>
          <a:lstStyle/>
          <a:p>
            <a:r>
              <a:rPr lang="en-US" noProof="1"/>
              <a:t>18.08.2025</a:t>
            </a:r>
            <a:endParaRPr lang="de-DE" noProof="1"/>
          </a:p>
        </p:txBody>
      </p:sp>
      <p:sp>
        <p:nvSpPr>
          <p:cNvPr id="5" name="Fußzeilenplatzhalter 4"/>
          <p:cNvSpPr>
            <a:spLocks noGrp="1"/>
          </p:cNvSpPr>
          <p:nvPr>
            <p:ph type="ftr" sz="quarter" idx="11"/>
          </p:nvPr>
        </p:nvSpPr>
        <p:spPr/>
        <p:txBody>
          <a:bodyPr/>
          <a:lstStyle/>
          <a:p>
            <a:r>
              <a:rPr lang="en-US" noProof="1"/>
              <a:t>Enhancing model transparency: Effects of DK Integration for Conversational XAI | Feustel</a:t>
            </a:r>
            <a:endParaRPr lang="de-DE" noProof="1"/>
          </a:p>
        </p:txBody>
      </p:sp>
      <p:sp>
        <p:nvSpPr>
          <p:cNvPr id="6" name="Foliennummernplatzhalter 5"/>
          <p:cNvSpPr>
            <a:spLocks noGrp="1"/>
          </p:cNvSpPr>
          <p:nvPr>
            <p:ph type="sldNum" sz="quarter" idx="12"/>
          </p:nvPr>
        </p:nvSpPr>
        <p:spPr/>
        <p:txBody>
          <a:bodyPr/>
          <a:lstStyle/>
          <a:p>
            <a:r>
              <a:rPr lang="de-DE" noProof="1"/>
              <a:t> </a:t>
            </a:r>
            <a:fld id="{FE120BDC-5456-EC41-8BB6-7A3B726EA19B}" type="slidenum">
              <a:rPr lang="de-DE" noProof="1" smtClean="0"/>
              <a:pPr/>
              <a:t>44</a:t>
            </a:fld>
            <a:endParaRPr lang="de-DE" noProof="1"/>
          </a:p>
        </p:txBody>
      </p:sp>
      <p:sp>
        <p:nvSpPr>
          <p:cNvPr id="3" name="Inhaltsplatzhalter 2"/>
          <p:cNvSpPr>
            <a:spLocks noGrp="1"/>
          </p:cNvSpPr>
          <p:nvPr>
            <p:ph sz="quarter" idx="13"/>
          </p:nvPr>
        </p:nvSpPr>
        <p:spPr>
          <a:xfrm>
            <a:off x="395288" y="1131888"/>
            <a:ext cx="8353425" cy="3676282"/>
          </a:xfrm>
        </p:spPr>
        <p:txBody>
          <a:bodyPr>
            <a:normAutofit/>
          </a:bodyPr>
          <a:lstStyle/>
          <a:p>
            <a:r>
              <a:rPr lang="de-DE" noProof="1"/>
              <a:t>How can machine-generated explanations be integrated into a dialogue system and presented to the user in a comprehensible way? [RQ1]</a:t>
            </a:r>
          </a:p>
          <a:p>
            <a:endParaRPr lang="de-DE" noProof="1"/>
          </a:p>
          <a:p>
            <a:r>
              <a:rPr lang="de-DE" noProof="1"/>
              <a:t>How can explanations be enhanced by additional knowledge? [RQ2]</a:t>
            </a:r>
          </a:p>
          <a:p>
            <a:pPr lvl="1"/>
            <a:r>
              <a:rPr lang="de-DE" noProof="1"/>
              <a:t>How can knowledge be integrated into an explanatory dialogue system in a generic way? [RQ2.1]</a:t>
            </a:r>
          </a:p>
          <a:p>
            <a:pPr lvl="1"/>
            <a:r>
              <a:rPr lang="de-DE" noProof="1"/>
              <a:t>What knowledge sources can be used to enhance system knowledge? [RQ2.2]</a:t>
            </a:r>
          </a:p>
          <a:p>
            <a:pPr lvl="1"/>
            <a:endParaRPr lang="de-DE" noProof="1"/>
          </a:p>
          <a:p>
            <a:r>
              <a:rPr lang="de-DE" noProof="1"/>
              <a:t>What strategy for selecting additional knowledge and explanations supports dialogue management? [RQ3]</a:t>
            </a:r>
          </a:p>
        </p:txBody>
      </p:sp>
    </p:spTree>
    <p:extLst>
      <p:ext uri="{BB962C8B-B14F-4D97-AF65-F5344CB8AC3E}">
        <p14:creationId xmlns:p14="http://schemas.microsoft.com/office/powerpoint/2010/main" val="3625669561"/>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ctrTitle"/>
          </p:nvPr>
        </p:nvSpPr>
        <p:spPr/>
        <p:txBody>
          <a:bodyPr/>
          <a:lstStyle/>
          <a:p>
            <a:r>
              <a:rPr lang="de-DE" noProof="1"/>
              <a:t>Further Steps for Domain Knowledge Integration (RQ2.1)</a:t>
            </a:r>
          </a:p>
        </p:txBody>
      </p:sp>
      <p:sp>
        <p:nvSpPr>
          <p:cNvPr id="3" name="Inhaltsplatzhalter 2"/>
          <p:cNvSpPr>
            <a:spLocks noGrp="1"/>
          </p:cNvSpPr>
          <p:nvPr>
            <p:ph sz="quarter" idx="15"/>
          </p:nvPr>
        </p:nvSpPr>
        <p:spPr>
          <a:xfrm>
            <a:off x="395289" y="1131887"/>
            <a:ext cx="8132126" cy="3671887"/>
          </a:xfrm>
        </p:spPr>
        <p:txBody>
          <a:bodyPr/>
          <a:lstStyle/>
          <a:p>
            <a:r>
              <a:rPr lang="de-DE" b="1" noProof="1"/>
              <a:t>Goal</a:t>
            </a:r>
            <a:r>
              <a:rPr lang="de-DE" noProof="1"/>
              <a:t>: Bigger study with more participants and native speakers</a:t>
            </a:r>
          </a:p>
          <a:p>
            <a:r>
              <a:rPr lang="de-DE" noProof="1"/>
              <a:t>Adaptions:</a:t>
            </a:r>
          </a:p>
          <a:p>
            <a:pPr lvl="1"/>
            <a:r>
              <a:rPr lang="de-DE" noProof="1"/>
              <a:t>More robust NLU</a:t>
            </a:r>
          </a:p>
          <a:p>
            <a:pPr lvl="1"/>
            <a:r>
              <a:rPr lang="de-DE" noProof="1"/>
              <a:t>Provide new user move (e.g. RequestMetaInformation: „what is duration?“)</a:t>
            </a:r>
          </a:p>
          <a:p>
            <a:pPr lvl="1"/>
            <a:r>
              <a:rPr lang="de-DE" noProof="1"/>
              <a:t>Adapt study setting</a:t>
            </a:r>
          </a:p>
          <a:p>
            <a:pPr lvl="2"/>
            <a:r>
              <a:rPr lang="de-DE" noProof="1"/>
              <a:t>think of a more natural scenario where users want to explore additional knowledge</a:t>
            </a:r>
          </a:p>
          <a:p>
            <a:pPr lvl="2"/>
            <a:r>
              <a:rPr lang="de-DE" noProof="1"/>
              <a:t>adapt study questions for domain knowledge (the term „system decision“ seems unclear)</a:t>
            </a:r>
          </a:p>
          <a:p>
            <a:pPr lvl="1"/>
            <a:r>
              <a:rPr lang="de-DE" noProof="1"/>
              <a:t>Adapt Policy for DK Integration</a:t>
            </a:r>
          </a:p>
          <a:p>
            <a:pPr lvl="2"/>
            <a:r>
              <a:rPr lang="de-DE" noProof="1"/>
              <a:t>Provide DK more proactively </a:t>
            </a:r>
          </a:p>
          <a:p>
            <a:pPr lvl="2"/>
            <a:r>
              <a:rPr lang="de-DE" noProof="1"/>
              <a:t>Find strategy to make DK more visible (e.g. give hint on utterance origin)</a:t>
            </a:r>
          </a:p>
          <a:p>
            <a:pPr lvl="1"/>
            <a:r>
              <a:rPr lang="de-DE" b="1" noProof="1"/>
              <a:t>Optional</a:t>
            </a:r>
            <a:r>
              <a:rPr lang="de-DE" noProof="1"/>
              <a:t>: Integration of Diabetes Dataset (?) </a:t>
            </a:r>
          </a:p>
          <a:p>
            <a:pPr lvl="1"/>
            <a:endParaRPr lang="de-DE" noProof="1"/>
          </a:p>
        </p:txBody>
      </p:sp>
      <p:sp>
        <p:nvSpPr>
          <p:cNvPr id="5" name="Vertikaler Textplatzhalter 4"/>
          <p:cNvSpPr>
            <a:spLocks noGrp="1"/>
          </p:cNvSpPr>
          <p:nvPr>
            <p:ph type="body" orient="vert" sz="quarter" idx="18"/>
          </p:nvPr>
        </p:nvSpPr>
        <p:spPr/>
        <p:txBody>
          <a:bodyPr/>
          <a:lstStyle/>
          <a:p>
            <a:endParaRPr lang="de-DE" noProof="1"/>
          </a:p>
        </p:txBody>
      </p:sp>
      <p:sp>
        <p:nvSpPr>
          <p:cNvPr id="6" name="Datumsplatzhalter 5"/>
          <p:cNvSpPr>
            <a:spLocks noGrp="1"/>
          </p:cNvSpPr>
          <p:nvPr>
            <p:ph type="dt" sz="half" idx="10"/>
          </p:nvPr>
        </p:nvSpPr>
        <p:spPr/>
        <p:txBody>
          <a:bodyPr/>
          <a:lstStyle/>
          <a:p>
            <a:r>
              <a:rPr lang="en-US" noProof="1"/>
              <a:t>18.08.2025</a:t>
            </a:r>
            <a:endParaRPr lang="de-DE" noProof="1"/>
          </a:p>
        </p:txBody>
      </p:sp>
      <p:sp>
        <p:nvSpPr>
          <p:cNvPr id="7" name="Fußzeilenplatzhalter 6"/>
          <p:cNvSpPr>
            <a:spLocks noGrp="1"/>
          </p:cNvSpPr>
          <p:nvPr>
            <p:ph type="ftr" sz="quarter" idx="11"/>
          </p:nvPr>
        </p:nvSpPr>
        <p:spPr/>
        <p:txBody>
          <a:bodyPr/>
          <a:lstStyle/>
          <a:p>
            <a:r>
              <a:rPr lang="en-US" noProof="1"/>
              <a:t>Enhancing model transparency: Effects of DK Integration for Conversational XAI | Feustel</a:t>
            </a:r>
            <a:endParaRPr lang="de-DE" noProof="1"/>
          </a:p>
        </p:txBody>
      </p:sp>
      <p:sp>
        <p:nvSpPr>
          <p:cNvPr id="8" name="Foliennummernplatzhalter 7"/>
          <p:cNvSpPr>
            <a:spLocks noGrp="1"/>
          </p:cNvSpPr>
          <p:nvPr>
            <p:ph type="sldNum" sz="quarter" idx="12"/>
          </p:nvPr>
        </p:nvSpPr>
        <p:spPr/>
        <p:txBody>
          <a:bodyPr/>
          <a:lstStyle/>
          <a:p>
            <a:r>
              <a:rPr lang="de-DE" noProof="1"/>
              <a:t> </a:t>
            </a:r>
            <a:fld id="{FE120BDC-5456-EC41-8BB6-7A3B726EA19B}" type="slidenum">
              <a:rPr lang="de-DE" noProof="1" smtClean="0"/>
              <a:pPr/>
              <a:t>45</a:t>
            </a:fld>
            <a:endParaRPr lang="de-DE" noProof="1"/>
          </a:p>
        </p:txBody>
      </p:sp>
    </p:spTree>
    <p:extLst>
      <p:ext uri="{BB962C8B-B14F-4D97-AF65-F5344CB8AC3E}">
        <p14:creationId xmlns:p14="http://schemas.microsoft.com/office/powerpoint/2010/main" val="287595850"/>
      </p:ext>
    </p:extLst>
  </p:cSld>
  <p:clrMapOvr>
    <a:masterClrMapping/>
  </p:clrMapOvr>
  <p:transition spd="slow">
    <p:push dir="u"/>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ctrTitle"/>
          </p:nvPr>
        </p:nvSpPr>
        <p:spPr/>
        <p:txBody>
          <a:bodyPr/>
          <a:lstStyle/>
          <a:p>
            <a:r>
              <a:rPr lang="de-DE" noProof="1"/>
              <a:t>Knowledge Sources</a:t>
            </a:r>
          </a:p>
        </p:txBody>
      </p:sp>
      <p:sp>
        <p:nvSpPr>
          <p:cNvPr id="3" name="Inhaltsplatzhalter 2"/>
          <p:cNvSpPr>
            <a:spLocks noGrp="1"/>
          </p:cNvSpPr>
          <p:nvPr>
            <p:ph sz="quarter" idx="13"/>
          </p:nvPr>
        </p:nvSpPr>
        <p:spPr/>
        <p:txBody>
          <a:bodyPr/>
          <a:lstStyle/>
          <a:p>
            <a:r>
              <a:rPr lang="de-DE" noProof="1"/>
              <a:t>Possible Sources: </a:t>
            </a:r>
          </a:p>
          <a:p>
            <a:pPr lvl="1"/>
            <a:r>
              <a:rPr lang="de-DE" noProof="1"/>
              <a:t>Argument Search</a:t>
            </a:r>
          </a:p>
          <a:p>
            <a:pPr lvl="1"/>
            <a:r>
              <a:rPr lang="de-DE" noProof="1"/>
              <a:t>Domain experts</a:t>
            </a:r>
          </a:p>
          <a:p>
            <a:pPr lvl="1"/>
            <a:r>
              <a:rPr lang="de-DE" noProof="1"/>
              <a:t>LLMs for widely spread topics (tested for credit)</a:t>
            </a:r>
          </a:p>
          <a:p>
            <a:pPr lvl="1"/>
            <a:r>
              <a:rPr lang="de-DE" noProof="1"/>
              <a:t>Semantic Web</a:t>
            </a:r>
          </a:p>
          <a:p>
            <a:pPr lvl="1"/>
            <a:endParaRPr lang="de-DE" noProof="1"/>
          </a:p>
          <a:p>
            <a:r>
              <a:rPr lang="de-DE" noProof="1"/>
              <a:t>Planned Steps:</a:t>
            </a:r>
          </a:p>
          <a:p>
            <a:pPr lvl="1"/>
            <a:r>
              <a:rPr lang="de-DE" noProof="1"/>
              <a:t>Pipeline for transforming resources to the used model (Niklas, Carolin)</a:t>
            </a:r>
          </a:p>
          <a:p>
            <a:pPr lvl="1"/>
            <a:r>
              <a:rPr lang="de-DE" noProof="1"/>
              <a:t>Compare argument trees from pipeline with handcrafted trees</a:t>
            </a:r>
          </a:p>
          <a:p>
            <a:pPr lvl="1"/>
            <a:r>
              <a:rPr lang="de-DE" noProof="1"/>
              <a:t>Goal: (Half-)Automated Pipeline for generation of additional knowledge</a:t>
            </a:r>
          </a:p>
          <a:p>
            <a:pPr lvl="1"/>
            <a:endParaRPr lang="de-DE" noProof="1"/>
          </a:p>
          <a:p>
            <a:pPr lvl="1"/>
            <a:endParaRPr lang="de-DE" noProof="1"/>
          </a:p>
          <a:p>
            <a:pPr marL="0" indent="0">
              <a:buNone/>
            </a:pPr>
            <a:endParaRPr lang="de-DE" noProof="1"/>
          </a:p>
        </p:txBody>
      </p:sp>
      <p:sp>
        <p:nvSpPr>
          <p:cNvPr id="4" name="Datumsplatzhalter 3"/>
          <p:cNvSpPr>
            <a:spLocks noGrp="1"/>
          </p:cNvSpPr>
          <p:nvPr>
            <p:ph type="dt" sz="half" idx="10"/>
          </p:nvPr>
        </p:nvSpPr>
        <p:spPr/>
        <p:txBody>
          <a:bodyPr/>
          <a:lstStyle/>
          <a:p>
            <a:r>
              <a:rPr lang="en-US" noProof="1"/>
              <a:t>18.08.2025</a:t>
            </a:r>
            <a:endParaRPr lang="de-DE" noProof="1"/>
          </a:p>
        </p:txBody>
      </p:sp>
      <p:sp>
        <p:nvSpPr>
          <p:cNvPr id="5" name="Fußzeilenplatzhalter 4"/>
          <p:cNvSpPr>
            <a:spLocks noGrp="1"/>
          </p:cNvSpPr>
          <p:nvPr>
            <p:ph type="ftr" sz="quarter" idx="11"/>
          </p:nvPr>
        </p:nvSpPr>
        <p:spPr/>
        <p:txBody>
          <a:bodyPr/>
          <a:lstStyle/>
          <a:p>
            <a:r>
              <a:rPr lang="en-US" noProof="1"/>
              <a:t>Enhancing model transparency: Effects of DK Integration for Conversational XAI | Feustel</a:t>
            </a:r>
            <a:endParaRPr lang="de-DE" noProof="1"/>
          </a:p>
        </p:txBody>
      </p:sp>
      <p:sp>
        <p:nvSpPr>
          <p:cNvPr id="6" name="Foliennummernplatzhalter 5"/>
          <p:cNvSpPr>
            <a:spLocks noGrp="1"/>
          </p:cNvSpPr>
          <p:nvPr>
            <p:ph type="sldNum" sz="quarter" idx="12"/>
          </p:nvPr>
        </p:nvSpPr>
        <p:spPr/>
        <p:txBody>
          <a:bodyPr/>
          <a:lstStyle/>
          <a:p>
            <a:r>
              <a:rPr lang="de-DE" noProof="1"/>
              <a:t> </a:t>
            </a:r>
            <a:fld id="{FE120BDC-5456-EC41-8BB6-7A3B726EA19B}" type="slidenum">
              <a:rPr lang="de-DE" noProof="1" smtClean="0"/>
              <a:pPr/>
              <a:t>46</a:t>
            </a:fld>
            <a:endParaRPr lang="de-DE" noProof="1"/>
          </a:p>
        </p:txBody>
      </p:sp>
    </p:spTree>
    <p:extLst>
      <p:ext uri="{BB962C8B-B14F-4D97-AF65-F5344CB8AC3E}">
        <p14:creationId xmlns:p14="http://schemas.microsoft.com/office/powerpoint/2010/main" val="63300388"/>
      </p:ext>
    </p:extLst>
  </p:cSld>
  <p:clrMapOvr>
    <a:masterClrMapping/>
  </p:clrMapOvr>
  <p:transition spd="slow">
    <p:push dir="u"/>
  </p:transition>
</p:sld>
</file>

<file path=ppt/theme/theme1.xml><?xml version="1.0" encoding="utf-8"?>
<a:theme xmlns:a="http://schemas.openxmlformats.org/drawingml/2006/main" name="Office">
  <a:themeElements>
    <a:clrScheme name="Benutzerdefiniert 1">
      <a:dk1>
        <a:srgbClr val="000000"/>
      </a:dk1>
      <a:lt1>
        <a:srgbClr val="FFFFFF"/>
      </a:lt1>
      <a:dk2>
        <a:srgbClr val="44546A"/>
      </a:dk2>
      <a:lt2>
        <a:srgbClr val="E7E6E6"/>
      </a:lt2>
      <a:accent1>
        <a:srgbClr val="7D9AAA"/>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4246</Words>
  <Application>Microsoft Office PowerPoint</Application>
  <PresentationFormat>Bildschirmpräsentation (16:9)</PresentationFormat>
  <Paragraphs>659</Paragraphs>
  <Slides>46</Slides>
  <Notes>32</Notes>
  <HiddenSlides>4</HiddenSlides>
  <MMClips>0</MMClips>
  <ScaleCrop>false</ScaleCrop>
  <HeadingPairs>
    <vt:vector size="6" baseType="variant">
      <vt:variant>
        <vt:lpstr>Verwendete Schriftarten</vt:lpstr>
      </vt:variant>
      <vt:variant>
        <vt:i4>4</vt:i4>
      </vt:variant>
      <vt:variant>
        <vt:lpstr>Design</vt:lpstr>
      </vt:variant>
      <vt:variant>
        <vt:i4>1</vt:i4>
      </vt:variant>
      <vt:variant>
        <vt:lpstr>Folientitel</vt:lpstr>
      </vt:variant>
      <vt:variant>
        <vt:i4>46</vt:i4>
      </vt:variant>
    </vt:vector>
  </HeadingPairs>
  <TitlesOfParts>
    <vt:vector size="51" baseType="lpstr">
      <vt:lpstr>Arial</vt:lpstr>
      <vt:lpstr>Calibri</vt:lpstr>
      <vt:lpstr>Segoe UI</vt:lpstr>
      <vt:lpstr>Wingdings</vt:lpstr>
      <vt:lpstr>Office</vt:lpstr>
      <vt:lpstr>Enhancing model transparency:  Effects of DK Integration for Conversational XAI</vt:lpstr>
      <vt:lpstr>About me</vt:lpstr>
      <vt:lpstr>Outline</vt:lpstr>
      <vt:lpstr>A Conversation with AI: Understanding Model Decisions</vt:lpstr>
      <vt:lpstr>Conversation as a basis</vt:lpstr>
      <vt:lpstr>Transparency is the key – How do we get there?</vt:lpstr>
      <vt:lpstr>XAI Foundations: Model Explainability</vt:lpstr>
      <vt:lpstr>XAI Foundations: Explanation Types</vt:lpstr>
      <vt:lpstr>XAI Foundations: Explanation Types</vt:lpstr>
      <vt:lpstr>Limitations of XAI</vt:lpstr>
      <vt:lpstr>Limitations of XAI</vt:lpstr>
      <vt:lpstr>Outline</vt:lpstr>
      <vt:lpstr>Example Scenario Credit Application</vt:lpstr>
      <vt:lpstr>Unified Explanations</vt:lpstr>
      <vt:lpstr>Leveraging Argumentation to Enhance XAI Explanations</vt:lpstr>
      <vt:lpstr>The Bridge – Linking XAI and Argumentation</vt:lpstr>
      <vt:lpstr>Building the Knowledge Base: Constructing Argument Trees</vt:lpstr>
      <vt:lpstr>Automatic generation of argumentation structures for conversational XAI</vt:lpstr>
      <vt:lpstr>The Impact of Domain Knowledge in Explanatory Dialogues</vt:lpstr>
      <vt:lpstr>Explanation Strategy</vt:lpstr>
      <vt:lpstr>Introduction Athena</vt:lpstr>
      <vt:lpstr>Athena Architecture</vt:lpstr>
      <vt:lpstr>Preleminary Study Setup</vt:lpstr>
      <vt:lpstr>Preliminary User Study</vt:lpstr>
      <vt:lpstr>Preliminary Study Results Impact of Domain Knowledge</vt:lpstr>
      <vt:lpstr>Study Setup</vt:lpstr>
      <vt:lpstr>User Study Results</vt:lpstr>
      <vt:lpstr>User Study Results: Topicwise</vt:lpstr>
      <vt:lpstr>User Study Results – Impact of Domain Knowledge</vt:lpstr>
      <vt:lpstr>Conclusion</vt:lpstr>
      <vt:lpstr>Knowledge isn‘t power until it is applied.</vt:lpstr>
      <vt:lpstr>Citations</vt:lpstr>
      <vt:lpstr>PowerPoint-Präsentation</vt:lpstr>
      <vt:lpstr>Automatic Generation of Structured Domain Knowledge for Dialogue-based XAI Systems </vt:lpstr>
      <vt:lpstr>Preliminary User Study</vt:lpstr>
      <vt:lpstr>Domain Knowledge for Credit Application</vt:lpstr>
      <vt:lpstr>Explanatory Dialogue Systems</vt:lpstr>
      <vt:lpstr>PowerPoint-Präsentation</vt:lpstr>
      <vt:lpstr>Domain Knowledge User Study</vt:lpstr>
      <vt:lpstr>Rote Linie 1 </vt:lpstr>
      <vt:lpstr>Rote Linie 2</vt:lpstr>
      <vt:lpstr>Rote Linie 3</vt:lpstr>
      <vt:lpstr>The Vision | Example Dialogue</vt:lpstr>
      <vt:lpstr>Research Questions</vt:lpstr>
      <vt:lpstr>Further Steps for Domain Knowledge Integration (RQ2.1)</vt:lpstr>
      <vt:lpstr>Knowledge Sources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PowerPoint-Präsentation</dc:title>
  <dc:creator>Microsoft Office-Benutzer</dc:creator>
  <cp:lastModifiedBy>Isabel Feustel</cp:lastModifiedBy>
  <cp:revision>391</cp:revision>
  <dcterms:created xsi:type="dcterms:W3CDTF">2021-01-19T07:31:11Z</dcterms:created>
  <dcterms:modified xsi:type="dcterms:W3CDTF">2025-08-18T13:42:31Z</dcterms:modified>
</cp:coreProperties>
</file>